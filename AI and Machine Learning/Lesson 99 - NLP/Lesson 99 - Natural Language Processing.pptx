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4"/>
  </p:notesMasterIdLst>
  <p:sldIdLst>
    <p:sldId id="299" r:id="rId2"/>
    <p:sldId id="549" r:id="rId3"/>
    <p:sldId id="548" r:id="rId4"/>
    <p:sldId id="547" r:id="rId5"/>
    <p:sldId id="536" r:id="rId6"/>
    <p:sldId id="465" r:id="rId7"/>
    <p:sldId id="466" r:id="rId8"/>
    <p:sldId id="487" r:id="rId9"/>
    <p:sldId id="492" r:id="rId10"/>
    <p:sldId id="551" r:id="rId11"/>
    <p:sldId id="570" r:id="rId12"/>
    <p:sldId id="571" r:id="rId13"/>
    <p:sldId id="607" r:id="rId14"/>
    <p:sldId id="609" r:id="rId15"/>
    <p:sldId id="612" r:id="rId16"/>
    <p:sldId id="608" r:id="rId17"/>
    <p:sldId id="565" r:id="rId18"/>
    <p:sldId id="566" r:id="rId19"/>
    <p:sldId id="610" r:id="rId20"/>
    <p:sldId id="611" r:id="rId21"/>
    <p:sldId id="613" r:id="rId22"/>
    <p:sldId id="615" r:id="rId23"/>
    <p:sldId id="616" r:id="rId24"/>
    <p:sldId id="617" r:id="rId25"/>
    <p:sldId id="619" r:id="rId26"/>
    <p:sldId id="620" r:id="rId27"/>
    <p:sldId id="621" r:id="rId28"/>
    <p:sldId id="622" r:id="rId29"/>
    <p:sldId id="623" r:id="rId30"/>
    <p:sldId id="625" r:id="rId31"/>
    <p:sldId id="618" r:id="rId32"/>
    <p:sldId id="313"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BDE71D-A5DA-4731-8206-4FC7E790C503}">
  <a:tblStyle styleId="{20BDE71D-A5DA-4731-8206-4FC7E790C503}"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A323327-17F7-4230-B99A-3A7D3BBB913F}"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Aptos"/>
          <a:ea typeface="Aptos"/>
          <a:cs typeface="Aptos"/>
        </a:font>
        <a:schemeClr val="lt1"/>
      </a:tcTxStyle>
      <a:tcStyle>
        <a:tcBdr/>
        <a:fill>
          <a:solidFill>
            <a:schemeClr val="dk1"/>
          </a:solidFill>
        </a:fill>
      </a:tcStyle>
    </a:lastCol>
    <a:firstCol>
      <a:tcTxStyle b="on" i="off">
        <a:font>
          <a:latin typeface="Aptos"/>
          <a:ea typeface="Aptos"/>
          <a:cs typeface="Aptos"/>
        </a:font>
        <a:schemeClr val="lt1"/>
      </a:tcTxStyle>
      <a:tcStyle>
        <a:tcBdr/>
        <a:fill>
          <a:solidFill>
            <a:schemeClr val="dk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02"/>
    <p:restoredTop sz="88629" autoAdjust="0"/>
  </p:normalViewPr>
  <p:slideViewPr>
    <p:cSldViewPr snapToGrid="0">
      <p:cViewPr varScale="1">
        <p:scale>
          <a:sx n="144" d="100"/>
          <a:sy n="144" d="100"/>
        </p:scale>
        <p:origin x="104" y="3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Right now, neural networks are the ONLY scalable deep learning algorithm. </a:t>
            </a:r>
          </a:p>
          <a:p>
            <a:r>
              <a:rPr lang="en-US"/>
              <a:t>Data mining is the data-focused intersection of AI/ML</a:t>
            </a:r>
          </a:p>
        </p:txBody>
      </p:sp>
      <p:sp>
        <p:nvSpPr>
          <p:cNvPr id="4" name="Slide Number Placeholder 3"/>
          <p:cNvSpPr>
            <a:spLocks noGrp="1"/>
          </p:cNvSpPr>
          <p:nvPr>
            <p:ph type="sldNum" sz="quarter" idx="5"/>
          </p:nvPr>
        </p:nvSpPr>
        <p:spPr/>
        <p:txBody>
          <a:bodyPr/>
          <a:lstStyle/>
          <a:p>
            <a:fld id="{78D069DB-6536-4543-B8B8-16DF1F9FE53F}" type="slidenum">
              <a:rPr lang="en-US" smtClean="0"/>
              <a:t>4</a:t>
            </a:fld>
            <a:endParaRPr lang="en-US"/>
          </a:p>
        </p:txBody>
      </p:sp>
    </p:spTree>
    <p:extLst>
      <p:ext uri="{BB962C8B-B14F-4D97-AF65-F5344CB8AC3E}">
        <p14:creationId xmlns:p14="http://schemas.microsoft.com/office/powerpoint/2010/main" val="159274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5</a:t>
            </a:fld>
            <a:endParaRPr lang="en-US" altLang="en-US"/>
          </a:p>
        </p:txBody>
      </p:sp>
    </p:spTree>
    <p:extLst>
      <p:ext uri="{BB962C8B-B14F-4D97-AF65-F5344CB8AC3E}">
        <p14:creationId xmlns:p14="http://schemas.microsoft.com/office/powerpoint/2010/main" val="1973428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1"/>
              <a:t>Classification </a:t>
            </a:r>
            <a:r>
              <a:rPr lang="en-US"/>
              <a:t>and class </a:t>
            </a:r>
            <a:r>
              <a:rPr lang="en-US" i="1"/>
              <a:t>probability estimation </a:t>
            </a:r>
            <a:r>
              <a:rPr lang="en-US"/>
              <a:t>attempt to predict, for each individual in a population, which of a (small) set of classes this individual belongs to. Usually the classes are mutually exclusive. An example classification question would be: “Among all the customers of </a:t>
            </a:r>
            <a:r>
              <a:rPr lang="en-US" err="1"/>
              <a:t>MegaTelCo</a:t>
            </a:r>
            <a:r>
              <a:rPr lang="en-US"/>
              <a:t>, which are likely to respond to a given offer?” In this example the two classes could be called will respond and will not respond.</a:t>
            </a:r>
          </a:p>
          <a:p>
            <a:endParaRPr lang="en-US"/>
          </a:p>
          <a:p>
            <a:r>
              <a:rPr lang="en-US"/>
              <a:t>For a classification task, a data mining procedure produces a model that, given a new individual, determines which class that individual belongs to. A closely related task is </a:t>
            </a:r>
            <a:r>
              <a:rPr lang="en-US" i="1"/>
              <a:t>scoring </a:t>
            </a:r>
            <a:r>
              <a:rPr lang="en-US"/>
              <a:t>or class </a:t>
            </a:r>
            <a:r>
              <a:rPr lang="en-US" i="1"/>
              <a:t>probability estimation</a:t>
            </a:r>
            <a:r>
              <a:rPr lang="en-US"/>
              <a:t>. A scoring model applied to an individual produces, instead of a class prediction, a score representing the probability (or some other quantification of likelihood) that that individual belongs to each class. In our customer response scenario, a scoring model would be able to evaluate each individual customer and produce a score of how likely each is to respond to the offer. Classification and scoring are very closely related; as we shall see, a model that can do one can usually be modified to do the other.</a:t>
            </a:r>
          </a:p>
        </p:txBody>
      </p:sp>
      <p:sp>
        <p:nvSpPr>
          <p:cNvPr id="4" name="Slide Number Placeholder 3"/>
          <p:cNvSpPr>
            <a:spLocks noGrp="1"/>
          </p:cNvSpPr>
          <p:nvPr>
            <p:ph type="sldNum" sz="quarter" idx="10"/>
          </p:nvPr>
        </p:nvSpPr>
        <p:spPr/>
        <p:txBody>
          <a:bodyPr/>
          <a:lstStyle/>
          <a:p>
            <a:fld id="{48215208-BE95-43DB-BB06-714D0BC668D8}" type="slidenum">
              <a:rPr lang="en-US" smtClean="0"/>
              <a:t>6</a:t>
            </a:fld>
            <a:endParaRPr lang="en-US"/>
          </a:p>
        </p:txBody>
      </p:sp>
    </p:spTree>
    <p:extLst>
      <p:ext uri="{BB962C8B-B14F-4D97-AF65-F5344CB8AC3E}">
        <p14:creationId xmlns:p14="http://schemas.microsoft.com/office/powerpoint/2010/main" val="2145982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Regression </a:t>
            </a:r>
            <a:r>
              <a:rPr lang="en-US"/>
              <a:t>(“value estimation”) attempts to estimate or predict, for each individual, the numerical value of some variable for that individual. An example regression question would be: “How much will a given customer use the service?” The property (variable) to be predicted here is </a:t>
            </a:r>
            <a:r>
              <a:rPr lang="en-US" i="1"/>
              <a:t>service usage</a:t>
            </a:r>
            <a:r>
              <a:rPr lang="en-US"/>
              <a:t>, and a model could be generated by looking at other, similar individuals in the population and their historical usage. A regression procedure produces a model that, given an individual, estimates the value of the particular variable specific to that individual. Regression is related to classification, but the two are different. Informally, classification predicts </a:t>
            </a:r>
            <a:r>
              <a:rPr lang="en-US" i="1"/>
              <a:t>whether </a:t>
            </a:r>
            <a:r>
              <a:rPr lang="en-US"/>
              <a:t>something will happen, whereas regression predicts </a:t>
            </a:r>
            <a:r>
              <a:rPr lang="en-US" i="1"/>
              <a:t>how</a:t>
            </a:r>
          </a:p>
          <a:p>
            <a:r>
              <a:rPr lang="en-US" i="1"/>
              <a:t>much </a:t>
            </a:r>
            <a:r>
              <a:rPr lang="en-US"/>
              <a:t>something will happen. The difference will become clearer as the book progresses.</a:t>
            </a:r>
          </a:p>
        </p:txBody>
      </p:sp>
      <p:sp>
        <p:nvSpPr>
          <p:cNvPr id="4" name="Slide Number Placeholder 3"/>
          <p:cNvSpPr>
            <a:spLocks noGrp="1"/>
          </p:cNvSpPr>
          <p:nvPr>
            <p:ph type="sldNum" sz="quarter" idx="10"/>
          </p:nvPr>
        </p:nvSpPr>
        <p:spPr/>
        <p:txBody>
          <a:bodyPr/>
          <a:lstStyle/>
          <a:p>
            <a:fld id="{48215208-BE95-43DB-BB06-714D0BC668D8}" type="slidenum">
              <a:rPr lang="en-US" smtClean="0"/>
              <a:t>7</a:t>
            </a:fld>
            <a:endParaRPr lang="en-US"/>
          </a:p>
        </p:txBody>
      </p:sp>
    </p:spTree>
    <p:extLst>
      <p:ext uri="{BB962C8B-B14F-4D97-AF65-F5344CB8AC3E}">
        <p14:creationId xmlns:p14="http://schemas.microsoft.com/office/powerpoint/2010/main" val="418802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charset="0"/>
                <a:ea typeface="+mn-ea"/>
                <a:cs typeface="+mn-cs"/>
              </a:rPr>
              <a:t>Modeling is the subject of this and the next lesson so we will not dwell on it here, except to say that the output of modeling is some sort of model or pattern capturing</a:t>
            </a:r>
          </a:p>
          <a:p>
            <a:r>
              <a:rPr lang="en-US" sz="1200" b="0" i="0" u="none" strike="noStrike" kern="1200" baseline="0" dirty="0">
                <a:solidFill>
                  <a:schemeClr val="tx1"/>
                </a:solidFill>
                <a:latin typeface="Arial" charset="0"/>
                <a:ea typeface="+mn-ea"/>
                <a:cs typeface="+mn-cs"/>
              </a:rPr>
              <a:t>regularities in the data. The modeling stage is the primary place where data mining techniques are applied to the data. It is important to have some understanding of the fundamental ideas of data</a:t>
            </a:r>
          </a:p>
          <a:p>
            <a:r>
              <a:rPr lang="en-US" sz="1200" b="0" i="0" u="none" strike="noStrike" kern="1200" baseline="0" dirty="0">
                <a:solidFill>
                  <a:schemeClr val="tx1"/>
                </a:solidFill>
                <a:latin typeface="Arial" charset="0"/>
                <a:ea typeface="+mn-ea"/>
                <a:cs typeface="+mn-cs"/>
              </a:rPr>
              <a:t>mining, including the sorts of techniques and algorithms that exist, because this is the part of the craft where the most science and technology can be brought to bear.</a:t>
            </a:r>
            <a:endParaRPr lang="en-US"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8</a:t>
            </a:fld>
            <a:endParaRPr lang="en-US" altLang="en-US"/>
          </a:p>
        </p:txBody>
      </p:sp>
    </p:spTree>
    <p:extLst>
      <p:ext uri="{BB962C8B-B14F-4D97-AF65-F5344CB8AC3E}">
        <p14:creationId xmlns:p14="http://schemas.microsoft.com/office/powerpoint/2010/main" val="3073217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i="1"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9</a:t>
            </a:fld>
            <a:endParaRPr lang="en-US" altLang="en-US"/>
          </a:p>
        </p:txBody>
      </p:sp>
    </p:spTree>
    <p:extLst>
      <p:ext uri="{BB962C8B-B14F-4D97-AF65-F5344CB8AC3E}">
        <p14:creationId xmlns:p14="http://schemas.microsoft.com/office/powerpoint/2010/main" val="469090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Terminal nodes are also called leaf nodes</a:t>
            </a:r>
          </a:p>
        </p:txBody>
      </p:sp>
    </p:spTree>
    <p:extLst>
      <p:ext uri="{BB962C8B-B14F-4D97-AF65-F5344CB8AC3E}">
        <p14:creationId xmlns:p14="http://schemas.microsoft.com/office/powerpoint/2010/main" val="988729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a:t>We can visualize the decision tree in a coordinate plane where one axis is the balance and the other the age of the account holder. Each decision partitions the example space creating a perpendicular decision boundary. </a:t>
            </a:r>
          </a:p>
          <a:p>
            <a:endParaRPr lang="en-US" baseline="0" dirty="0"/>
          </a:p>
          <a:p>
            <a:r>
              <a:rPr lang="en-US" baseline="0" dirty="0"/>
              <a:t>A decision boundary partitions the data.</a:t>
            </a:r>
          </a:p>
          <a:p>
            <a:endParaRPr lang="en-US"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13</a:t>
            </a:fld>
            <a:endParaRPr lang="en-US" altLang="en-US"/>
          </a:p>
        </p:txBody>
      </p:sp>
    </p:spTree>
    <p:extLst>
      <p:ext uri="{BB962C8B-B14F-4D97-AF65-F5344CB8AC3E}">
        <p14:creationId xmlns:p14="http://schemas.microsoft.com/office/powerpoint/2010/main" val="233585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Can we find a different</a:t>
            </a:r>
            <a:r>
              <a:rPr lang="en-US" baseline="0"/>
              <a:t> or better way to partition the dataset? Let’s remove the decision boundaries created by the decision tree. </a:t>
            </a:r>
            <a:r>
              <a:rPr lang="en-US"/>
              <a:t>Once we remove the boundaries </a:t>
            </a:r>
            <a:r>
              <a:rPr lang="en-US" sz="1200" b="0" i="0" u="none" strike="noStrike" kern="1200" baseline="0">
                <a:solidFill>
                  <a:schemeClr val="tx1"/>
                </a:solidFill>
                <a:latin typeface="Arial" charset="0"/>
                <a:ea typeface="+mn-ea"/>
                <a:cs typeface="+mn-cs"/>
              </a:rPr>
              <a:t>we can see that there clearly are other, possibly better, ways to partition the data set. For example, we can separate the instances almost perfectly (by class) if we are allowed to introduce a boundary that is still a straight line, but is not perpendicular</a:t>
            </a:r>
          </a:p>
          <a:p>
            <a:r>
              <a:rPr lang="en-US" sz="1200" b="0" i="0" u="none" strike="noStrike" kern="1200" baseline="0">
                <a:solidFill>
                  <a:schemeClr val="tx1"/>
                </a:solidFill>
                <a:latin typeface="Arial" charset="0"/>
                <a:ea typeface="+mn-ea"/>
                <a:cs typeface="+mn-cs"/>
              </a:rPr>
              <a:t>to the axes.</a:t>
            </a:r>
            <a:endParaRPr lang="en-US"/>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17</a:t>
            </a:fld>
            <a:endParaRPr lang="en-US" altLang="en-US"/>
          </a:p>
        </p:txBody>
      </p:sp>
    </p:spTree>
    <p:extLst>
      <p:ext uri="{BB962C8B-B14F-4D97-AF65-F5344CB8AC3E}">
        <p14:creationId xmlns:p14="http://schemas.microsoft.com/office/powerpoint/2010/main" val="2264443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Arial" charset="0"/>
                <a:ea typeface="+mn-ea"/>
                <a:cs typeface="+mn-cs"/>
              </a:rPr>
              <a:t>The linear classifier serves as a decision boundary. We would classify an instance </a:t>
            </a:r>
            <a:r>
              <a:rPr lang="en-US" sz="1200" b="1" i="0" u="none" strike="noStrike" kern="1200" baseline="0">
                <a:solidFill>
                  <a:schemeClr val="tx1"/>
                </a:solidFill>
                <a:latin typeface="Arial" charset="0"/>
                <a:ea typeface="+mn-ea"/>
                <a:cs typeface="+mn-cs"/>
              </a:rPr>
              <a:t>x </a:t>
            </a:r>
            <a:r>
              <a:rPr lang="en-US" sz="1200" b="0" i="0" u="none" strike="noStrike" kern="1200" baseline="0">
                <a:solidFill>
                  <a:schemeClr val="tx1"/>
                </a:solidFill>
                <a:latin typeface="Arial" charset="0"/>
                <a:ea typeface="+mn-ea"/>
                <a:cs typeface="+mn-cs"/>
              </a:rPr>
              <a:t>as a </a:t>
            </a:r>
            <a:r>
              <a:rPr lang="en-US" sz="1200" b="1" i="0" u="none" strike="noStrike" kern="1200" baseline="0">
                <a:solidFill>
                  <a:schemeClr val="tx1"/>
                </a:solidFill>
                <a:latin typeface="Arial" charset="0"/>
                <a:ea typeface="+mn-ea"/>
                <a:cs typeface="+mn-cs"/>
              </a:rPr>
              <a:t>+ </a:t>
            </a:r>
            <a:r>
              <a:rPr lang="en-US" sz="1200" b="0" i="0" u="none" strike="noStrike" kern="1200" baseline="0">
                <a:solidFill>
                  <a:schemeClr val="tx1"/>
                </a:solidFill>
                <a:latin typeface="Arial" charset="0"/>
                <a:ea typeface="+mn-ea"/>
                <a:cs typeface="+mn-cs"/>
              </a:rPr>
              <a:t>if it is above the line, and as a • if it is below the line. Rearranging our line equation mathematically leads our classification function which is also called a linear discriminate because it discriminates between the classes. The decision boundary is a linear combination – a weighted sum – of the attributes. In two dimensions, this corresponds to a line. In three dimensions, it is a plane. In higher dimensions, it is called a hyperplane. The important thing is that we can express the model as a weighted sum of the attribute values. </a:t>
            </a:r>
          </a:p>
          <a:p>
            <a:endParaRPr lang="en-US" sz="1200" b="0" i="0" u="none" strike="noStrike" kern="1200" baseline="0">
              <a:solidFill>
                <a:schemeClr val="tx1"/>
              </a:solidFill>
              <a:latin typeface="Arial" charset="0"/>
              <a:ea typeface="+mn-ea"/>
              <a:cs typeface="+mn-cs"/>
            </a:endParaRPr>
          </a:p>
          <a:p>
            <a:r>
              <a:rPr lang="en-US" sz="1200" b="0" i="0" u="none" strike="noStrike" kern="1200" baseline="0">
                <a:solidFill>
                  <a:schemeClr val="tx1"/>
                </a:solidFill>
                <a:latin typeface="Arial" charset="0"/>
                <a:ea typeface="+mn-ea"/>
                <a:cs typeface="+mn-cs"/>
              </a:rPr>
              <a:t>Whereas a decision tree creates a line for each attribute, a linear classifier creates one line that takes into account all the attributes. Again, that single line is expressed as a weighted sum of the attribute values.</a:t>
            </a:r>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18</a:t>
            </a:fld>
            <a:endParaRPr lang="en-US" altLang="en-US"/>
          </a:p>
        </p:txBody>
      </p:sp>
    </p:spTree>
    <p:extLst>
      <p:ext uri="{BB962C8B-B14F-4D97-AF65-F5344CB8AC3E}">
        <p14:creationId xmlns:p14="http://schemas.microsoft.com/office/powerpoint/2010/main" val="277980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Notice the x-y axes and their values</a:t>
            </a:r>
          </a:p>
          <a:p>
            <a:r>
              <a:rPr lang="en-US" dirty="0"/>
              <a:t>Now that we have points in space, we can train a classifier on those points using existing models</a:t>
            </a:r>
          </a:p>
        </p:txBody>
      </p:sp>
    </p:spTree>
    <p:extLst>
      <p:ext uri="{BB962C8B-B14F-4D97-AF65-F5344CB8AC3E}">
        <p14:creationId xmlns:p14="http://schemas.microsoft.com/office/powerpoint/2010/main" val="434786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Does this make sense?</a:t>
            </a:r>
          </a:p>
          <a:p>
            <a:r>
              <a:rPr lang="en-US" dirty="0"/>
              <a:t>How could we </a:t>
            </a:r>
          </a:p>
        </p:txBody>
      </p:sp>
    </p:spTree>
    <p:extLst>
      <p:ext uri="{BB962C8B-B14F-4D97-AF65-F5344CB8AC3E}">
        <p14:creationId xmlns:p14="http://schemas.microsoft.com/office/powerpoint/2010/main" val="2584306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19 February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410766" y="3850148"/>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410766" y="3714554"/>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410766" y="3985742"/>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410766" y="4121336"/>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410766" y="4256930"/>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485900" y="3850148"/>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485900" y="3714554"/>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485900" y="3985742"/>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485900" y="4121336"/>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485900" y="4256930"/>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183674" y="84473"/>
            <a:ext cx="2434590" cy="919356"/>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7503462" y="308372"/>
            <a:ext cx="1222280" cy="358517"/>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411164" y="1480665"/>
            <a:ext cx="5380036" cy="178308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kumimoji="0" lang="en-US" sz="27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2700" b="0" i="0" u="none" strike="noStrike" kern="1200" cap="all" spc="0" normalizeH="0" baseline="0" noProof="0">
                <a:ln>
                  <a:noFill/>
                </a:ln>
                <a:solidFill>
                  <a:srgbClr val="FFFFFF"/>
                </a:solidFill>
                <a:effectLst/>
                <a:uLnTx/>
                <a:uFillTx/>
                <a:latin typeface="Arial"/>
                <a:ea typeface="+mj-ea"/>
                <a:cs typeface="+mj-cs"/>
              </a:rPr>
            </a:br>
            <a:r>
              <a:rPr kumimoji="0" lang="en-US" sz="27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2700" b="0" i="0" u="none" strike="noStrike" kern="1200" cap="all" spc="0" normalizeH="0" baseline="0" noProof="0">
                <a:ln>
                  <a:noFill/>
                </a:ln>
                <a:solidFill>
                  <a:srgbClr val="FFFFFF"/>
                </a:solidFill>
                <a:effectLst/>
                <a:uLnTx/>
                <a:uFillTx/>
                <a:latin typeface="Arial"/>
                <a:ea typeface="+mj-ea"/>
                <a:cs typeface="+mj-cs"/>
              </a:rPr>
            </a:br>
            <a:r>
              <a:rPr kumimoji="0" lang="en-US" sz="27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685801" y="2838549"/>
            <a:ext cx="2674143"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9284261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19 February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35668" y="78731"/>
            <a:ext cx="2434590" cy="919356"/>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410766" y="3850148"/>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410766" y="3714554"/>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410766" y="3985742"/>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410766" y="4121336"/>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410766" y="4256930"/>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485900" y="3850148"/>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485900" y="3714554"/>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485900" y="3985742"/>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485900" y="4121336"/>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485900" y="4256930"/>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411164" y="1480665"/>
            <a:ext cx="5380037" cy="178308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685800" y="2838549"/>
            <a:ext cx="2674144"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11216120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19 February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183674" y="84473"/>
            <a:ext cx="2434590" cy="919356"/>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410766" y="3850148"/>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410766" y="3714554"/>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410766" y="3985742"/>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410766" y="4121336"/>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410766" y="4256930"/>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485900" y="3850148"/>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485900" y="3714554"/>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485900" y="3985742"/>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485900" y="4121336"/>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485900" y="4256930"/>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411164" y="1480665"/>
            <a:ext cx="5380036" cy="178308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685801" y="2838549"/>
            <a:ext cx="2674143"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7503462" y="308372"/>
            <a:ext cx="1222280" cy="358517"/>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3334241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411480" y="1200149"/>
            <a:ext cx="8268694" cy="3429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411480" y="4972050"/>
            <a:ext cx="617220" cy="171450"/>
          </a:xfrm>
        </p:spPr>
        <p:txBody>
          <a:bodyPr lIns="0"/>
          <a:lstStyle/>
          <a:p>
            <a:fld id="{AD622D1A-DF83-41A8-85FF-04D90BF831D3}" type="datetime3">
              <a:rPr lang="en-US" smtClean="0"/>
              <a:t>19 February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8433828" y="4972050"/>
            <a:ext cx="299408" cy="17145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3025706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7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915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27148676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79"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78124"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144767"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19 February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6606061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8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6032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19 February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7271523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411480" y="1200150"/>
            <a:ext cx="418338" cy="416624"/>
          </a:xfrm>
        </p:spPr>
        <p:txBody>
          <a:bodyPr anchor="ctr" anchorCtr="0"/>
          <a:lstStyle>
            <a:lvl1pPr marL="0" indent="0" algn="ctr">
              <a:buFontTx/>
              <a:buNone/>
              <a:defRPr sz="600"/>
            </a:lvl1pPr>
          </a:lstStyle>
          <a:p>
            <a:r>
              <a:rPr lang="en-US"/>
              <a:t>[Icon]</a:t>
            </a:r>
          </a:p>
        </p:txBody>
      </p:sp>
      <p:sp>
        <p:nvSpPr>
          <p:cNvPr id="3" name="Content Placeholder 3"/>
          <p:cNvSpPr>
            <a:spLocks noGrp="1"/>
          </p:cNvSpPr>
          <p:nvPr>
            <p:ph sz="half" idx="1"/>
          </p:nvPr>
        </p:nvSpPr>
        <p:spPr>
          <a:xfrm>
            <a:off x="41148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2560320" y="1200150"/>
            <a:ext cx="418338" cy="418338"/>
          </a:xfrm>
        </p:spPr>
        <p:txBody>
          <a:bodyPr anchor="ctr" anchorCtr="0"/>
          <a:lstStyle>
            <a:lvl1pPr marL="0" indent="0" algn="ctr">
              <a:buFontTx/>
              <a:buNone/>
              <a:defRPr sz="600"/>
            </a:lvl1pPr>
          </a:lstStyle>
          <a:p>
            <a:r>
              <a:rPr lang="en-US"/>
              <a:t>[Icon]</a:t>
            </a:r>
          </a:p>
        </p:txBody>
      </p:sp>
      <p:sp>
        <p:nvSpPr>
          <p:cNvPr id="4" name="Content Placeholder 5"/>
          <p:cNvSpPr>
            <a:spLocks noGrp="1"/>
          </p:cNvSpPr>
          <p:nvPr>
            <p:ph sz="half" idx="2"/>
          </p:nvPr>
        </p:nvSpPr>
        <p:spPr>
          <a:xfrm>
            <a:off x="256032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4709160" y="1200150"/>
            <a:ext cx="418338" cy="418338"/>
          </a:xfrm>
        </p:spPr>
        <p:txBody>
          <a:bodyPr anchor="ctr" anchorCtr="0"/>
          <a:lstStyle>
            <a:lvl1pPr marL="0" indent="0" algn="ctr">
              <a:buFontTx/>
              <a:buNone/>
              <a:defRPr sz="6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470916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6858000" y="1200150"/>
            <a:ext cx="418338" cy="418338"/>
          </a:xfrm>
        </p:spPr>
        <p:txBody>
          <a:bodyPr anchor="ctr" anchorCtr="0"/>
          <a:lstStyle>
            <a:lvl1pPr marL="0" indent="0" algn="ctr">
              <a:buFontTx/>
              <a:buNone/>
              <a:defRPr sz="6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685800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19 February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8629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01</a:t>
            </a:r>
          </a:p>
        </p:txBody>
      </p:sp>
      <p:sp>
        <p:nvSpPr>
          <p:cNvPr id="3" name="Content Placeholder 2"/>
          <p:cNvSpPr>
            <a:spLocks noGrp="1"/>
          </p:cNvSpPr>
          <p:nvPr>
            <p:ph sz="half" idx="1"/>
          </p:nvPr>
        </p:nvSpPr>
        <p:spPr>
          <a:xfrm>
            <a:off x="411481" y="1714500"/>
            <a:ext cx="1874519" cy="2914650"/>
          </a:xfrm>
        </p:spPr>
        <p:txBody>
          <a:bodyPr/>
          <a:lstStyle>
            <a:lvl1pPr marL="0" indent="0">
              <a:spcBef>
                <a:spcPts val="750"/>
              </a:spcBef>
              <a:buFontTx/>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02</a:t>
            </a:r>
          </a:p>
        </p:txBody>
      </p:sp>
      <p:sp>
        <p:nvSpPr>
          <p:cNvPr id="4" name="Content Placeholder 3"/>
          <p:cNvSpPr>
            <a:spLocks noGrp="1"/>
          </p:cNvSpPr>
          <p:nvPr>
            <p:ph sz="half" idx="2"/>
          </p:nvPr>
        </p:nvSpPr>
        <p:spPr>
          <a:xfrm>
            <a:off x="256032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19 February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4099915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01</a:t>
            </a:r>
          </a:p>
        </p:txBody>
      </p:sp>
      <p:sp>
        <p:nvSpPr>
          <p:cNvPr id="3" name="Content Placeholder 2"/>
          <p:cNvSpPr>
            <a:spLocks noGrp="1"/>
          </p:cNvSpPr>
          <p:nvPr>
            <p:ph sz="half" idx="1"/>
          </p:nvPr>
        </p:nvSpPr>
        <p:spPr>
          <a:xfrm>
            <a:off x="411481" y="1714500"/>
            <a:ext cx="1874519" cy="2914650"/>
          </a:xfrm>
        </p:spPr>
        <p:txBody>
          <a:bodyPr/>
          <a:lstStyle>
            <a:lvl1pPr marL="0" indent="0">
              <a:spcBef>
                <a:spcPts val="750"/>
              </a:spcBef>
              <a:buFontTx/>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02</a:t>
            </a:r>
          </a:p>
        </p:txBody>
      </p:sp>
      <p:sp>
        <p:nvSpPr>
          <p:cNvPr id="4" name="Content Placeholder 3"/>
          <p:cNvSpPr>
            <a:spLocks noGrp="1"/>
          </p:cNvSpPr>
          <p:nvPr>
            <p:ph sz="half" idx="2"/>
          </p:nvPr>
        </p:nvSpPr>
        <p:spPr>
          <a:xfrm>
            <a:off x="256032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19 February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06698291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01</a:t>
            </a:r>
          </a:p>
        </p:txBody>
      </p:sp>
      <p:sp>
        <p:nvSpPr>
          <p:cNvPr id="3" name="Content Placeholder 2"/>
          <p:cNvSpPr>
            <a:spLocks noGrp="1"/>
          </p:cNvSpPr>
          <p:nvPr>
            <p:ph sz="half" idx="1"/>
          </p:nvPr>
        </p:nvSpPr>
        <p:spPr>
          <a:xfrm>
            <a:off x="41148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02</a:t>
            </a:r>
          </a:p>
        </p:txBody>
      </p:sp>
      <p:sp>
        <p:nvSpPr>
          <p:cNvPr id="4" name="Content Placeholder 3"/>
          <p:cNvSpPr>
            <a:spLocks noGrp="1"/>
          </p:cNvSpPr>
          <p:nvPr>
            <p:ph sz="half" idx="2"/>
          </p:nvPr>
        </p:nvSpPr>
        <p:spPr>
          <a:xfrm>
            <a:off x="256032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41148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41148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41148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256032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256032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256032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470916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470916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470916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685800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685800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685800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19 February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2815028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01</a:t>
            </a:r>
          </a:p>
        </p:txBody>
      </p:sp>
      <p:sp>
        <p:nvSpPr>
          <p:cNvPr id="3" name="Content Placeholder 2"/>
          <p:cNvSpPr>
            <a:spLocks noGrp="1"/>
          </p:cNvSpPr>
          <p:nvPr>
            <p:ph sz="half" idx="1"/>
          </p:nvPr>
        </p:nvSpPr>
        <p:spPr>
          <a:xfrm>
            <a:off x="41148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02</a:t>
            </a:r>
          </a:p>
        </p:txBody>
      </p:sp>
      <p:sp>
        <p:nvSpPr>
          <p:cNvPr id="4" name="Content Placeholder 3"/>
          <p:cNvSpPr>
            <a:spLocks noGrp="1"/>
          </p:cNvSpPr>
          <p:nvPr>
            <p:ph sz="half" idx="2"/>
          </p:nvPr>
        </p:nvSpPr>
        <p:spPr>
          <a:xfrm>
            <a:off x="256032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41148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41148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41148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256032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256032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256032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470916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470916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470916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685800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685800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685800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19 February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5509058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171450"/>
            <a:ext cx="9144000" cy="48006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19 February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154769975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411480" y="308611"/>
            <a:ext cx="4023360" cy="685800"/>
          </a:xfrm>
        </p:spPr>
        <p:txBody>
          <a:bodyPr/>
          <a:lstStyle>
            <a:lvl1pPr>
              <a:defRPr sz="2100" b="1" cap="none" baseline="0"/>
            </a:lvl1pPr>
          </a:lstStyle>
          <a:p>
            <a:r>
              <a:rPr lang="en-US"/>
              <a:t>[Slide title]</a:t>
            </a:r>
          </a:p>
        </p:txBody>
      </p:sp>
      <p:sp>
        <p:nvSpPr>
          <p:cNvPr id="3" name="Content Placeholder 2"/>
          <p:cNvSpPr>
            <a:spLocks noGrp="1"/>
          </p:cNvSpPr>
          <p:nvPr>
            <p:ph sz="half" idx="1"/>
          </p:nvPr>
        </p:nvSpPr>
        <p:spPr>
          <a:xfrm>
            <a:off x="41147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19 February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Tree>
    <p:extLst>
      <p:ext uri="{BB962C8B-B14F-4D97-AF65-F5344CB8AC3E}">
        <p14:creationId xmlns:p14="http://schemas.microsoft.com/office/powerpoint/2010/main" val="98616014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411479" y="308610"/>
            <a:ext cx="8321040" cy="233172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411480" y="2846070"/>
            <a:ext cx="4023360" cy="685800"/>
          </a:xfrm>
        </p:spPr>
        <p:txBody>
          <a:bodyPr/>
          <a:lstStyle>
            <a:lvl1pPr>
              <a:defRPr sz="2100" b="1" cap="none" baseline="0"/>
            </a:lvl1pPr>
          </a:lstStyle>
          <a:p>
            <a:r>
              <a:rPr lang="en-US"/>
              <a:t>[Slide title]</a:t>
            </a:r>
          </a:p>
        </p:txBody>
      </p:sp>
      <p:sp>
        <p:nvSpPr>
          <p:cNvPr id="3" name="Content Placeholder 3"/>
          <p:cNvSpPr>
            <a:spLocks noGrp="1"/>
          </p:cNvSpPr>
          <p:nvPr>
            <p:ph sz="half" idx="1"/>
          </p:nvPr>
        </p:nvSpPr>
        <p:spPr>
          <a:xfrm>
            <a:off x="4709159" y="2846070"/>
            <a:ext cx="4023360" cy="1783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19 February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05128579"/>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79" y="1200150"/>
            <a:ext cx="4023360" cy="17145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78" y="3086100"/>
            <a:ext cx="4023360"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3" name="Content Placeholder 4"/>
          <p:cNvSpPr>
            <a:spLocks noGrp="1"/>
          </p:cNvSpPr>
          <p:nvPr>
            <p:ph sz="half" idx="1"/>
          </p:nvPr>
        </p:nvSpPr>
        <p:spPr>
          <a:xfrm>
            <a:off x="411479" y="3394710"/>
            <a:ext cx="4023360" cy="123444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709159" y="1200150"/>
            <a:ext cx="4023360" cy="17145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709159" y="3086100"/>
            <a:ext cx="4023360"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4" name="Content Placeholder 7"/>
          <p:cNvSpPr>
            <a:spLocks noGrp="1"/>
          </p:cNvSpPr>
          <p:nvPr>
            <p:ph sz="half" idx="2"/>
          </p:nvPr>
        </p:nvSpPr>
        <p:spPr>
          <a:xfrm>
            <a:off x="4709159" y="3394710"/>
            <a:ext cx="4023360" cy="123444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19 February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95547307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79"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78"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3" name="Content Placeholder 4"/>
          <p:cNvSpPr>
            <a:spLocks noGrp="1"/>
          </p:cNvSpPr>
          <p:nvPr>
            <p:ph sz="half" idx="1"/>
          </p:nvPr>
        </p:nvSpPr>
        <p:spPr>
          <a:xfrm>
            <a:off x="411479"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278123"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278123"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4" name="Content Placeholder 7"/>
          <p:cNvSpPr>
            <a:spLocks noGrp="1"/>
          </p:cNvSpPr>
          <p:nvPr>
            <p:ph sz="half" idx="2"/>
          </p:nvPr>
        </p:nvSpPr>
        <p:spPr>
          <a:xfrm>
            <a:off x="3278123"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144767"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144767"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144767"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19 February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85629858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8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80"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3" name="Content Placeholder 4"/>
          <p:cNvSpPr>
            <a:spLocks noGrp="1"/>
          </p:cNvSpPr>
          <p:nvPr>
            <p:ph sz="half" idx="1"/>
          </p:nvPr>
        </p:nvSpPr>
        <p:spPr>
          <a:xfrm>
            <a:off x="41148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2571604"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2571604"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4" name="Content Placeholder 7"/>
          <p:cNvSpPr>
            <a:spLocks noGrp="1"/>
          </p:cNvSpPr>
          <p:nvPr>
            <p:ph sz="half" idx="2"/>
          </p:nvPr>
        </p:nvSpPr>
        <p:spPr>
          <a:xfrm>
            <a:off x="2571604"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469788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4697881"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469788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685800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6858001"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685800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19 February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5172132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411480" y="1611630"/>
            <a:ext cx="5096351" cy="301752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19 February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0521988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171450"/>
            <a:ext cx="9144000" cy="4800600"/>
          </a:xfrm>
          <a:solidFill>
            <a:srgbClr val="565557"/>
          </a:solidFill>
        </p:spPr>
        <p:txBody>
          <a:bodyPr anchor="ctr" anchorCtr="0"/>
          <a:lstStyle>
            <a:lvl1pPr marL="0" indent="0" algn="ctr">
              <a:buFontTx/>
              <a:buNone/>
              <a:defRPr sz="75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411480" y="1611630"/>
            <a:ext cx="5096351" cy="68580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19 February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714984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411480" y="1611630"/>
            <a:ext cx="5096351" cy="301752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19 February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2996064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0"/>
            <a:ext cx="4023995" cy="685800"/>
          </a:xfrm>
        </p:spPr>
        <p:txBody>
          <a:bodyPr anchor="t" anchorCtr="0"/>
          <a:lstStyle>
            <a:lvl1pPr>
              <a:lnSpc>
                <a:spcPct val="90000"/>
              </a:lnSpc>
              <a:defRPr sz="18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411480" y="1200150"/>
            <a:ext cx="5096351" cy="3429000"/>
          </a:xfrm>
        </p:spPr>
        <p:txBody>
          <a:bodyPr/>
          <a:lstStyle>
            <a:lvl1pPr marL="0" indent="0">
              <a:lnSpc>
                <a:spcPct val="90000"/>
              </a:lnSpc>
              <a:spcBef>
                <a:spcPts val="0"/>
              </a:spcBef>
              <a:buFontTx/>
              <a:buNone/>
              <a:defRPr sz="27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19 February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6534241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1"/>
            <a:ext cx="4023995"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411480" y="1611630"/>
            <a:ext cx="4023994" cy="3017520"/>
          </a:xfrm>
        </p:spPr>
        <p:txBody>
          <a:bodyPr/>
          <a:lstStyle>
            <a:lvl1pPr marL="0" indent="0">
              <a:spcBef>
                <a:spcPts val="750"/>
              </a:spcBef>
              <a:buFontTx/>
              <a:buNone/>
              <a:defRPr/>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19 February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15250217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1"/>
            <a:ext cx="4023995"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411480" y="1611630"/>
            <a:ext cx="4023994" cy="3017520"/>
          </a:xfrm>
        </p:spPr>
        <p:txBody>
          <a:bodyPr/>
          <a:lstStyle>
            <a:lvl1pPr marL="0" indent="0">
              <a:spcBef>
                <a:spcPts val="750"/>
              </a:spcBef>
              <a:buFontTx/>
              <a:buNone/>
              <a:defRPr/>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19 February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3781612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19 February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3662635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19 February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9130605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19 February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751482107"/>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19 February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8333331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411162" y="1611630"/>
            <a:ext cx="8321040" cy="10287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36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411164" y="3614561"/>
            <a:ext cx="4024312" cy="1028699"/>
          </a:xfrm>
        </p:spPr>
        <p:txBody>
          <a:bodyPr anchor="b" anchorCtr="0"/>
          <a:lstStyle>
            <a:lvl1pPr marL="0" indent="0">
              <a:spcBef>
                <a:spcPts val="0"/>
              </a:spcBef>
              <a:buFontTx/>
              <a:buNone/>
              <a:defRPr sz="900"/>
            </a:lvl1pPr>
            <a:lvl2pPr marL="0" indent="0">
              <a:spcBef>
                <a:spcPts val="0"/>
              </a:spcBef>
              <a:buFontTx/>
              <a:buNone/>
              <a:defRPr sz="900"/>
            </a:lvl2pPr>
            <a:lvl3pPr marL="0" indent="0">
              <a:spcBef>
                <a:spcPts val="0"/>
              </a:spcBef>
              <a:buFontTx/>
              <a:buNone/>
              <a:defRPr sz="900"/>
            </a:lvl3pPr>
            <a:lvl4pPr marL="0" indent="0">
              <a:spcBef>
                <a:spcPts val="0"/>
              </a:spcBef>
              <a:buFontTx/>
              <a:buNone/>
              <a:defRPr sz="900"/>
            </a:lvl4pPr>
            <a:lvl5pPr marL="0" indent="0">
              <a:spcBef>
                <a:spcPts val="0"/>
              </a:spcBef>
              <a:buFontTx/>
              <a:buNone/>
              <a:defRPr sz="900"/>
            </a:lvl5pPr>
            <a:lvl6pPr marL="0" indent="0">
              <a:spcBef>
                <a:spcPts val="0"/>
              </a:spcBef>
              <a:buFontTx/>
              <a:buNone/>
              <a:defRPr sz="900"/>
            </a:lvl6pPr>
            <a:lvl7pPr marL="0" indent="0">
              <a:spcBef>
                <a:spcPts val="0"/>
              </a:spcBef>
              <a:buFontTx/>
              <a:buNone/>
              <a:defRPr sz="900"/>
            </a:lvl7pPr>
            <a:lvl8pPr marL="0" indent="0">
              <a:spcBef>
                <a:spcPts val="0"/>
              </a:spcBef>
              <a:buFontTx/>
              <a:buNone/>
              <a:defRPr sz="900"/>
            </a:lvl8pPr>
            <a:lvl9pPr marL="0" indent="0">
              <a:spcBef>
                <a:spcPts val="0"/>
              </a:spcBef>
              <a:buFontTx/>
              <a:buNone/>
              <a:defRPr sz="9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19 February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278783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120265" y="1645920"/>
            <a:ext cx="4903470" cy="1851660"/>
          </a:xfrm>
          <a:prstGeom prst="rect">
            <a:avLst/>
          </a:prstGeom>
        </p:spPr>
      </p:pic>
    </p:spTree>
    <p:extLst>
      <p:ext uri="{BB962C8B-B14F-4D97-AF65-F5344CB8AC3E}">
        <p14:creationId xmlns:p14="http://schemas.microsoft.com/office/powerpoint/2010/main" val="25070332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69881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244069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491313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5"/>
          <a:srcRect l="26274" t="67"/>
          <a:stretch>
            <a:fillRect/>
          </a:stretch>
        </p:blipFill>
        <p:spPr>
          <a:xfrm>
            <a:off x="7821386" y="308611"/>
            <a:ext cx="911133" cy="358278"/>
          </a:xfrm>
          <a:prstGeom prst="rect">
            <a:avLst/>
          </a:prstGeom>
        </p:spPr>
      </p:pic>
      <p:sp>
        <p:nvSpPr>
          <p:cNvPr id="2" name="Title Placeholder 1"/>
          <p:cNvSpPr>
            <a:spLocks noGrp="1"/>
          </p:cNvSpPr>
          <p:nvPr>
            <p:ph type="title"/>
          </p:nvPr>
        </p:nvSpPr>
        <p:spPr>
          <a:xfrm>
            <a:off x="411480" y="308611"/>
            <a:ext cx="6173470" cy="6858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411479" y="1200149"/>
            <a:ext cx="8321040" cy="3429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410766" y="4972050"/>
            <a:ext cx="617934" cy="171450"/>
          </a:xfrm>
          <a:prstGeom prst="rect">
            <a:avLst/>
          </a:prstGeom>
        </p:spPr>
        <p:txBody>
          <a:bodyPr vert="horz" lIns="0" tIns="45720" rIns="0" bIns="45720" rtlCol="0" anchor="b" anchorCtr="0"/>
          <a:lstStyle>
            <a:lvl1pPr algn="l">
              <a:defRPr sz="525" b="1">
                <a:solidFill>
                  <a:schemeClr val="tx1"/>
                </a:solidFill>
              </a:defRPr>
            </a:lvl1pPr>
          </a:lstStyle>
          <a:p>
            <a:fld id="{CABCB1B0-B6E5-4DD1-BB55-95C076D6C0C8}" type="datetime3">
              <a:rPr lang="en-US" smtClean="0"/>
              <a:t>19 February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8408037" y="4972050"/>
            <a:ext cx="331501" cy="171450"/>
          </a:xfrm>
          <a:prstGeom prst="rect">
            <a:avLst/>
          </a:prstGeom>
        </p:spPr>
        <p:txBody>
          <a:bodyPr vert="horz" lIns="0" tIns="45720" rIns="0" bIns="45720" rtlCol="0" anchor="b" anchorCtr="0"/>
          <a:lstStyle>
            <a:lvl1pPr algn="r">
              <a:defRPr sz="525"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6"/>
          <a:stretch>
            <a:fillRect/>
          </a:stretch>
        </p:blipFill>
        <p:spPr>
          <a:xfrm>
            <a:off x="7444515" y="318065"/>
            <a:ext cx="376871" cy="358278"/>
          </a:xfrm>
          <a:prstGeom prst="rect">
            <a:avLst/>
          </a:prstGeom>
        </p:spPr>
      </p:pic>
    </p:spTree>
    <p:extLst>
      <p:ext uri="{BB962C8B-B14F-4D97-AF65-F5344CB8AC3E}">
        <p14:creationId xmlns:p14="http://schemas.microsoft.com/office/powerpoint/2010/main" val="41602366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Lst>
  <p:hf hdr="0"/>
  <p:txStyles>
    <p:titleStyle>
      <a:lvl1pPr algn="l" defTabSz="685800" rtl="0" eaLnBrk="1" latinLnBrk="0" hangingPunct="1">
        <a:lnSpc>
          <a:spcPct val="90000"/>
        </a:lnSpc>
        <a:spcBef>
          <a:spcPct val="0"/>
        </a:spcBef>
        <a:buNone/>
        <a:defRPr sz="2400" kern="1200" cap="all" baseline="0">
          <a:solidFill>
            <a:schemeClr val="tx1"/>
          </a:solidFill>
          <a:latin typeface="+mj-lt"/>
          <a:ea typeface="+mj-ea"/>
          <a:cs typeface="+mj-cs"/>
        </a:defRPr>
      </a:lvl1pPr>
    </p:titleStyle>
    <p:bodyStyle>
      <a:lvl1pPr marL="137160" indent="-137160" algn="l" defTabSz="685800" rtl="0" eaLnBrk="1" latinLnBrk="0" hangingPunct="1">
        <a:lnSpc>
          <a:spcPct val="95000"/>
        </a:lnSpc>
        <a:spcBef>
          <a:spcPts val="750"/>
        </a:spcBef>
        <a:buFont typeface="Arial" panose="020B0604020202020204" pitchFamily="34" charset="0"/>
        <a:buChar char="▪"/>
        <a:defRPr sz="1275" kern="1200">
          <a:solidFill>
            <a:schemeClr val="tx1"/>
          </a:solidFill>
          <a:latin typeface="+mn-lt"/>
          <a:ea typeface="+mn-ea"/>
          <a:cs typeface="+mn-cs"/>
        </a:defRPr>
      </a:lvl1pPr>
      <a:lvl2pPr marL="27432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2pPr>
      <a:lvl3pPr marL="41148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3pPr>
      <a:lvl4pPr marL="54864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4pPr>
      <a:lvl5pPr marL="68580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5pPr>
      <a:lvl6pPr marL="82296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6pPr>
      <a:lvl7pPr marL="96012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7pPr>
      <a:lvl8pPr marL="109728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8pPr>
      <a:lvl9pPr marL="123444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9pPr>
    </p:bodyStyle>
    <p:otherStyle>
      <a:defPPr>
        <a:defRPr lang="en-US"/>
      </a:defPPr>
      <a:lvl1pPr marL="0" algn="l" defTabSz="685800" rtl="0" eaLnBrk="1" latinLnBrk="0" hangingPunct="1">
        <a:defRPr sz="1275" kern="1200">
          <a:solidFill>
            <a:schemeClr val="tx1"/>
          </a:solidFill>
          <a:latin typeface="+mn-lt"/>
          <a:ea typeface="+mn-ea"/>
          <a:cs typeface="+mn-cs"/>
        </a:defRPr>
      </a:lvl1pPr>
      <a:lvl2pPr marL="342900" algn="l" defTabSz="685800" rtl="0" eaLnBrk="1" latinLnBrk="0" hangingPunct="1">
        <a:defRPr sz="1275" kern="1200">
          <a:solidFill>
            <a:schemeClr val="tx1"/>
          </a:solidFill>
          <a:latin typeface="+mn-lt"/>
          <a:ea typeface="+mn-ea"/>
          <a:cs typeface="+mn-cs"/>
        </a:defRPr>
      </a:lvl2pPr>
      <a:lvl3pPr marL="685800" algn="l" defTabSz="685800" rtl="0" eaLnBrk="1" latinLnBrk="0" hangingPunct="1">
        <a:defRPr sz="1275" kern="1200">
          <a:solidFill>
            <a:schemeClr val="tx1"/>
          </a:solidFill>
          <a:latin typeface="+mn-lt"/>
          <a:ea typeface="+mn-ea"/>
          <a:cs typeface="+mn-cs"/>
        </a:defRPr>
      </a:lvl3pPr>
      <a:lvl4pPr marL="1028700" algn="l" defTabSz="685800" rtl="0" eaLnBrk="1" latinLnBrk="0" hangingPunct="1">
        <a:defRPr sz="1275" kern="1200">
          <a:solidFill>
            <a:schemeClr val="tx1"/>
          </a:solidFill>
          <a:latin typeface="+mn-lt"/>
          <a:ea typeface="+mn-ea"/>
          <a:cs typeface="+mn-cs"/>
        </a:defRPr>
      </a:lvl4pPr>
      <a:lvl5pPr marL="1371600" algn="l" defTabSz="685800" rtl="0" eaLnBrk="1" latinLnBrk="0" hangingPunct="1">
        <a:defRPr sz="1275" kern="1200">
          <a:solidFill>
            <a:schemeClr val="tx1"/>
          </a:solidFill>
          <a:latin typeface="+mn-lt"/>
          <a:ea typeface="+mn-ea"/>
          <a:cs typeface="+mn-cs"/>
        </a:defRPr>
      </a:lvl5pPr>
      <a:lvl6pPr marL="1714500" algn="l" defTabSz="685800" rtl="0" eaLnBrk="1" latinLnBrk="0" hangingPunct="1">
        <a:defRPr sz="1275" kern="1200">
          <a:solidFill>
            <a:schemeClr val="tx1"/>
          </a:solidFill>
          <a:latin typeface="+mn-lt"/>
          <a:ea typeface="+mn-ea"/>
          <a:cs typeface="+mn-cs"/>
        </a:defRPr>
      </a:lvl6pPr>
      <a:lvl7pPr marL="2057400" algn="l" defTabSz="685800" rtl="0" eaLnBrk="1" latinLnBrk="0" hangingPunct="1">
        <a:defRPr sz="1275" kern="1200">
          <a:solidFill>
            <a:schemeClr val="tx1"/>
          </a:solidFill>
          <a:latin typeface="+mn-lt"/>
          <a:ea typeface="+mn-ea"/>
          <a:cs typeface="+mn-cs"/>
        </a:defRPr>
      </a:lvl7pPr>
      <a:lvl8pPr marL="2400300" algn="l" defTabSz="685800" rtl="0" eaLnBrk="1" latinLnBrk="0" hangingPunct="1">
        <a:defRPr sz="1275" kern="1200">
          <a:solidFill>
            <a:schemeClr val="tx1"/>
          </a:solidFill>
          <a:latin typeface="+mn-lt"/>
          <a:ea typeface="+mn-ea"/>
          <a:cs typeface="+mn-cs"/>
        </a:defRPr>
      </a:lvl8pPr>
      <a:lvl9pPr marL="2743200" algn="l" defTabSz="685800" rtl="0" eaLnBrk="1" latinLnBrk="0" hangingPunct="1">
        <a:defRPr sz="12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3828411-1094-C1F5-1084-577812B5A6F7}"/>
              </a:ext>
            </a:extLst>
          </p:cNvPr>
          <p:cNvSpPr>
            <a:spLocks noGrp="1"/>
          </p:cNvSpPr>
          <p:nvPr>
            <p:ph type="dt" sz="half" idx="49"/>
          </p:nvPr>
        </p:nvSpPr>
        <p:spPr>
          <a:xfrm>
            <a:off x="410766" y="4972050"/>
            <a:ext cx="617934" cy="171450"/>
          </a:xfrm>
        </p:spPr>
        <p:txBody>
          <a:bodyPr/>
          <a:lstStyle/>
          <a:p>
            <a:endParaRPr lang="en-US"/>
          </a:p>
        </p:txBody>
      </p:sp>
      <p:sp>
        <p:nvSpPr>
          <p:cNvPr id="6" name="Slide Number Placeholder 5">
            <a:extLst>
              <a:ext uri="{FF2B5EF4-FFF2-40B4-BE49-F238E27FC236}">
                <a16:creationId xmlns:a16="http://schemas.microsoft.com/office/drawing/2014/main" id="{27B1EB7E-576C-73E8-5B5F-2697010DCCAA}"/>
              </a:ext>
            </a:extLst>
          </p:cNvPr>
          <p:cNvSpPr>
            <a:spLocks noGrp="1"/>
          </p:cNvSpPr>
          <p:nvPr>
            <p:ph type="sldNum" sz="quarter" idx="50"/>
          </p:nvPr>
        </p:nvSpPr>
        <p:spPr>
          <a:xfrm>
            <a:off x="8408037" y="4972050"/>
            <a:ext cx="331501" cy="171450"/>
          </a:xfrm>
        </p:spPr>
        <p:txBody>
          <a:bodyPr/>
          <a:lstStyle/>
          <a:p>
            <a:pPr lvl="0"/>
            <a:fld id="{00000000-1234-1234-1234-123412341234}" type="slidenum">
              <a:rPr lang="en" smtClean="0"/>
              <a:pPr lvl="0"/>
              <a:t>1</a:t>
            </a:fld>
            <a:endParaRPr lang="en"/>
          </a:p>
        </p:txBody>
      </p:sp>
      <p:sp>
        <p:nvSpPr>
          <p:cNvPr id="22" name="Text Placeholder 21">
            <a:extLst>
              <a:ext uri="{FF2B5EF4-FFF2-40B4-BE49-F238E27FC236}">
                <a16:creationId xmlns:a16="http://schemas.microsoft.com/office/drawing/2014/main" id="{607F7BEF-9C77-B531-8DE5-B514C4F255FC}"/>
              </a:ext>
            </a:extLst>
          </p:cNvPr>
          <p:cNvSpPr>
            <a:spLocks noGrp="1"/>
          </p:cNvSpPr>
          <p:nvPr>
            <p:ph type="body" sz="quarter" idx="39"/>
          </p:nvPr>
        </p:nvSpPr>
        <p:spPr/>
        <p:txBody>
          <a:bodyPr/>
          <a:lstStyle/>
          <a:p>
            <a:endParaRPr lang="en-US"/>
          </a:p>
        </p:txBody>
      </p:sp>
      <p:sp>
        <p:nvSpPr>
          <p:cNvPr id="23" name="Text Placeholder 22">
            <a:extLst>
              <a:ext uri="{FF2B5EF4-FFF2-40B4-BE49-F238E27FC236}">
                <a16:creationId xmlns:a16="http://schemas.microsoft.com/office/drawing/2014/main" id="{8104BDAF-E6C5-CA91-DC9C-A162E083C2A3}"/>
              </a:ext>
            </a:extLst>
          </p:cNvPr>
          <p:cNvSpPr>
            <a:spLocks noGrp="1"/>
          </p:cNvSpPr>
          <p:nvPr>
            <p:ph type="body" sz="quarter" idx="40"/>
          </p:nvPr>
        </p:nvSpPr>
        <p:spPr/>
        <p:txBody>
          <a:bodyPr/>
          <a:lstStyle/>
          <a:p>
            <a:endParaRPr lang="en-US"/>
          </a:p>
        </p:txBody>
      </p:sp>
      <p:sp>
        <p:nvSpPr>
          <p:cNvPr id="24" name="Text Placeholder 23">
            <a:extLst>
              <a:ext uri="{FF2B5EF4-FFF2-40B4-BE49-F238E27FC236}">
                <a16:creationId xmlns:a16="http://schemas.microsoft.com/office/drawing/2014/main" id="{6E90EFF7-7E65-D2A7-19E4-C6FBAF35D12B}"/>
              </a:ext>
            </a:extLst>
          </p:cNvPr>
          <p:cNvSpPr>
            <a:spLocks noGrp="1"/>
          </p:cNvSpPr>
          <p:nvPr>
            <p:ph type="body" sz="quarter" idx="41"/>
          </p:nvPr>
        </p:nvSpPr>
        <p:spPr/>
        <p:txBody>
          <a:bodyPr/>
          <a:lstStyle/>
          <a:p>
            <a:endParaRPr lang="en-US"/>
          </a:p>
        </p:txBody>
      </p:sp>
      <p:sp>
        <p:nvSpPr>
          <p:cNvPr id="25" name="Text Placeholder 24">
            <a:extLst>
              <a:ext uri="{FF2B5EF4-FFF2-40B4-BE49-F238E27FC236}">
                <a16:creationId xmlns:a16="http://schemas.microsoft.com/office/drawing/2014/main" id="{6127C14C-A7BB-77BF-7FCB-ABE76EC08916}"/>
              </a:ext>
            </a:extLst>
          </p:cNvPr>
          <p:cNvSpPr>
            <a:spLocks noGrp="1"/>
          </p:cNvSpPr>
          <p:nvPr>
            <p:ph type="body" sz="quarter" idx="42"/>
          </p:nvPr>
        </p:nvSpPr>
        <p:spPr/>
        <p:txBody>
          <a:bodyPr/>
          <a:lstStyle/>
          <a:p>
            <a:endParaRPr lang="en-US"/>
          </a:p>
        </p:txBody>
      </p:sp>
      <p:sp>
        <p:nvSpPr>
          <p:cNvPr id="26" name="Text Placeholder 25">
            <a:extLst>
              <a:ext uri="{FF2B5EF4-FFF2-40B4-BE49-F238E27FC236}">
                <a16:creationId xmlns:a16="http://schemas.microsoft.com/office/drawing/2014/main" id="{4A0E9230-4B26-A842-0D16-588E614B3AA7}"/>
              </a:ext>
            </a:extLst>
          </p:cNvPr>
          <p:cNvSpPr>
            <a:spLocks noGrp="1"/>
          </p:cNvSpPr>
          <p:nvPr>
            <p:ph type="body" sz="quarter" idx="43"/>
          </p:nvPr>
        </p:nvSpPr>
        <p:spPr/>
        <p:txBody>
          <a:bodyPr/>
          <a:lstStyle/>
          <a:p>
            <a:endParaRPr lang="en-US"/>
          </a:p>
        </p:txBody>
      </p:sp>
      <p:sp>
        <p:nvSpPr>
          <p:cNvPr id="27" name="Text Placeholder 26">
            <a:extLst>
              <a:ext uri="{FF2B5EF4-FFF2-40B4-BE49-F238E27FC236}">
                <a16:creationId xmlns:a16="http://schemas.microsoft.com/office/drawing/2014/main" id="{068E0ED6-2B28-5CA4-A30B-CCCA36DD64D7}"/>
              </a:ext>
            </a:extLst>
          </p:cNvPr>
          <p:cNvSpPr>
            <a:spLocks noGrp="1"/>
          </p:cNvSpPr>
          <p:nvPr>
            <p:ph type="body" sz="quarter" idx="44"/>
          </p:nvPr>
        </p:nvSpPr>
        <p:spPr/>
        <p:txBody>
          <a:bodyPr/>
          <a:lstStyle/>
          <a:p>
            <a:endParaRPr lang="en-US"/>
          </a:p>
        </p:txBody>
      </p:sp>
      <p:sp>
        <p:nvSpPr>
          <p:cNvPr id="28" name="Text Placeholder 27">
            <a:extLst>
              <a:ext uri="{FF2B5EF4-FFF2-40B4-BE49-F238E27FC236}">
                <a16:creationId xmlns:a16="http://schemas.microsoft.com/office/drawing/2014/main" id="{2964EDCB-FE00-1333-42BB-13D75D45210C}"/>
              </a:ext>
            </a:extLst>
          </p:cNvPr>
          <p:cNvSpPr>
            <a:spLocks noGrp="1"/>
          </p:cNvSpPr>
          <p:nvPr>
            <p:ph type="body" sz="quarter" idx="45"/>
          </p:nvPr>
        </p:nvSpPr>
        <p:spPr/>
        <p:txBody>
          <a:bodyPr/>
          <a:lstStyle/>
          <a:p>
            <a:endParaRPr lang="en-US"/>
          </a:p>
        </p:txBody>
      </p:sp>
      <p:sp>
        <p:nvSpPr>
          <p:cNvPr id="29" name="Text Placeholder 28">
            <a:extLst>
              <a:ext uri="{FF2B5EF4-FFF2-40B4-BE49-F238E27FC236}">
                <a16:creationId xmlns:a16="http://schemas.microsoft.com/office/drawing/2014/main" id="{E248C6A0-ED75-EDBB-12BD-494DD21F8FB9}"/>
              </a:ext>
            </a:extLst>
          </p:cNvPr>
          <p:cNvSpPr>
            <a:spLocks noGrp="1"/>
          </p:cNvSpPr>
          <p:nvPr>
            <p:ph type="body" sz="quarter" idx="46"/>
          </p:nvPr>
        </p:nvSpPr>
        <p:spPr/>
        <p:txBody>
          <a:bodyPr/>
          <a:lstStyle/>
          <a:p>
            <a:endParaRPr lang="en-US"/>
          </a:p>
        </p:txBody>
      </p:sp>
      <p:sp>
        <p:nvSpPr>
          <p:cNvPr id="30" name="Text Placeholder 29">
            <a:extLst>
              <a:ext uri="{FF2B5EF4-FFF2-40B4-BE49-F238E27FC236}">
                <a16:creationId xmlns:a16="http://schemas.microsoft.com/office/drawing/2014/main" id="{8CEE4DC2-09B5-3CCD-457B-6B4790DECE3D}"/>
              </a:ext>
            </a:extLst>
          </p:cNvPr>
          <p:cNvSpPr>
            <a:spLocks noGrp="1"/>
          </p:cNvSpPr>
          <p:nvPr>
            <p:ph type="body" sz="quarter" idx="47"/>
          </p:nvPr>
        </p:nvSpPr>
        <p:spPr/>
        <p:txBody>
          <a:bodyPr/>
          <a:lstStyle/>
          <a:p>
            <a:endParaRPr lang="en-US"/>
          </a:p>
        </p:txBody>
      </p:sp>
      <p:sp>
        <p:nvSpPr>
          <p:cNvPr id="31" name="Text Placeholder 30">
            <a:extLst>
              <a:ext uri="{FF2B5EF4-FFF2-40B4-BE49-F238E27FC236}">
                <a16:creationId xmlns:a16="http://schemas.microsoft.com/office/drawing/2014/main" id="{C90EB5AB-E609-F5DD-EB53-4B56B810D3C3}"/>
              </a:ext>
            </a:extLst>
          </p:cNvPr>
          <p:cNvSpPr>
            <a:spLocks noGrp="1"/>
          </p:cNvSpPr>
          <p:nvPr>
            <p:ph type="body" sz="quarter" idx="48"/>
          </p:nvPr>
        </p:nvSpPr>
        <p:spPr/>
        <p:txBody>
          <a:bodyPr/>
          <a:lstStyle/>
          <a:p>
            <a:endParaRPr lang="en-US"/>
          </a:p>
        </p:txBody>
      </p:sp>
      <p:sp>
        <p:nvSpPr>
          <p:cNvPr id="7" name="Title 6">
            <a:extLst>
              <a:ext uri="{FF2B5EF4-FFF2-40B4-BE49-F238E27FC236}">
                <a16:creationId xmlns:a16="http://schemas.microsoft.com/office/drawing/2014/main" id="{09E14C3F-58F5-2F80-022C-87483A479096}"/>
              </a:ext>
            </a:extLst>
          </p:cNvPr>
          <p:cNvSpPr>
            <a:spLocks noGrp="1"/>
          </p:cNvSpPr>
          <p:nvPr>
            <p:ph type="ctrTitle"/>
          </p:nvPr>
        </p:nvSpPr>
        <p:spPr>
          <a:xfrm>
            <a:off x="685800" y="1652115"/>
            <a:ext cx="4822031" cy="994410"/>
          </a:xfrm>
        </p:spPr>
        <p:txBody>
          <a:bodyPr/>
          <a:lstStyle/>
          <a:p>
            <a:r>
              <a:rPr lang="en-US" dirty="0"/>
              <a:t>Ai2c technician</a:t>
            </a:r>
            <a:br>
              <a:rPr lang="en-US" dirty="0"/>
            </a:br>
            <a:r>
              <a:rPr lang="en-US" dirty="0"/>
              <a:t>lesson 99: Modeling / NLP</a:t>
            </a:r>
          </a:p>
        </p:txBody>
      </p:sp>
      <p:sp>
        <p:nvSpPr>
          <p:cNvPr id="20" name="Subtitle 19">
            <a:extLst>
              <a:ext uri="{FF2B5EF4-FFF2-40B4-BE49-F238E27FC236}">
                <a16:creationId xmlns:a16="http://schemas.microsoft.com/office/drawing/2014/main" id="{74F79F2D-9AB0-807C-BF93-1082689FCD70}"/>
              </a:ext>
            </a:extLst>
          </p:cNvPr>
          <p:cNvSpPr>
            <a:spLocks noGrp="1"/>
          </p:cNvSpPr>
          <p:nvPr>
            <p:ph type="subTitle" idx="1"/>
          </p:nvPr>
        </p:nvSpPr>
        <p:spPr/>
        <p:txBody>
          <a:bodyPr/>
          <a:lstStyle/>
          <a:p>
            <a:endParaRPr lang="en-US"/>
          </a:p>
        </p:txBody>
      </p:sp>
      <p:sp>
        <p:nvSpPr>
          <p:cNvPr id="21" name="Text Placeholder 20">
            <a:extLst>
              <a:ext uri="{FF2B5EF4-FFF2-40B4-BE49-F238E27FC236}">
                <a16:creationId xmlns:a16="http://schemas.microsoft.com/office/drawing/2014/main" id="{CDFCABD0-D84B-718A-39EB-8F3061855BC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9745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69DE-68A0-58D5-211A-061B7F2609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A7200B-24B7-E5BA-C9EC-73307ED494D1}"/>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8BC7BDF4-96B8-3C08-8241-C9C8AA404DC4}"/>
              </a:ext>
            </a:extLst>
          </p:cNvPr>
          <p:cNvSpPr>
            <a:spLocks noGrp="1"/>
          </p:cNvSpPr>
          <p:nvPr>
            <p:ph type="subTitle" idx="1"/>
          </p:nvPr>
        </p:nvSpPr>
        <p:spPr/>
        <p:txBody>
          <a:bodyPr/>
          <a:lstStyle/>
          <a:p>
            <a:r>
              <a:rPr lang="en-US" dirty="0"/>
              <a:t>ML Intro / Review</a:t>
            </a:r>
          </a:p>
        </p:txBody>
      </p:sp>
      <p:sp>
        <p:nvSpPr>
          <p:cNvPr id="4" name="Date Placeholder 3">
            <a:extLst>
              <a:ext uri="{FF2B5EF4-FFF2-40B4-BE49-F238E27FC236}">
                <a16:creationId xmlns:a16="http://schemas.microsoft.com/office/drawing/2014/main" id="{6B41394A-DA62-20E2-D38C-979ABF1FCCDC}"/>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D978D1B1-22FE-C59A-E288-4C78AFCDD9CE}"/>
              </a:ext>
            </a:extLst>
          </p:cNvPr>
          <p:cNvSpPr>
            <a:spLocks noGrp="1"/>
          </p:cNvSpPr>
          <p:nvPr>
            <p:ph type="sldNum" idx="12"/>
          </p:nvPr>
        </p:nvSpPr>
        <p:spPr/>
        <p:txBody>
          <a:bodyPr/>
          <a:lstStyle/>
          <a:p>
            <a:fld id="{64E5BE4B-2FBF-4174-9E62-85FAD1CB43A6}" type="slidenum">
              <a:rPr lang="en-US" smtClean="0"/>
              <a:pPr/>
              <a:t>2</a:t>
            </a:fld>
            <a:endParaRPr lang="en-US"/>
          </a:p>
        </p:txBody>
      </p:sp>
    </p:spTree>
    <p:extLst>
      <p:ext uri="{BB962C8B-B14F-4D97-AF65-F5344CB8AC3E}">
        <p14:creationId xmlns:p14="http://schemas.microsoft.com/office/powerpoint/2010/main" val="2127177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BA865E-EC7F-7846-8215-CFD08B20F574}"/>
              </a:ext>
            </a:extLst>
          </p:cNvPr>
          <p:cNvSpPr/>
          <p:nvPr/>
        </p:nvSpPr>
        <p:spPr>
          <a:xfrm>
            <a:off x="3570371" y="1257300"/>
            <a:ext cx="2003258" cy="992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r>
              <a:rPr lang="en-US" sz="1575" b="1">
                <a:solidFill>
                  <a:prstClr val="white"/>
                </a:solidFill>
                <a:latin typeface="Calibri" panose="020F0502020204030204"/>
              </a:rPr>
              <a:t>Classical </a:t>
            </a:r>
          </a:p>
          <a:p>
            <a:pPr algn="ctr" defTabSz="514350"/>
            <a:r>
              <a:rPr lang="en-US" sz="1575" b="1">
                <a:solidFill>
                  <a:prstClr val="white"/>
                </a:solidFill>
                <a:latin typeface="Calibri" panose="020F0502020204030204"/>
              </a:rPr>
              <a:t>Programming</a:t>
            </a:r>
          </a:p>
        </p:txBody>
      </p:sp>
      <p:sp>
        <p:nvSpPr>
          <p:cNvPr id="6" name="Rectangle 5">
            <a:extLst>
              <a:ext uri="{FF2B5EF4-FFF2-40B4-BE49-F238E27FC236}">
                <a16:creationId xmlns:a16="http://schemas.microsoft.com/office/drawing/2014/main" id="{FE718DC3-80EB-694B-AEA2-FA97510FF382}"/>
              </a:ext>
            </a:extLst>
          </p:cNvPr>
          <p:cNvSpPr/>
          <p:nvPr/>
        </p:nvSpPr>
        <p:spPr>
          <a:xfrm>
            <a:off x="2036101" y="1257300"/>
            <a:ext cx="769763" cy="403957"/>
          </a:xfrm>
          <a:prstGeom prst="rect">
            <a:avLst/>
          </a:prstGeom>
        </p:spPr>
        <p:txBody>
          <a:bodyPr wrap="none">
            <a:spAutoFit/>
          </a:bodyPr>
          <a:lstStyle/>
          <a:p>
            <a:pPr defTabSz="514350"/>
            <a:r>
              <a:rPr lang="en-US" sz="2025" b="1" dirty="0">
                <a:solidFill>
                  <a:srgbClr val="1956BB"/>
                </a:solidFill>
                <a:highlight>
                  <a:srgbClr val="00FF00"/>
                </a:highlight>
                <a:latin typeface="Calibri" panose="020F0502020204030204"/>
              </a:rPr>
              <a:t>Rules</a:t>
            </a:r>
            <a:endParaRPr lang="en-US" sz="1050" b="1" dirty="0">
              <a:solidFill>
                <a:srgbClr val="1956BB"/>
              </a:solidFill>
              <a:highlight>
                <a:srgbClr val="00FF00"/>
              </a:highlight>
              <a:latin typeface="Calibri" panose="020F0502020204030204"/>
            </a:endParaRPr>
          </a:p>
        </p:txBody>
      </p:sp>
      <p:cxnSp>
        <p:nvCxnSpPr>
          <p:cNvPr id="8" name="Straight Arrow Connector 7">
            <a:extLst>
              <a:ext uri="{FF2B5EF4-FFF2-40B4-BE49-F238E27FC236}">
                <a16:creationId xmlns:a16="http://schemas.microsoft.com/office/drawing/2014/main" id="{EF29702F-BEA6-3043-835C-91659D57C0DA}"/>
              </a:ext>
            </a:extLst>
          </p:cNvPr>
          <p:cNvCxnSpPr>
            <a:cxnSpLocks/>
          </p:cNvCxnSpPr>
          <p:nvPr/>
        </p:nvCxnSpPr>
        <p:spPr>
          <a:xfrm flipV="1">
            <a:off x="2770302" y="1451310"/>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827E632-88FC-C34C-819A-3B4CD9754C6E}"/>
              </a:ext>
            </a:extLst>
          </p:cNvPr>
          <p:cNvSpPr/>
          <p:nvPr/>
        </p:nvSpPr>
        <p:spPr>
          <a:xfrm>
            <a:off x="2036100" y="1841226"/>
            <a:ext cx="694421" cy="403957"/>
          </a:xfrm>
          <a:prstGeom prst="rect">
            <a:avLst/>
          </a:prstGeom>
        </p:spPr>
        <p:txBody>
          <a:bodyPr wrap="none">
            <a:spAutoFit/>
          </a:bodyPr>
          <a:lstStyle/>
          <a:p>
            <a:pPr defTabSz="514350"/>
            <a:r>
              <a:rPr lang="en-US" sz="2025" b="1">
                <a:solidFill>
                  <a:srgbClr val="1956BB"/>
                </a:solidFill>
                <a:latin typeface="Calibri" panose="020F0502020204030204"/>
              </a:rPr>
              <a:t>Data</a:t>
            </a:r>
            <a:endParaRPr lang="en-US" sz="1050" b="1">
              <a:solidFill>
                <a:srgbClr val="1956BB"/>
              </a:solidFill>
              <a:latin typeface="Calibri" panose="020F0502020204030204"/>
            </a:endParaRPr>
          </a:p>
        </p:txBody>
      </p:sp>
      <p:cxnSp>
        <p:nvCxnSpPr>
          <p:cNvPr id="12" name="Straight Arrow Connector 11">
            <a:extLst>
              <a:ext uri="{FF2B5EF4-FFF2-40B4-BE49-F238E27FC236}">
                <a16:creationId xmlns:a16="http://schemas.microsoft.com/office/drawing/2014/main" id="{DE4F3F40-C6BF-5E4B-ADA1-76D10D99A064}"/>
              </a:ext>
            </a:extLst>
          </p:cNvPr>
          <p:cNvCxnSpPr>
            <a:cxnSpLocks/>
          </p:cNvCxnSpPr>
          <p:nvPr/>
        </p:nvCxnSpPr>
        <p:spPr>
          <a:xfrm flipV="1">
            <a:off x="2770302" y="2035236"/>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1218E30-A555-A84F-A2B0-69A79CCD19B2}"/>
              </a:ext>
            </a:extLst>
          </p:cNvPr>
          <p:cNvCxnSpPr>
            <a:cxnSpLocks/>
          </p:cNvCxnSpPr>
          <p:nvPr/>
        </p:nvCxnSpPr>
        <p:spPr>
          <a:xfrm flipV="1">
            <a:off x="5682826" y="1753602"/>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4049735-5A10-D54F-AAFB-665D16B48535}"/>
              </a:ext>
            </a:extLst>
          </p:cNvPr>
          <p:cNvSpPr/>
          <p:nvPr/>
        </p:nvSpPr>
        <p:spPr>
          <a:xfrm>
            <a:off x="6528928" y="1571822"/>
            <a:ext cx="1107996" cy="403957"/>
          </a:xfrm>
          <a:prstGeom prst="rect">
            <a:avLst/>
          </a:prstGeom>
        </p:spPr>
        <p:txBody>
          <a:bodyPr wrap="none">
            <a:spAutoFit/>
          </a:bodyPr>
          <a:lstStyle/>
          <a:p>
            <a:pPr defTabSz="514350"/>
            <a:r>
              <a:rPr lang="en-US" sz="2025" b="1" dirty="0">
                <a:solidFill>
                  <a:srgbClr val="1956BB"/>
                </a:solidFill>
                <a:highlight>
                  <a:srgbClr val="FFFF00"/>
                </a:highlight>
                <a:latin typeface="Calibri" panose="020F0502020204030204"/>
              </a:rPr>
              <a:t>Answers</a:t>
            </a:r>
            <a:endParaRPr lang="en-US" sz="1050" b="1" dirty="0">
              <a:solidFill>
                <a:srgbClr val="1956BB"/>
              </a:solidFill>
              <a:highlight>
                <a:srgbClr val="FFFF00"/>
              </a:highlight>
              <a:latin typeface="Calibri" panose="020F0502020204030204"/>
            </a:endParaRPr>
          </a:p>
        </p:txBody>
      </p:sp>
      <p:sp>
        <p:nvSpPr>
          <p:cNvPr id="20" name="Rectangle 19">
            <a:extLst>
              <a:ext uri="{FF2B5EF4-FFF2-40B4-BE49-F238E27FC236}">
                <a16:creationId xmlns:a16="http://schemas.microsoft.com/office/drawing/2014/main" id="{45E2BFE3-F299-8041-997A-AEA9072CE774}"/>
              </a:ext>
            </a:extLst>
          </p:cNvPr>
          <p:cNvSpPr/>
          <p:nvPr/>
        </p:nvSpPr>
        <p:spPr>
          <a:xfrm>
            <a:off x="3570371" y="2546379"/>
            <a:ext cx="2003258" cy="992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r>
              <a:rPr lang="en-US" sz="1575" b="1">
                <a:solidFill>
                  <a:prstClr val="white"/>
                </a:solidFill>
                <a:latin typeface="Calibri" panose="020F0502020204030204"/>
              </a:rPr>
              <a:t>Machine </a:t>
            </a:r>
          </a:p>
          <a:p>
            <a:pPr algn="ctr" defTabSz="514350"/>
            <a:r>
              <a:rPr lang="en-US" sz="1575" b="1">
                <a:solidFill>
                  <a:prstClr val="white"/>
                </a:solidFill>
                <a:latin typeface="Calibri" panose="020F0502020204030204"/>
              </a:rPr>
              <a:t>Learning</a:t>
            </a:r>
          </a:p>
        </p:txBody>
      </p:sp>
      <p:sp>
        <p:nvSpPr>
          <p:cNvPr id="21" name="Rectangle 20">
            <a:extLst>
              <a:ext uri="{FF2B5EF4-FFF2-40B4-BE49-F238E27FC236}">
                <a16:creationId xmlns:a16="http://schemas.microsoft.com/office/drawing/2014/main" id="{A0B59090-FBEC-6747-AFEB-9AA3B4F2D155}"/>
              </a:ext>
            </a:extLst>
          </p:cNvPr>
          <p:cNvSpPr/>
          <p:nvPr/>
        </p:nvSpPr>
        <p:spPr>
          <a:xfrm>
            <a:off x="2036100" y="2546379"/>
            <a:ext cx="694421" cy="403957"/>
          </a:xfrm>
          <a:prstGeom prst="rect">
            <a:avLst/>
          </a:prstGeom>
        </p:spPr>
        <p:txBody>
          <a:bodyPr wrap="none">
            <a:spAutoFit/>
          </a:bodyPr>
          <a:lstStyle/>
          <a:p>
            <a:pPr defTabSz="514350"/>
            <a:r>
              <a:rPr lang="en-US" sz="2025" b="1">
                <a:solidFill>
                  <a:srgbClr val="1956BB"/>
                </a:solidFill>
                <a:latin typeface="Calibri" panose="020F0502020204030204"/>
              </a:rPr>
              <a:t>Data</a:t>
            </a:r>
            <a:endParaRPr lang="en-US" sz="1050" b="1">
              <a:solidFill>
                <a:srgbClr val="1956BB"/>
              </a:solidFill>
              <a:latin typeface="Calibri" panose="020F0502020204030204"/>
            </a:endParaRPr>
          </a:p>
        </p:txBody>
      </p:sp>
      <p:cxnSp>
        <p:nvCxnSpPr>
          <p:cNvPr id="22" name="Straight Arrow Connector 21">
            <a:extLst>
              <a:ext uri="{FF2B5EF4-FFF2-40B4-BE49-F238E27FC236}">
                <a16:creationId xmlns:a16="http://schemas.microsoft.com/office/drawing/2014/main" id="{16D5F539-94A1-534F-9890-533DBEE52A2B}"/>
              </a:ext>
            </a:extLst>
          </p:cNvPr>
          <p:cNvCxnSpPr>
            <a:cxnSpLocks/>
          </p:cNvCxnSpPr>
          <p:nvPr/>
        </p:nvCxnSpPr>
        <p:spPr>
          <a:xfrm flipV="1">
            <a:off x="2770302" y="2740389"/>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EDA121B-6D27-F244-84B0-40163CE2623D}"/>
              </a:ext>
            </a:extLst>
          </p:cNvPr>
          <p:cNvSpPr/>
          <p:nvPr/>
        </p:nvSpPr>
        <p:spPr>
          <a:xfrm>
            <a:off x="1626445" y="3142534"/>
            <a:ext cx="1107996" cy="403957"/>
          </a:xfrm>
          <a:prstGeom prst="rect">
            <a:avLst/>
          </a:prstGeom>
        </p:spPr>
        <p:txBody>
          <a:bodyPr wrap="none">
            <a:spAutoFit/>
          </a:bodyPr>
          <a:lstStyle/>
          <a:p>
            <a:pPr defTabSz="514350"/>
            <a:r>
              <a:rPr lang="en-US" sz="2025" b="1" dirty="0">
                <a:solidFill>
                  <a:srgbClr val="1956BB"/>
                </a:solidFill>
                <a:highlight>
                  <a:srgbClr val="FFFF00"/>
                </a:highlight>
                <a:latin typeface="Calibri" panose="020F0502020204030204"/>
              </a:rPr>
              <a:t>Answers</a:t>
            </a:r>
            <a:endParaRPr lang="en-US" sz="1050" b="1" dirty="0">
              <a:solidFill>
                <a:srgbClr val="1956BB"/>
              </a:solidFill>
              <a:highlight>
                <a:srgbClr val="FFFF00"/>
              </a:highlight>
              <a:latin typeface="Calibri" panose="020F0502020204030204"/>
            </a:endParaRPr>
          </a:p>
        </p:txBody>
      </p:sp>
      <p:cxnSp>
        <p:nvCxnSpPr>
          <p:cNvPr id="24" name="Straight Arrow Connector 23">
            <a:extLst>
              <a:ext uri="{FF2B5EF4-FFF2-40B4-BE49-F238E27FC236}">
                <a16:creationId xmlns:a16="http://schemas.microsoft.com/office/drawing/2014/main" id="{DDD25FC9-6085-0A4C-A68D-AF865F5FA5C9}"/>
              </a:ext>
            </a:extLst>
          </p:cNvPr>
          <p:cNvCxnSpPr>
            <a:cxnSpLocks/>
          </p:cNvCxnSpPr>
          <p:nvPr/>
        </p:nvCxnSpPr>
        <p:spPr>
          <a:xfrm flipV="1">
            <a:off x="2770302" y="3324315"/>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5162C2C-8FFB-0D46-B476-1FCA836B473F}"/>
              </a:ext>
            </a:extLst>
          </p:cNvPr>
          <p:cNvCxnSpPr>
            <a:cxnSpLocks/>
          </p:cNvCxnSpPr>
          <p:nvPr/>
        </p:nvCxnSpPr>
        <p:spPr>
          <a:xfrm flipV="1">
            <a:off x="5682826" y="3042681"/>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62A33A2-5B30-7E48-AB4F-DFF8D262DA2B}"/>
              </a:ext>
            </a:extLst>
          </p:cNvPr>
          <p:cNvSpPr/>
          <p:nvPr/>
        </p:nvSpPr>
        <p:spPr>
          <a:xfrm>
            <a:off x="6528929" y="2860901"/>
            <a:ext cx="769763" cy="403957"/>
          </a:xfrm>
          <a:prstGeom prst="rect">
            <a:avLst/>
          </a:prstGeom>
        </p:spPr>
        <p:txBody>
          <a:bodyPr wrap="none">
            <a:spAutoFit/>
          </a:bodyPr>
          <a:lstStyle/>
          <a:p>
            <a:pPr defTabSz="514350"/>
            <a:r>
              <a:rPr lang="en-US" sz="2025" b="1" dirty="0">
                <a:solidFill>
                  <a:srgbClr val="1956BB"/>
                </a:solidFill>
                <a:highlight>
                  <a:srgbClr val="00FF00"/>
                </a:highlight>
                <a:latin typeface="Calibri" panose="020F0502020204030204"/>
              </a:rPr>
              <a:t>Rules</a:t>
            </a:r>
            <a:endParaRPr lang="en-US" sz="1050" b="1" dirty="0">
              <a:solidFill>
                <a:srgbClr val="1956BB"/>
              </a:solidFill>
              <a:highlight>
                <a:srgbClr val="00FF00"/>
              </a:highlight>
              <a:latin typeface="Calibri" panose="020F0502020204030204"/>
            </a:endParaRPr>
          </a:p>
        </p:txBody>
      </p:sp>
      <p:sp>
        <p:nvSpPr>
          <p:cNvPr id="16" name="TextBox 15">
            <a:extLst>
              <a:ext uri="{FF2B5EF4-FFF2-40B4-BE49-F238E27FC236}">
                <a16:creationId xmlns:a16="http://schemas.microsoft.com/office/drawing/2014/main" id="{9F6D4BF3-4C37-42EA-962B-841E72004394}"/>
              </a:ext>
            </a:extLst>
          </p:cNvPr>
          <p:cNvSpPr txBox="1"/>
          <p:nvPr/>
        </p:nvSpPr>
        <p:spPr>
          <a:xfrm>
            <a:off x="1213833" y="3944055"/>
            <a:ext cx="6766610" cy="323165"/>
          </a:xfrm>
          <a:prstGeom prst="rect">
            <a:avLst/>
          </a:prstGeom>
          <a:noFill/>
        </p:spPr>
        <p:txBody>
          <a:bodyPr wrap="square" rtlCol="0">
            <a:spAutoFit/>
          </a:bodyPr>
          <a:lstStyle/>
          <a:p>
            <a:pPr algn="ctr"/>
            <a:r>
              <a:rPr lang="en-US" sz="1500"/>
              <a:t>Let’s look at some things we can </a:t>
            </a:r>
            <a:r>
              <a:rPr lang="en-US" sz="1500" b="1"/>
              <a:t>do</a:t>
            </a:r>
            <a:r>
              <a:rPr lang="en-US" sz="1500"/>
              <a:t> with machine learning.</a:t>
            </a:r>
          </a:p>
        </p:txBody>
      </p:sp>
      <p:sp>
        <p:nvSpPr>
          <p:cNvPr id="2" name="Title 1">
            <a:extLst>
              <a:ext uri="{FF2B5EF4-FFF2-40B4-BE49-F238E27FC236}">
                <a16:creationId xmlns:a16="http://schemas.microsoft.com/office/drawing/2014/main" id="{FDEA647F-FA08-45EE-ACE3-DD8C35720DF2}"/>
              </a:ext>
            </a:extLst>
          </p:cNvPr>
          <p:cNvSpPr>
            <a:spLocks noGrp="1"/>
          </p:cNvSpPr>
          <p:nvPr>
            <p:ph type="title"/>
          </p:nvPr>
        </p:nvSpPr>
        <p:spPr/>
        <p:txBody>
          <a:bodyPr/>
          <a:lstStyle/>
          <a:p>
            <a:r>
              <a:rPr lang="en-US"/>
              <a:t>Classical Programming vs Machine Learning</a:t>
            </a:r>
          </a:p>
        </p:txBody>
      </p:sp>
      <p:cxnSp>
        <p:nvCxnSpPr>
          <p:cNvPr id="18" name="Straight Connector 17">
            <a:extLst>
              <a:ext uri="{FF2B5EF4-FFF2-40B4-BE49-F238E27FC236}">
                <a16:creationId xmlns:a16="http://schemas.microsoft.com/office/drawing/2014/main" id="{B0FFDCBB-9404-4E3E-A3F5-149061FC97AF}"/>
              </a:ext>
            </a:extLst>
          </p:cNvPr>
          <p:cNvCxnSpPr/>
          <p:nvPr/>
        </p:nvCxnSpPr>
        <p:spPr>
          <a:xfrm>
            <a:off x="1441982" y="2404334"/>
            <a:ext cx="635776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09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circle(in)">
                                      <p:cBhvr>
                                        <p:cTn id="7"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41C183-160B-4AF4-8DFF-7402B45B6DF3}"/>
              </a:ext>
            </a:extLst>
          </p:cNvPr>
          <p:cNvSpPr>
            <a:spLocks noGrp="1"/>
          </p:cNvSpPr>
          <p:nvPr>
            <p:ph type="title"/>
          </p:nvPr>
        </p:nvSpPr>
        <p:spPr/>
        <p:txBody>
          <a:bodyPr/>
          <a:lstStyle/>
          <a:p>
            <a:pPr algn="r"/>
            <a:r>
              <a:rPr lang="en-US" b="0" dirty="0"/>
              <a:t>AI Applications</a:t>
            </a:r>
          </a:p>
        </p:txBody>
      </p:sp>
      <p:pic>
        <p:nvPicPr>
          <p:cNvPr id="1026" name="Picture 2" descr="See the source image">
            <a:extLst>
              <a:ext uri="{FF2B5EF4-FFF2-40B4-BE49-F238E27FC236}">
                <a16:creationId xmlns:a16="http://schemas.microsoft.com/office/drawing/2014/main" id="{F98A3C3F-FA27-48D0-B2A5-D3D602D0B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668" y="994173"/>
            <a:ext cx="6754333" cy="41216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C3D0DF-0877-4BDD-8A72-7E8E7B80E7D9}"/>
              </a:ext>
            </a:extLst>
          </p:cNvPr>
          <p:cNvSpPr txBox="1"/>
          <p:nvPr/>
        </p:nvSpPr>
        <p:spPr>
          <a:xfrm>
            <a:off x="2901949" y="1111251"/>
            <a:ext cx="1409699" cy="207749"/>
          </a:xfrm>
          <a:prstGeom prst="rect">
            <a:avLst/>
          </a:prstGeom>
          <a:solidFill>
            <a:schemeClr val="bg1"/>
          </a:solidFill>
        </p:spPr>
        <p:txBody>
          <a:bodyPr wrap="square" rIns="0" rtlCol="0">
            <a:spAutoFit/>
          </a:bodyPr>
          <a:lstStyle/>
          <a:p>
            <a:pPr algn="r"/>
            <a:r>
              <a:rPr lang="en-US" sz="750" b="1" dirty="0">
                <a:solidFill>
                  <a:srgbClr val="6A8E94"/>
                </a:solidFill>
              </a:rPr>
              <a:t>Reinforcement</a:t>
            </a:r>
          </a:p>
        </p:txBody>
      </p:sp>
      <p:sp>
        <p:nvSpPr>
          <p:cNvPr id="2" name="Rectangle 1">
            <a:extLst>
              <a:ext uri="{FF2B5EF4-FFF2-40B4-BE49-F238E27FC236}">
                <a16:creationId xmlns:a16="http://schemas.microsoft.com/office/drawing/2014/main" id="{A60C86C4-BE91-4A12-9B1F-76A0D832D5F7}"/>
              </a:ext>
            </a:extLst>
          </p:cNvPr>
          <p:cNvSpPr/>
          <p:nvPr/>
        </p:nvSpPr>
        <p:spPr>
          <a:xfrm>
            <a:off x="3555402" y="1678193"/>
            <a:ext cx="847165" cy="2581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67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Supervised Learning</a:t>
            </a:r>
          </a:p>
        </p:txBody>
      </p:sp>
      <p:sp>
        <p:nvSpPr>
          <p:cNvPr id="3" name="Content Placeholder 2"/>
          <p:cNvSpPr>
            <a:spLocks noGrp="1"/>
          </p:cNvSpPr>
          <p:nvPr>
            <p:ph idx="1"/>
          </p:nvPr>
        </p:nvSpPr>
        <p:spPr/>
        <p:txBody>
          <a:bodyPr>
            <a:normAutofit/>
          </a:bodyPr>
          <a:lstStyle/>
          <a:p>
            <a:r>
              <a:rPr lang="en-US" dirty="0"/>
              <a:t>Machine learning tasks that use historic data (i.e., some “truth”) to guide the learning (aka “train the model”)</a:t>
            </a:r>
          </a:p>
          <a:p>
            <a:r>
              <a:rPr lang="en-US" dirty="0"/>
              <a:t>Two primary tasks</a:t>
            </a:r>
          </a:p>
          <a:p>
            <a:pPr lvl="1"/>
            <a:r>
              <a:rPr lang="en-US" b="1" dirty="0"/>
              <a:t>Classification</a:t>
            </a:r>
            <a:r>
              <a:rPr lang="en-US" dirty="0"/>
              <a:t> – predict category</a:t>
            </a:r>
          </a:p>
          <a:p>
            <a:pPr lvl="1"/>
            <a:r>
              <a:rPr lang="en-US" b="1" dirty="0"/>
              <a:t>Regression</a:t>
            </a:r>
            <a:r>
              <a:rPr lang="en-US" dirty="0"/>
              <a:t> – predict numeric value</a:t>
            </a:r>
            <a:endParaRPr lang="en-US" b="1" dirty="0"/>
          </a:p>
        </p:txBody>
      </p:sp>
    </p:spTree>
    <p:extLst>
      <p:ext uri="{BB962C8B-B14F-4D97-AF65-F5344CB8AC3E}">
        <p14:creationId xmlns:p14="http://schemas.microsoft.com/office/powerpoint/2010/main" val="42312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3543300"/>
            <a:ext cx="1446073"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rotWithShape="1">
          <a:blip r:embed="rId4"/>
          <a:srcRect l="3334" t="16666" r="47499" b="13333"/>
          <a:stretch/>
        </p:blipFill>
        <p:spPr>
          <a:xfrm>
            <a:off x="6000750" y="3041220"/>
            <a:ext cx="1674434" cy="1787955"/>
          </a:xfrm>
          <a:prstGeom prst="rect">
            <a:avLst/>
          </a:prstGeom>
        </p:spPr>
      </p:pic>
      <p:sp>
        <p:nvSpPr>
          <p:cNvPr id="2" name="Title 1"/>
          <p:cNvSpPr>
            <a:spLocks noGrp="1"/>
          </p:cNvSpPr>
          <p:nvPr>
            <p:ph type="title"/>
          </p:nvPr>
        </p:nvSpPr>
        <p:spPr/>
        <p:txBody>
          <a:bodyPr/>
          <a:lstStyle/>
          <a:p>
            <a:r>
              <a:rPr lang="en-US"/>
              <a:t>Machine Learning Tasks	</a:t>
            </a:r>
          </a:p>
        </p:txBody>
      </p:sp>
      <p:sp>
        <p:nvSpPr>
          <p:cNvPr id="3" name="Content Placeholder 2"/>
          <p:cNvSpPr>
            <a:spLocks noGrp="1"/>
          </p:cNvSpPr>
          <p:nvPr>
            <p:ph idx="1"/>
          </p:nvPr>
        </p:nvSpPr>
        <p:spPr>
          <a:xfrm>
            <a:off x="437653" y="1553540"/>
            <a:ext cx="8268694" cy="3429000"/>
          </a:xfrm>
        </p:spPr>
        <p:txBody>
          <a:bodyPr/>
          <a:lstStyle/>
          <a:p>
            <a:r>
              <a:rPr lang="en-US" sz="2100" b="1" dirty="0"/>
              <a:t>Classification</a:t>
            </a:r>
            <a:endParaRPr lang="en-US" sz="2100" dirty="0"/>
          </a:p>
          <a:p>
            <a:pPr lvl="1"/>
            <a:r>
              <a:rPr lang="en-US" sz="1800" dirty="0"/>
              <a:t>For each example in a population, identify what category the individual belongs in.</a:t>
            </a:r>
          </a:p>
          <a:p>
            <a:pPr lvl="1"/>
            <a:r>
              <a:rPr lang="en-US" sz="1800" dirty="0"/>
              <a:t>Related idea – class probability estimation</a:t>
            </a:r>
          </a:p>
          <a:p>
            <a:pPr lvl="2"/>
            <a:r>
              <a:rPr lang="en-US" sz="1575" dirty="0"/>
              <a:t>What is the probability that the individual belongs to each class?</a:t>
            </a:r>
          </a:p>
          <a:p>
            <a:endParaRPr lang="en-US" sz="1800" dirty="0"/>
          </a:p>
          <a:p>
            <a:endParaRPr lang="en-US" sz="1800" dirty="0"/>
          </a:p>
          <a:p>
            <a:endParaRPr lang="en-US" sz="1800" dirty="0"/>
          </a:p>
          <a:p>
            <a:endParaRPr lang="en-US" sz="1800" dirty="0"/>
          </a:p>
          <a:p>
            <a:endParaRPr lang="en-US" sz="1800" dirty="0"/>
          </a:p>
        </p:txBody>
      </p:sp>
      <p:pic>
        <p:nvPicPr>
          <p:cNvPr id="4" name="Picture 3"/>
          <p:cNvPicPr>
            <a:picLocks noChangeAspect="1"/>
          </p:cNvPicPr>
          <p:nvPr/>
        </p:nvPicPr>
        <p:blipFill>
          <a:blip r:embed="rId5"/>
          <a:stretch>
            <a:fillRect/>
          </a:stretch>
        </p:blipFill>
        <p:spPr>
          <a:xfrm>
            <a:off x="5864182" y="228600"/>
            <a:ext cx="1947569" cy="1526165"/>
          </a:xfrm>
          <a:prstGeom prst="rect">
            <a:avLst/>
          </a:prstGeom>
        </p:spPr>
      </p:pic>
    </p:spTree>
    <p:extLst>
      <p:ext uri="{BB962C8B-B14F-4D97-AF65-F5344CB8AC3E}">
        <p14:creationId xmlns:p14="http://schemas.microsoft.com/office/powerpoint/2010/main" val="25928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Machine Learning Tasks	</a:t>
            </a:r>
          </a:p>
        </p:txBody>
      </p:sp>
      <p:sp>
        <p:nvSpPr>
          <p:cNvPr id="3" name="Content Placeholder 2"/>
          <p:cNvSpPr>
            <a:spLocks noGrp="1"/>
          </p:cNvSpPr>
          <p:nvPr>
            <p:ph idx="1"/>
          </p:nvPr>
        </p:nvSpPr>
        <p:spPr/>
        <p:txBody>
          <a:bodyPr/>
          <a:lstStyle/>
          <a:p>
            <a:r>
              <a:rPr lang="en-US" sz="2100" b="1" dirty="0"/>
              <a:t>Regression </a:t>
            </a:r>
            <a:r>
              <a:rPr lang="en-US" sz="2100" dirty="0"/>
              <a:t>(“value estimation”)</a:t>
            </a:r>
          </a:p>
          <a:p>
            <a:pPr lvl="1"/>
            <a:r>
              <a:rPr lang="en-US" sz="1800" dirty="0"/>
              <a:t>Estimate (or predict), for each individual, the numerical value of some variable.</a:t>
            </a:r>
          </a:p>
          <a:p>
            <a:endParaRPr lang="en-US" sz="1800" dirty="0"/>
          </a:p>
          <a:p>
            <a:endParaRPr lang="en-US" sz="1800" dirty="0"/>
          </a:p>
          <a:p>
            <a:endParaRPr lang="en-US" sz="1800" dirty="0"/>
          </a:p>
          <a:p>
            <a:endParaRPr lang="en-US" sz="1800" dirty="0"/>
          </a:p>
          <a:p>
            <a:endParaRPr lang="en-US" sz="1800" dirty="0"/>
          </a:p>
        </p:txBody>
      </p:sp>
      <p:pic>
        <p:nvPicPr>
          <p:cNvPr id="5" name="Picture 4"/>
          <p:cNvPicPr>
            <a:picLocks noChangeAspect="1"/>
          </p:cNvPicPr>
          <p:nvPr/>
        </p:nvPicPr>
        <p:blipFill>
          <a:blip r:embed="rId3"/>
          <a:stretch>
            <a:fillRect/>
          </a:stretch>
        </p:blipFill>
        <p:spPr>
          <a:xfrm>
            <a:off x="1771650" y="2571750"/>
            <a:ext cx="2987161" cy="2057400"/>
          </a:xfrm>
          <a:prstGeom prst="rect">
            <a:avLst/>
          </a:prstGeom>
        </p:spPr>
      </p:pic>
      <p:pic>
        <p:nvPicPr>
          <p:cNvPr id="7" name="Picture 6"/>
          <p:cNvPicPr>
            <a:picLocks noChangeAspect="1"/>
          </p:cNvPicPr>
          <p:nvPr/>
        </p:nvPicPr>
        <p:blipFill>
          <a:blip r:embed="rId4"/>
          <a:stretch>
            <a:fillRect/>
          </a:stretch>
        </p:blipFill>
        <p:spPr>
          <a:xfrm>
            <a:off x="5086350" y="2571750"/>
            <a:ext cx="2856683" cy="1996821"/>
          </a:xfrm>
          <a:prstGeom prst="rect">
            <a:avLst/>
          </a:prstGeom>
        </p:spPr>
      </p:pic>
    </p:spTree>
    <p:extLst>
      <p:ext uri="{BB962C8B-B14F-4D97-AF65-F5344CB8AC3E}">
        <p14:creationId xmlns:p14="http://schemas.microsoft.com/office/powerpoint/2010/main" val="50224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Modeling</a:t>
            </a:r>
          </a:p>
        </p:txBody>
      </p:sp>
      <p:sp>
        <p:nvSpPr>
          <p:cNvPr id="3" name="Content Placeholder 2"/>
          <p:cNvSpPr>
            <a:spLocks noGrp="1"/>
          </p:cNvSpPr>
          <p:nvPr>
            <p:ph idx="1"/>
          </p:nvPr>
        </p:nvSpPr>
        <p:spPr>
          <a:xfrm>
            <a:off x="388506" y="1033356"/>
            <a:ext cx="6006703" cy="3200400"/>
          </a:xfrm>
        </p:spPr>
        <p:txBody>
          <a:bodyPr/>
          <a:lstStyle/>
          <a:p>
            <a:r>
              <a:rPr lang="en-US" dirty="0"/>
              <a:t>The heart of data mining</a:t>
            </a:r>
          </a:p>
          <a:p>
            <a:r>
              <a:rPr lang="en-US" dirty="0"/>
              <a:t>Takes examples as input </a:t>
            </a:r>
          </a:p>
          <a:p>
            <a:r>
              <a:rPr lang="en-US" dirty="0"/>
              <a:t>Outputs a model of the data</a:t>
            </a:r>
          </a:p>
          <a:p>
            <a:endParaRPr lang="en-US" dirty="0"/>
          </a:p>
        </p:txBody>
      </p:sp>
      <p:grpSp>
        <p:nvGrpSpPr>
          <p:cNvPr id="4" name="Group 3"/>
          <p:cNvGrpSpPr/>
          <p:nvPr/>
        </p:nvGrpSpPr>
        <p:grpSpPr>
          <a:xfrm>
            <a:off x="6858000" y="54116"/>
            <a:ext cx="1028700" cy="1028700"/>
            <a:chOff x="7620000" y="72155"/>
            <a:chExt cx="1371600" cy="137160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72155"/>
              <a:ext cx="1371600" cy="1371600"/>
            </a:xfrm>
            <a:prstGeom prst="rect">
              <a:avLst/>
            </a:prstGeom>
          </p:spPr>
        </p:pic>
        <p:sp>
          <p:nvSpPr>
            <p:cNvPr id="6" name="Oval 5"/>
            <p:cNvSpPr/>
            <p:nvPr/>
          </p:nvSpPr>
          <p:spPr bwMode="auto">
            <a:xfrm>
              <a:off x="8480234" y="757955"/>
              <a:ext cx="457200" cy="277760"/>
            </a:xfrm>
            <a:prstGeom prst="ellipse">
              <a:avLst/>
            </a:prstGeom>
            <a:noFill/>
            <a:ln w="1905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grpSp>
      <p:sp>
        <p:nvSpPr>
          <p:cNvPr id="25" name="TextBox 24"/>
          <p:cNvSpPr txBox="1"/>
          <p:nvPr/>
        </p:nvSpPr>
        <p:spPr>
          <a:xfrm>
            <a:off x="1343171" y="4343400"/>
            <a:ext cx="1828800" cy="253916"/>
          </a:xfrm>
          <a:prstGeom prst="rect">
            <a:avLst/>
          </a:prstGeom>
          <a:solidFill>
            <a:schemeClr val="bg1"/>
          </a:solidFill>
        </p:spPr>
        <p:txBody>
          <a:bodyPr wrap="square" rtlCol="0">
            <a:spAutoFit/>
          </a:bodyPr>
          <a:lstStyle/>
          <a:p>
            <a:pPr algn="ctr"/>
            <a:r>
              <a:rPr lang="en-US" sz="1050" b="1"/>
              <a:t>Input</a:t>
            </a:r>
          </a:p>
        </p:txBody>
      </p:sp>
      <p:sp>
        <p:nvSpPr>
          <p:cNvPr id="28" name="Right Arrow 27"/>
          <p:cNvSpPr/>
          <p:nvPr/>
        </p:nvSpPr>
        <p:spPr bwMode="auto">
          <a:xfrm>
            <a:off x="5160495" y="3408426"/>
            <a:ext cx="506668" cy="363474"/>
          </a:xfrm>
          <a:prstGeom prst="rightArrow">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30" name="Right Arrow 29"/>
          <p:cNvSpPr/>
          <p:nvPr/>
        </p:nvSpPr>
        <p:spPr bwMode="auto">
          <a:xfrm>
            <a:off x="3155237" y="3432573"/>
            <a:ext cx="506668" cy="363474"/>
          </a:xfrm>
          <a:prstGeom prst="rightArrow">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pic>
        <p:nvPicPr>
          <p:cNvPr id="31" name="Content Placeholder 3"/>
          <p:cNvPicPr>
            <a:picLocks noChangeAspect="1"/>
          </p:cNvPicPr>
          <p:nvPr/>
        </p:nvPicPr>
        <p:blipFill rotWithShape="1">
          <a:blip r:embed="rId4" cstate="print">
            <a:extLst>
              <a:ext uri="{28A0092B-C50C-407E-A947-70E740481C1C}">
                <a14:useLocalDpi xmlns:a14="http://schemas.microsoft.com/office/drawing/2010/main" val="0"/>
              </a:ext>
            </a:extLst>
          </a:blip>
          <a:srcRect l="1136" t="4550" r="62500" b="57530"/>
          <a:stretch/>
        </p:blipFill>
        <p:spPr bwMode="auto">
          <a:xfrm>
            <a:off x="1343171" y="2915840"/>
            <a:ext cx="18288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p:cNvSpPr txBox="1"/>
          <p:nvPr/>
        </p:nvSpPr>
        <p:spPr>
          <a:xfrm>
            <a:off x="1491443" y="2743200"/>
            <a:ext cx="1063112" cy="253916"/>
          </a:xfrm>
          <a:prstGeom prst="rect">
            <a:avLst/>
          </a:prstGeom>
          <a:noFill/>
        </p:spPr>
        <p:txBody>
          <a:bodyPr wrap="none" rtlCol="0">
            <a:spAutoFit/>
          </a:bodyPr>
          <a:lstStyle/>
          <a:p>
            <a:r>
              <a:rPr lang="en-US" sz="1050"/>
              <a:t>Historical Data</a:t>
            </a:r>
          </a:p>
        </p:txBody>
      </p:sp>
      <p:grpSp>
        <p:nvGrpSpPr>
          <p:cNvPr id="35" name="Group 34"/>
          <p:cNvGrpSpPr/>
          <p:nvPr/>
        </p:nvGrpSpPr>
        <p:grpSpPr>
          <a:xfrm>
            <a:off x="3714750" y="2857500"/>
            <a:ext cx="1405055" cy="1371601"/>
            <a:chOff x="3429000" y="3657600"/>
            <a:chExt cx="1873406" cy="1828801"/>
          </a:xfrm>
        </p:grpSpPr>
        <p:pic>
          <p:nvPicPr>
            <p:cNvPr id="32" name="Picture 31"/>
            <p:cNvPicPr>
              <a:picLocks noChangeAspect="1"/>
            </p:cNvPicPr>
            <p:nvPr/>
          </p:nvPicPr>
          <p:blipFill rotWithShape="1">
            <a:blip r:embed="rId5"/>
            <a:srcRect l="33702" t="8294" r="23908" b="13982"/>
            <a:stretch/>
          </p:blipFill>
          <p:spPr>
            <a:xfrm>
              <a:off x="3429000" y="3657600"/>
              <a:ext cx="1873406" cy="1828801"/>
            </a:xfrm>
            <a:prstGeom prst="rect">
              <a:avLst/>
            </a:prstGeom>
          </p:spPr>
        </p:pic>
        <p:sp>
          <p:nvSpPr>
            <p:cNvPr id="34" name="TextBox 33"/>
            <p:cNvSpPr txBox="1"/>
            <p:nvPr/>
          </p:nvSpPr>
          <p:spPr>
            <a:xfrm>
              <a:off x="3603215" y="4525351"/>
              <a:ext cx="1202712" cy="553997"/>
            </a:xfrm>
            <a:prstGeom prst="rect">
              <a:avLst/>
            </a:prstGeom>
            <a:solidFill>
              <a:schemeClr val="tx1"/>
            </a:solidFill>
          </p:spPr>
          <p:txBody>
            <a:bodyPr wrap="square" rtlCol="0">
              <a:spAutoFit/>
            </a:bodyPr>
            <a:lstStyle/>
            <a:p>
              <a:r>
                <a:rPr lang="en-US" sz="1050">
                  <a:solidFill>
                    <a:schemeClr val="bg1"/>
                  </a:solidFill>
                </a:rPr>
                <a:t>Modelling Process</a:t>
              </a:r>
            </a:p>
          </p:txBody>
        </p:sp>
      </p:grpSp>
      <p:pic>
        <p:nvPicPr>
          <p:cNvPr id="36" name="Pictur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07852" y="2845077"/>
            <a:ext cx="2128156" cy="1645481"/>
          </a:xfrm>
          <a:prstGeom prst="rect">
            <a:avLst/>
          </a:prstGeom>
        </p:spPr>
      </p:pic>
      <p:sp>
        <p:nvSpPr>
          <p:cNvPr id="37" name="Rectangle 36"/>
          <p:cNvSpPr/>
          <p:nvPr/>
        </p:nvSpPr>
        <p:spPr>
          <a:xfrm>
            <a:off x="5752143" y="2575300"/>
            <a:ext cx="2073926" cy="230832"/>
          </a:xfrm>
          <a:prstGeom prst="rect">
            <a:avLst/>
          </a:prstGeom>
        </p:spPr>
        <p:txBody>
          <a:bodyPr wrap="square">
            <a:spAutoFit/>
          </a:bodyPr>
          <a:lstStyle/>
          <a:p>
            <a:r>
              <a:rPr lang="en-US" sz="900"/>
              <a:t>Visualization of a (linear) model</a:t>
            </a:r>
          </a:p>
        </p:txBody>
      </p:sp>
      <p:sp>
        <p:nvSpPr>
          <p:cNvPr id="38" name="5-Point Star 37"/>
          <p:cNvSpPr/>
          <p:nvPr/>
        </p:nvSpPr>
        <p:spPr bwMode="auto">
          <a:xfrm>
            <a:off x="7347503" y="3418862"/>
            <a:ext cx="189033" cy="171450"/>
          </a:xfrm>
          <a:prstGeom prst="star5">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39" name="TextBox 38"/>
          <p:cNvSpPr txBox="1"/>
          <p:nvPr/>
        </p:nvSpPr>
        <p:spPr>
          <a:xfrm>
            <a:off x="5894713" y="4517200"/>
            <a:ext cx="1828800" cy="253916"/>
          </a:xfrm>
          <a:prstGeom prst="rect">
            <a:avLst/>
          </a:prstGeom>
          <a:solidFill>
            <a:schemeClr val="bg1"/>
          </a:solidFill>
        </p:spPr>
        <p:txBody>
          <a:bodyPr wrap="square" rtlCol="0">
            <a:spAutoFit/>
          </a:bodyPr>
          <a:lstStyle/>
          <a:p>
            <a:pPr algn="ctr"/>
            <a:r>
              <a:rPr lang="en-US" sz="1050" b="1"/>
              <a:t>Output</a:t>
            </a:r>
          </a:p>
        </p:txBody>
      </p:sp>
      <p:sp>
        <p:nvSpPr>
          <p:cNvPr id="40" name="Rectangle 39"/>
          <p:cNvSpPr/>
          <p:nvPr/>
        </p:nvSpPr>
        <p:spPr bwMode="auto">
          <a:xfrm>
            <a:off x="3155237" y="4575430"/>
            <a:ext cx="2739476" cy="176147"/>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Tree>
    <p:extLst>
      <p:ext uri="{BB962C8B-B14F-4D97-AF65-F5344CB8AC3E}">
        <p14:creationId xmlns:p14="http://schemas.microsoft.com/office/powerpoint/2010/main" val="400625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down)">
                                      <p:cBhvr>
                                        <p:cTn id="10" dur="500"/>
                                        <p:tgtEl>
                                          <p:spTgt spid="3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500"/>
                                        <p:tgtEl>
                                          <p:spTgt spid="2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down)">
                                      <p:cBhvr>
                                        <p:cTn id="16" dur="500"/>
                                        <p:tgtEl>
                                          <p:spTgt spid="33"/>
                                        </p:tgtEl>
                                      </p:cBhvr>
                                    </p:animEffec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0" grpId="0" animBg="1"/>
      <p:bldP spid="33" grpId="0"/>
      <p:bldP spid="37" grpId="0"/>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 Creation and Model Use</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00250" y="1314451"/>
            <a:ext cx="5029200" cy="3767819"/>
          </a:xfrm>
        </p:spPr>
      </p:pic>
      <p:grpSp>
        <p:nvGrpSpPr>
          <p:cNvPr id="5" name="Group 4"/>
          <p:cNvGrpSpPr/>
          <p:nvPr/>
        </p:nvGrpSpPr>
        <p:grpSpPr>
          <a:xfrm>
            <a:off x="4122420" y="1543050"/>
            <a:ext cx="1143000" cy="1115786"/>
            <a:chOff x="3226550" y="3455150"/>
            <a:chExt cx="1873406" cy="1828801"/>
          </a:xfrm>
        </p:grpSpPr>
        <p:pic>
          <p:nvPicPr>
            <p:cNvPr id="6" name="Picture 5"/>
            <p:cNvPicPr>
              <a:picLocks noChangeAspect="1"/>
            </p:cNvPicPr>
            <p:nvPr/>
          </p:nvPicPr>
          <p:blipFill rotWithShape="1">
            <a:blip r:embed="rId4"/>
            <a:srcRect l="33702" t="8294" r="23908" b="13982"/>
            <a:stretch/>
          </p:blipFill>
          <p:spPr>
            <a:xfrm>
              <a:off x="3226550" y="3455150"/>
              <a:ext cx="1873406" cy="1828801"/>
            </a:xfrm>
            <a:prstGeom prst="rect">
              <a:avLst/>
            </a:prstGeom>
          </p:spPr>
        </p:pic>
        <p:sp>
          <p:nvSpPr>
            <p:cNvPr id="7" name="TextBox 6"/>
            <p:cNvSpPr txBox="1"/>
            <p:nvPr/>
          </p:nvSpPr>
          <p:spPr>
            <a:xfrm>
              <a:off x="3320220" y="4298182"/>
              <a:ext cx="1296382" cy="681012"/>
            </a:xfrm>
            <a:prstGeom prst="rect">
              <a:avLst/>
            </a:prstGeom>
            <a:solidFill>
              <a:schemeClr val="tx1"/>
            </a:solidFill>
          </p:spPr>
          <p:txBody>
            <a:bodyPr wrap="square" rtlCol="0">
              <a:spAutoFit/>
            </a:bodyPr>
            <a:lstStyle/>
            <a:p>
              <a:r>
                <a:rPr lang="en-US" sz="1050">
                  <a:solidFill>
                    <a:schemeClr val="bg1"/>
                  </a:solidFill>
                </a:rPr>
                <a:t>Modelling Process</a:t>
              </a:r>
            </a:p>
          </p:txBody>
        </p:sp>
      </p:grpSp>
    </p:spTree>
    <p:extLst>
      <p:ext uri="{BB962C8B-B14F-4D97-AF65-F5344CB8AC3E}">
        <p14:creationId xmlns:p14="http://schemas.microsoft.com/office/powerpoint/2010/main" val="1054417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3BA99-3322-146F-69E7-A11FD45A605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FF58D29-EFC2-94A8-7314-00F713778FCE}"/>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90E21D0C-A6FD-5F87-FF46-D9134CB918EE}"/>
              </a:ext>
            </a:extLst>
          </p:cNvPr>
          <p:cNvSpPr>
            <a:spLocks noGrp="1"/>
          </p:cNvSpPr>
          <p:nvPr>
            <p:ph type="subTitle" idx="1"/>
          </p:nvPr>
        </p:nvSpPr>
        <p:spPr/>
        <p:txBody>
          <a:bodyPr/>
          <a:lstStyle/>
          <a:p>
            <a:r>
              <a:rPr lang="en-US" dirty="0"/>
              <a:t>Decision Tree</a:t>
            </a:r>
          </a:p>
        </p:txBody>
      </p:sp>
      <p:sp>
        <p:nvSpPr>
          <p:cNvPr id="4" name="Date Placeholder 3">
            <a:extLst>
              <a:ext uri="{FF2B5EF4-FFF2-40B4-BE49-F238E27FC236}">
                <a16:creationId xmlns:a16="http://schemas.microsoft.com/office/drawing/2014/main" id="{1D6F5C31-7B7B-1BDE-DC59-D7838F95F4F5}"/>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163428DA-F7AB-6F39-B995-F1F93E5C4A2C}"/>
              </a:ext>
            </a:extLst>
          </p:cNvPr>
          <p:cNvSpPr>
            <a:spLocks noGrp="1"/>
          </p:cNvSpPr>
          <p:nvPr>
            <p:ph type="sldNum" idx="12"/>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3679005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11480" y="308611"/>
            <a:ext cx="6173470" cy="685800"/>
          </a:xfrm>
        </p:spPr>
        <p:txBody>
          <a:bodyPr/>
          <a:lstStyle/>
          <a:p>
            <a:r>
              <a:rPr lang="en-US" altLang="en-US"/>
              <a:t>Decision Tree</a:t>
            </a:r>
          </a:p>
        </p:txBody>
      </p:sp>
      <p:sp>
        <p:nvSpPr>
          <p:cNvPr id="133123" name="Rectangle 3"/>
          <p:cNvSpPr>
            <a:spLocks noGrp="1" noChangeArrowheads="1"/>
          </p:cNvSpPr>
          <p:nvPr>
            <p:ph idx="1"/>
          </p:nvPr>
        </p:nvSpPr>
        <p:spPr>
          <a:xfrm>
            <a:off x="411480" y="1200149"/>
            <a:ext cx="8268694" cy="3429000"/>
          </a:xfrm>
        </p:spPr>
        <p:txBody>
          <a:bodyPr/>
          <a:lstStyle/>
          <a:p>
            <a:r>
              <a:rPr lang="en-US" altLang="en-US" dirty="0"/>
              <a:t>Decision Trees a popular data mining technique </a:t>
            </a:r>
          </a:p>
          <a:p>
            <a:r>
              <a:rPr lang="en-US" altLang="en-US" dirty="0"/>
              <a:t>Why?</a:t>
            </a:r>
          </a:p>
          <a:p>
            <a:pPr lvl="1"/>
            <a:r>
              <a:rPr lang="en-US" altLang="en-US" dirty="0"/>
              <a:t>Easy to understand - key for communicating to non-technical decision makers</a:t>
            </a:r>
          </a:p>
          <a:p>
            <a:pPr lvl="1"/>
            <a:r>
              <a:rPr lang="en-US" altLang="en-US" dirty="0"/>
              <a:t>Easy to implement</a:t>
            </a:r>
          </a:p>
          <a:p>
            <a:pPr lvl="1"/>
            <a:r>
              <a:rPr lang="en-US" altLang="en-US" dirty="0"/>
              <a:t>Easy to use</a:t>
            </a:r>
          </a:p>
          <a:p>
            <a:pPr lvl="1"/>
            <a:r>
              <a:rPr lang="en-US" altLang="en-US" dirty="0"/>
              <a:t>Computationally cheap</a:t>
            </a:r>
          </a:p>
          <a:p>
            <a:r>
              <a:rPr lang="en-US" altLang="en-US" dirty="0"/>
              <a:t>Works remarkably well </a:t>
            </a:r>
          </a:p>
        </p:txBody>
      </p:sp>
      <p:pic>
        <p:nvPicPr>
          <p:cNvPr id="1026" name="Picture 2" descr="Machine Learning in HR - Intelligent Modelling">
            <a:extLst>
              <a:ext uri="{FF2B5EF4-FFF2-40B4-BE49-F238E27FC236}">
                <a16:creationId xmlns:a16="http://schemas.microsoft.com/office/drawing/2014/main" id="{9F6BFD8A-B498-2212-662D-85D3AB2B8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825" y="1990493"/>
            <a:ext cx="6482544" cy="3079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41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8919-D390-D693-A697-9C3655802F82}"/>
              </a:ext>
            </a:extLst>
          </p:cNvPr>
          <p:cNvSpPr>
            <a:spLocks noGrp="1"/>
          </p:cNvSpPr>
          <p:nvPr>
            <p:ph type="title"/>
          </p:nvPr>
        </p:nvSpPr>
        <p:spPr/>
        <p:txBody>
          <a:bodyPr/>
          <a:lstStyle/>
          <a:p>
            <a:r>
              <a:rPr lang="en-US" dirty="0"/>
              <a:t>Tree Terminology</a:t>
            </a:r>
          </a:p>
        </p:txBody>
      </p:sp>
      <p:sp>
        <p:nvSpPr>
          <p:cNvPr id="4" name="Date Placeholder 3">
            <a:extLst>
              <a:ext uri="{FF2B5EF4-FFF2-40B4-BE49-F238E27FC236}">
                <a16:creationId xmlns:a16="http://schemas.microsoft.com/office/drawing/2014/main" id="{40636759-B123-34CE-663E-06AEC1FAA25F}"/>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45E0E452-1655-E5EC-338C-5537875EEAC6}"/>
              </a:ext>
            </a:extLst>
          </p:cNvPr>
          <p:cNvSpPr>
            <a:spLocks noGrp="1"/>
          </p:cNvSpPr>
          <p:nvPr>
            <p:ph type="sldNum" sz="quarter" idx="11"/>
          </p:nvPr>
        </p:nvSpPr>
        <p:spPr/>
        <p:txBody>
          <a:bodyPr/>
          <a:lstStyle/>
          <a:p>
            <a:fld id="{64E5BE4B-2FBF-4174-9E62-85FAD1CB43A6}" type="slidenum">
              <a:rPr lang="en-US" smtClean="0"/>
              <a:pPr/>
              <a:t>12</a:t>
            </a:fld>
            <a:endParaRPr lang="en-US"/>
          </a:p>
        </p:txBody>
      </p:sp>
      <p:pic>
        <p:nvPicPr>
          <p:cNvPr id="2050" name="Picture 2" descr="DECISION TREE (Titanic dataset) | MachineLearningBlogs">
            <a:extLst>
              <a:ext uri="{FF2B5EF4-FFF2-40B4-BE49-F238E27FC236}">
                <a16:creationId xmlns:a16="http://schemas.microsoft.com/office/drawing/2014/main" id="{48A312C4-1522-0384-1D4B-BCE56968CF8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26406" y="1362075"/>
            <a:ext cx="563880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2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en-US" dirty="0"/>
              <a:t>Decision Boundaries</a:t>
            </a:r>
          </a:p>
        </p:txBody>
      </p:sp>
      <p:sp>
        <p:nvSpPr>
          <p:cNvPr id="139349" name="Text Box 85"/>
          <p:cNvSpPr txBox="1">
            <a:spLocks noChangeArrowheads="1"/>
          </p:cNvSpPr>
          <p:nvPr/>
        </p:nvSpPr>
        <p:spPr bwMode="auto">
          <a:xfrm>
            <a:off x="1310633" y="4724314"/>
            <a:ext cx="640605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en-US" altLang="en-US" sz="1050">
                <a:latin typeface="Tahoma" panose="020B0604030504040204" pitchFamily="34" charset="0"/>
                <a:cs typeface="Arial" panose="020B0604020202020204" pitchFamily="34" charset="0"/>
              </a:rPr>
              <a:t>Decision trees </a:t>
            </a:r>
            <a:r>
              <a:rPr lang="en-US" altLang="en-US" sz="1050">
                <a:solidFill>
                  <a:schemeClr val="tx2"/>
                </a:solidFill>
                <a:latin typeface="Tahoma" panose="020B0604030504040204" pitchFamily="34" charset="0"/>
                <a:cs typeface="Arial" panose="020B0604020202020204" pitchFamily="34" charset="0"/>
              </a:rPr>
              <a:t>partition the example space with perpendicular decision boundaries</a:t>
            </a:r>
          </a:p>
        </p:txBody>
      </p:sp>
      <p:grpSp>
        <p:nvGrpSpPr>
          <p:cNvPr id="21" name="Group 20">
            <a:extLst>
              <a:ext uri="{FF2B5EF4-FFF2-40B4-BE49-F238E27FC236}">
                <a16:creationId xmlns:a16="http://schemas.microsoft.com/office/drawing/2014/main" id="{46D5C474-1C04-15E1-A950-67CA71E309A6}"/>
              </a:ext>
            </a:extLst>
          </p:cNvPr>
          <p:cNvGrpSpPr/>
          <p:nvPr/>
        </p:nvGrpSpPr>
        <p:grpSpPr>
          <a:xfrm>
            <a:off x="4481274" y="1281476"/>
            <a:ext cx="4193147" cy="3155772"/>
            <a:chOff x="4481274" y="1281476"/>
            <a:chExt cx="4193147" cy="3155772"/>
          </a:xfrm>
        </p:grpSpPr>
        <p:sp>
          <p:nvSpPr>
            <p:cNvPr id="134" name="Text Box 6">
              <a:extLst>
                <a:ext uri="{FF2B5EF4-FFF2-40B4-BE49-F238E27FC236}">
                  <a16:creationId xmlns:a16="http://schemas.microsoft.com/office/drawing/2014/main" id="{51C226D2-635C-4A0D-86DD-053A033B2796}"/>
                </a:ext>
              </a:extLst>
            </p:cNvPr>
            <p:cNvSpPr txBox="1">
              <a:spLocks noChangeArrowheads="1"/>
            </p:cNvSpPr>
            <p:nvPr/>
          </p:nvSpPr>
          <p:spPr bwMode="auto">
            <a:xfrm>
              <a:off x="7366006" y="4141819"/>
              <a:ext cx="64472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Balance</a:t>
              </a:r>
            </a:p>
          </p:txBody>
        </p:sp>
        <p:sp>
          <p:nvSpPr>
            <p:cNvPr id="135" name="Text Box 5">
              <a:extLst>
                <a:ext uri="{FF2B5EF4-FFF2-40B4-BE49-F238E27FC236}">
                  <a16:creationId xmlns:a16="http://schemas.microsoft.com/office/drawing/2014/main" id="{F4CB8541-18A0-408A-8D0C-0B70F4044C27}"/>
                </a:ext>
              </a:extLst>
            </p:cNvPr>
            <p:cNvSpPr txBox="1">
              <a:spLocks noChangeArrowheads="1"/>
            </p:cNvSpPr>
            <p:nvPr/>
          </p:nvSpPr>
          <p:spPr bwMode="auto">
            <a:xfrm>
              <a:off x="4481274" y="1962985"/>
              <a:ext cx="40908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Age</a:t>
              </a:r>
            </a:p>
          </p:txBody>
        </p:sp>
        <p:grpSp>
          <p:nvGrpSpPr>
            <p:cNvPr id="136" name="Group 135">
              <a:extLst>
                <a:ext uri="{FF2B5EF4-FFF2-40B4-BE49-F238E27FC236}">
                  <a16:creationId xmlns:a16="http://schemas.microsoft.com/office/drawing/2014/main" id="{BE5D2CAE-A46A-483F-85EB-076FD66B9F2B}"/>
                </a:ext>
              </a:extLst>
            </p:cNvPr>
            <p:cNvGrpSpPr/>
            <p:nvPr/>
          </p:nvGrpSpPr>
          <p:grpSpPr>
            <a:xfrm>
              <a:off x="6723059" y="2716758"/>
              <a:ext cx="228600" cy="228600"/>
              <a:chOff x="7542212" y="2451100"/>
              <a:chExt cx="304800" cy="304800"/>
            </a:xfrm>
          </p:grpSpPr>
          <p:sp>
            <p:nvSpPr>
              <p:cNvPr id="137" name="Line 13">
                <a:extLst>
                  <a:ext uri="{FF2B5EF4-FFF2-40B4-BE49-F238E27FC236}">
                    <a16:creationId xmlns:a16="http://schemas.microsoft.com/office/drawing/2014/main" id="{7FD5E6B3-B438-41D4-B78F-55905AA38678}"/>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38" name="Line 14">
                <a:extLst>
                  <a:ext uri="{FF2B5EF4-FFF2-40B4-BE49-F238E27FC236}">
                    <a16:creationId xmlns:a16="http://schemas.microsoft.com/office/drawing/2014/main" id="{774A26DE-1A26-4D8B-B405-8B9A9EF13C86}"/>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39" name="Group 138">
              <a:extLst>
                <a:ext uri="{FF2B5EF4-FFF2-40B4-BE49-F238E27FC236}">
                  <a16:creationId xmlns:a16="http://schemas.microsoft.com/office/drawing/2014/main" id="{D9D49DBB-185E-49FF-A9A6-6B6DE623818B}"/>
                </a:ext>
              </a:extLst>
            </p:cNvPr>
            <p:cNvGrpSpPr/>
            <p:nvPr/>
          </p:nvGrpSpPr>
          <p:grpSpPr>
            <a:xfrm>
              <a:off x="7216998" y="1590373"/>
              <a:ext cx="228600" cy="228600"/>
              <a:chOff x="6627812" y="2451100"/>
              <a:chExt cx="304800" cy="304800"/>
            </a:xfrm>
          </p:grpSpPr>
          <p:sp>
            <p:nvSpPr>
              <p:cNvPr id="140" name="Line 19">
                <a:extLst>
                  <a:ext uri="{FF2B5EF4-FFF2-40B4-BE49-F238E27FC236}">
                    <a16:creationId xmlns:a16="http://schemas.microsoft.com/office/drawing/2014/main" id="{BC96F9C5-950F-4007-AA56-AD235F40F045}"/>
                  </a:ext>
                </a:extLst>
              </p:cNvPr>
              <p:cNvSpPr>
                <a:spLocks noChangeShapeType="1"/>
              </p:cNvSpPr>
              <p:nvPr/>
            </p:nvSpPr>
            <p:spPr bwMode="auto">
              <a:xfrm>
                <a:off x="66278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41" name="Line 20">
                <a:extLst>
                  <a:ext uri="{FF2B5EF4-FFF2-40B4-BE49-F238E27FC236}">
                    <a16:creationId xmlns:a16="http://schemas.microsoft.com/office/drawing/2014/main" id="{CD935DC6-7D23-448B-98BF-EB9F7D03CB2F}"/>
                  </a:ext>
                </a:extLst>
              </p:cNvPr>
              <p:cNvSpPr>
                <a:spLocks noChangeShapeType="1"/>
              </p:cNvSpPr>
              <p:nvPr/>
            </p:nvSpPr>
            <p:spPr bwMode="auto">
              <a:xfrm>
                <a:off x="67802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42" name="Oval 25">
              <a:extLst>
                <a:ext uri="{FF2B5EF4-FFF2-40B4-BE49-F238E27FC236}">
                  <a16:creationId xmlns:a16="http://schemas.microsoft.com/office/drawing/2014/main" id="{A151CC47-C744-40AF-8CF6-6842215C7F03}"/>
                </a:ext>
              </a:extLst>
            </p:cNvPr>
            <p:cNvSpPr>
              <a:spLocks noChangeArrowheads="1"/>
            </p:cNvSpPr>
            <p:nvPr/>
          </p:nvSpPr>
          <p:spPr bwMode="auto">
            <a:xfrm>
              <a:off x="6188377" y="3694627"/>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3" name="Text Box 57">
              <a:extLst>
                <a:ext uri="{FF2B5EF4-FFF2-40B4-BE49-F238E27FC236}">
                  <a16:creationId xmlns:a16="http://schemas.microsoft.com/office/drawing/2014/main" id="{64B8850F-9A87-4F3B-AFF2-8ADCDB068764}"/>
                </a:ext>
              </a:extLst>
            </p:cNvPr>
            <p:cNvSpPr txBox="1">
              <a:spLocks noChangeArrowheads="1"/>
            </p:cNvSpPr>
            <p:nvPr/>
          </p:nvSpPr>
          <p:spPr bwMode="auto">
            <a:xfrm>
              <a:off x="4584409" y="2598983"/>
              <a:ext cx="33214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45</a:t>
              </a:r>
            </a:p>
          </p:txBody>
        </p:sp>
        <p:sp>
          <p:nvSpPr>
            <p:cNvPr id="144" name="Text Box 58">
              <a:extLst>
                <a:ext uri="{FF2B5EF4-FFF2-40B4-BE49-F238E27FC236}">
                  <a16:creationId xmlns:a16="http://schemas.microsoft.com/office/drawing/2014/main" id="{1200C7FE-BCE5-4B54-9EF9-C4449BDCE0EF}"/>
                </a:ext>
              </a:extLst>
            </p:cNvPr>
            <p:cNvSpPr txBox="1">
              <a:spLocks noChangeArrowheads="1"/>
            </p:cNvSpPr>
            <p:nvPr/>
          </p:nvSpPr>
          <p:spPr bwMode="auto">
            <a:xfrm>
              <a:off x="6482968" y="4183332"/>
              <a:ext cx="41068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40K</a:t>
              </a:r>
            </a:p>
          </p:txBody>
        </p:sp>
        <p:sp>
          <p:nvSpPr>
            <p:cNvPr id="145" name="Oval 63">
              <a:extLst>
                <a:ext uri="{FF2B5EF4-FFF2-40B4-BE49-F238E27FC236}">
                  <a16:creationId xmlns:a16="http://schemas.microsoft.com/office/drawing/2014/main" id="{7264F6A5-181A-4D76-A5D9-AFC94FD5B705}"/>
                </a:ext>
              </a:extLst>
            </p:cNvPr>
            <p:cNvSpPr>
              <a:spLocks noChangeArrowheads="1"/>
            </p:cNvSpPr>
            <p:nvPr/>
          </p:nvSpPr>
          <p:spPr bwMode="auto">
            <a:xfrm>
              <a:off x="6788618" y="3125877"/>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6" name="Oval 66">
              <a:extLst>
                <a:ext uri="{FF2B5EF4-FFF2-40B4-BE49-F238E27FC236}">
                  <a16:creationId xmlns:a16="http://schemas.microsoft.com/office/drawing/2014/main" id="{F9425D6F-F3AA-4626-96B0-832C43C16B96}"/>
                </a:ext>
              </a:extLst>
            </p:cNvPr>
            <p:cNvSpPr>
              <a:spLocks noChangeArrowheads="1"/>
            </p:cNvSpPr>
            <p:nvPr/>
          </p:nvSpPr>
          <p:spPr bwMode="auto">
            <a:xfrm>
              <a:off x="6755303" y="353184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8" name="Oval 66">
              <a:extLst>
                <a:ext uri="{FF2B5EF4-FFF2-40B4-BE49-F238E27FC236}">
                  <a16:creationId xmlns:a16="http://schemas.microsoft.com/office/drawing/2014/main" id="{DABCDC3F-F64F-4443-A42A-7BB4AE343F38}"/>
                </a:ext>
              </a:extLst>
            </p:cNvPr>
            <p:cNvSpPr>
              <a:spLocks noChangeArrowheads="1"/>
            </p:cNvSpPr>
            <p:nvPr/>
          </p:nvSpPr>
          <p:spPr bwMode="auto">
            <a:xfrm>
              <a:off x="7251705" y="2786734"/>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49" name="Group 148">
              <a:extLst>
                <a:ext uri="{FF2B5EF4-FFF2-40B4-BE49-F238E27FC236}">
                  <a16:creationId xmlns:a16="http://schemas.microsoft.com/office/drawing/2014/main" id="{DAA20B7F-E042-4E9C-A360-2449E7932419}"/>
                </a:ext>
              </a:extLst>
            </p:cNvPr>
            <p:cNvGrpSpPr/>
            <p:nvPr/>
          </p:nvGrpSpPr>
          <p:grpSpPr>
            <a:xfrm>
              <a:off x="5419898" y="2080900"/>
              <a:ext cx="228600" cy="228600"/>
              <a:chOff x="7542212" y="2451100"/>
              <a:chExt cx="304800" cy="304800"/>
            </a:xfrm>
          </p:grpSpPr>
          <p:sp>
            <p:nvSpPr>
              <p:cNvPr id="150" name="Line 13">
                <a:extLst>
                  <a:ext uri="{FF2B5EF4-FFF2-40B4-BE49-F238E27FC236}">
                    <a16:creationId xmlns:a16="http://schemas.microsoft.com/office/drawing/2014/main" id="{7EF5182E-1540-4F7F-B66E-47FDCFF2B37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1" name="Line 14">
                <a:extLst>
                  <a:ext uri="{FF2B5EF4-FFF2-40B4-BE49-F238E27FC236}">
                    <a16:creationId xmlns:a16="http://schemas.microsoft.com/office/drawing/2014/main" id="{04680362-1A2D-445F-855C-5D952FBA12B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2" name="Group 151">
              <a:extLst>
                <a:ext uri="{FF2B5EF4-FFF2-40B4-BE49-F238E27FC236}">
                  <a16:creationId xmlns:a16="http://schemas.microsoft.com/office/drawing/2014/main" id="{B0CD0FB0-87EC-42C8-A7D7-FACCB6772703}"/>
                </a:ext>
              </a:extLst>
            </p:cNvPr>
            <p:cNvGrpSpPr/>
            <p:nvPr/>
          </p:nvGrpSpPr>
          <p:grpSpPr>
            <a:xfrm>
              <a:off x="6085718" y="2963766"/>
              <a:ext cx="228600" cy="228600"/>
              <a:chOff x="7542212" y="2451100"/>
              <a:chExt cx="304800" cy="304800"/>
            </a:xfrm>
          </p:grpSpPr>
          <p:sp>
            <p:nvSpPr>
              <p:cNvPr id="153" name="Line 13">
                <a:extLst>
                  <a:ext uri="{FF2B5EF4-FFF2-40B4-BE49-F238E27FC236}">
                    <a16:creationId xmlns:a16="http://schemas.microsoft.com/office/drawing/2014/main" id="{7C7FBEBF-F058-4043-B3F7-3755F38488AA}"/>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4" name="Line 14">
                <a:extLst>
                  <a:ext uri="{FF2B5EF4-FFF2-40B4-BE49-F238E27FC236}">
                    <a16:creationId xmlns:a16="http://schemas.microsoft.com/office/drawing/2014/main" id="{94487584-96D8-4CF3-95EC-802461397309}"/>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5" name="Group 154">
              <a:extLst>
                <a:ext uri="{FF2B5EF4-FFF2-40B4-BE49-F238E27FC236}">
                  <a16:creationId xmlns:a16="http://schemas.microsoft.com/office/drawing/2014/main" id="{F5BEA682-88AD-46C9-B6C7-8D04C3AC618B}"/>
                </a:ext>
              </a:extLst>
            </p:cNvPr>
            <p:cNvGrpSpPr/>
            <p:nvPr/>
          </p:nvGrpSpPr>
          <p:grpSpPr>
            <a:xfrm>
              <a:off x="5670467" y="2420779"/>
              <a:ext cx="228600" cy="228600"/>
              <a:chOff x="7542212" y="2451100"/>
              <a:chExt cx="304800" cy="304800"/>
            </a:xfrm>
          </p:grpSpPr>
          <p:sp>
            <p:nvSpPr>
              <p:cNvPr id="156" name="Line 13">
                <a:extLst>
                  <a:ext uri="{FF2B5EF4-FFF2-40B4-BE49-F238E27FC236}">
                    <a16:creationId xmlns:a16="http://schemas.microsoft.com/office/drawing/2014/main" id="{53DE3119-A765-442C-9F0E-E2615976FCB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7" name="Line 14">
                <a:extLst>
                  <a:ext uri="{FF2B5EF4-FFF2-40B4-BE49-F238E27FC236}">
                    <a16:creationId xmlns:a16="http://schemas.microsoft.com/office/drawing/2014/main" id="{D1A6CBDA-C1E1-4D5D-918F-AE62348C9EE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8" name="Group 157">
              <a:extLst>
                <a:ext uri="{FF2B5EF4-FFF2-40B4-BE49-F238E27FC236}">
                  <a16:creationId xmlns:a16="http://schemas.microsoft.com/office/drawing/2014/main" id="{56C6D129-17E4-4163-8A82-EEC2A48D6BCC}"/>
                </a:ext>
              </a:extLst>
            </p:cNvPr>
            <p:cNvGrpSpPr/>
            <p:nvPr/>
          </p:nvGrpSpPr>
          <p:grpSpPr>
            <a:xfrm>
              <a:off x="7445598" y="1931856"/>
              <a:ext cx="228600" cy="228600"/>
              <a:chOff x="7542212" y="2451100"/>
              <a:chExt cx="304800" cy="304800"/>
            </a:xfrm>
          </p:grpSpPr>
          <p:sp>
            <p:nvSpPr>
              <p:cNvPr id="159" name="Line 13">
                <a:extLst>
                  <a:ext uri="{FF2B5EF4-FFF2-40B4-BE49-F238E27FC236}">
                    <a16:creationId xmlns:a16="http://schemas.microsoft.com/office/drawing/2014/main" id="{D3FC6393-E01F-407B-89E7-AD3F7473D74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0" name="Line 14">
                <a:extLst>
                  <a:ext uri="{FF2B5EF4-FFF2-40B4-BE49-F238E27FC236}">
                    <a16:creationId xmlns:a16="http://schemas.microsoft.com/office/drawing/2014/main" id="{292F9A9F-0C4D-4696-BF5F-9BDF91F5051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1" name="Group 160">
              <a:extLst>
                <a:ext uri="{FF2B5EF4-FFF2-40B4-BE49-F238E27FC236}">
                  <a16:creationId xmlns:a16="http://schemas.microsoft.com/office/drawing/2014/main" id="{D8356807-4D15-4E67-8244-0C49F48E7E23}"/>
                </a:ext>
              </a:extLst>
            </p:cNvPr>
            <p:cNvGrpSpPr/>
            <p:nvPr/>
          </p:nvGrpSpPr>
          <p:grpSpPr>
            <a:xfrm>
              <a:off x="6232186" y="2524850"/>
              <a:ext cx="228600" cy="228600"/>
              <a:chOff x="7542212" y="2451100"/>
              <a:chExt cx="304800" cy="304800"/>
            </a:xfrm>
          </p:grpSpPr>
          <p:sp>
            <p:nvSpPr>
              <p:cNvPr id="162" name="Line 13">
                <a:extLst>
                  <a:ext uri="{FF2B5EF4-FFF2-40B4-BE49-F238E27FC236}">
                    <a16:creationId xmlns:a16="http://schemas.microsoft.com/office/drawing/2014/main" id="{2D7E682B-F764-426A-9BEB-9C350B0B1D1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3" name="Line 14">
                <a:extLst>
                  <a:ext uri="{FF2B5EF4-FFF2-40B4-BE49-F238E27FC236}">
                    <a16:creationId xmlns:a16="http://schemas.microsoft.com/office/drawing/2014/main" id="{E338B1C4-1CBB-400E-AE6F-F4A570A1BB55}"/>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4" name="Group 163">
              <a:extLst>
                <a:ext uri="{FF2B5EF4-FFF2-40B4-BE49-F238E27FC236}">
                  <a16:creationId xmlns:a16="http://schemas.microsoft.com/office/drawing/2014/main" id="{D5C4822F-3FF9-4686-AD46-3EB0CF788D0E}"/>
                </a:ext>
              </a:extLst>
            </p:cNvPr>
            <p:cNvGrpSpPr/>
            <p:nvPr/>
          </p:nvGrpSpPr>
          <p:grpSpPr>
            <a:xfrm>
              <a:off x="5721788" y="1797099"/>
              <a:ext cx="228600" cy="228600"/>
              <a:chOff x="7542212" y="2451100"/>
              <a:chExt cx="304800" cy="304800"/>
            </a:xfrm>
          </p:grpSpPr>
          <p:sp>
            <p:nvSpPr>
              <p:cNvPr id="165" name="Line 13">
                <a:extLst>
                  <a:ext uri="{FF2B5EF4-FFF2-40B4-BE49-F238E27FC236}">
                    <a16:creationId xmlns:a16="http://schemas.microsoft.com/office/drawing/2014/main" id="{C328812E-218D-4354-9EE8-32B600D28A1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6" name="Line 14">
                <a:extLst>
                  <a:ext uri="{FF2B5EF4-FFF2-40B4-BE49-F238E27FC236}">
                    <a16:creationId xmlns:a16="http://schemas.microsoft.com/office/drawing/2014/main" id="{C687430C-E6FE-457D-BF2E-68BC66EDAB71}"/>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7" name="Group 166">
              <a:extLst>
                <a:ext uri="{FF2B5EF4-FFF2-40B4-BE49-F238E27FC236}">
                  <a16:creationId xmlns:a16="http://schemas.microsoft.com/office/drawing/2014/main" id="{5954B772-BABD-4E7C-B2E8-A0802165E5AE}"/>
                </a:ext>
              </a:extLst>
            </p:cNvPr>
            <p:cNvGrpSpPr/>
            <p:nvPr/>
          </p:nvGrpSpPr>
          <p:grpSpPr>
            <a:xfrm>
              <a:off x="6974397" y="2418106"/>
              <a:ext cx="228600" cy="228600"/>
              <a:chOff x="7542212" y="2451100"/>
              <a:chExt cx="304800" cy="304800"/>
            </a:xfrm>
          </p:grpSpPr>
          <p:sp>
            <p:nvSpPr>
              <p:cNvPr id="168" name="Line 13">
                <a:extLst>
                  <a:ext uri="{FF2B5EF4-FFF2-40B4-BE49-F238E27FC236}">
                    <a16:creationId xmlns:a16="http://schemas.microsoft.com/office/drawing/2014/main" id="{D635D111-2BF5-41C3-93ED-47DEDAD30C5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9" name="Line 14">
                <a:extLst>
                  <a:ext uri="{FF2B5EF4-FFF2-40B4-BE49-F238E27FC236}">
                    <a16:creationId xmlns:a16="http://schemas.microsoft.com/office/drawing/2014/main" id="{21A90A6A-9777-45AC-82B2-3F7C430A900D}"/>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70" name="Oval 63">
              <a:extLst>
                <a:ext uri="{FF2B5EF4-FFF2-40B4-BE49-F238E27FC236}">
                  <a16:creationId xmlns:a16="http://schemas.microsoft.com/office/drawing/2014/main" id="{7191C41B-95C1-4FC2-A8A2-80C5D3F6F733}"/>
                </a:ext>
              </a:extLst>
            </p:cNvPr>
            <p:cNvSpPr>
              <a:spLocks noChangeArrowheads="1"/>
            </p:cNvSpPr>
            <p:nvPr/>
          </p:nvSpPr>
          <p:spPr bwMode="auto">
            <a:xfrm>
              <a:off x="6878426" y="3865314"/>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71" name="Group 170">
              <a:extLst>
                <a:ext uri="{FF2B5EF4-FFF2-40B4-BE49-F238E27FC236}">
                  <a16:creationId xmlns:a16="http://schemas.microsoft.com/office/drawing/2014/main" id="{C4472974-1922-4237-AE81-A4C81C66E869}"/>
                </a:ext>
              </a:extLst>
            </p:cNvPr>
            <p:cNvGrpSpPr/>
            <p:nvPr/>
          </p:nvGrpSpPr>
          <p:grpSpPr>
            <a:xfrm>
              <a:off x="5518221" y="2843884"/>
              <a:ext cx="228600" cy="228600"/>
              <a:chOff x="7542212" y="2451100"/>
              <a:chExt cx="304800" cy="304800"/>
            </a:xfrm>
          </p:grpSpPr>
          <p:sp>
            <p:nvSpPr>
              <p:cNvPr id="172" name="Line 13">
                <a:extLst>
                  <a:ext uri="{FF2B5EF4-FFF2-40B4-BE49-F238E27FC236}">
                    <a16:creationId xmlns:a16="http://schemas.microsoft.com/office/drawing/2014/main" id="{0E32F12B-356F-422C-B1BF-A0607DD6FBE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3" name="Line 14">
                <a:extLst>
                  <a:ext uri="{FF2B5EF4-FFF2-40B4-BE49-F238E27FC236}">
                    <a16:creationId xmlns:a16="http://schemas.microsoft.com/office/drawing/2014/main" id="{B7FA58BF-7B9D-4EB4-808D-DDD37148052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4" name="Group 173">
              <a:extLst>
                <a:ext uri="{FF2B5EF4-FFF2-40B4-BE49-F238E27FC236}">
                  <a16:creationId xmlns:a16="http://schemas.microsoft.com/office/drawing/2014/main" id="{92B1DA46-A662-40F5-983E-C99C9D5D6D48}"/>
                </a:ext>
              </a:extLst>
            </p:cNvPr>
            <p:cNvGrpSpPr/>
            <p:nvPr/>
          </p:nvGrpSpPr>
          <p:grpSpPr>
            <a:xfrm>
              <a:off x="6737227" y="2458183"/>
              <a:ext cx="228600" cy="228600"/>
              <a:chOff x="7542212" y="2451100"/>
              <a:chExt cx="304800" cy="304800"/>
            </a:xfrm>
          </p:grpSpPr>
          <p:sp>
            <p:nvSpPr>
              <p:cNvPr id="175" name="Line 13">
                <a:extLst>
                  <a:ext uri="{FF2B5EF4-FFF2-40B4-BE49-F238E27FC236}">
                    <a16:creationId xmlns:a16="http://schemas.microsoft.com/office/drawing/2014/main" id="{D37685F1-8815-411B-81CA-DECFD2071BD7}"/>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6" name="Line 14">
                <a:extLst>
                  <a:ext uri="{FF2B5EF4-FFF2-40B4-BE49-F238E27FC236}">
                    <a16:creationId xmlns:a16="http://schemas.microsoft.com/office/drawing/2014/main" id="{A4BE35AD-59CC-4074-8AFB-E4EE8F9F7A2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7" name="Group 176">
              <a:extLst>
                <a:ext uri="{FF2B5EF4-FFF2-40B4-BE49-F238E27FC236}">
                  <a16:creationId xmlns:a16="http://schemas.microsoft.com/office/drawing/2014/main" id="{3AE78CE5-3C96-4480-8AE0-6ADE3CBA947C}"/>
                </a:ext>
              </a:extLst>
            </p:cNvPr>
            <p:cNvGrpSpPr/>
            <p:nvPr/>
          </p:nvGrpSpPr>
          <p:grpSpPr>
            <a:xfrm>
              <a:off x="7000700" y="1967965"/>
              <a:ext cx="228600" cy="228600"/>
              <a:chOff x="7542212" y="2451100"/>
              <a:chExt cx="304800" cy="304800"/>
            </a:xfrm>
          </p:grpSpPr>
          <p:sp>
            <p:nvSpPr>
              <p:cNvPr id="178" name="Line 13">
                <a:extLst>
                  <a:ext uri="{FF2B5EF4-FFF2-40B4-BE49-F238E27FC236}">
                    <a16:creationId xmlns:a16="http://schemas.microsoft.com/office/drawing/2014/main" id="{45A41FF6-B373-4EDE-8853-FEA17037AAE4}"/>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9" name="Line 14">
                <a:extLst>
                  <a:ext uri="{FF2B5EF4-FFF2-40B4-BE49-F238E27FC236}">
                    <a16:creationId xmlns:a16="http://schemas.microsoft.com/office/drawing/2014/main" id="{5E41EB61-F184-45C8-B958-4F55CB890BD4}"/>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80" name="Group 179">
              <a:extLst>
                <a:ext uri="{FF2B5EF4-FFF2-40B4-BE49-F238E27FC236}">
                  <a16:creationId xmlns:a16="http://schemas.microsoft.com/office/drawing/2014/main" id="{AF9A46B2-031F-45E5-80E5-B86D35816065}"/>
                </a:ext>
              </a:extLst>
            </p:cNvPr>
            <p:cNvGrpSpPr/>
            <p:nvPr/>
          </p:nvGrpSpPr>
          <p:grpSpPr>
            <a:xfrm>
              <a:off x="5935347" y="2055469"/>
              <a:ext cx="228600" cy="228600"/>
              <a:chOff x="7542212" y="2451100"/>
              <a:chExt cx="304800" cy="304800"/>
            </a:xfrm>
          </p:grpSpPr>
          <p:sp>
            <p:nvSpPr>
              <p:cNvPr id="181" name="Line 13">
                <a:extLst>
                  <a:ext uri="{FF2B5EF4-FFF2-40B4-BE49-F238E27FC236}">
                    <a16:creationId xmlns:a16="http://schemas.microsoft.com/office/drawing/2014/main" id="{A5028BA2-331F-45E7-B845-62CF3232B199}"/>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82" name="Line 14">
                <a:extLst>
                  <a:ext uri="{FF2B5EF4-FFF2-40B4-BE49-F238E27FC236}">
                    <a16:creationId xmlns:a16="http://schemas.microsoft.com/office/drawing/2014/main" id="{76DF9B66-B2E8-4ECF-BF90-E65303E17E6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83" name="Oval 66">
              <a:extLst>
                <a:ext uri="{FF2B5EF4-FFF2-40B4-BE49-F238E27FC236}">
                  <a16:creationId xmlns:a16="http://schemas.microsoft.com/office/drawing/2014/main" id="{F386BDC3-1DC7-4F61-AE1D-AB4A208B95C2}"/>
                </a:ext>
              </a:extLst>
            </p:cNvPr>
            <p:cNvSpPr>
              <a:spLocks noChangeArrowheads="1"/>
            </p:cNvSpPr>
            <p:nvPr/>
          </p:nvSpPr>
          <p:spPr bwMode="auto">
            <a:xfrm>
              <a:off x="7843351" y="31779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84" name="Group 183">
              <a:extLst>
                <a:ext uri="{FF2B5EF4-FFF2-40B4-BE49-F238E27FC236}">
                  <a16:creationId xmlns:a16="http://schemas.microsoft.com/office/drawing/2014/main" id="{73C560F3-3A81-4C48-B37F-5298FE693FCE}"/>
                </a:ext>
              </a:extLst>
            </p:cNvPr>
            <p:cNvGrpSpPr/>
            <p:nvPr/>
          </p:nvGrpSpPr>
          <p:grpSpPr>
            <a:xfrm>
              <a:off x="5159690" y="2520565"/>
              <a:ext cx="228600" cy="228600"/>
              <a:chOff x="7542212" y="2451100"/>
              <a:chExt cx="304800" cy="304800"/>
            </a:xfrm>
          </p:grpSpPr>
          <p:sp>
            <p:nvSpPr>
              <p:cNvPr id="185" name="Line 13">
                <a:extLst>
                  <a:ext uri="{FF2B5EF4-FFF2-40B4-BE49-F238E27FC236}">
                    <a16:creationId xmlns:a16="http://schemas.microsoft.com/office/drawing/2014/main" id="{F976648F-BFB6-4EDD-8A23-43395782FF4D}"/>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86" name="Line 14">
                <a:extLst>
                  <a:ext uri="{FF2B5EF4-FFF2-40B4-BE49-F238E27FC236}">
                    <a16:creationId xmlns:a16="http://schemas.microsoft.com/office/drawing/2014/main" id="{0EE9A469-00B4-4EC6-87BB-BD6213C3DAA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87" name="Oval 25">
              <a:extLst>
                <a:ext uri="{FF2B5EF4-FFF2-40B4-BE49-F238E27FC236}">
                  <a16:creationId xmlns:a16="http://schemas.microsoft.com/office/drawing/2014/main" id="{57D5296C-92C6-4C24-B8F5-446B31BA503C}"/>
                </a:ext>
              </a:extLst>
            </p:cNvPr>
            <p:cNvSpPr>
              <a:spLocks noChangeArrowheads="1"/>
            </p:cNvSpPr>
            <p:nvPr/>
          </p:nvSpPr>
          <p:spPr bwMode="auto">
            <a:xfrm>
              <a:off x="8033854" y="230125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88" name="Group 187">
              <a:extLst>
                <a:ext uri="{FF2B5EF4-FFF2-40B4-BE49-F238E27FC236}">
                  <a16:creationId xmlns:a16="http://schemas.microsoft.com/office/drawing/2014/main" id="{6FA9ECB1-4AA4-4320-B502-38F79D723434}"/>
                </a:ext>
              </a:extLst>
            </p:cNvPr>
            <p:cNvGrpSpPr/>
            <p:nvPr/>
          </p:nvGrpSpPr>
          <p:grpSpPr>
            <a:xfrm>
              <a:off x="5173944" y="3120759"/>
              <a:ext cx="228600" cy="228600"/>
              <a:chOff x="7542212" y="2451100"/>
              <a:chExt cx="304800" cy="304800"/>
            </a:xfrm>
          </p:grpSpPr>
          <p:sp>
            <p:nvSpPr>
              <p:cNvPr id="189" name="Line 13">
                <a:extLst>
                  <a:ext uri="{FF2B5EF4-FFF2-40B4-BE49-F238E27FC236}">
                    <a16:creationId xmlns:a16="http://schemas.microsoft.com/office/drawing/2014/main" id="{D95E26D3-CC88-4121-AE1F-A630216F97C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0" name="Line 14">
                <a:extLst>
                  <a:ext uri="{FF2B5EF4-FFF2-40B4-BE49-F238E27FC236}">
                    <a16:creationId xmlns:a16="http://schemas.microsoft.com/office/drawing/2014/main" id="{6E474DD9-423B-4674-9A93-79770FDC9F6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91" name="Group 190">
              <a:extLst>
                <a:ext uri="{FF2B5EF4-FFF2-40B4-BE49-F238E27FC236}">
                  <a16:creationId xmlns:a16="http://schemas.microsoft.com/office/drawing/2014/main" id="{61B01D4D-571A-4CE0-B816-86CC8475AC28}"/>
                </a:ext>
              </a:extLst>
            </p:cNvPr>
            <p:cNvGrpSpPr/>
            <p:nvPr/>
          </p:nvGrpSpPr>
          <p:grpSpPr>
            <a:xfrm>
              <a:off x="5095454" y="1941169"/>
              <a:ext cx="228600" cy="228600"/>
              <a:chOff x="7542212" y="2451100"/>
              <a:chExt cx="304800" cy="304800"/>
            </a:xfrm>
          </p:grpSpPr>
          <p:sp>
            <p:nvSpPr>
              <p:cNvPr id="192" name="Line 13">
                <a:extLst>
                  <a:ext uri="{FF2B5EF4-FFF2-40B4-BE49-F238E27FC236}">
                    <a16:creationId xmlns:a16="http://schemas.microsoft.com/office/drawing/2014/main" id="{D375707B-9E9B-4FDE-B0A5-86EEA16EB88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3" name="Line 14">
                <a:extLst>
                  <a:ext uri="{FF2B5EF4-FFF2-40B4-BE49-F238E27FC236}">
                    <a16:creationId xmlns:a16="http://schemas.microsoft.com/office/drawing/2014/main" id="{2D72F2CF-E372-47EE-B7BD-4A2A5A0AEC47}"/>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94" name="Oval 25">
              <a:extLst>
                <a:ext uri="{FF2B5EF4-FFF2-40B4-BE49-F238E27FC236}">
                  <a16:creationId xmlns:a16="http://schemas.microsoft.com/office/drawing/2014/main" id="{72252B79-8B72-4C38-9BB8-E5B6A67398C2}"/>
                </a:ext>
              </a:extLst>
            </p:cNvPr>
            <p:cNvSpPr>
              <a:spLocks noChangeArrowheads="1"/>
            </p:cNvSpPr>
            <p:nvPr/>
          </p:nvSpPr>
          <p:spPr bwMode="auto">
            <a:xfrm>
              <a:off x="5478021" y="383031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95" name="Group 194">
              <a:extLst>
                <a:ext uri="{FF2B5EF4-FFF2-40B4-BE49-F238E27FC236}">
                  <a16:creationId xmlns:a16="http://schemas.microsoft.com/office/drawing/2014/main" id="{015B21D9-12D9-4973-95EB-D552C7FB5023}"/>
                </a:ext>
              </a:extLst>
            </p:cNvPr>
            <p:cNvGrpSpPr/>
            <p:nvPr/>
          </p:nvGrpSpPr>
          <p:grpSpPr>
            <a:xfrm>
              <a:off x="4865754" y="1588697"/>
              <a:ext cx="3714750" cy="2627167"/>
              <a:chOff x="1507721" y="2255392"/>
              <a:chExt cx="4953000" cy="3502889"/>
            </a:xfrm>
          </p:grpSpPr>
          <p:sp>
            <p:nvSpPr>
              <p:cNvPr id="196" name="Line 3">
                <a:extLst>
                  <a:ext uri="{FF2B5EF4-FFF2-40B4-BE49-F238E27FC236}">
                    <a16:creationId xmlns:a16="http://schemas.microsoft.com/office/drawing/2014/main" id="{25C4AB7E-688F-4DCB-AFEF-A84B56F57AD9}"/>
                  </a:ext>
                </a:extLst>
              </p:cNvPr>
              <p:cNvSpPr>
                <a:spLocks noChangeShapeType="1"/>
              </p:cNvSpPr>
              <p:nvPr/>
            </p:nvSpPr>
            <p:spPr bwMode="auto">
              <a:xfrm>
                <a:off x="1583921" y="2255392"/>
                <a:ext cx="0" cy="3429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7" name="Line 4">
                <a:extLst>
                  <a:ext uri="{FF2B5EF4-FFF2-40B4-BE49-F238E27FC236}">
                    <a16:creationId xmlns:a16="http://schemas.microsoft.com/office/drawing/2014/main" id="{E3B8094B-441C-4DEB-88BF-56E9047CE92A}"/>
                  </a:ext>
                </a:extLst>
              </p:cNvPr>
              <p:cNvSpPr>
                <a:spLocks noChangeShapeType="1"/>
              </p:cNvSpPr>
              <p:nvPr/>
            </p:nvSpPr>
            <p:spPr bwMode="auto">
              <a:xfrm>
                <a:off x="1583921" y="5684392"/>
                <a:ext cx="487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8" name="Line 60">
                <a:extLst>
                  <a:ext uri="{FF2B5EF4-FFF2-40B4-BE49-F238E27FC236}">
                    <a16:creationId xmlns:a16="http://schemas.microsoft.com/office/drawing/2014/main" id="{B6386C74-31E6-4B2F-8C4D-E3444FBA2109}"/>
                  </a:ext>
                </a:extLst>
              </p:cNvPr>
              <p:cNvSpPr>
                <a:spLocks noChangeShapeType="1"/>
              </p:cNvSpPr>
              <p:nvPr/>
            </p:nvSpPr>
            <p:spPr bwMode="auto">
              <a:xfrm>
                <a:off x="1507721" y="3779392"/>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9" name="Line 60">
                <a:extLst>
                  <a:ext uri="{FF2B5EF4-FFF2-40B4-BE49-F238E27FC236}">
                    <a16:creationId xmlns:a16="http://schemas.microsoft.com/office/drawing/2014/main" id="{599E9825-8623-4FD2-8EBF-1C4B2B24C6F2}"/>
                  </a:ext>
                </a:extLst>
              </p:cNvPr>
              <p:cNvSpPr>
                <a:spLocks noChangeShapeType="1"/>
              </p:cNvSpPr>
              <p:nvPr/>
            </p:nvSpPr>
            <p:spPr bwMode="auto">
              <a:xfrm>
                <a:off x="3951104" y="5575401"/>
                <a:ext cx="0" cy="1828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00" name="Line 48">
              <a:extLst>
                <a:ext uri="{FF2B5EF4-FFF2-40B4-BE49-F238E27FC236}">
                  <a16:creationId xmlns:a16="http://schemas.microsoft.com/office/drawing/2014/main" id="{C8880627-6B67-40CE-A8F2-B5691423B8A6}"/>
                </a:ext>
              </a:extLst>
            </p:cNvPr>
            <p:cNvSpPr>
              <a:spLocks noChangeShapeType="1"/>
            </p:cNvSpPr>
            <p:nvPr/>
          </p:nvSpPr>
          <p:spPr bwMode="auto">
            <a:xfrm>
              <a:off x="6697876" y="1516608"/>
              <a:ext cx="278" cy="2628900"/>
            </a:xfrm>
            <a:prstGeom prst="line">
              <a:avLst/>
            </a:prstGeom>
            <a:noFill/>
            <a:ln w="34925">
              <a:solidFill>
                <a:srgbClr val="3720E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201" name="Line 47">
              <a:extLst>
                <a:ext uri="{FF2B5EF4-FFF2-40B4-BE49-F238E27FC236}">
                  <a16:creationId xmlns:a16="http://schemas.microsoft.com/office/drawing/2014/main" id="{48A3C804-231C-466A-A983-0F44EF52FB0A}"/>
                </a:ext>
              </a:extLst>
            </p:cNvPr>
            <p:cNvSpPr>
              <a:spLocks noChangeShapeType="1"/>
            </p:cNvSpPr>
            <p:nvPr/>
          </p:nvSpPr>
          <p:spPr bwMode="auto">
            <a:xfrm>
              <a:off x="6735935" y="2739747"/>
              <a:ext cx="1812543" cy="418"/>
            </a:xfrm>
            <a:prstGeom prst="line">
              <a:avLst/>
            </a:prstGeom>
            <a:noFill/>
            <a:ln w="31750">
              <a:solidFill>
                <a:srgbClr val="3720E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202" name="Oval 63">
              <a:extLst>
                <a:ext uri="{FF2B5EF4-FFF2-40B4-BE49-F238E27FC236}">
                  <a16:creationId xmlns:a16="http://schemas.microsoft.com/office/drawing/2014/main" id="{665DC179-2FE7-408C-9F02-28F2D449AEEE}"/>
                </a:ext>
              </a:extLst>
            </p:cNvPr>
            <p:cNvSpPr>
              <a:spLocks noChangeArrowheads="1"/>
            </p:cNvSpPr>
            <p:nvPr/>
          </p:nvSpPr>
          <p:spPr bwMode="auto">
            <a:xfrm>
              <a:off x="7419011" y="358899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3" name="Oval 63">
              <a:extLst>
                <a:ext uri="{FF2B5EF4-FFF2-40B4-BE49-F238E27FC236}">
                  <a16:creationId xmlns:a16="http://schemas.microsoft.com/office/drawing/2014/main" id="{C6A7A217-93FE-4B7D-927D-5B7E33D6917A}"/>
                </a:ext>
              </a:extLst>
            </p:cNvPr>
            <p:cNvSpPr>
              <a:spLocks noChangeArrowheads="1"/>
            </p:cNvSpPr>
            <p:nvPr/>
          </p:nvSpPr>
          <p:spPr bwMode="auto">
            <a:xfrm>
              <a:off x="6989848" y="327902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4" name="Oval 66">
              <a:extLst>
                <a:ext uri="{FF2B5EF4-FFF2-40B4-BE49-F238E27FC236}">
                  <a16:creationId xmlns:a16="http://schemas.microsoft.com/office/drawing/2014/main" id="{14D51D45-E2B1-4594-BCB2-91C6EBAEEB88}"/>
                </a:ext>
              </a:extLst>
            </p:cNvPr>
            <p:cNvSpPr>
              <a:spLocks noChangeArrowheads="1"/>
            </p:cNvSpPr>
            <p:nvPr/>
          </p:nvSpPr>
          <p:spPr bwMode="auto">
            <a:xfrm>
              <a:off x="7566140" y="281973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5" name="Text Box 55">
              <a:extLst>
                <a:ext uri="{FF2B5EF4-FFF2-40B4-BE49-F238E27FC236}">
                  <a16:creationId xmlns:a16="http://schemas.microsoft.com/office/drawing/2014/main" id="{BF82CE72-AF79-4B67-8482-304BC046681F}"/>
                </a:ext>
              </a:extLst>
            </p:cNvPr>
            <p:cNvSpPr txBox="1">
              <a:spLocks noChangeArrowheads="1"/>
            </p:cNvSpPr>
            <p:nvPr/>
          </p:nvSpPr>
          <p:spPr bwMode="auto">
            <a:xfrm>
              <a:off x="7787640" y="2767376"/>
              <a:ext cx="88678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solidFill>
                    <a:srgbClr val="3720E0"/>
                  </a:solidFill>
                  <a:latin typeface="Tahoma" panose="020B0604030504040204" pitchFamily="34" charset="0"/>
                  <a:cs typeface="Arial" panose="020B0604020202020204" pitchFamily="34" charset="0"/>
                </a:rPr>
                <a:t>Split on age</a:t>
              </a:r>
            </a:p>
          </p:txBody>
        </p:sp>
        <p:sp>
          <p:nvSpPr>
            <p:cNvPr id="206" name="Text Box 56">
              <a:extLst>
                <a:ext uri="{FF2B5EF4-FFF2-40B4-BE49-F238E27FC236}">
                  <a16:creationId xmlns:a16="http://schemas.microsoft.com/office/drawing/2014/main" id="{73DAFFD9-8466-4264-A883-F4CC427F760F}"/>
                </a:ext>
              </a:extLst>
            </p:cNvPr>
            <p:cNvSpPr txBox="1">
              <a:spLocks noChangeArrowheads="1"/>
            </p:cNvSpPr>
            <p:nvPr/>
          </p:nvSpPr>
          <p:spPr bwMode="auto">
            <a:xfrm>
              <a:off x="6125814" y="1281476"/>
              <a:ext cx="112562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solidFill>
                    <a:srgbClr val="3720E0"/>
                  </a:solidFill>
                  <a:latin typeface="Tahoma" panose="020B0604030504040204" pitchFamily="34" charset="0"/>
                  <a:cs typeface="Arial" panose="020B0604020202020204" pitchFamily="34" charset="0"/>
                </a:rPr>
                <a:t>Split on balance</a:t>
              </a:r>
            </a:p>
          </p:txBody>
        </p:sp>
        <p:pic>
          <p:nvPicPr>
            <p:cNvPr id="255" name="Picture 254">
              <a:extLst>
                <a:ext uri="{FF2B5EF4-FFF2-40B4-BE49-F238E27FC236}">
                  <a16:creationId xmlns:a16="http://schemas.microsoft.com/office/drawing/2014/main" id="{33B68542-CF59-4A71-A6F5-740CE6561114}"/>
                </a:ext>
              </a:extLst>
            </p:cNvPr>
            <p:cNvPicPr>
              <a:picLocks noChangeAspect="1"/>
            </p:cNvPicPr>
            <p:nvPr/>
          </p:nvPicPr>
          <p:blipFill>
            <a:blip r:embed="rId3"/>
            <a:stretch>
              <a:fillRect/>
            </a:stretch>
          </p:blipFill>
          <p:spPr>
            <a:xfrm>
              <a:off x="7989790" y="3711292"/>
              <a:ext cx="604858" cy="474452"/>
            </a:xfrm>
            <a:prstGeom prst="rect">
              <a:avLst/>
            </a:prstGeom>
          </p:spPr>
        </p:pic>
      </p:grpSp>
      <p:grpSp>
        <p:nvGrpSpPr>
          <p:cNvPr id="38" name="Group 37">
            <a:extLst>
              <a:ext uri="{FF2B5EF4-FFF2-40B4-BE49-F238E27FC236}">
                <a16:creationId xmlns:a16="http://schemas.microsoft.com/office/drawing/2014/main" id="{13B114F2-8C84-4EA9-9BD8-05B8CE3626A7}"/>
              </a:ext>
            </a:extLst>
          </p:cNvPr>
          <p:cNvGrpSpPr/>
          <p:nvPr/>
        </p:nvGrpSpPr>
        <p:grpSpPr>
          <a:xfrm>
            <a:off x="1337912" y="1466764"/>
            <a:ext cx="2263122" cy="2768516"/>
            <a:chOff x="6161277" y="1924543"/>
            <a:chExt cx="3017496" cy="3691355"/>
          </a:xfrm>
        </p:grpSpPr>
        <p:sp>
          <p:nvSpPr>
            <p:cNvPr id="39" name="Text Box 70">
              <a:extLst>
                <a:ext uri="{FF2B5EF4-FFF2-40B4-BE49-F238E27FC236}">
                  <a16:creationId xmlns:a16="http://schemas.microsoft.com/office/drawing/2014/main" id="{B9654A66-89F4-475F-B2FD-239C04694C6D}"/>
                </a:ext>
              </a:extLst>
            </p:cNvPr>
            <p:cNvSpPr txBox="1">
              <a:spLocks noChangeArrowheads="1"/>
            </p:cNvSpPr>
            <p:nvPr/>
          </p:nvSpPr>
          <p:spPr bwMode="auto">
            <a:xfrm>
              <a:off x="8051990" y="5277343"/>
              <a:ext cx="10541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Prob.=5/6</a:t>
              </a:r>
            </a:p>
          </p:txBody>
        </p:sp>
        <p:sp>
          <p:nvSpPr>
            <p:cNvPr id="40" name="Text Box 71">
              <a:extLst>
                <a:ext uri="{FF2B5EF4-FFF2-40B4-BE49-F238E27FC236}">
                  <a16:creationId xmlns:a16="http://schemas.microsoft.com/office/drawing/2014/main" id="{983D12FD-BAF1-42AA-8711-8A0AB977B4A4}"/>
                </a:ext>
              </a:extLst>
            </p:cNvPr>
            <p:cNvSpPr txBox="1">
              <a:spLocks noChangeArrowheads="1"/>
            </p:cNvSpPr>
            <p:nvPr/>
          </p:nvSpPr>
          <p:spPr bwMode="auto">
            <a:xfrm>
              <a:off x="6542277" y="5277343"/>
              <a:ext cx="10541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Prob.=8/9</a:t>
              </a:r>
            </a:p>
          </p:txBody>
        </p:sp>
        <p:sp>
          <p:nvSpPr>
            <p:cNvPr id="41" name="Rectangle 72">
              <a:extLst>
                <a:ext uri="{FF2B5EF4-FFF2-40B4-BE49-F238E27FC236}">
                  <a16:creationId xmlns:a16="http://schemas.microsoft.com/office/drawing/2014/main" id="{0D97A2F6-D6D9-4A7B-AA86-A815077AA55F}"/>
                </a:ext>
              </a:extLst>
            </p:cNvPr>
            <p:cNvSpPr>
              <a:spLocks noChangeArrowheads="1"/>
            </p:cNvSpPr>
            <p:nvPr/>
          </p:nvSpPr>
          <p:spPr bwMode="auto">
            <a:xfrm>
              <a:off x="6847077" y="1924543"/>
              <a:ext cx="838200" cy="6096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Balance</a:t>
              </a:r>
            </a:p>
          </p:txBody>
        </p:sp>
        <p:sp>
          <p:nvSpPr>
            <p:cNvPr id="42" name="Line 73">
              <a:extLst>
                <a:ext uri="{FF2B5EF4-FFF2-40B4-BE49-F238E27FC236}">
                  <a16:creationId xmlns:a16="http://schemas.microsoft.com/office/drawing/2014/main" id="{DF164721-6235-471F-9204-4EE1BA32D1EB}"/>
                </a:ext>
              </a:extLst>
            </p:cNvPr>
            <p:cNvSpPr>
              <a:spLocks noChangeShapeType="1"/>
            </p:cNvSpPr>
            <p:nvPr/>
          </p:nvSpPr>
          <p:spPr bwMode="auto">
            <a:xfrm flipH="1">
              <a:off x="66946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3" name="Line 74">
              <a:extLst>
                <a:ext uri="{FF2B5EF4-FFF2-40B4-BE49-F238E27FC236}">
                  <a16:creationId xmlns:a16="http://schemas.microsoft.com/office/drawing/2014/main" id="{8C838645-BC50-44F3-8AE7-6EB50806D237}"/>
                </a:ext>
              </a:extLst>
            </p:cNvPr>
            <p:cNvSpPr>
              <a:spLocks noChangeShapeType="1"/>
            </p:cNvSpPr>
            <p:nvPr/>
          </p:nvSpPr>
          <p:spPr bwMode="auto">
            <a:xfrm>
              <a:off x="73042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4" name="Text Box 75">
              <a:extLst>
                <a:ext uri="{FF2B5EF4-FFF2-40B4-BE49-F238E27FC236}">
                  <a16:creationId xmlns:a16="http://schemas.microsoft.com/office/drawing/2014/main" id="{CDE3BC9A-35E7-4974-A8D8-54347370C89B}"/>
                </a:ext>
              </a:extLst>
            </p:cNvPr>
            <p:cNvSpPr txBox="1">
              <a:spLocks noChangeArrowheads="1"/>
            </p:cNvSpPr>
            <p:nvPr/>
          </p:nvSpPr>
          <p:spPr bwMode="auto">
            <a:xfrm>
              <a:off x="7532877" y="2565892"/>
              <a:ext cx="808341"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&gt;=40K</a:t>
              </a:r>
            </a:p>
          </p:txBody>
        </p:sp>
        <p:sp>
          <p:nvSpPr>
            <p:cNvPr id="45" name="Text Box 76">
              <a:extLst>
                <a:ext uri="{FF2B5EF4-FFF2-40B4-BE49-F238E27FC236}">
                  <a16:creationId xmlns:a16="http://schemas.microsoft.com/office/drawing/2014/main" id="{4DDED209-A381-42FA-A2B5-4C6AA100220B}"/>
                </a:ext>
              </a:extLst>
            </p:cNvPr>
            <p:cNvSpPr txBox="1">
              <a:spLocks noChangeArrowheads="1"/>
            </p:cNvSpPr>
            <p:nvPr/>
          </p:nvSpPr>
          <p:spPr bwMode="auto">
            <a:xfrm>
              <a:off x="6262877" y="2610343"/>
              <a:ext cx="677964"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&lt;40K</a:t>
              </a:r>
            </a:p>
          </p:txBody>
        </p:sp>
        <p:sp>
          <p:nvSpPr>
            <p:cNvPr id="46" name="Rectangle 77">
              <a:extLst>
                <a:ext uri="{FF2B5EF4-FFF2-40B4-BE49-F238E27FC236}">
                  <a16:creationId xmlns:a16="http://schemas.microsoft.com/office/drawing/2014/main" id="{7CD68FC5-FB3E-4A56-ADC2-6588A4ED9BAE}"/>
                </a:ext>
              </a:extLst>
            </p:cNvPr>
            <p:cNvSpPr>
              <a:spLocks noChangeArrowheads="1"/>
            </p:cNvSpPr>
            <p:nvPr/>
          </p:nvSpPr>
          <p:spPr bwMode="auto">
            <a:xfrm>
              <a:off x="7532877" y="3296143"/>
              <a:ext cx="762000" cy="5334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Age</a:t>
              </a:r>
            </a:p>
          </p:txBody>
        </p:sp>
        <p:sp>
          <p:nvSpPr>
            <p:cNvPr id="47" name="Line 78">
              <a:extLst>
                <a:ext uri="{FF2B5EF4-FFF2-40B4-BE49-F238E27FC236}">
                  <a16:creationId xmlns:a16="http://schemas.microsoft.com/office/drawing/2014/main" id="{EEEFF0B1-591F-4275-8445-0273AEC60C56}"/>
                </a:ext>
              </a:extLst>
            </p:cNvPr>
            <p:cNvSpPr>
              <a:spLocks noChangeShapeType="1"/>
            </p:cNvSpPr>
            <p:nvPr/>
          </p:nvSpPr>
          <p:spPr bwMode="auto">
            <a:xfrm flipH="1">
              <a:off x="72788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8" name="Line 79">
              <a:extLst>
                <a:ext uri="{FF2B5EF4-FFF2-40B4-BE49-F238E27FC236}">
                  <a16:creationId xmlns:a16="http://schemas.microsoft.com/office/drawing/2014/main" id="{80ED7414-540A-4134-AD3A-47E68163D132}"/>
                </a:ext>
              </a:extLst>
            </p:cNvPr>
            <p:cNvSpPr>
              <a:spLocks noChangeShapeType="1"/>
            </p:cNvSpPr>
            <p:nvPr/>
          </p:nvSpPr>
          <p:spPr bwMode="auto">
            <a:xfrm>
              <a:off x="78884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 name="Text Box 80">
              <a:extLst>
                <a:ext uri="{FF2B5EF4-FFF2-40B4-BE49-F238E27FC236}">
                  <a16:creationId xmlns:a16="http://schemas.microsoft.com/office/drawing/2014/main" id="{A7B9F7B4-F7F5-4DDD-9250-1BF5DEF81D5A}"/>
                </a:ext>
              </a:extLst>
            </p:cNvPr>
            <p:cNvSpPr txBox="1">
              <a:spLocks noChangeArrowheads="1"/>
            </p:cNvSpPr>
            <p:nvPr/>
          </p:nvSpPr>
          <p:spPr bwMode="auto">
            <a:xfrm>
              <a:off x="8142477" y="3981943"/>
              <a:ext cx="703612"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&gt;=45</a:t>
              </a:r>
            </a:p>
          </p:txBody>
        </p:sp>
        <p:sp>
          <p:nvSpPr>
            <p:cNvPr id="50" name="Text Box 81">
              <a:extLst>
                <a:ext uri="{FF2B5EF4-FFF2-40B4-BE49-F238E27FC236}">
                  <a16:creationId xmlns:a16="http://schemas.microsoft.com/office/drawing/2014/main" id="{30B13862-EDBE-4417-B1E0-76A7314CC053}"/>
                </a:ext>
              </a:extLst>
            </p:cNvPr>
            <p:cNvSpPr txBox="1">
              <a:spLocks noChangeArrowheads="1"/>
            </p:cNvSpPr>
            <p:nvPr/>
          </p:nvSpPr>
          <p:spPr bwMode="auto">
            <a:xfrm>
              <a:off x="7007416" y="3981943"/>
              <a:ext cx="5732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&lt;45</a:t>
              </a:r>
            </a:p>
          </p:txBody>
        </p:sp>
        <p:sp>
          <p:nvSpPr>
            <p:cNvPr id="51" name="Oval 82">
              <a:extLst>
                <a:ext uri="{FF2B5EF4-FFF2-40B4-BE49-F238E27FC236}">
                  <a16:creationId xmlns:a16="http://schemas.microsoft.com/office/drawing/2014/main" id="{DB164DDF-662C-4D8E-B04B-EE14D73B5120}"/>
                </a:ext>
              </a:extLst>
            </p:cNvPr>
            <p:cNvSpPr>
              <a:spLocks noChangeArrowheads="1"/>
            </p:cNvSpPr>
            <p:nvPr/>
          </p:nvSpPr>
          <p:spPr bwMode="auto">
            <a:xfrm>
              <a:off x="6161277" y="3219943"/>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dirty="0">
                  <a:latin typeface="Tahoma" panose="020B0604030504040204" pitchFamily="34" charset="0"/>
                  <a:cs typeface="Arial" panose="020B0604020202020204" pitchFamily="34" charset="0"/>
                </a:rPr>
                <a:t>Class= + </a:t>
              </a:r>
            </a:p>
            <a:p>
              <a:pPr algn="ctr" eaLnBrk="1" hangingPunct="1"/>
              <a:r>
                <a:rPr lang="en-US" altLang="en-US" sz="1050" dirty="0">
                  <a:latin typeface="Tahoma" panose="020B0604030504040204" pitchFamily="34" charset="0"/>
                  <a:cs typeface="Arial" panose="020B0604020202020204" pitchFamily="34" charset="0"/>
                </a:rPr>
                <a:t>Prob.=10/12</a:t>
              </a:r>
            </a:p>
          </p:txBody>
        </p:sp>
        <p:sp>
          <p:nvSpPr>
            <p:cNvPr id="52" name="Oval 83">
              <a:extLst>
                <a:ext uri="{FF2B5EF4-FFF2-40B4-BE49-F238E27FC236}">
                  <a16:creationId xmlns:a16="http://schemas.microsoft.com/office/drawing/2014/main" id="{EB858ED9-16ED-40FE-82A0-C066C5ED65D6}"/>
                </a:ext>
              </a:extLst>
            </p:cNvPr>
            <p:cNvSpPr>
              <a:spLocks noChangeArrowheads="1"/>
            </p:cNvSpPr>
            <p:nvPr/>
          </p:nvSpPr>
          <p:spPr bwMode="auto">
            <a:xfrm>
              <a:off x="6479571" y="4579180"/>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dirty="0">
                  <a:latin typeface="Tahoma" panose="020B0604030504040204" pitchFamily="34" charset="0"/>
                  <a:cs typeface="Arial" panose="020B0604020202020204" pitchFamily="34" charset="0"/>
                </a:rPr>
                <a:t>Class= - </a:t>
              </a:r>
            </a:p>
          </p:txBody>
        </p:sp>
        <p:sp>
          <p:nvSpPr>
            <p:cNvPr id="53" name="Oval 84">
              <a:extLst>
                <a:ext uri="{FF2B5EF4-FFF2-40B4-BE49-F238E27FC236}">
                  <a16:creationId xmlns:a16="http://schemas.microsoft.com/office/drawing/2014/main" id="{B7C54406-D1CA-4DA1-9D60-07B5DCAB4124}"/>
                </a:ext>
              </a:extLst>
            </p:cNvPr>
            <p:cNvSpPr>
              <a:spLocks noChangeArrowheads="1"/>
            </p:cNvSpPr>
            <p:nvPr/>
          </p:nvSpPr>
          <p:spPr bwMode="auto">
            <a:xfrm>
              <a:off x="7990077" y="4591543"/>
              <a:ext cx="1188696"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dirty="0">
                  <a:latin typeface="Tahoma" panose="020B0604030504040204" pitchFamily="34" charset="0"/>
                  <a:cs typeface="Arial" panose="020B0604020202020204" pitchFamily="34" charset="0"/>
                </a:rPr>
                <a:t>Class= +</a:t>
              </a:r>
            </a:p>
          </p:txBody>
        </p:sp>
      </p:grpSp>
    </p:spTree>
    <p:extLst>
      <p:ext uri="{BB962C8B-B14F-4D97-AF65-F5344CB8AC3E}">
        <p14:creationId xmlns:p14="http://schemas.microsoft.com/office/powerpoint/2010/main" val="186397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9774-561E-1B6F-1A6C-AAA7B6D92E30}"/>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C1BA2BE8-8655-DF02-24E4-E3E4620FCC2B}"/>
              </a:ext>
            </a:extLst>
          </p:cNvPr>
          <p:cNvSpPr>
            <a:spLocks noGrp="1"/>
          </p:cNvSpPr>
          <p:nvPr>
            <p:ph sz="half" idx="1"/>
          </p:nvPr>
        </p:nvSpPr>
        <p:spPr/>
        <p:txBody>
          <a:bodyPr/>
          <a:lstStyle/>
          <a:p>
            <a:r>
              <a:rPr lang="en-US" dirty="0"/>
              <a:t>Information Gain (IG)</a:t>
            </a:r>
          </a:p>
          <a:p>
            <a:pPr lvl="1"/>
            <a:r>
              <a:rPr lang="en-US" dirty="0"/>
              <a:t>The change in entropy (or how much entropy was removed)</a:t>
            </a:r>
          </a:p>
          <a:p>
            <a:pPr lvl="2"/>
            <a:r>
              <a:rPr lang="en-US" dirty="0">
                <a:latin typeface="Times New Roman" panose="02020603050405020304" pitchFamily="18" charset="0"/>
                <a:cs typeface="Times New Roman" panose="02020603050405020304" pitchFamily="18" charset="0"/>
              </a:rPr>
              <a:t>IG = ΔH</a:t>
            </a:r>
            <a:endParaRPr lang="en-US" dirty="0"/>
          </a:p>
          <a:p>
            <a:pPr lvl="1"/>
            <a:r>
              <a:rPr lang="en-US" dirty="0"/>
              <a:t>Used to compare splits on different attributes</a:t>
            </a:r>
          </a:p>
          <a:p>
            <a:pPr lvl="1"/>
            <a:r>
              <a:rPr lang="en-US" dirty="0"/>
              <a:t>Common decision tree splitting criteria</a:t>
            </a:r>
          </a:p>
          <a:p>
            <a:r>
              <a:rPr lang="en-US" dirty="0"/>
              <a:t>The more evenly distributed the split is, the more information we gain</a:t>
            </a:r>
          </a:p>
          <a:p>
            <a:pPr lvl="1"/>
            <a:r>
              <a:rPr lang="en-US" dirty="0"/>
              <a:t>50/50 split </a:t>
            </a:r>
            <a:r>
              <a:rPr lang="en-US" dirty="0">
                <a:sym typeface="Wingdings" panose="05000000000000000000" pitchFamily="2" charset="2"/>
              </a:rPr>
              <a:t> lots of information</a:t>
            </a:r>
          </a:p>
          <a:p>
            <a:pPr lvl="1"/>
            <a:r>
              <a:rPr lang="en-US" dirty="0">
                <a:sym typeface="Wingdings" panose="05000000000000000000" pitchFamily="2" charset="2"/>
              </a:rPr>
              <a:t>90/10 split  less information</a:t>
            </a:r>
            <a:endParaRPr lang="en-US" dirty="0"/>
          </a:p>
        </p:txBody>
      </p:sp>
      <p:sp>
        <p:nvSpPr>
          <p:cNvPr id="5" name="Date Placeholder 4">
            <a:extLst>
              <a:ext uri="{FF2B5EF4-FFF2-40B4-BE49-F238E27FC236}">
                <a16:creationId xmlns:a16="http://schemas.microsoft.com/office/drawing/2014/main" id="{B9ECA24D-8414-28C0-874E-119F019EF9A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4627A2FB-C818-F5C5-7CAF-90F0B550871B}"/>
              </a:ext>
            </a:extLst>
          </p:cNvPr>
          <p:cNvSpPr>
            <a:spLocks noGrp="1"/>
          </p:cNvSpPr>
          <p:nvPr>
            <p:ph type="sldNum" sz="quarter" idx="11"/>
          </p:nvPr>
        </p:nvSpPr>
        <p:spPr/>
        <p:txBody>
          <a:bodyPr/>
          <a:lstStyle/>
          <a:p>
            <a:fld id="{64E5BE4B-2FBF-4174-9E62-85FAD1CB43A6}" type="slidenum">
              <a:rPr lang="en-US" smtClean="0"/>
              <a:pPr/>
              <a:t>14</a:t>
            </a:fld>
            <a:endParaRPr lang="en-US"/>
          </a:p>
        </p:txBody>
      </p:sp>
      <p:pic>
        <p:nvPicPr>
          <p:cNvPr id="7" name="Content Placeholder 6">
            <a:extLst>
              <a:ext uri="{FF2B5EF4-FFF2-40B4-BE49-F238E27FC236}">
                <a16:creationId xmlns:a16="http://schemas.microsoft.com/office/drawing/2014/main" id="{F0F309C2-C422-6472-4C7B-34229E331083}"/>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3029714" y="3100040"/>
            <a:ext cx="2302003" cy="1779316"/>
          </a:xfrm>
          <a:prstGeom prst="rect">
            <a:avLst/>
          </a:prstGeom>
        </p:spPr>
      </p:pic>
      <p:grpSp>
        <p:nvGrpSpPr>
          <p:cNvPr id="8" name="Group 7">
            <a:extLst>
              <a:ext uri="{FF2B5EF4-FFF2-40B4-BE49-F238E27FC236}">
                <a16:creationId xmlns:a16="http://schemas.microsoft.com/office/drawing/2014/main" id="{B7EE282F-1537-7F6D-6C84-3AB78F14465E}"/>
              </a:ext>
            </a:extLst>
          </p:cNvPr>
          <p:cNvGrpSpPr/>
          <p:nvPr/>
        </p:nvGrpSpPr>
        <p:grpSpPr>
          <a:xfrm>
            <a:off x="5734301" y="1053584"/>
            <a:ext cx="3115728" cy="3722132"/>
            <a:chOff x="6161277" y="1924543"/>
            <a:chExt cx="3115728" cy="3722132"/>
          </a:xfrm>
        </p:grpSpPr>
        <p:sp>
          <p:nvSpPr>
            <p:cNvPr id="9" name="Text Box 70">
              <a:extLst>
                <a:ext uri="{FF2B5EF4-FFF2-40B4-BE49-F238E27FC236}">
                  <a16:creationId xmlns:a16="http://schemas.microsoft.com/office/drawing/2014/main" id="{709166BF-0C19-831D-A7C5-9CDFD55C0A1B}"/>
                </a:ext>
              </a:extLst>
            </p:cNvPr>
            <p:cNvSpPr txBox="1">
              <a:spLocks noChangeArrowheads="1"/>
            </p:cNvSpPr>
            <p:nvPr/>
          </p:nvSpPr>
          <p:spPr bwMode="auto">
            <a:xfrm>
              <a:off x="8051990" y="5277343"/>
              <a:ext cx="1225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Prob.=5/6</a:t>
              </a:r>
            </a:p>
          </p:txBody>
        </p:sp>
        <p:sp>
          <p:nvSpPr>
            <p:cNvPr id="10" name="Text Box 71">
              <a:extLst>
                <a:ext uri="{FF2B5EF4-FFF2-40B4-BE49-F238E27FC236}">
                  <a16:creationId xmlns:a16="http://schemas.microsoft.com/office/drawing/2014/main" id="{83AB6A9D-49CB-0A0C-6A68-765B8BD667EB}"/>
                </a:ext>
              </a:extLst>
            </p:cNvPr>
            <p:cNvSpPr txBox="1">
              <a:spLocks noChangeArrowheads="1"/>
            </p:cNvSpPr>
            <p:nvPr/>
          </p:nvSpPr>
          <p:spPr bwMode="auto">
            <a:xfrm>
              <a:off x="6542277" y="5277343"/>
              <a:ext cx="1225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Prob.=8/9</a:t>
              </a:r>
            </a:p>
          </p:txBody>
        </p:sp>
        <p:sp>
          <p:nvSpPr>
            <p:cNvPr id="11" name="Rectangle 72">
              <a:extLst>
                <a:ext uri="{FF2B5EF4-FFF2-40B4-BE49-F238E27FC236}">
                  <a16:creationId xmlns:a16="http://schemas.microsoft.com/office/drawing/2014/main" id="{041634DA-B4EF-0FAB-E318-C8BE468ACC7D}"/>
                </a:ext>
              </a:extLst>
            </p:cNvPr>
            <p:cNvSpPr>
              <a:spLocks noChangeArrowheads="1"/>
            </p:cNvSpPr>
            <p:nvPr/>
          </p:nvSpPr>
          <p:spPr bwMode="auto">
            <a:xfrm>
              <a:off x="6847077" y="1924543"/>
              <a:ext cx="838200" cy="6096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dirty="0">
                  <a:latin typeface="Tahoma" panose="020B0604030504040204" pitchFamily="34" charset="0"/>
                  <a:cs typeface="Arial" panose="020B0604020202020204" pitchFamily="34" charset="0"/>
                </a:rPr>
                <a:t>Balance</a:t>
              </a:r>
            </a:p>
          </p:txBody>
        </p:sp>
        <p:sp>
          <p:nvSpPr>
            <p:cNvPr id="12" name="Line 73">
              <a:extLst>
                <a:ext uri="{FF2B5EF4-FFF2-40B4-BE49-F238E27FC236}">
                  <a16:creationId xmlns:a16="http://schemas.microsoft.com/office/drawing/2014/main" id="{9B44CE2B-42AB-04C1-42DB-4DEB3644B1A8}"/>
                </a:ext>
              </a:extLst>
            </p:cNvPr>
            <p:cNvSpPr>
              <a:spLocks noChangeShapeType="1"/>
            </p:cNvSpPr>
            <p:nvPr/>
          </p:nvSpPr>
          <p:spPr bwMode="auto">
            <a:xfrm flipH="1">
              <a:off x="66946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74">
              <a:extLst>
                <a:ext uri="{FF2B5EF4-FFF2-40B4-BE49-F238E27FC236}">
                  <a16:creationId xmlns:a16="http://schemas.microsoft.com/office/drawing/2014/main" id="{2C6DBBD9-CBAC-0FB4-0351-9D3886C8BA8D}"/>
                </a:ext>
              </a:extLst>
            </p:cNvPr>
            <p:cNvSpPr>
              <a:spLocks noChangeShapeType="1"/>
            </p:cNvSpPr>
            <p:nvPr/>
          </p:nvSpPr>
          <p:spPr bwMode="auto">
            <a:xfrm>
              <a:off x="73042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Text Box 75">
              <a:extLst>
                <a:ext uri="{FF2B5EF4-FFF2-40B4-BE49-F238E27FC236}">
                  <a16:creationId xmlns:a16="http://schemas.microsoft.com/office/drawing/2014/main" id="{55A638C3-38A8-9BFE-C88A-A9E1828269D7}"/>
                </a:ext>
              </a:extLst>
            </p:cNvPr>
            <p:cNvSpPr txBox="1">
              <a:spLocks noChangeArrowheads="1"/>
            </p:cNvSpPr>
            <p:nvPr/>
          </p:nvSpPr>
          <p:spPr bwMode="auto">
            <a:xfrm>
              <a:off x="7532877" y="2565893"/>
              <a:ext cx="9108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&gt;=40K</a:t>
              </a:r>
            </a:p>
          </p:txBody>
        </p:sp>
        <p:sp>
          <p:nvSpPr>
            <p:cNvPr id="15" name="Text Box 76">
              <a:extLst>
                <a:ext uri="{FF2B5EF4-FFF2-40B4-BE49-F238E27FC236}">
                  <a16:creationId xmlns:a16="http://schemas.microsoft.com/office/drawing/2014/main" id="{B4ABFA50-082C-9F1A-E05A-ED7D2E766E98}"/>
                </a:ext>
              </a:extLst>
            </p:cNvPr>
            <p:cNvSpPr txBox="1">
              <a:spLocks noChangeArrowheads="1"/>
            </p:cNvSpPr>
            <p:nvPr/>
          </p:nvSpPr>
          <p:spPr bwMode="auto">
            <a:xfrm>
              <a:off x="6262877" y="2610343"/>
              <a:ext cx="7425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&lt;40K</a:t>
              </a:r>
            </a:p>
          </p:txBody>
        </p:sp>
        <p:sp>
          <p:nvSpPr>
            <p:cNvPr id="16" name="Rectangle 77">
              <a:extLst>
                <a:ext uri="{FF2B5EF4-FFF2-40B4-BE49-F238E27FC236}">
                  <a16:creationId xmlns:a16="http://schemas.microsoft.com/office/drawing/2014/main" id="{A48D51A9-E5AD-2A0F-962A-E194C9A112B5}"/>
                </a:ext>
              </a:extLst>
            </p:cNvPr>
            <p:cNvSpPr>
              <a:spLocks noChangeArrowheads="1"/>
            </p:cNvSpPr>
            <p:nvPr/>
          </p:nvSpPr>
          <p:spPr bwMode="auto">
            <a:xfrm>
              <a:off x="7532877" y="3296143"/>
              <a:ext cx="762000" cy="5334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a:latin typeface="Tahoma" panose="020B0604030504040204" pitchFamily="34" charset="0"/>
                  <a:cs typeface="Arial" panose="020B0604020202020204" pitchFamily="34" charset="0"/>
                </a:rPr>
                <a:t>Age</a:t>
              </a:r>
            </a:p>
          </p:txBody>
        </p:sp>
        <p:sp>
          <p:nvSpPr>
            <p:cNvPr id="17" name="Line 78">
              <a:extLst>
                <a:ext uri="{FF2B5EF4-FFF2-40B4-BE49-F238E27FC236}">
                  <a16:creationId xmlns:a16="http://schemas.microsoft.com/office/drawing/2014/main" id="{DF59BCDD-5D65-4C99-4706-9CC23B245288}"/>
                </a:ext>
              </a:extLst>
            </p:cNvPr>
            <p:cNvSpPr>
              <a:spLocks noChangeShapeType="1"/>
            </p:cNvSpPr>
            <p:nvPr/>
          </p:nvSpPr>
          <p:spPr bwMode="auto">
            <a:xfrm flipH="1">
              <a:off x="72788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79">
              <a:extLst>
                <a:ext uri="{FF2B5EF4-FFF2-40B4-BE49-F238E27FC236}">
                  <a16:creationId xmlns:a16="http://schemas.microsoft.com/office/drawing/2014/main" id="{619CA2B6-BBBA-E37E-CBCF-232186396D21}"/>
                </a:ext>
              </a:extLst>
            </p:cNvPr>
            <p:cNvSpPr>
              <a:spLocks noChangeShapeType="1"/>
            </p:cNvSpPr>
            <p:nvPr/>
          </p:nvSpPr>
          <p:spPr bwMode="auto">
            <a:xfrm>
              <a:off x="78884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80">
              <a:extLst>
                <a:ext uri="{FF2B5EF4-FFF2-40B4-BE49-F238E27FC236}">
                  <a16:creationId xmlns:a16="http://schemas.microsoft.com/office/drawing/2014/main" id="{605215F7-FDF3-020F-195B-E249668B509B}"/>
                </a:ext>
              </a:extLst>
            </p:cNvPr>
            <p:cNvSpPr txBox="1">
              <a:spLocks noChangeArrowheads="1"/>
            </p:cNvSpPr>
            <p:nvPr/>
          </p:nvSpPr>
          <p:spPr bwMode="auto">
            <a:xfrm>
              <a:off x="8142477" y="3981943"/>
              <a:ext cx="7667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&gt;=45</a:t>
              </a:r>
            </a:p>
          </p:txBody>
        </p:sp>
        <p:sp>
          <p:nvSpPr>
            <p:cNvPr id="20" name="Text Box 81">
              <a:extLst>
                <a:ext uri="{FF2B5EF4-FFF2-40B4-BE49-F238E27FC236}">
                  <a16:creationId xmlns:a16="http://schemas.microsoft.com/office/drawing/2014/main" id="{3B2DB3FE-86A3-9A81-51A1-B1415075E3A6}"/>
                </a:ext>
              </a:extLst>
            </p:cNvPr>
            <p:cNvSpPr txBox="1">
              <a:spLocks noChangeArrowheads="1"/>
            </p:cNvSpPr>
            <p:nvPr/>
          </p:nvSpPr>
          <p:spPr bwMode="auto">
            <a:xfrm>
              <a:off x="7007415" y="3981943"/>
              <a:ext cx="6000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&lt;45</a:t>
              </a:r>
            </a:p>
          </p:txBody>
        </p:sp>
        <p:sp>
          <p:nvSpPr>
            <p:cNvPr id="21" name="Oval 82">
              <a:extLst>
                <a:ext uri="{FF2B5EF4-FFF2-40B4-BE49-F238E27FC236}">
                  <a16:creationId xmlns:a16="http://schemas.microsoft.com/office/drawing/2014/main" id="{C59D0B23-549F-B73C-30CF-012C858322E5}"/>
                </a:ext>
              </a:extLst>
            </p:cNvPr>
            <p:cNvSpPr>
              <a:spLocks noChangeArrowheads="1"/>
            </p:cNvSpPr>
            <p:nvPr/>
          </p:nvSpPr>
          <p:spPr bwMode="auto">
            <a:xfrm>
              <a:off x="6161277" y="3219943"/>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dirty="0">
                  <a:latin typeface="Tahoma" panose="020B0604030504040204" pitchFamily="34" charset="0"/>
                  <a:cs typeface="Arial" panose="020B0604020202020204" pitchFamily="34" charset="0"/>
                </a:rPr>
                <a:t>Class= + </a:t>
              </a:r>
            </a:p>
            <a:p>
              <a:pPr algn="ctr" eaLnBrk="1" hangingPunct="1"/>
              <a:r>
                <a:rPr lang="en-US" altLang="en-US" sz="1400" i="0" dirty="0">
                  <a:latin typeface="Tahoma" panose="020B0604030504040204" pitchFamily="34" charset="0"/>
                  <a:cs typeface="Arial" panose="020B0604020202020204" pitchFamily="34" charset="0"/>
                </a:rPr>
                <a:t>Prob.=10/12</a:t>
              </a:r>
            </a:p>
          </p:txBody>
        </p:sp>
        <p:sp>
          <p:nvSpPr>
            <p:cNvPr id="22" name="Oval 83">
              <a:extLst>
                <a:ext uri="{FF2B5EF4-FFF2-40B4-BE49-F238E27FC236}">
                  <a16:creationId xmlns:a16="http://schemas.microsoft.com/office/drawing/2014/main" id="{679481DC-AFD3-FA74-7962-AE874A87FA90}"/>
                </a:ext>
              </a:extLst>
            </p:cNvPr>
            <p:cNvSpPr>
              <a:spLocks noChangeArrowheads="1"/>
            </p:cNvSpPr>
            <p:nvPr/>
          </p:nvSpPr>
          <p:spPr bwMode="auto">
            <a:xfrm>
              <a:off x="6479571" y="4579180"/>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dirty="0">
                  <a:latin typeface="Tahoma" panose="020B0604030504040204" pitchFamily="34" charset="0"/>
                  <a:cs typeface="Arial" panose="020B0604020202020204" pitchFamily="34" charset="0"/>
                </a:rPr>
                <a:t>Class= - </a:t>
              </a:r>
            </a:p>
          </p:txBody>
        </p:sp>
        <p:sp>
          <p:nvSpPr>
            <p:cNvPr id="23" name="Oval 84">
              <a:extLst>
                <a:ext uri="{FF2B5EF4-FFF2-40B4-BE49-F238E27FC236}">
                  <a16:creationId xmlns:a16="http://schemas.microsoft.com/office/drawing/2014/main" id="{3BBBCC73-4B18-427B-EBE2-F3E344B3180C}"/>
                </a:ext>
              </a:extLst>
            </p:cNvPr>
            <p:cNvSpPr>
              <a:spLocks noChangeArrowheads="1"/>
            </p:cNvSpPr>
            <p:nvPr/>
          </p:nvSpPr>
          <p:spPr bwMode="auto">
            <a:xfrm>
              <a:off x="7990077" y="4591543"/>
              <a:ext cx="1188696"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dirty="0">
                  <a:latin typeface="Tahoma" panose="020B0604030504040204" pitchFamily="34" charset="0"/>
                  <a:cs typeface="Arial" panose="020B0604020202020204" pitchFamily="34" charset="0"/>
                </a:rPr>
                <a:t>Class=</a:t>
              </a:r>
              <a:r>
                <a:rPr lang="en-US" altLang="en-US" dirty="0">
                  <a:latin typeface="Tahoma" panose="020B0604030504040204" pitchFamily="34" charset="0"/>
                  <a:cs typeface="Arial" panose="020B0604020202020204" pitchFamily="34" charset="0"/>
                </a:rPr>
                <a:t> +</a:t>
              </a:r>
              <a:endParaRPr lang="en-US" altLang="en-US" i="0" dirty="0">
                <a:latin typeface="Tahoma" panose="020B0604030504040204" pitchFamily="34" charset="0"/>
                <a:cs typeface="Arial" panose="020B0604020202020204" pitchFamily="34" charset="0"/>
              </a:endParaRPr>
            </a:p>
          </p:txBody>
        </p:sp>
      </p:grpSp>
      <p:cxnSp>
        <p:nvCxnSpPr>
          <p:cNvPr id="25" name="Straight Arrow Connector 24">
            <a:extLst>
              <a:ext uri="{FF2B5EF4-FFF2-40B4-BE49-F238E27FC236}">
                <a16:creationId xmlns:a16="http://schemas.microsoft.com/office/drawing/2014/main" id="{A095A47F-D388-5491-9C37-42EBE68AF3D8}"/>
              </a:ext>
            </a:extLst>
          </p:cNvPr>
          <p:cNvCxnSpPr>
            <a:cxnSpLocks/>
            <a:stCxn id="27" idx="3"/>
            <a:endCxn id="11" idx="1"/>
          </p:cNvCxnSpPr>
          <p:nvPr/>
        </p:nvCxnSpPr>
        <p:spPr>
          <a:xfrm>
            <a:off x="5939364" y="935378"/>
            <a:ext cx="480737" cy="423006"/>
          </a:xfrm>
          <a:prstGeom prst="straightConnector1">
            <a:avLst/>
          </a:prstGeom>
          <a:ln w="12700" cap="flat">
            <a:solidFill>
              <a:srgbClr val="FF0000"/>
            </a:solidFill>
            <a:miter/>
            <a:tailEnd type="triangle"/>
          </a:ln>
        </p:spPr>
        <p:style>
          <a:lnRef idx="1">
            <a:schemeClr val="accent1"/>
          </a:lnRef>
          <a:fillRef idx="0">
            <a:schemeClr val="accent1"/>
          </a:fillRef>
          <a:effectRef idx="0">
            <a:srgbClr val="000000"/>
          </a:effectRef>
          <a:fontRef idx="minor">
            <a:srgbClr val="FFFFFF"/>
          </a:fontRef>
        </p:style>
      </p:cxnSp>
      <p:sp>
        <p:nvSpPr>
          <p:cNvPr id="27" name="TextBox 26">
            <a:extLst>
              <a:ext uri="{FF2B5EF4-FFF2-40B4-BE49-F238E27FC236}">
                <a16:creationId xmlns:a16="http://schemas.microsoft.com/office/drawing/2014/main" id="{46AF2175-81B1-676D-461E-27AFDF123D0D}"/>
              </a:ext>
            </a:extLst>
          </p:cNvPr>
          <p:cNvSpPr txBox="1"/>
          <p:nvPr/>
        </p:nvSpPr>
        <p:spPr>
          <a:xfrm>
            <a:off x="4180715" y="670606"/>
            <a:ext cx="1758649" cy="529544"/>
          </a:xfrm>
          <a:prstGeom prst="rect">
            <a:avLst/>
          </a:prstGeom>
          <a:noFill/>
        </p:spPr>
        <p:txBody>
          <a:bodyPr wrap="square" lIns="0" tIns="0" rIns="0" bIns="0" rtlCol="0">
            <a:noAutofit/>
          </a:bodyPr>
          <a:lstStyle/>
          <a:p>
            <a:pPr>
              <a:lnSpc>
                <a:spcPct val="95000"/>
              </a:lnSpc>
              <a:spcBef>
                <a:spcPts val="1000"/>
              </a:spcBef>
              <a:buSzPct val="100000"/>
            </a:pPr>
            <a:r>
              <a:rPr lang="en-US" sz="1700" dirty="0">
                <a:solidFill>
                  <a:srgbClr val="FF0000"/>
                </a:solidFill>
              </a:rPr>
              <a:t>Balance provided most info.</a:t>
            </a:r>
          </a:p>
        </p:txBody>
      </p:sp>
      <p:sp>
        <p:nvSpPr>
          <p:cNvPr id="31" name="TextBox 30">
            <a:extLst>
              <a:ext uri="{FF2B5EF4-FFF2-40B4-BE49-F238E27FC236}">
                <a16:creationId xmlns:a16="http://schemas.microsoft.com/office/drawing/2014/main" id="{76E44F55-B8BE-CD8F-9FDE-A53F1C47E333}"/>
              </a:ext>
            </a:extLst>
          </p:cNvPr>
          <p:cNvSpPr txBox="1"/>
          <p:nvPr/>
        </p:nvSpPr>
        <p:spPr>
          <a:xfrm>
            <a:off x="7694462" y="1067223"/>
            <a:ext cx="1758649" cy="529544"/>
          </a:xfrm>
          <a:prstGeom prst="rect">
            <a:avLst/>
          </a:prstGeom>
          <a:noFill/>
        </p:spPr>
        <p:txBody>
          <a:bodyPr wrap="square" lIns="0" tIns="0" rIns="0" bIns="0" rtlCol="0">
            <a:noAutofit/>
          </a:bodyPr>
          <a:lstStyle/>
          <a:p>
            <a:pPr>
              <a:lnSpc>
                <a:spcPct val="95000"/>
              </a:lnSpc>
              <a:spcBef>
                <a:spcPts val="1000"/>
              </a:spcBef>
              <a:buSzPct val="100000"/>
            </a:pPr>
            <a:r>
              <a:rPr lang="en-US" sz="1700" dirty="0">
                <a:solidFill>
                  <a:srgbClr val="FF0000"/>
                </a:solidFill>
              </a:rPr>
              <a:t>Age provided most info.</a:t>
            </a:r>
          </a:p>
        </p:txBody>
      </p:sp>
      <p:cxnSp>
        <p:nvCxnSpPr>
          <p:cNvPr id="32" name="Straight Arrow Connector 31">
            <a:extLst>
              <a:ext uri="{FF2B5EF4-FFF2-40B4-BE49-F238E27FC236}">
                <a16:creationId xmlns:a16="http://schemas.microsoft.com/office/drawing/2014/main" id="{CADFC2E5-AFCB-D392-4749-DD9A5E0F586E}"/>
              </a:ext>
            </a:extLst>
          </p:cNvPr>
          <p:cNvCxnSpPr>
            <a:cxnSpLocks/>
            <a:stCxn id="31" idx="2"/>
            <a:endCxn id="16" idx="3"/>
          </p:cNvCxnSpPr>
          <p:nvPr/>
        </p:nvCxnSpPr>
        <p:spPr>
          <a:xfrm flipH="1">
            <a:off x="7867901" y="1596767"/>
            <a:ext cx="705886" cy="1095117"/>
          </a:xfrm>
          <a:prstGeom prst="straightConnector1">
            <a:avLst/>
          </a:prstGeom>
          <a:ln w="12700" cap="flat">
            <a:solidFill>
              <a:srgbClr val="FF0000"/>
            </a:solidFill>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21107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0B69-D48D-863A-F9F5-0FF8A83411D1}"/>
              </a:ext>
            </a:extLst>
          </p:cNvPr>
          <p:cNvSpPr>
            <a:spLocks noGrp="1"/>
          </p:cNvSpPr>
          <p:nvPr>
            <p:ph type="title"/>
          </p:nvPr>
        </p:nvSpPr>
        <p:spPr/>
        <p:txBody>
          <a:bodyPr/>
          <a:lstStyle/>
          <a:p>
            <a:r>
              <a:rPr lang="en-US" dirty="0"/>
              <a:t>Random Forests</a:t>
            </a:r>
          </a:p>
        </p:txBody>
      </p:sp>
      <p:sp>
        <p:nvSpPr>
          <p:cNvPr id="3" name="Content Placeholder 2">
            <a:extLst>
              <a:ext uri="{FF2B5EF4-FFF2-40B4-BE49-F238E27FC236}">
                <a16:creationId xmlns:a16="http://schemas.microsoft.com/office/drawing/2014/main" id="{D81244DE-6CD6-65D8-A828-F27BCD5B796E}"/>
              </a:ext>
            </a:extLst>
          </p:cNvPr>
          <p:cNvSpPr>
            <a:spLocks noGrp="1"/>
          </p:cNvSpPr>
          <p:nvPr>
            <p:ph sz="half" idx="1"/>
          </p:nvPr>
        </p:nvSpPr>
        <p:spPr/>
        <p:txBody>
          <a:bodyPr/>
          <a:lstStyle/>
          <a:p>
            <a:r>
              <a:rPr lang="en-US" dirty="0"/>
              <a:t>What if we had lots of decision trees?</a:t>
            </a:r>
          </a:p>
          <a:p>
            <a:endParaRPr lang="en-US" dirty="0"/>
          </a:p>
          <a:p>
            <a:r>
              <a:rPr lang="en-US" dirty="0"/>
              <a:t>Democracy!</a:t>
            </a:r>
          </a:p>
        </p:txBody>
      </p:sp>
      <p:sp>
        <p:nvSpPr>
          <p:cNvPr id="4" name="Content Placeholder 3">
            <a:extLst>
              <a:ext uri="{FF2B5EF4-FFF2-40B4-BE49-F238E27FC236}">
                <a16:creationId xmlns:a16="http://schemas.microsoft.com/office/drawing/2014/main" id="{C622497D-8CE4-4205-5E61-C2894453F450}"/>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953CF32E-84D1-DEB7-036F-EADC12EF080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783347B-6A49-C7BA-F471-391359CBE2CB}"/>
              </a:ext>
            </a:extLst>
          </p:cNvPr>
          <p:cNvSpPr>
            <a:spLocks noGrp="1"/>
          </p:cNvSpPr>
          <p:nvPr>
            <p:ph type="sldNum" sz="quarter" idx="11"/>
          </p:nvPr>
        </p:nvSpPr>
        <p:spPr/>
        <p:txBody>
          <a:bodyPr/>
          <a:lstStyle/>
          <a:p>
            <a:fld id="{64E5BE4B-2FBF-4174-9E62-85FAD1CB43A6}" type="slidenum">
              <a:rPr lang="en-US" smtClean="0"/>
              <a:pPr/>
              <a:t>15</a:t>
            </a:fld>
            <a:endParaRPr lang="en-US"/>
          </a:p>
        </p:txBody>
      </p:sp>
    </p:spTree>
    <p:extLst>
      <p:ext uri="{BB962C8B-B14F-4D97-AF65-F5344CB8AC3E}">
        <p14:creationId xmlns:p14="http://schemas.microsoft.com/office/powerpoint/2010/main" val="64382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FC6E-8ED1-7F11-5C2D-9727E243AB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FD4B67-6FBF-DDD5-FB9E-913E40A7EBD0}"/>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DDCF1BDC-1B79-94C9-49B2-3A4181A28343}"/>
              </a:ext>
            </a:extLst>
          </p:cNvPr>
          <p:cNvSpPr>
            <a:spLocks noGrp="1"/>
          </p:cNvSpPr>
          <p:nvPr>
            <p:ph type="subTitle" idx="1"/>
          </p:nvPr>
        </p:nvSpPr>
        <p:spPr/>
        <p:txBody>
          <a:bodyPr/>
          <a:lstStyle/>
          <a:p>
            <a:r>
              <a:rPr lang="en-US" dirty="0"/>
              <a:t>Linear Classifiers</a:t>
            </a:r>
          </a:p>
        </p:txBody>
      </p:sp>
      <p:sp>
        <p:nvSpPr>
          <p:cNvPr id="4" name="Date Placeholder 3">
            <a:extLst>
              <a:ext uri="{FF2B5EF4-FFF2-40B4-BE49-F238E27FC236}">
                <a16:creationId xmlns:a16="http://schemas.microsoft.com/office/drawing/2014/main" id="{43209604-CF97-D33D-E08B-D47471EE1656}"/>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8BDF851B-6E5D-F4AE-548A-C584B1AB803F}"/>
              </a:ext>
            </a:extLst>
          </p:cNvPr>
          <p:cNvSpPr>
            <a:spLocks noGrp="1"/>
          </p:cNvSpPr>
          <p:nvPr>
            <p:ph type="sldNum" idx="12"/>
          </p:nvPr>
        </p:nvSpPr>
        <p:spPr/>
        <p:txBody>
          <a:bodyPr/>
          <a:lstStyle/>
          <a:p>
            <a:fld id="{64E5BE4B-2FBF-4174-9E62-85FAD1CB43A6}" type="slidenum">
              <a:rPr lang="en-US" smtClean="0"/>
              <a:pPr/>
              <a:t>16</a:t>
            </a:fld>
            <a:endParaRPr lang="en-US"/>
          </a:p>
        </p:txBody>
      </p:sp>
    </p:spTree>
    <p:extLst>
      <p:ext uri="{BB962C8B-B14F-4D97-AF65-F5344CB8AC3E}">
        <p14:creationId xmlns:p14="http://schemas.microsoft.com/office/powerpoint/2010/main" val="894025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en-US"/>
              <a:t>Can we partition a different way?</a:t>
            </a:r>
          </a:p>
        </p:txBody>
      </p:sp>
      <p:sp>
        <p:nvSpPr>
          <p:cNvPr id="4" name="TextBox 3"/>
          <p:cNvSpPr txBox="1"/>
          <p:nvPr/>
        </p:nvSpPr>
        <p:spPr>
          <a:xfrm>
            <a:off x="2687679" y="4561058"/>
            <a:ext cx="4055919" cy="253916"/>
          </a:xfrm>
          <a:prstGeom prst="rect">
            <a:avLst/>
          </a:prstGeom>
          <a:noFill/>
        </p:spPr>
        <p:txBody>
          <a:bodyPr wrap="none" rtlCol="0">
            <a:spAutoFit/>
          </a:bodyPr>
          <a:lstStyle/>
          <a:p>
            <a:r>
              <a:rPr lang="en-US" sz="1050" dirty="0"/>
              <a:t>What if we weren’t limited to using line perpendicular to the axis?</a:t>
            </a:r>
          </a:p>
        </p:txBody>
      </p:sp>
      <p:grpSp>
        <p:nvGrpSpPr>
          <p:cNvPr id="5" name="Group 4">
            <a:extLst>
              <a:ext uri="{FF2B5EF4-FFF2-40B4-BE49-F238E27FC236}">
                <a16:creationId xmlns:a16="http://schemas.microsoft.com/office/drawing/2014/main" id="{DBF0A24B-5BB3-2747-A1BD-40577272DC1F}"/>
              </a:ext>
            </a:extLst>
          </p:cNvPr>
          <p:cNvGrpSpPr/>
          <p:nvPr/>
        </p:nvGrpSpPr>
        <p:grpSpPr>
          <a:xfrm>
            <a:off x="2408295" y="1626672"/>
            <a:ext cx="4106382" cy="2848550"/>
            <a:chOff x="2408295" y="1626672"/>
            <a:chExt cx="4106382" cy="2848550"/>
          </a:xfrm>
        </p:grpSpPr>
        <p:sp>
          <p:nvSpPr>
            <p:cNvPr id="6" name="Text Box 6">
              <a:extLst>
                <a:ext uri="{FF2B5EF4-FFF2-40B4-BE49-F238E27FC236}">
                  <a16:creationId xmlns:a16="http://schemas.microsoft.com/office/drawing/2014/main" id="{45F16095-8B6C-4EBC-BE1C-226D67990B13}"/>
                </a:ext>
              </a:extLst>
            </p:cNvPr>
            <p:cNvSpPr txBox="1">
              <a:spLocks noChangeArrowheads="1"/>
            </p:cNvSpPr>
            <p:nvPr/>
          </p:nvSpPr>
          <p:spPr bwMode="auto">
            <a:xfrm>
              <a:off x="5293027" y="4179794"/>
              <a:ext cx="64472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Balance</a:t>
              </a:r>
            </a:p>
          </p:txBody>
        </p:sp>
        <p:sp>
          <p:nvSpPr>
            <p:cNvPr id="7" name="Text Box 5">
              <a:extLst>
                <a:ext uri="{FF2B5EF4-FFF2-40B4-BE49-F238E27FC236}">
                  <a16:creationId xmlns:a16="http://schemas.microsoft.com/office/drawing/2014/main" id="{5648C84D-772E-43F1-B641-527763DE580A}"/>
                </a:ext>
              </a:extLst>
            </p:cNvPr>
            <p:cNvSpPr txBox="1">
              <a:spLocks noChangeArrowheads="1"/>
            </p:cNvSpPr>
            <p:nvPr/>
          </p:nvSpPr>
          <p:spPr bwMode="auto">
            <a:xfrm>
              <a:off x="2408295" y="2000960"/>
              <a:ext cx="40908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Age</a:t>
              </a:r>
            </a:p>
          </p:txBody>
        </p:sp>
        <p:grpSp>
          <p:nvGrpSpPr>
            <p:cNvPr id="8" name="Group 7">
              <a:extLst>
                <a:ext uri="{FF2B5EF4-FFF2-40B4-BE49-F238E27FC236}">
                  <a16:creationId xmlns:a16="http://schemas.microsoft.com/office/drawing/2014/main" id="{0543ED71-C8AF-467E-8808-69B46C7280CA}"/>
                </a:ext>
              </a:extLst>
            </p:cNvPr>
            <p:cNvGrpSpPr/>
            <p:nvPr/>
          </p:nvGrpSpPr>
          <p:grpSpPr>
            <a:xfrm>
              <a:off x="4650080" y="2754732"/>
              <a:ext cx="228600" cy="228600"/>
              <a:chOff x="7542212" y="2451100"/>
              <a:chExt cx="304800" cy="304800"/>
            </a:xfrm>
          </p:grpSpPr>
          <p:sp>
            <p:nvSpPr>
              <p:cNvPr id="73" name="Line 13">
                <a:extLst>
                  <a:ext uri="{FF2B5EF4-FFF2-40B4-BE49-F238E27FC236}">
                    <a16:creationId xmlns:a16="http://schemas.microsoft.com/office/drawing/2014/main" id="{DEC6DC4D-A87A-480B-80A3-86F79EBD886A}"/>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4" name="Line 14">
                <a:extLst>
                  <a:ext uri="{FF2B5EF4-FFF2-40B4-BE49-F238E27FC236}">
                    <a16:creationId xmlns:a16="http://schemas.microsoft.com/office/drawing/2014/main" id="{FFA5662F-9021-49B5-9305-383476A550A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9" name="Group 8">
              <a:extLst>
                <a:ext uri="{FF2B5EF4-FFF2-40B4-BE49-F238E27FC236}">
                  <a16:creationId xmlns:a16="http://schemas.microsoft.com/office/drawing/2014/main" id="{6B6D95AE-3ABB-4093-8D38-931369CBD916}"/>
                </a:ext>
              </a:extLst>
            </p:cNvPr>
            <p:cNvGrpSpPr/>
            <p:nvPr/>
          </p:nvGrpSpPr>
          <p:grpSpPr>
            <a:xfrm>
              <a:off x="5144019" y="1628347"/>
              <a:ext cx="228600" cy="228600"/>
              <a:chOff x="6627812" y="2451100"/>
              <a:chExt cx="304800" cy="304800"/>
            </a:xfrm>
          </p:grpSpPr>
          <p:sp>
            <p:nvSpPr>
              <p:cNvPr id="71" name="Line 19">
                <a:extLst>
                  <a:ext uri="{FF2B5EF4-FFF2-40B4-BE49-F238E27FC236}">
                    <a16:creationId xmlns:a16="http://schemas.microsoft.com/office/drawing/2014/main" id="{3A4C0182-1664-4A78-BD44-0BCF01106AFE}"/>
                  </a:ext>
                </a:extLst>
              </p:cNvPr>
              <p:cNvSpPr>
                <a:spLocks noChangeShapeType="1"/>
              </p:cNvSpPr>
              <p:nvPr/>
            </p:nvSpPr>
            <p:spPr bwMode="auto">
              <a:xfrm>
                <a:off x="66278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2" name="Line 20">
                <a:extLst>
                  <a:ext uri="{FF2B5EF4-FFF2-40B4-BE49-F238E27FC236}">
                    <a16:creationId xmlns:a16="http://schemas.microsoft.com/office/drawing/2014/main" id="{849F4F5B-7EB0-40DB-ACE2-D403877256B0}"/>
                  </a:ext>
                </a:extLst>
              </p:cNvPr>
              <p:cNvSpPr>
                <a:spLocks noChangeShapeType="1"/>
              </p:cNvSpPr>
              <p:nvPr/>
            </p:nvSpPr>
            <p:spPr bwMode="auto">
              <a:xfrm>
                <a:off x="67802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0" name="Oval 25">
              <a:extLst>
                <a:ext uri="{FF2B5EF4-FFF2-40B4-BE49-F238E27FC236}">
                  <a16:creationId xmlns:a16="http://schemas.microsoft.com/office/drawing/2014/main" id="{78CAF859-CD4B-4B55-8B4E-13C9633680FD}"/>
                </a:ext>
              </a:extLst>
            </p:cNvPr>
            <p:cNvSpPr>
              <a:spLocks noChangeArrowheads="1"/>
            </p:cNvSpPr>
            <p:nvPr/>
          </p:nvSpPr>
          <p:spPr bwMode="auto">
            <a:xfrm>
              <a:off x="4115398" y="3732602"/>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1" name="Text Box 57">
              <a:extLst>
                <a:ext uri="{FF2B5EF4-FFF2-40B4-BE49-F238E27FC236}">
                  <a16:creationId xmlns:a16="http://schemas.microsoft.com/office/drawing/2014/main" id="{8825FE46-0D65-48EF-A842-78D13DC3DFC8}"/>
                </a:ext>
              </a:extLst>
            </p:cNvPr>
            <p:cNvSpPr txBox="1">
              <a:spLocks noChangeArrowheads="1"/>
            </p:cNvSpPr>
            <p:nvPr/>
          </p:nvSpPr>
          <p:spPr bwMode="auto">
            <a:xfrm>
              <a:off x="2511430" y="2636957"/>
              <a:ext cx="33214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45</a:t>
              </a:r>
            </a:p>
          </p:txBody>
        </p:sp>
        <p:sp>
          <p:nvSpPr>
            <p:cNvPr id="12" name="Text Box 58">
              <a:extLst>
                <a:ext uri="{FF2B5EF4-FFF2-40B4-BE49-F238E27FC236}">
                  <a16:creationId xmlns:a16="http://schemas.microsoft.com/office/drawing/2014/main" id="{D2739506-472F-40F6-96EB-9785955D705F}"/>
                </a:ext>
              </a:extLst>
            </p:cNvPr>
            <p:cNvSpPr txBox="1">
              <a:spLocks noChangeArrowheads="1"/>
            </p:cNvSpPr>
            <p:nvPr/>
          </p:nvSpPr>
          <p:spPr bwMode="auto">
            <a:xfrm>
              <a:off x="4409989" y="4221306"/>
              <a:ext cx="41068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40K</a:t>
              </a:r>
            </a:p>
          </p:txBody>
        </p:sp>
        <p:sp>
          <p:nvSpPr>
            <p:cNvPr id="13" name="Oval 63">
              <a:extLst>
                <a:ext uri="{FF2B5EF4-FFF2-40B4-BE49-F238E27FC236}">
                  <a16:creationId xmlns:a16="http://schemas.microsoft.com/office/drawing/2014/main" id="{57F627D9-A10F-4E18-A9DC-6B9C00843381}"/>
                </a:ext>
              </a:extLst>
            </p:cNvPr>
            <p:cNvSpPr>
              <a:spLocks noChangeArrowheads="1"/>
            </p:cNvSpPr>
            <p:nvPr/>
          </p:nvSpPr>
          <p:spPr bwMode="auto">
            <a:xfrm>
              <a:off x="4715639" y="316385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 name="Oval 66">
              <a:extLst>
                <a:ext uri="{FF2B5EF4-FFF2-40B4-BE49-F238E27FC236}">
                  <a16:creationId xmlns:a16="http://schemas.microsoft.com/office/drawing/2014/main" id="{74A599C4-933E-40B1-A754-4286F63F7086}"/>
                </a:ext>
              </a:extLst>
            </p:cNvPr>
            <p:cNvSpPr>
              <a:spLocks noChangeArrowheads="1"/>
            </p:cNvSpPr>
            <p:nvPr/>
          </p:nvSpPr>
          <p:spPr bwMode="auto">
            <a:xfrm>
              <a:off x="4682324" y="356981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5" name="Oval 66">
              <a:extLst>
                <a:ext uri="{FF2B5EF4-FFF2-40B4-BE49-F238E27FC236}">
                  <a16:creationId xmlns:a16="http://schemas.microsoft.com/office/drawing/2014/main" id="{329772A0-E418-4B81-B83A-4F6A60338346}"/>
                </a:ext>
              </a:extLst>
            </p:cNvPr>
            <p:cNvSpPr>
              <a:spLocks noChangeArrowheads="1"/>
            </p:cNvSpPr>
            <p:nvPr/>
          </p:nvSpPr>
          <p:spPr bwMode="auto">
            <a:xfrm>
              <a:off x="5178726" y="28247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6" name="Group 15">
              <a:extLst>
                <a:ext uri="{FF2B5EF4-FFF2-40B4-BE49-F238E27FC236}">
                  <a16:creationId xmlns:a16="http://schemas.microsoft.com/office/drawing/2014/main" id="{5E726232-861C-4697-94C5-C665B735D959}"/>
                </a:ext>
              </a:extLst>
            </p:cNvPr>
            <p:cNvGrpSpPr/>
            <p:nvPr/>
          </p:nvGrpSpPr>
          <p:grpSpPr>
            <a:xfrm>
              <a:off x="3346919" y="2118875"/>
              <a:ext cx="228600" cy="228600"/>
              <a:chOff x="7542212" y="2451100"/>
              <a:chExt cx="304800" cy="304800"/>
            </a:xfrm>
          </p:grpSpPr>
          <p:sp>
            <p:nvSpPr>
              <p:cNvPr id="69" name="Line 13">
                <a:extLst>
                  <a:ext uri="{FF2B5EF4-FFF2-40B4-BE49-F238E27FC236}">
                    <a16:creationId xmlns:a16="http://schemas.microsoft.com/office/drawing/2014/main" id="{07EF8836-F2CD-471C-8288-F4DC30323E20}"/>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0" name="Line 14">
                <a:extLst>
                  <a:ext uri="{FF2B5EF4-FFF2-40B4-BE49-F238E27FC236}">
                    <a16:creationId xmlns:a16="http://schemas.microsoft.com/office/drawing/2014/main" id="{3230ADA7-EC48-4A2F-B81D-80452F0C304D}"/>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 name="Group 16">
              <a:extLst>
                <a:ext uri="{FF2B5EF4-FFF2-40B4-BE49-F238E27FC236}">
                  <a16:creationId xmlns:a16="http://schemas.microsoft.com/office/drawing/2014/main" id="{7EA450DD-FD97-43A1-9DFC-61F811908CD9}"/>
                </a:ext>
              </a:extLst>
            </p:cNvPr>
            <p:cNvGrpSpPr/>
            <p:nvPr/>
          </p:nvGrpSpPr>
          <p:grpSpPr>
            <a:xfrm>
              <a:off x="4012739" y="3001740"/>
              <a:ext cx="228600" cy="228600"/>
              <a:chOff x="7542212" y="2451100"/>
              <a:chExt cx="304800" cy="304800"/>
            </a:xfrm>
          </p:grpSpPr>
          <p:sp>
            <p:nvSpPr>
              <p:cNvPr id="67" name="Line 13">
                <a:extLst>
                  <a:ext uri="{FF2B5EF4-FFF2-40B4-BE49-F238E27FC236}">
                    <a16:creationId xmlns:a16="http://schemas.microsoft.com/office/drawing/2014/main" id="{234FD5DF-8B15-4E89-8272-4FFC3D0B4ECB}"/>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8" name="Line 14">
                <a:extLst>
                  <a:ext uri="{FF2B5EF4-FFF2-40B4-BE49-F238E27FC236}">
                    <a16:creationId xmlns:a16="http://schemas.microsoft.com/office/drawing/2014/main" id="{A1E97ABA-2677-48F5-9B76-9D1CA92C3A35}"/>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8" name="Group 17">
              <a:extLst>
                <a:ext uri="{FF2B5EF4-FFF2-40B4-BE49-F238E27FC236}">
                  <a16:creationId xmlns:a16="http://schemas.microsoft.com/office/drawing/2014/main" id="{BD436F93-8A3B-4E70-AAB2-BA1C04995FB9}"/>
                </a:ext>
              </a:extLst>
            </p:cNvPr>
            <p:cNvGrpSpPr/>
            <p:nvPr/>
          </p:nvGrpSpPr>
          <p:grpSpPr>
            <a:xfrm>
              <a:off x="3597488" y="2458753"/>
              <a:ext cx="228600" cy="228600"/>
              <a:chOff x="7542212" y="2451100"/>
              <a:chExt cx="304800" cy="304800"/>
            </a:xfrm>
          </p:grpSpPr>
          <p:sp>
            <p:nvSpPr>
              <p:cNvPr id="65" name="Line 13">
                <a:extLst>
                  <a:ext uri="{FF2B5EF4-FFF2-40B4-BE49-F238E27FC236}">
                    <a16:creationId xmlns:a16="http://schemas.microsoft.com/office/drawing/2014/main" id="{F376A727-534A-4D8C-B136-2C76B82EE38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6" name="Line 14">
                <a:extLst>
                  <a:ext uri="{FF2B5EF4-FFF2-40B4-BE49-F238E27FC236}">
                    <a16:creationId xmlns:a16="http://schemas.microsoft.com/office/drawing/2014/main" id="{1C2D52FF-1F3D-4FF9-AA49-B60D60DF39A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9" name="Group 18">
              <a:extLst>
                <a:ext uri="{FF2B5EF4-FFF2-40B4-BE49-F238E27FC236}">
                  <a16:creationId xmlns:a16="http://schemas.microsoft.com/office/drawing/2014/main" id="{6B92871D-5DB4-4DE6-93C7-104C9C669CD7}"/>
                </a:ext>
              </a:extLst>
            </p:cNvPr>
            <p:cNvGrpSpPr/>
            <p:nvPr/>
          </p:nvGrpSpPr>
          <p:grpSpPr>
            <a:xfrm>
              <a:off x="5372619" y="1969830"/>
              <a:ext cx="228600" cy="228600"/>
              <a:chOff x="7542212" y="2451100"/>
              <a:chExt cx="304800" cy="304800"/>
            </a:xfrm>
          </p:grpSpPr>
          <p:sp>
            <p:nvSpPr>
              <p:cNvPr id="63" name="Line 13">
                <a:extLst>
                  <a:ext uri="{FF2B5EF4-FFF2-40B4-BE49-F238E27FC236}">
                    <a16:creationId xmlns:a16="http://schemas.microsoft.com/office/drawing/2014/main" id="{32A0959C-6C4B-4306-928F-F917BA908CF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4" name="Line 14">
                <a:extLst>
                  <a:ext uri="{FF2B5EF4-FFF2-40B4-BE49-F238E27FC236}">
                    <a16:creationId xmlns:a16="http://schemas.microsoft.com/office/drawing/2014/main" id="{02A6F7C4-A3C0-4264-A8D5-90EBEFA534B1}"/>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0" name="Group 19">
              <a:extLst>
                <a:ext uri="{FF2B5EF4-FFF2-40B4-BE49-F238E27FC236}">
                  <a16:creationId xmlns:a16="http://schemas.microsoft.com/office/drawing/2014/main" id="{4D18A8CA-FBC8-40BA-9A5E-3EA8E33B4600}"/>
                </a:ext>
              </a:extLst>
            </p:cNvPr>
            <p:cNvGrpSpPr/>
            <p:nvPr/>
          </p:nvGrpSpPr>
          <p:grpSpPr>
            <a:xfrm>
              <a:off x="4159207" y="2562824"/>
              <a:ext cx="228600" cy="228600"/>
              <a:chOff x="7542212" y="2451100"/>
              <a:chExt cx="304800" cy="304800"/>
            </a:xfrm>
          </p:grpSpPr>
          <p:sp>
            <p:nvSpPr>
              <p:cNvPr id="61" name="Line 13">
                <a:extLst>
                  <a:ext uri="{FF2B5EF4-FFF2-40B4-BE49-F238E27FC236}">
                    <a16:creationId xmlns:a16="http://schemas.microsoft.com/office/drawing/2014/main" id="{B0AADE33-5216-471C-B75B-0486758A9065}"/>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2" name="Line 14">
                <a:extLst>
                  <a:ext uri="{FF2B5EF4-FFF2-40B4-BE49-F238E27FC236}">
                    <a16:creationId xmlns:a16="http://schemas.microsoft.com/office/drawing/2014/main" id="{9E24591C-ED3E-4138-A897-439E08154C47}"/>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1" name="Group 20">
              <a:extLst>
                <a:ext uri="{FF2B5EF4-FFF2-40B4-BE49-F238E27FC236}">
                  <a16:creationId xmlns:a16="http://schemas.microsoft.com/office/drawing/2014/main" id="{F91A4E6A-CCCD-4F82-B93F-77E29150FC4A}"/>
                </a:ext>
              </a:extLst>
            </p:cNvPr>
            <p:cNvGrpSpPr/>
            <p:nvPr/>
          </p:nvGrpSpPr>
          <p:grpSpPr>
            <a:xfrm>
              <a:off x="3648809" y="1835073"/>
              <a:ext cx="228600" cy="228600"/>
              <a:chOff x="7542212" y="2451100"/>
              <a:chExt cx="304800" cy="304800"/>
            </a:xfrm>
          </p:grpSpPr>
          <p:sp>
            <p:nvSpPr>
              <p:cNvPr id="59" name="Line 13">
                <a:extLst>
                  <a:ext uri="{FF2B5EF4-FFF2-40B4-BE49-F238E27FC236}">
                    <a16:creationId xmlns:a16="http://schemas.microsoft.com/office/drawing/2014/main" id="{5D9DFE04-F618-477B-8DA7-46C6C79C59B1}"/>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0" name="Line 14">
                <a:extLst>
                  <a:ext uri="{FF2B5EF4-FFF2-40B4-BE49-F238E27FC236}">
                    <a16:creationId xmlns:a16="http://schemas.microsoft.com/office/drawing/2014/main" id="{80A22A97-8777-4D0D-AB2F-B7B740D4651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2" name="Group 21">
              <a:extLst>
                <a:ext uri="{FF2B5EF4-FFF2-40B4-BE49-F238E27FC236}">
                  <a16:creationId xmlns:a16="http://schemas.microsoft.com/office/drawing/2014/main" id="{28AD6A28-29C6-4B29-B191-8B1466E477E6}"/>
                </a:ext>
              </a:extLst>
            </p:cNvPr>
            <p:cNvGrpSpPr/>
            <p:nvPr/>
          </p:nvGrpSpPr>
          <p:grpSpPr>
            <a:xfrm>
              <a:off x="4901418" y="2456080"/>
              <a:ext cx="228600" cy="228600"/>
              <a:chOff x="7542212" y="2451100"/>
              <a:chExt cx="304800" cy="304800"/>
            </a:xfrm>
          </p:grpSpPr>
          <p:sp>
            <p:nvSpPr>
              <p:cNvPr id="57" name="Line 13">
                <a:extLst>
                  <a:ext uri="{FF2B5EF4-FFF2-40B4-BE49-F238E27FC236}">
                    <a16:creationId xmlns:a16="http://schemas.microsoft.com/office/drawing/2014/main" id="{1A614CF1-C3F3-410E-A516-070AF4527169}"/>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8" name="Line 14">
                <a:extLst>
                  <a:ext uri="{FF2B5EF4-FFF2-40B4-BE49-F238E27FC236}">
                    <a16:creationId xmlns:a16="http://schemas.microsoft.com/office/drawing/2014/main" id="{192CD6D6-2A18-4715-B9D3-5393DC47E5FE}"/>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3" name="Oval 63">
              <a:extLst>
                <a:ext uri="{FF2B5EF4-FFF2-40B4-BE49-F238E27FC236}">
                  <a16:creationId xmlns:a16="http://schemas.microsoft.com/office/drawing/2014/main" id="{BB301FC7-C4D3-402B-AC39-A67E2B73DACF}"/>
                </a:ext>
              </a:extLst>
            </p:cNvPr>
            <p:cNvSpPr>
              <a:spLocks noChangeArrowheads="1"/>
            </p:cNvSpPr>
            <p:nvPr/>
          </p:nvSpPr>
          <p:spPr bwMode="auto">
            <a:xfrm>
              <a:off x="4805447" y="3903288"/>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24" name="Group 23">
              <a:extLst>
                <a:ext uri="{FF2B5EF4-FFF2-40B4-BE49-F238E27FC236}">
                  <a16:creationId xmlns:a16="http://schemas.microsoft.com/office/drawing/2014/main" id="{D450E0F4-B066-47AD-8FB5-849B0A9C5002}"/>
                </a:ext>
              </a:extLst>
            </p:cNvPr>
            <p:cNvGrpSpPr/>
            <p:nvPr/>
          </p:nvGrpSpPr>
          <p:grpSpPr>
            <a:xfrm>
              <a:off x="3445242" y="2881859"/>
              <a:ext cx="228600" cy="228600"/>
              <a:chOff x="7542212" y="2451100"/>
              <a:chExt cx="304800" cy="304800"/>
            </a:xfrm>
          </p:grpSpPr>
          <p:sp>
            <p:nvSpPr>
              <p:cNvPr id="55" name="Line 13">
                <a:extLst>
                  <a:ext uri="{FF2B5EF4-FFF2-40B4-BE49-F238E27FC236}">
                    <a16:creationId xmlns:a16="http://schemas.microsoft.com/office/drawing/2014/main" id="{D7CB6C88-0B61-4EF2-ABEF-494EF3A9CEEF}"/>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6" name="Line 14">
                <a:extLst>
                  <a:ext uri="{FF2B5EF4-FFF2-40B4-BE49-F238E27FC236}">
                    <a16:creationId xmlns:a16="http://schemas.microsoft.com/office/drawing/2014/main" id="{E5573E3A-5E70-4BC9-9D43-B2B5F16CBBE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5" name="Group 24">
              <a:extLst>
                <a:ext uri="{FF2B5EF4-FFF2-40B4-BE49-F238E27FC236}">
                  <a16:creationId xmlns:a16="http://schemas.microsoft.com/office/drawing/2014/main" id="{731EAC87-7A2A-4AF7-BA87-A3FF6FAF3B4F}"/>
                </a:ext>
              </a:extLst>
            </p:cNvPr>
            <p:cNvGrpSpPr/>
            <p:nvPr/>
          </p:nvGrpSpPr>
          <p:grpSpPr>
            <a:xfrm>
              <a:off x="4664248" y="2496158"/>
              <a:ext cx="228600" cy="228600"/>
              <a:chOff x="7542212" y="2451100"/>
              <a:chExt cx="304800" cy="304800"/>
            </a:xfrm>
          </p:grpSpPr>
          <p:sp>
            <p:nvSpPr>
              <p:cNvPr id="53" name="Line 13">
                <a:extLst>
                  <a:ext uri="{FF2B5EF4-FFF2-40B4-BE49-F238E27FC236}">
                    <a16:creationId xmlns:a16="http://schemas.microsoft.com/office/drawing/2014/main" id="{4315F603-622E-4331-B22F-ABCFD7FAAF6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4" name="Line 14">
                <a:extLst>
                  <a:ext uri="{FF2B5EF4-FFF2-40B4-BE49-F238E27FC236}">
                    <a16:creationId xmlns:a16="http://schemas.microsoft.com/office/drawing/2014/main" id="{B46C5537-2F9C-41C8-A123-861FC6278C44}"/>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6" name="Group 25">
              <a:extLst>
                <a:ext uri="{FF2B5EF4-FFF2-40B4-BE49-F238E27FC236}">
                  <a16:creationId xmlns:a16="http://schemas.microsoft.com/office/drawing/2014/main" id="{446DD8B2-F5DC-4EC1-A22E-E912DB400EAC}"/>
                </a:ext>
              </a:extLst>
            </p:cNvPr>
            <p:cNvGrpSpPr/>
            <p:nvPr/>
          </p:nvGrpSpPr>
          <p:grpSpPr>
            <a:xfrm>
              <a:off x="4927721" y="2005940"/>
              <a:ext cx="228600" cy="228600"/>
              <a:chOff x="7542212" y="2451100"/>
              <a:chExt cx="304800" cy="304800"/>
            </a:xfrm>
          </p:grpSpPr>
          <p:sp>
            <p:nvSpPr>
              <p:cNvPr id="51" name="Line 13">
                <a:extLst>
                  <a:ext uri="{FF2B5EF4-FFF2-40B4-BE49-F238E27FC236}">
                    <a16:creationId xmlns:a16="http://schemas.microsoft.com/office/drawing/2014/main" id="{76EF5EA0-DAE6-4030-B5D6-60B20F86DF5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2" name="Line 14">
                <a:extLst>
                  <a:ext uri="{FF2B5EF4-FFF2-40B4-BE49-F238E27FC236}">
                    <a16:creationId xmlns:a16="http://schemas.microsoft.com/office/drawing/2014/main" id="{1E9B0A9A-867A-44EE-A2FB-E964AC5D841B}"/>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7" name="Group 26">
              <a:extLst>
                <a:ext uri="{FF2B5EF4-FFF2-40B4-BE49-F238E27FC236}">
                  <a16:creationId xmlns:a16="http://schemas.microsoft.com/office/drawing/2014/main" id="{0AE679D1-5297-4ACC-9E2F-99B755BB0975}"/>
                </a:ext>
              </a:extLst>
            </p:cNvPr>
            <p:cNvGrpSpPr/>
            <p:nvPr/>
          </p:nvGrpSpPr>
          <p:grpSpPr>
            <a:xfrm>
              <a:off x="3862368" y="2093444"/>
              <a:ext cx="228600" cy="228600"/>
              <a:chOff x="7542212" y="2451100"/>
              <a:chExt cx="304800" cy="304800"/>
            </a:xfrm>
          </p:grpSpPr>
          <p:sp>
            <p:nvSpPr>
              <p:cNvPr id="49" name="Line 13">
                <a:extLst>
                  <a:ext uri="{FF2B5EF4-FFF2-40B4-BE49-F238E27FC236}">
                    <a16:creationId xmlns:a16="http://schemas.microsoft.com/office/drawing/2014/main" id="{AE79A913-CD4C-457C-BEEE-4B03F826CB11}"/>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0" name="Line 14">
                <a:extLst>
                  <a:ext uri="{FF2B5EF4-FFF2-40B4-BE49-F238E27FC236}">
                    <a16:creationId xmlns:a16="http://schemas.microsoft.com/office/drawing/2014/main" id="{088C7430-4D1F-408B-8167-56837A9C8AB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8" name="Oval 66">
              <a:extLst>
                <a:ext uri="{FF2B5EF4-FFF2-40B4-BE49-F238E27FC236}">
                  <a16:creationId xmlns:a16="http://schemas.microsoft.com/office/drawing/2014/main" id="{7A2EF855-02EA-4ACF-A7CE-669DE45679F7}"/>
                </a:ext>
              </a:extLst>
            </p:cNvPr>
            <p:cNvSpPr>
              <a:spLocks noChangeArrowheads="1"/>
            </p:cNvSpPr>
            <p:nvPr/>
          </p:nvSpPr>
          <p:spPr bwMode="auto">
            <a:xfrm>
              <a:off x="5770372" y="3215883"/>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29" name="Group 28">
              <a:extLst>
                <a:ext uri="{FF2B5EF4-FFF2-40B4-BE49-F238E27FC236}">
                  <a16:creationId xmlns:a16="http://schemas.microsoft.com/office/drawing/2014/main" id="{3E3BEF84-0231-4D4C-845C-23B50EFCC3A2}"/>
                </a:ext>
              </a:extLst>
            </p:cNvPr>
            <p:cNvGrpSpPr/>
            <p:nvPr/>
          </p:nvGrpSpPr>
          <p:grpSpPr>
            <a:xfrm>
              <a:off x="3086711" y="2558540"/>
              <a:ext cx="228600" cy="228600"/>
              <a:chOff x="7542212" y="2451100"/>
              <a:chExt cx="304800" cy="304800"/>
            </a:xfrm>
          </p:grpSpPr>
          <p:sp>
            <p:nvSpPr>
              <p:cNvPr id="47" name="Line 13">
                <a:extLst>
                  <a:ext uri="{FF2B5EF4-FFF2-40B4-BE49-F238E27FC236}">
                    <a16:creationId xmlns:a16="http://schemas.microsoft.com/office/drawing/2014/main" id="{18DFC1B9-413A-4515-91BF-38E0497B615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8" name="Line 14">
                <a:extLst>
                  <a:ext uri="{FF2B5EF4-FFF2-40B4-BE49-F238E27FC236}">
                    <a16:creationId xmlns:a16="http://schemas.microsoft.com/office/drawing/2014/main" id="{240F1381-BF46-4569-9E85-7A3649DD3758}"/>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0" name="Oval 25">
              <a:extLst>
                <a:ext uri="{FF2B5EF4-FFF2-40B4-BE49-F238E27FC236}">
                  <a16:creationId xmlns:a16="http://schemas.microsoft.com/office/drawing/2014/main" id="{B3C12212-3249-42C5-BDD1-8A31EFECD489}"/>
                </a:ext>
              </a:extLst>
            </p:cNvPr>
            <p:cNvSpPr>
              <a:spLocks noChangeArrowheads="1"/>
            </p:cNvSpPr>
            <p:nvPr/>
          </p:nvSpPr>
          <p:spPr bwMode="auto">
            <a:xfrm>
              <a:off x="5960875" y="233923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31" name="Group 30">
              <a:extLst>
                <a:ext uri="{FF2B5EF4-FFF2-40B4-BE49-F238E27FC236}">
                  <a16:creationId xmlns:a16="http://schemas.microsoft.com/office/drawing/2014/main" id="{5614C93A-DE48-4F61-9480-76256CE894D1}"/>
                </a:ext>
              </a:extLst>
            </p:cNvPr>
            <p:cNvGrpSpPr/>
            <p:nvPr/>
          </p:nvGrpSpPr>
          <p:grpSpPr>
            <a:xfrm>
              <a:off x="3100965" y="3158733"/>
              <a:ext cx="228600" cy="228600"/>
              <a:chOff x="7542212" y="2451100"/>
              <a:chExt cx="304800" cy="304800"/>
            </a:xfrm>
          </p:grpSpPr>
          <p:sp>
            <p:nvSpPr>
              <p:cNvPr id="45" name="Line 13">
                <a:extLst>
                  <a:ext uri="{FF2B5EF4-FFF2-40B4-BE49-F238E27FC236}">
                    <a16:creationId xmlns:a16="http://schemas.microsoft.com/office/drawing/2014/main" id="{F0F586BB-D65E-4A6D-BF98-B157120A92E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6" name="Line 14">
                <a:extLst>
                  <a:ext uri="{FF2B5EF4-FFF2-40B4-BE49-F238E27FC236}">
                    <a16:creationId xmlns:a16="http://schemas.microsoft.com/office/drawing/2014/main" id="{913979B1-9802-436B-9472-703A4CE4CB5A}"/>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32" name="Group 31">
              <a:extLst>
                <a:ext uri="{FF2B5EF4-FFF2-40B4-BE49-F238E27FC236}">
                  <a16:creationId xmlns:a16="http://schemas.microsoft.com/office/drawing/2014/main" id="{D317E490-FEDA-4787-A8B4-A9ACD6F474A0}"/>
                </a:ext>
              </a:extLst>
            </p:cNvPr>
            <p:cNvGrpSpPr/>
            <p:nvPr/>
          </p:nvGrpSpPr>
          <p:grpSpPr>
            <a:xfrm>
              <a:off x="3022475" y="1979144"/>
              <a:ext cx="228600" cy="228600"/>
              <a:chOff x="7542212" y="2451100"/>
              <a:chExt cx="304800" cy="304800"/>
            </a:xfrm>
          </p:grpSpPr>
          <p:sp>
            <p:nvSpPr>
              <p:cNvPr id="43" name="Line 13">
                <a:extLst>
                  <a:ext uri="{FF2B5EF4-FFF2-40B4-BE49-F238E27FC236}">
                    <a16:creationId xmlns:a16="http://schemas.microsoft.com/office/drawing/2014/main" id="{CDB2A546-FE10-44BA-B727-473188ECED6F}"/>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4" name="Line 14">
                <a:extLst>
                  <a:ext uri="{FF2B5EF4-FFF2-40B4-BE49-F238E27FC236}">
                    <a16:creationId xmlns:a16="http://schemas.microsoft.com/office/drawing/2014/main" id="{80CEF391-29E0-4FDC-A545-7A4C1AC4ECE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3" name="Oval 25">
              <a:extLst>
                <a:ext uri="{FF2B5EF4-FFF2-40B4-BE49-F238E27FC236}">
                  <a16:creationId xmlns:a16="http://schemas.microsoft.com/office/drawing/2014/main" id="{B2F0CBBE-1975-407E-8F8C-AC108BFF586A}"/>
                </a:ext>
              </a:extLst>
            </p:cNvPr>
            <p:cNvSpPr>
              <a:spLocks noChangeArrowheads="1"/>
            </p:cNvSpPr>
            <p:nvPr/>
          </p:nvSpPr>
          <p:spPr bwMode="auto">
            <a:xfrm>
              <a:off x="3405042" y="386828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34" name="Group 33">
              <a:extLst>
                <a:ext uri="{FF2B5EF4-FFF2-40B4-BE49-F238E27FC236}">
                  <a16:creationId xmlns:a16="http://schemas.microsoft.com/office/drawing/2014/main" id="{A56760B2-8F17-4F4A-9E7D-A1908EBEF8A7}"/>
                </a:ext>
              </a:extLst>
            </p:cNvPr>
            <p:cNvGrpSpPr/>
            <p:nvPr/>
          </p:nvGrpSpPr>
          <p:grpSpPr>
            <a:xfrm>
              <a:off x="2792775" y="1626672"/>
              <a:ext cx="3714750" cy="2627167"/>
              <a:chOff x="1507721" y="2255392"/>
              <a:chExt cx="4953000" cy="3502889"/>
            </a:xfrm>
          </p:grpSpPr>
          <p:sp>
            <p:nvSpPr>
              <p:cNvPr id="39" name="Line 3">
                <a:extLst>
                  <a:ext uri="{FF2B5EF4-FFF2-40B4-BE49-F238E27FC236}">
                    <a16:creationId xmlns:a16="http://schemas.microsoft.com/office/drawing/2014/main" id="{E9CCC395-02EF-4ACD-A5F2-9491CED7BD0D}"/>
                  </a:ext>
                </a:extLst>
              </p:cNvPr>
              <p:cNvSpPr>
                <a:spLocks noChangeShapeType="1"/>
              </p:cNvSpPr>
              <p:nvPr/>
            </p:nvSpPr>
            <p:spPr bwMode="auto">
              <a:xfrm>
                <a:off x="1583921" y="2255392"/>
                <a:ext cx="0" cy="3429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0" name="Line 4">
                <a:extLst>
                  <a:ext uri="{FF2B5EF4-FFF2-40B4-BE49-F238E27FC236}">
                    <a16:creationId xmlns:a16="http://schemas.microsoft.com/office/drawing/2014/main" id="{21C134D9-0A4B-44E8-A1C7-031429174680}"/>
                  </a:ext>
                </a:extLst>
              </p:cNvPr>
              <p:cNvSpPr>
                <a:spLocks noChangeShapeType="1"/>
              </p:cNvSpPr>
              <p:nvPr/>
            </p:nvSpPr>
            <p:spPr bwMode="auto">
              <a:xfrm>
                <a:off x="1583921" y="5684392"/>
                <a:ext cx="487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1" name="Line 60">
                <a:extLst>
                  <a:ext uri="{FF2B5EF4-FFF2-40B4-BE49-F238E27FC236}">
                    <a16:creationId xmlns:a16="http://schemas.microsoft.com/office/drawing/2014/main" id="{4D3935DC-D42A-4023-9984-E8677D2C645D}"/>
                  </a:ext>
                </a:extLst>
              </p:cNvPr>
              <p:cNvSpPr>
                <a:spLocks noChangeShapeType="1"/>
              </p:cNvSpPr>
              <p:nvPr/>
            </p:nvSpPr>
            <p:spPr bwMode="auto">
              <a:xfrm>
                <a:off x="1507721" y="3779392"/>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2" name="Line 60">
                <a:extLst>
                  <a:ext uri="{FF2B5EF4-FFF2-40B4-BE49-F238E27FC236}">
                    <a16:creationId xmlns:a16="http://schemas.microsoft.com/office/drawing/2014/main" id="{717B3FCB-DA98-4259-8DF5-FF8FC6CEE2E0}"/>
                  </a:ext>
                </a:extLst>
              </p:cNvPr>
              <p:cNvSpPr>
                <a:spLocks noChangeShapeType="1"/>
              </p:cNvSpPr>
              <p:nvPr/>
            </p:nvSpPr>
            <p:spPr bwMode="auto">
              <a:xfrm>
                <a:off x="3951104" y="5575401"/>
                <a:ext cx="0" cy="1828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5" name="Oval 63">
              <a:extLst>
                <a:ext uri="{FF2B5EF4-FFF2-40B4-BE49-F238E27FC236}">
                  <a16:creationId xmlns:a16="http://schemas.microsoft.com/office/drawing/2014/main" id="{77A13138-FE90-4B10-AAAE-253C2369119C}"/>
                </a:ext>
              </a:extLst>
            </p:cNvPr>
            <p:cNvSpPr>
              <a:spLocks noChangeArrowheads="1"/>
            </p:cNvSpPr>
            <p:nvPr/>
          </p:nvSpPr>
          <p:spPr bwMode="auto">
            <a:xfrm>
              <a:off x="5346032" y="362696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36" name="Oval 63">
              <a:extLst>
                <a:ext uri="{FF2B5EF4-FFF2-40B4-BE49-F238E27FC236}">
                  <a16:creationId xmlns:a16="http://schemas.microsoft.com/office/drawing/2014/main" id="{C3953A14-ED2C-444F-9CD8-7BD8D9F5E847}"/>
                </a:ext>
              </a:extLst>
            </p:cNvPr>
            <p:cNvSpPr>
              <a:spLocks noChangeArrowheads="1"/>
            </p:cNvSpPr>
            <p:nvPr/>
          </p:nvSpPr>
          <p:spPr bwMode="auto">
            <a:xfrm>
              <a:off x="4916869" y="3317000"/>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37" name="Oval 66">
              <a:extLst>
                <a:ext uri="{FF2B5EF4-FFF2-40B4-BE49-F238E27FC236}">
                  <a16:creationId xmlns:a16="http://schemas.microsoft.com/office/drawing/2014/main" id="{50F7C85A-0387-40C4-8D40-5B8B16559BC9}"/>
                </a:ext>
              </a:extLst>
            </p:cNvPr>
            <p:cNvSpPr>
              <a:spLocks noChangeArrowheads="1"/>
            </p:cNvSpPr>
            <p:nvPr/>
          </p:nvSpPr>
          <p:spPr bwMode="auto">
            <a:xfrm>
              <a:off x="5493161" y="28577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pic>
          <p:nvPicPr>
            <p:cNvPr id="38" name="Picture 37">
              <a:extLst>
                <a:ext uri="{FF2B5EF4-FFF2-40B4-BE49-F238E27FC236}">
                  <a16:creationId xmlns:a16="http://schemas.microsoft.com/office/drawing/2014/main" id="{3ACEE575-0CEB-45A7-B019-299DD025681F}"/>
                </a:ext>
              </a:extLst>
            </p:cNvPr>
            <p:cNvPicPr>
              <a:picLocks noChangeAspect="1"/>
            </p:cNvPicPr>
            <p:nvPr/>
          </p:nvPicPr>
          <p:blipFill>
            <a:blip r:embed="rId3"/>
            <a:stretch>
              <a:fillRect/>
            </a:stretch>
          </p:blipFill>
          <p:spPr>
            <a:xfrm>
              <a:off x="5909819" y="3753161"/>
              <a:ext cx="604858" cy="474452"/>
            </a:xfrm>
            <a:prstGeom prst="rect">
              <a:avLst/>
            </a:prstGeom>
          </p:spPr>
        </p:pic>
      </p:grpSp>
    </p:spTree>
    <p:extLst>
      <p:ext uri="{BB962C8B-B14F-4D97-AF65-F5344CB8AC3E}">
        <p14:creationId xmlns:p14="http://schemas.microsoft.com/office/powerpoint/2010/main" val="235777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D4F67A6-6645-499E-809D-01B2709650E0}"/>
              </a:ext>
            </a:extLst>
          </p:cNvPr>
          <p:cNvSpPr txBox="1">
            <a:spLocks noGrp="1"/>
          </p:cNvSpPr>
          <p:nvPr>
            <p:ph sz="half" idx="1"/>
          </p:nvPr>
        </p:nvSpPr>
        <p:spPr>
          <a:xfrm>
            <a:off x="411163" y="1200150"/>
            <a:ext cx="4024312" cy="3429000"/>
          </a:xfrm>
          <a:prstGeom prst="rect">
            <a:avLst/>
          </a:prstGeom>
          <a:noFill/>
          <a:ln>
            <a:noFill/>
          </a:ln>
        </p:spPr>
        <p:txBody>
          <a:bodyPr wrap="square" rtlCol="0">
            <a:spAutoFit/>
          </a:bodyPr>
          <a:lstStyle/>
          <a:p>
            <a:r>
              <a:rPr lang="en-US" sz="1200" dirty="0"/>
              <a:t>Line dividing classes is called the linear discriminant. </a:t>
            </a:r>
          </a:p>
          <a:p>
            <a:endParaRPr lang="en-US" sz="1200" dirty="0"/>
          </a:p>
          <a:p>
            <a:r>
              <a:rPr lang="en-US" sz="1200" dirty="0"/>
              <a:t>It’s always the line created when f(</a:t>
            </a:r>
            <a:r>
              <a:rPr lang="en-US" sz="1200" b="1" dirty="0"/>
              <a:t>x</a:t>
            </a:r>
            <a:r>
              <a:rPr lang="en-US" sz="1200" dirty="0"/>
              <a:t>) = 0, where </a:t>
            </a:r>
            <a:r>
              <a:rPr lang="en-US" sz="1200" b="1" dirty="0"/>
              <a:t>x</a:t>
            </a:r>
            <a:r>
              <a:rPr lang="en-US" sz="1200" dirty="0"/>
              <a:t> is an attribute vector.</a:t>
            </a:r>
          </a:p>
          <a:p>
            <a:endParaRPr lang="en-US" sz="1200" dirty="0"/>
          </a:p>
          <a:p>
            <a:r>
              <a:rPr lang="en-US" sz="1200" dirty="0"/>
              <a:t>Predict class based on which side of line data point is located.</a:t>
            </a:r>
          </a:p>
          <a:p>
            <a:endParaRPr lang="en-US" sz="1200" dirty="0"/>
          </a:p>
          <a:p>
            <a:endParaRPr lang="en-US" sz="1200" dirty="0"/>
          </a:p>
          <a:p>
            <a:endParaRPr lang="en-US" sz="1200" dirty="0"/>
          </a:p>
        </p:txBody>
      </p:sp>
      <p:sp>
        <p:nvSpPr>
          <p:cNvPr id="97" name="Rectangle 96"/>
          <p:cNvSpPr/>
          <p:nvPr/>
        </p:nvSpPr>
        <p:spPr bwMode="auto">
          <a:xfrm>
            <a:off x="1545601" y="3951205"/>
            <a:ext cx="6031706" cy="66170"/>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139266" name="Rectangle 2"/>
          <p:cNvSpPr>
            <a:spLocks noGrp="1" noChangeArrowheads="1"/>
          </p:cNvSpPr>
          <p:nvPr>
            <p:ph type="title"/>
          </p:nvPr>
        </p:nvSpPr>
        <p:spPr/>
        <p:txBody>
          <a:bodyPr/>
          <a:lstStyle/>
          <a:p>
            <a:r>
              <a:rPr lang="en-US" altLang="en-US"/>
              <a:t>Linear classifier</a:t>
            </a:r>
          </a:p>
        </p:txBody>
      </p:sp>
      <p:grpSp>
        <p:nvGrpSpPr>
          <p:cNvPr id="8" name="Group 7"/>
          <p:cNvGrpSpPr/>
          <p:nvPr/>
        </p:nvGrpSpPr>
        <p:grpSpPr>
          <a:xfrm>
            <a:off x="1253448" y="3169112"/>
            <a:ext cx="2136544" cy="452816"/>
            <a:chOff x="10555078" y="3488399"/>
            <a:chExt cx="2848725" cy="603754"/>
          </a:xfrm>
        </p:grpSpPr>
        <mc:AlternateContent xmlns:mc="http://schemas.openxmlformats.org/markup-compatibility/2006" xmlns:a14="http://schemas.microsoft.com/office/drawing/2010/main">
          <mc:Choice Requires="a14">
            <p:sp>
              <p:nvSpPr>
                <p:cNvPr id="3" name="TextBox 2"/>
                <p:cNvSpPr txBox="1"/>
                <p:nvPr/>
              </p:nvSpPr>
              <p:spPr>
                <a:xfrm>
                  <a:off x="10555078" y="3488399"/>
                  <a:ext cx="2247965" cy="603754"/>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𝑐𝑙𝑎𝑠𝑠</m:t>
                        </m:r>
                        <m:d>
                          <m:dPr>
                            <m:ctrlPr>
                              <a:rPr lang="en-US" sz="1050" i="1">
                                <a:latin typeface="Cambria Math" panose="02040503050406030204" pitchFamily="18" charset="0"/>
                              </a:rPr>
                            </m:ctrlPr>
                          </m:dPr>
                          <m:e>
                            <m:r>
                              <a:rPr lang="en-US" sz="1050" b="1" i="1">
                                <a:latin typeface="Cambria Math" panose="02040503050406030204" pitchFamily="18" charset="0"/>
                              </a:rPr>
                              <m:t>𝒙</m:t>
                            </m:r>
                          </m:e>
                        </m:d>
                        <m:r>
                          <a:rPr lang="en-US" sz="1050" i="1">
                            <a:latin typeface="Cambria Math" panose="02040503050406030204" pitchFamily="18" charset="0"/>
                          </a:rPr>
                          <m:t>= </m:t>
                        </m:r>
                        <m:d>
                          <m:dPr>
                            <m:begChr m:val="{"/>
                            <m:endChr m:val=""/>
                            <m:ctrlPr>
                              <a:rPr lang="en-US" sz="1050" i="1">
                                <a:latin typeface="Cambria Math" panose="02040503050406030204" pitchFamily="18" charset="0"/>
                              </a:rPr>
                            </m:ctrlPr>
                          </m:dPr>
                          <m:e>
                            <m:eqArr>
                              <m:eqArrPr>
                                <m:ctrlPr>
                                  <a:rPr lang="en-US" sz="1050" i="1">
                                    <a:latin typeface="Cambria Math" panose="02040503050406030204" pitchFamily="18" charset="0"/>
                                  </a:rPr>
                                </m:ctrlPr>
                              </m:eqArrPr>
                              <m:e>
                                <m:r>
                                  <a:rPr lang="en-US" sz="1050" i="1">
                                    <a:latin typeface="Cambria Math" panose="02040503050406030204" pitchFamily="18" charset="0"/>
                                  </a:rPr>
                                  <m:t>𝑖𝑓</m:t>
                                </m:r>
                                <m:r>
                                  <a:rPr lang="en-US" sz="1050" i="1">
                                    <a:latin typeface="Cambria Math" panose="02040503050406030204" pitchFamily="18" charset="0"/>
                                  </a:rPr>
                                  <m:t> </m:t>
                                </m:r>
                                <m:r>
                                  <a:rPr lang="en-US" sz="1050" i="1">
                                    <a:solidFill>
                                      <a:schemeClr val="tx1"/>
                                    </a:solidFill>
                                    <a:latin typeface="Cambria Math" panose="02040503050406030204" pitchFamily="18" charset="0"/>
                                  </a:rPr>
                                  <m:t>𝑓</m:t>
                                </m:r>
                                <m:r>
                                  <a:rPr lang="en-US" sz="1050" i="1">
                                    <a:solidFill>
                                      <a:schemeClr val="tx1"/>
                                    </a:solidFill>
                                    <a:latin typeface="Cambria Math" panose="02040503050406030204" pitchFamily="18" charset="0"/>
                                  </a:rPr>
                                  <m:t>(</m:t>
                                </m:r>
                                <m:r>
                                  <a:rPr lang="en-US" sz="1050" b="1" i="1">
                                    <a:solidFill>
                                      <a:schemeClr val="tx1"/>
                                    </a:solidFill>
                                    <a:latin typeface="Cambria Math" panose="02040503050406030204" pitchFamily="18" charset="0"/>
                                  </a:rPr>
                                  <m:t>𝒙</m:t>
                                </m:r>
                                <m:r>
                                  <a:rPr lang="en-US" sz="1050" i="1">
                                    <a:solidFill>
                                      <a:schemeClr val="tx1"/>
                                    </a:solidFill>
                                    <a:latin typeface="Cambria Math" panose="02040503050406030204" pitchFamily="18" charset="0"/>
                                  </a:rPr>
                                  <m:t>)≥</m:t>
                                </m:r>
                                <m:r>
                                  <a:rPr lang="en-US" sz="1050" i="1">
                                    <a:solidFill>
                                      <a:schemeClr val="tx1"/>
                                    </a:solidFill>
                                    <a:latin typeface="Cambria Math" panose="02040503050406030204" pitchFamily="18" charset="0"/>
                                  </a:rPr>
                                  <m:t>0</m:t>
                                </m:r>
                                <m:r>
                                  <a:rPr lang="en-US" sz="1050" i="1">
                                    <a:latin typeface="Cambria Math" panose="02040503050406030204" pitchFamily="18" charset="0"/>
                                  </a:rPr>
                                  <m:t>,</m:t>
                                </m:r>
                              </m:e>
                              <m:e>
                                <m:r>
                                  <a:rPr lang="en-US" sz="1050" i="1">
                                    <a:latin typeface="Cambria Math" panose="02040503050406030204" pitchFamily="18" charset="0"/>
                                  </a:rPr>
                                  <m:t>𝑖𝑓</m:t>
                                </m:r>
                                <m:r>
                                  <a:rPr lang="en-US" sz="1050" i="1">
                                    <a:latin typeface="Cambria Math" panose="02040503050406030204" pitchFamily="18" charset="0"/>
                                  </a:rPr>
                                  <m:t> </m:t>
                                </m:r>
                                <m:r>
                                  <a:rPr lang="en-US" sz="1050" i="1">
                                    <a:latin typeface="Cambria Math" panose="02040503050406030204" pitchFamily="18" charset="0"/>
                                  </a:rPr>
                                  <m:t>𝑓</m:t>
                                </m:r>
                                <m:r>
                                  <a:rPr lang="en-US" sz="1050" i="1">
                                    <a:latin typeface="Cambria Math" panose="02040503050406030204" pitchFamily="18" charset="0"/>
                                  </a:rPr>
                                  <m:t>(</m:t>
                                </m:r>
                                <m:r>
                                  <a:rPr lang="en-US" sz="1050" b="1" i="1">
                                    <a:latin typeface="Cambria Math" panose="02040503050406030204" pitchFamily="18" charset="0"/>
                                  </a:rPr>
                                  <m:t>𝒙</m:t>
                                </m:r>
                                <m:r>
                                  <a:rPr lang="en-US" sz="1050" i="1">
                                    <a:latin typeface="Cambria Math" panose="02040503050406030204" pitchFamily="18" charset="0"/>
                                  </a:rPr>
                                  <m:t>)&lt;</m:t>
                                </m:r>
                                <m:r>
                                  <a:rPr lang="en-US" sz="1050" i="1">
                                    <a:latin typeface="Cambria Math" panose="02040503050406030204" pitchFamily="18" charset="0"/>
                                  </a:rPr>
                                  <m:t>0</m:t>
                                </m:r>
                                <m:r>
                                  <a:rPr lang="en-US" sz="1050" i="1">
                                    <a:latin typeface="Cambria Math" panose="02040503050406030204" pitchFamily="18" charset="0"/>
                                  </a:rPr>
                                  <m:t>,</m:t>
                                </m:r>
                              </m:e>
                            </m:eqArr>
                          </m:e>
                        </m:d>
                      </m:oMath>
                    </m:oMathPara>
                  </a14:m>
                  <a:endParaRPr lang="en-US" sz="1050" dirty="0"/>
                </a:p>
              </p:txBody>
            </p:sp>
          </mc:Choice>
          <mc:Fallback xmlns="">
            <p:sp>
              <p:nvSpPr>
                <p:cNvPr id="3" name="TextBox 2"/>
                <p:cNvSpPr txBox="1">
                  <a:spLocks noRot="1" noChangeAspect="1" noMove="1" noResize="1" noEditPoints="1" noAdjustHandles="1" noChangeArrowheads="1" noChangeShapeType="1" noTextEdit="1"/>
                </p:cNvSpPr>
                <p:nvPr/>
              </p:nvSpPr>
              <p:spPr>
                <a:xfrm>
                  <a:off x="10555078" y="3488399"/>
                  <a:ext cx="2247965" cy="603754"/>
                </a:xfrm>
                <a:prstGeom prst="rect">
                  <a:avLst/>
                </a:prstGeom>
                <a:blipFill>
                  <a:blip r:embed="rId3"/>
                  <a:stretch>
                    <a:fillRect t="-177027" r="-3261" b="-254054"/>
                  </a:stretch>
                </a:blipFill>
                <a:ln>
                  <a:noFill/>
                </a:ln>
              </p:spPr>
              <p:txBody>
                <a:bodyPr/>
                <a:lstStyle/>
                <a:p>
                  <a:r>
                    <a:rPr lang="en-US">
                      <a:noFill/>
                    </a:rPr>
                    <a:t> </a:t>
                  </a:r>
                </a:p>
              </p:txBody>
            </p:sp>
          </mc:Fallback>
        </mc:AlternateContent>
        <p:sp>
          <p:nvSpPr>
            <p:cNvPr id="91" name="Oval 37"/>
            <p:cNvSpPr>
              <a:spLocks noChangeArrowheads="1"/>
            </p:cNvSpPr>
            <p:nvPr/>
          </p:nvSpPr>
          <p:spPr bwMode="auto">
            <a:xfrm>
              <a:off x="13221759" y="3897225"/>
              <a:ext cx="152400" cy="152400"/>
            </a:xfrm>
            <a:prstGeom prst="ellipse">
              <a:avLst/>
            </a:prstGeom>
            <a:solidFill>
              <a:srgbClr val="FF0000"/>
            </a:solidFill>
            <a:ln w="9525">
              <a:noFill/>
              <a:round/>
              <a:headEnd/>
              <a:tailEnd/>
            </a:ln>
            <a:effectLst/>
          </p:spPr>
          <p:txBody>
            <a:bodyPr wrap="none" anchor="ctr"/>
            <a:lstStyle/>
            <a:p>
              <a:endParaRPr lang="en-US" sz="1050"/>
            </a:p>
          </p:txBody>
        </p:sp>
        <p:pic>
          <p:nvPicPr>
            <p:cNvPr id="7" name="Picture 6"/>
            <p:cNvPicPr>
              <a:picLocks noChangeAspect="1"/>
            </p:cNvPicPr>
            <p:nvPr/>
          </p:nvPicPr>
          <p:blipFill>
            <a:blip r:embed="rId4"/>
            <a:stretch>
              <a:fillRect/>
            </a:stretch>
          </p:blipFill>
          <p:spPr>
            <a:xfrm>
              <a:off x="13193491" y="3587656"/>
              <a:ext cx="210312" cy="210312"/>
            </a:xfrm>
            <a:prstGeom prst="rect">
              <a:avLst/>
            </a:prstGeom>
            <a:ln>
              <a:noFill/>
            </a:ln>
          </p:spPr>
        </p:pic>
      </p:gr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103F6493-5891-441D-B7F0-1FCB333BC5FB}"/>
                  </a:ext>
                </a:extLst>
              </p:cNvPr>
              <p:cNvSpPr txBox="1"/>
              <p:nvPr/>
            </p:nvSpPr>
            <p:spPr>
              <a:xfrm>
                <a:off x="5234550" y="4226901"/>
                <a:ext cx="2342757" cy="398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3720E0"/>
                          </a:solidFill>
                          <a:latin typeface="Cambria Math" panose="02040503050406030204" pitchFamily="18" charset="0"/>
                        </a:rPr>
                        <m:t>𝑓</m:t>
                      </m:r>
                      <m:d>
                        <m:dPr>
                          <m:ctrlPr>
                            <a:rPr lang="en-US" sz="1050" i="1">
                              <a:solidFill>
                                <a:srgbClr val="3720E0"/>
                              </a:solidFill>
                              <a:latin typeface="Cambria Math" panose="02040503050406030204" pitchFamily="18" charset="0"/>
                            </a:rPr>
                          </m:ctrlPr>
                        </m:dPr>
                        <m:e>
                          <m:r>
                            <a:rPr lang="en-US" sz="1050" b="1" i="1">
                              <a:solidFill>
                                <a:srgbClr val="3720E0"/>
                              </a:solidFill>
                              <a:latin typeface="Cambria Math" panose="02040503050406030204" pitchFamily="18" charset="0"/>
                            </a:rPr>
                            <m:t>𝒙</m:t>
                          </m:r>
                        </m:e>
                      </m:d>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5</m:t>
                      </m:r>
                      <m:r>
                        <a:rPr lang="en-US" sz="1050" i="1">
                          <a:solidFill>
                            <a:srgbClr val="3720E0"/>
                          </a:solidFill>
                          <a:latin typeface="Cambria Math" panose="02040503050406030204" pitchFamily="18" charset="0"/>
                        </a:rPr>
                        <m:t>−</m:t>
                      </m:r>
                      <m:f>
                        <m:fPr>
                          <m:ctrlPr>
                            <a:rPr lang="en-US" sz="1050" i="1">
                              <a:solidFill>
                                <a:srgbClr val="3720E0"/>
                              </a:solidFill>
                              <a:latin typeface="Cambria Math" panose="02040503050406030204" pitchFamily="18" charset="0"/>
                            </a:rPr>
                          </m:ctrlPr>
                        </m:fPr>
                        <m:num>
                          <m:r>
                            <a:rPr lang="en-US" sz="1050" i="1">
                              <a:solidFill>
                                <a:srgbClr val="3720E0"/>
                              </a:solidFill>
                              <a:latin typeface="Cambria Math" panose="02040503050406030204" pitchFamily="18" charset="0"/>
                            </a:rPr>
                            <m:t>5</m:t>
                          </m:r>
                        </m:num>
                        <m:den>
                          <m:r>
                            <a:rPr lang="en-US" sz="1050" i="1">
                              <a:solidFill>
                                <a:srgbClr val="3720E0"/>
                              </a:solidFill>
                              <a:latin typeface="Cambria Math" panose="02040503050406030204" pitchFamily="18" charset="0"/>
                            </a:rPr>
                            <m:t>4</m:t>
                          </m:r>
                        </m:den>
                      </m:f>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𝐵𝑎𝑙𝑎𝑛𝑐𝑒</m:t>
                      </m:r>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𝐴𝑔𝑒</m:t>
                      </m:r>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0</m:t>
                      </m:r>
                    </m:oMath>
                  </m:oMathPara>
                </a14:m>
                <a:endParaRPr lang="en-US" sz="1050" dirty="0">
                  <a:solidFill>
                    <a:srgbClr val="3720E0"/>
                  </a:solidFill>
                </a:endParaRPr>
              </a:p>
            </p:txBody>
          </p:sp>
        </mc:Choice>
        <mc:Fallback xmlns="">
          <p:sp>
            <p:nvSpPr>
              <p:cNvPr id="169" name="TextBox 168">
                <a:extLst>
                  <a:ext uri="{FF2B5EF4-FFF2-40B4-BE49-F238E27FC236}">
                    <a16:creationId xmlns:a16="http://schemas.microsoft.com/office/drawing/2014/main" id="{103F6493-5891-441D-B7F0-1FCB333BC5FB}"/>
                  </a:ext>
                </a:extLst>
              </p:cNvPr>
              <p:cNvSpPr txBox="1">
                <a:spLocks noRot="1" noChangeAspect="1" noMove="1" noResize="1" noEditPoints="1" noAdjustHandles="1" noChangeArrowheads="1" noChangeShapeType="1" noTextEdit="1"/>
              </p:cNvSpPr>
              <p:nvPr/>
            </p:nvSpPr>
            <p:spPr>
              <a:xfrm>
                <a:off x="5234550" y="4226901"/>
                <a:ext cx="2342757" cy="398122"/>
              </a:xfrm>
              <a:prstGeom prst="rect">
                <a:avLst/>
              </a:prstGeom>
              <a:blipFill>
                <a:blip r:embed="rId5"/>
                <a:stretch>
                  <a:fillRect/>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934F7669-79B0-4D03-983B-6973861F550B}"/>
              </a:ext>
            </a:extLst>
          </p:cNvPr>
          <p:cNvPicPr>
            <a:picLocks noGrp="1" noChangeAspect="1"/>
          </p:cNvPicPr>
          <p:nvPr>
            <p:ph sz="half" idx="2"/>
          </p:nvPr>
        </p:nvPicPr>
        <p:blipFill>
          <a:blip r:embed="rId6"/>
          <a:stretch>
            <a:fillRect/>
          </a:stretch>
        </p:blipFill>
        <p:spPr>
          <a:xfrm>
            <a:off x="4708525" y="1485952"/>
            <a:ext cx="4024313" cy="2857395"/>
          </a:xfrm>
          <a:prstGeom prst="rect">
            <a:avLst/>
          </a:prstGeom>
        </p:spPr>
      </p:pic>
    </p:spTree>
    <p:extLst>
      <p:ext uri="{BB962C8B-B14F-4D97-AF65-F5344CB8AC3E}">
        <p14:creationId xmlns:p14="http://schemas.microsoft.com/office/powerpoint/2010/main" val="35693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500"/>
                                        <p:tgtEl>
                                          <p:spTgt spid="169"/>
                                        </p:tgtEl>
                                      </p:cBhvr>
                                    </p:animEffect>
                                  </p:childTnLst>
                                </p:cTn>
                              </p:par>
                            </p:childTnLst>
                          </p:cTn>
                        </p:par>
                        <p:par>
                          <p:cTn id="8" fill="hold">
                            <p:stCondLst>
                              <p:cond delay="500"/>
                            </p:stCondLst>
                            <p:childTnLst>
                              <p:par>
                                <p:cTn id="9" presetID="1" presetClass="entr" presetSubtype="0" fill="hold" nodeType="afterEffect">
                                  <p:stCondLst>
                                    <p:cond delay="100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1500"/>
                            </p:stCondLst>
                            <p:childTnLst>
                              <p:par>
                                <p:cTn id="12" presetID="1" presetClass="entr" presetSubtype="0" fill="hold" grpId="0" nodeType="afterEffect">
                                  <p:stCondLst>
                                    <p:cond delay="50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7642-1157-D583-B71A-DBAD6B1C1FBB}"/>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6061A1CB-116A-98DD-D3E9-90657A5AD293}"/>
              </a:ext>
            </a:extLst>
          </p:cNvPr>
          <p:cNvSpPr>
            <a:spLocks noGrp="1"/>
          </p:cNvSpPr>
          <p:nvPr>
            <p:ph sz="half" idx="1"/>
          </p:nvPr>
        </p:nvSpPr>
        <p:spPr>
          <a:xfrm>
            <a:off x="410766" y="1200150"/>
            <a:ext cx="4023360" cy="3429000"/>
          </a:xfrm>
        </p:spPr>
        <p:txBody>
          <a:bodyPr/>
          <a:lstStyle/>
          <a:p>
            <a:r>
              <a:rPr lang="en-US" dirty="0"/>
              <a:t>The equation of the line is not arbitrary</a:t>
            </a:r>
          </a:p>
          <a:p>
            <a:r>
              <a:rPr lang="en-US" dirty="0"/>
              <a:t>In normal regression </a:t>
            </a:r>
            <a:r>
              <a:rPr lang="en-US" dirty="0">
                <a:sym typeface="Wingdings" panose="05000000000000000000" pitchFamily="2" charset="2"/>
              </a:rPr>
              <a:t> minimize the “error” or “loss” between the line and the data</a:t>
            </a:r>
          </a:p>
          <a:p>
            <a:pPr lvl="1"/>
            <a:r>
              <a:rPr lang="en-US" dirty="0">
                <a:sym typeface="Wingdings" panose="05000000000000000000" pitchFamily="2" charset="2"/>
              </a:rPr>
              <a:t>Called the </a:t>
            </a:r>
            <a:r>
              <a:rPr lang="en-US" i="1" dirty="0">
                <a:sym typeface="Wingdings" panose="05000000000000000000" pitchFamily="2" charset="2"/>
              </a:rPr>
              <a:t>cost</a:t>
            </a:r>
            <a:r>
              <a:rPr lang="en-US" dirty="0">
                <a:sym typeface="Wingdings" panose="05000000000000000000" pitchFamily="2" charset="2"/>
              </a:rPr>
              <a:t> or </a:t>
            </a:r>
            <a:r>
              <a:rPr lang="en-US" i="1" dirty="0">
                <a:sym typeface="Wingdings" panose="05000000000000000000" pitchFamily="2" charset="2"/>
              </a:rPr>
              <a:t>penalty</a:t>
            </a:r>
            <a:r>
              <a:rPr lang="en-US" dirty="0">
                <a:sym typeface="Wingdings" panose="05000000000000000000" pitchFamily="2" charset="2"/>
              </a:rPr>
              <a:t> function</a:t>
            </a:r>
          </a:p>
          <a:p>
            <a:pPr lvl="1"/>
            <a:r>
              <a:rPr lang="en-US" dirty="0">
                <a:sym typeface="Wingdings" panose="05000000000000000000" pitchFamily="2" charset="2"/>
              </a:rPr>
              <a:t>Mean squared error is common</a:t>
            </a:r>
          </a:p>
          <a:p>
            <a:pPr lvl="1"/>
            <a:r>
              <a:rPr lang="en-US" dirty="0">
                <a:sym typeface="Wingdings" panose="05000000000000000000" pitchFamily="2" charset="2"/>
              </a:rPr>
              <a:t>Can also do logit functions or others</a:t>
            </a:r>
          </a:p>
          <a:p>
            <a:r>
              <a:rPr lang="en-US" dirty="0"/>
              <a:t>By adjusting weights </a:t>
            </a:r>
            <a:r>
              <a:rPr lang="en-US" dirty="0">
                <a:sym typeface="Wingdings" panose="05000000000000000000" pitchFamily="2" charset="2"/>
              </a:rPr>
              <a:t> minimize error</a:t>
            </a:r>
          </a:p>
          <a:p>
            <a:endParaRPr lang="en-US" dirty="0">
              <a:sym typeface="Wingdings" panose="05000000000000000000" pitchFamily="2" charset="2"/>
            </a:endParaRPr>
          </a:p>
          <a:p>
            <a:r>
              <a:rPr lang="en-US" dirty="0">
                <a:sym typeface="Wingdings" panose="05000000000000000000" pitchFamily="2" charset="2"/>
              </a:rPr>
              <a:t>In classification  minimize incorrect predictions</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SVMs are different but similar.</a:t>
            </a:r>
          </a:p>
          <a:p>
            <a:pPr lvl="1"/>
            <a:endParaRPr lang="en-US" dirty="0"/>
          </a:p>
          <a:p>
            <a:endParaRPr lang="en-US" dirty="0"/>
          </a:p>
        </p:txBody>
      </p:sp>
      <p:sp>
        <p:nvSpPr>
          <p:cNvPr id="5" name="Date Placeholder 4">
            <a:extLst>
              <a:ext uri="{FF2B5EF4-FFF2-40B4-BE49-F238E27FC236}">
                <a16:creationId xmlns:a16="http://schemas.microsoft.com/office/drawing/2014/main" id="{B893C51E-1581-E726-8AEE-910A97D699B7}"/>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45691B09-D200-19BD-2401-591A179C39F2}"/>
              </a:ext>
            </a:extLst>
          </p:cNvPr>
          <p:cNvSpPr>
            <a:spLocks noGrp="1"/>
          </p:cNvSpPr>
          <p:nvPr>
            <p:ph type="sldNum" sz="quarter" idx="11"/>
          </p:nvPr>
        </p:nvSpPr>
        <p:spPr/>
        <p:txBody>
          <a:bodyPr/>
          <a:lstStyle/>
          <a:p>
            <a:fld id="{64E5BE4B-2FBF-4174-9E62-85FAD1CB43A6}" type="slidenum">
              <a:rPr lang="en-US" smtClean="0"/>
              <a:pPr/>
              <a:t>19</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006358-F494-39A2-B5C8-197B9B7AA675}"/>
                  </a:ext>
                </a:extLst>
              </p:cNvPr>
              <p:cNvSpPr txBox="1"/>
              <p:nvPr/>
            </p:nvSpPr>
            <p:spPr>
              <a:xfrm>
                <a:off x="5549460" y="802028"/>
                <a:ext cx="2543710" cy="398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3720E0"/>
                          </a:solidFill>
                          <a:latin typeface="Cambria Math" panose="02040503050406030204" pitchFamily="18" charset="0"/>
                        </a:rPr>
                        <m:t>𝑓</m:t>
                      </m:r>
                      <m:d>
                        <m:dPr>
                          <m:ctrlPr>
                            <a:rPr lang="en-US" sz="1050" i="1">
                              <a:solidFill>
                                <a:srgbClr val="3720E0"/>
                              </a:solidFill>
                              <a:latin typeface="Cambria Math" panose="02040503050406030204" pitchFamily="18" charset="0"/>
                            </a:rPr>
                          </m:ctrlPr>
                        </m:dPr>
                        <m:e>
                          <m:r>
                            <a:rPr lang="en-US" sz="1050" b="1" i="1">
                              <a:solidFill>
                                <a:srgbClr val="3720E0"/>
                              </a:solidFill>
                              <a:latin typeface="Cambria Math" panose="02040503050406030204" pitchFamily="18" charset="0"/>
                            </a:rPr>
                            <m:t>𝒙</m:t>
                          </m:r>
                        </m:e>
                      </m:d>
                      <m:r>
                        <a:rPr lang="en-US" sz="1050" i="1">
                          <a:solidFill>
                            <a:srgbClr val="3720E0"/>
                          </a:solidFill>
                          <a:latin typeface="Cambria Math" panose="02040503050406030204" pitchFamily="18" charset="0"/>
                        </a:rPr>
                        <m:t>=−5−</m:t>
                      </m:r>
                      <m:f>
                        <m:fPr>
                          <m:ctrlPr>
                            <a:rPr lang="en-US" sz="1050" i="1">
                              <a:solidFill>
                                <a:srgbClr val="3720E0"/>
                              </a:solidFill>
                              <a:latin typeface="Cambria Math" panose="02040503050406030204" pitchFamily="18" charset="0"/>
                            </a:rPr>
                          </m:ctrlPr>
                        </m:fPr>
                        <m:num>
                          <m:r>
                            <a:rPr lang="en-US" sz="1050" i="1">
                              <a:solidFill>
                                <a:srgbClr val="3720E0"/>
                              </a:solidFill>
                              <a:latin typeface="Cambria Math" panose="02040503050406030204" pitchFamily="18" charset="0"/>
                            </a:rPr>
                            <m:t>5</m:t>
                          </m:r>
                        </m:num>
                        <m:den>
                          <m:r>
                            <a:rPr lang="en-US" sz="1050" i="1">
                              <a:solidFill>
                                <a:srgbClr val="3720E0"/>
                              </a:solidFill>
                              <a:latin typeface="Cambria Math" panose="02040503050406030204" pitchFamily="18" charset="0"/>
                            </a:rPr>
                            <m:t>4</m:t>
                          </m:r>
                        </m:den>
                      </m:f>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𝐵𝑎𝑙𝑎𝑛𝑐𝑒</m:t>
                      </m:r>
                      <m:r>
                        <a:rPr lang="en-US" sz="1050" i="1">
                          <a:solidFill>
                            <a:srgbClr val="3720E0"/>
                          </a:solidFill>
                          <a:latin typeface="Cambria Math" panose="02040503050406030204" pitchFamily="18" charset="0"/>
                        </a:rPr>
                        <m:t>+1∗</m:t>
                      </m:r>
                      <m:r>
                        <a:rPr lang="en-US" sz="1050" i="1">
                          <a:solidFill>
                            <a:srgbClr val="3720E0"/>
                          </a:solidFill>
                          <a:latin typeface="Cambria Math" panose="02040503050406030204" pitchFamily="18" charset="0"/>
                        </a:rPr>
                        <m:t>𝐴𝑔𝑒</m:t>
                      </m:r>
                      <m:r>
                        <a:rPr lang="en-US" sz="1050" i="1">
                          <a:solidFill>
                            <a:srgbClr val="3720E0"/>
                          </a:solidFill>
                          <a:latin typeface="Cambria Math" panose="02040503050406030204" pitchFamily="18" charset="0"/>
                        </a:rPr>
                        <m:t>=0</m:t>
                      </m:r>
                    </m:oMath>
                  </m:oMathPara>
                </a14:m>
                <a:endParaRPr lang="en-US" sz="1050" dirty="0">
                  <a:solidFill>
                    <a:srgbClr val="3720E0"/>
                  </a:solidFill>
                </a:endParaRPr>
              </a:p>
            </p:txBody>
          </p:sp>
        </mc:Choice>
        <mc:Fallback xmlns="">
          <p:sp>
            <p:nvSpPr>
              <p:cNvPr id="7" name="TextBox 6">
                <a:extLst>
                  <a:ext uri="{FF2B5EF4-FFF2-40B4-BE49-F238E27FC236}">
                    <a16:creationId xmlns:a16="http://schemas.microsoft.com/office/drawing/2014/main" id="{E6006358-F494-39A2-B5C8-197B9B7AA675}"/>
                  </a:ext>
                </a:extLst>
              </p:cNvPr>
              <p:cNvSpPr txBox="1">
                <a:spLocks noRot="1" noChangeAspect="1" noMove="1" noResize="1" noEditPoints="1" noAdjustHandles="1" noChangeArrowheads="1" noChangeShapeType="1" noTextEdit="1"/>
              </p:cNvSpPr>
              <p:nvPr/>
            </p:nvSpPr>
            <p:spPr>
              <a:xfrm>
                <a:off x="5549460" y="802028"/>
                <a:ext cx="2543710" cy="398122"/>
              </a:xfrm>
              <a:prstGeom prst="rect">
                <a:avLst/>
              </a:prstGeom>
              <a:blipFill>
                <a:blip r:embed="rId2"/>
                <a:stretch>
                  <a:fillRect/>
                </a:stretch>
              </a:blipFill>
            </p:spPr>
            <p:txBody>
              <a:bodyPr/>
              <a:lstStyle/>
              <a:p>
                <a:r>
                  <a:rPr lang="en-US">
                    <a:noFill/>
                  </a:rPr>
                  <a:t> </a:t>
                </a:r>
              </a:p>
            </p:txBody>
          </p:sp>
        </mc:Fallback>
      </mc:AlternateContent>
      <p:pic>
        <p:nvPicPr>
          <p:cNvPr id="3074" name="Picture 2">
            <a:extLst>
              <a:ext uri="{FF2B5EF4-FFF2-40B4-BE49-F238E27FC236}">
                <a16:creationId xmlns:a16="http://schemas.microsoft.com/office/drawing/2014/main" id="{A986DA9F-46B1-11AE-20C3-851B2030322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172247" y="1487828"/>
            <a:ext cx="3136865" cy="308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93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9215-4A14-CE9C-B854-440B15934D24}"/>
              </a:ext>
            </a:extLst>
          </p:cNvPr>
          <p:cNvSpPr>
            <a:spLocks noGrp="1"/>
          </p:cNvSpPr>
          <p:nvPr>
            <p:ph type="title"/>
          </p:nvPr>
        </p:nvSpPr>
        <p:spPr/>
        <p:txBody>
          <a:bodyPr/>
          <a:lstStyle/>
          <a:p>
            <a:r>
              <a:rPr lang="en-US" dirty="0"/>
              <a:t>SVMs</a:t>
            </a:r>
          </a:p>
        </p:txBody>
      </p:sp>
      <p:sp>
        <p:nvSpPr>
          <p:cNvPr id="3" name="Content Placeholder 2">
            <a:extLst>
              <a:ext uri="{FF2B5EF4-FFF2-40B4-BE49-F238E27FC236}">
                <a16:creationId xmlns:a16="http://schemas.microsoft.com/office/drawing/2014/main" id="{04435531-45FF-E961-3CB4-13F456F7BACD}"/>
              </a:ext>
            </a:extLst>
          </p:cNvPr>
          <p:cNvSpPr>
            <a:spLocks noGrp="1"/>
          </p:cNvSpPr>
          <p:nvPr>
            <p:ph sz="half" idx="1"/>
          </p:nvPr>
        </p:nvSpPr>
        <p:spPr/>
        <p:txBody>
          <a:bodyPr/>
          <a:lstStyle/>
          <a:p>
            <a:r>
              <a:rPr lang="en-US" dirty="0"/>
              <a:t>There are infinitely lines that separate the classes</a:t>
            </a:r>
          </a:p>
          <a:p>
            <a:r>
              <a:rPr lang="en-US" dirty="0"/>
              <a:t>Which line do we pick?</a:t>
            </a:r>
          </a:p>
          <a:p>
            <a:r>
              <a:rPr lang="en-US" dirty="0"/>
              <a:t>SVMs seek to maximize the “margin” between the classes</a:t>
            </a:r>
          </a:p>
        </p:txBody>
      </p:sp>
      <p:sp>
        <p:nvSpPr>
          <p:cNvPr id="5" name="Date Placeholder 4">
            <a:extLst>
              <a:ext uri="{FF2B5EF4-FFF2-40B4-BE49-F238E27FC236}">
                <a16:creationId xmlns:a16="http://schemas.microsoft.com/office/drawing/2014/main" id="{7E319AB2-F798-FA96-58CA-3B73125DE771}"/>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C27A32DB-A6C7-8361-D50C-B543D11A0BAE}"/>
              </a:ext>
            </a:extLst>
          </p:cNvPr>
          <p:cNvSpPr>
            <a:spLocks noGrp="1"/>
          </p:cNvSpPr>
          <p:nvPr>
            <p:ph type="sldNum" sz="quarter" idx="11"/>
          </p:nvPr>
        </p:nvSpPr>
        <p:spPr/>
        <p:txBody>
          <a:bodyPr/>
          <a:lstStyle/>
          <a:p>
            <a:fld id="{64E5BE4B-2FBF-4174-9E62-85FAD1CB43A6}" type="slidenum">
              <a:rPr lang="en-US" smtClean="0"/>
              <a:pPr/>
              <a:t>20</a:t>
            </a:fld>
            <a:endParaRPr lang="en-US"/>
          </a:p>
        </p:txBody>
      </p:sp>
      <p:pic>
        <p:nvPicPr>
          <p:cNvPr id="4098" name="Picture 2">
            <a:extLst>
              <a:ext uri="{FF2B5EF4-FFF2-40B4-BE49-F238E27FC236}">
                <a16:creationId xmlns:a16="http://schemas.microsoft.com/office/drawing/2014/main" id="{720A3628-2F7D-EE13-16A9-1FF1D9D485E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530056" y="1881187"/>
            <a:ext cx="2381250" cy="206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911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702CA-CA85-56A4-39D2-E709748A08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EEEEBA5-D7EB-B3B9-5107-5644DE4E1020}"/>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131AACB1-E8B5-58B9-9619-CA3AF7B94ED5}"/>
              </a:ext>
            </a:extLst>
          </p:cNvPr>
          <p:cNvSpPr>
            <a:spLocks noGrp="1"/>
          </p:cNvSpPr>
          <p:nvPr>
            <p:ph type="subTitle" idx="1"/>
          </p:nvPr>
        </p:nvSpPr>
        <p:spPr/>
        <p:txBody>
          <a:bodyPr/>
          <a:lstStyle/>
          <a:p>
            <a:r>
              <a:rPr lang="en-US" dirty="0"/>
              <a:t>Back to the point:  Text Classification</a:t>
            </a:r>
          </a:p>
        </p:txBody>
      </p:sp>
      <p:sp>
        <p:nvSpPr>
          <p:cNvPr id="4" name="Date Placeholder 3">
            <a:extLst>
              <a:ext uri="{FF2B5EF4-FFF2-40B4-BE49-F238E27FC236}">
                <a16:creationId xmlns:a16="http://schemas.microsoft.com/office/drawing/2014/main" id="{DC84A28D-64C5-9AD2-83BA-67CFD4AF8987}"/>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909D778C-3B83-89EB-A871-837BEC6E3F86}"/>
              </a:ext>
            </a:extLst>
          </p:cNvPr>
          <p:cNvSpPr>
            <a:spLocks noGrp="1"/>
          </p:cNvSpPr>
          <p:nvPr>
            <p:ph type="sldNum" idx="12"/>
          </p:nvPr>
        </p:nvSpPr>
        <p:spPr/>
        <p:txBody>
          <a:bodyPr/>
          <a:lstStyle/>
          <a:p>
            <a:fld id="{64E5BE4B-2FBF-4174-9E62-85FAD1CB43A6}" type="slidenum">
              <a:rPr lang="en-US" smtClean="0"/>
              <a:pPr/>
              <a:t>21</a:t>
            </a:fld>
            <a:endParaRPr lang="en-US"/>
          </a:p>
        </p:txBody>
      </p:sp>
    </p:spTree>
    <p:extLst>
      <p:ext uri="{BB962C8B-B14F-4D97-AF65-F5344CB8AC3E}">
        <p14:creationId xmlns:p14="http://schemas.microsoft.com/office/powerpoint/2010/main" val="387069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B7CC-7727-C4F7-A514-F03ABA72B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5F261-9A37-B1B6-C41E-7F167726DE45}"/>
              </a:ext>
            </a:extLst>
          </p:cNvPr>
          <p:cNvSpPr>
            <a:spLocks noGrp="1"/>
          </p:cNvSpPr>
          <p:nvPr>
            <p:ph type="title"/>
          </p:nvPr>
        </p:nvSpPr>
        <p:spPr/>
        <p:txBody>
          <a:bodyPr/>
          <a:lstStyle/>
          <a:p>
            <a:r>
              <a:rPr lang="en-US" dirty="0"/>
              <a:t>Text Classification</a:t>
            </a:r>
          </a:p>
        </p:txBody>
      </p:sp>
      <p:sp>
        <p:nvSpPr>
          <p:cNvPr id="3" name="Content Placeholder 2">
            <a:extLst>
              <a:ext uri="{FF2B5EF4-FFF2-40B4-BE49-F238E27FC236}">
                <a16:creationId xmlns:a16="http://schemas.microsoft.com/office/drawing/2014/main" id="{34536EC6-C01C-6CAD-6A3B-4F15BF871B2C}"/>
              </a:ext>
            </a:extLst>
          </p:cNvPr>
          <p:cNvSpPr>
            <a:spLocks noGrp="1"/>
          </p:cNvSpPr>
          <p:nvPr>
            <p:ph sz="half" idx="1"/>
          </p:nvPr>
        </p:nvSpPr>
        <p:spPr>
          <a:xfrm>
            <a:off x="410766" y="1200150"/>
            <a:ext cx="4023360" cy="3429000"/>
          </a:xfrm>
        </p:spPr>
        <p:txBody>
          <a:bodyPr/>
          <a:lstStyle/>
          <a:p>
            <a:r>
              <a:rPr lang="en-US" dirty="0"/>
              <a:t>Given a set of documents and labels</a:t>
            </a:r>
          </a:p>
          <a:p>
            <a:r>
              <a:rPr lang="en-US" dirty="0"/>
              <a:t>Can we predict the appropriate label for that document?</a:t>
            </a:r>
          </a:p>
        </p:txBody>
      </p:sp>
      <p:sp>
        <p:nvSpPr>
          <p:cNvPr id="5" name="Date Placeholder 4">
            <a:extLst>
              <a:ext uri="{FF2B5EF4-FFF2-40B4-BE49-F238E27FC236}">
                <a16:creationId xmlns:a16="http://schemas.microsoft.com/office/drawing/2014/main" id="{04D9EBE2-7F41-2A2D-9063-B3525F226CC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FAFF8D85-24FE-B8F4-29D1-A8B1CE8E9A3E}"/>
              </a:ext>
            </a:extLst>
          </p:cNvPr>
          <p:cNvSpPr>
            <a:spLocks noGrp="1"/>
          </p:cNvSpPr>
          <p:nvPr>
            <p:ph type="sldNum" sz="quarter" idx="11"/>
          </p:nvPr>
        </p:nvSpPr>
        <p:spPr/>
        <p:txBody>
          <a:bodyPr/>
          <a:lstStyle/>
          <a:p>
            <a:fld id="{64E5BE4B-2FBF-4174-9E62-85FAD1CB43A6}" type="slidenum">
              <a:rPr lang="en-US" smtClean="0"/>
              <a:pPr/>
              <a:t>22</a:t>
            </a:fld>
            <a:endParaRPr lang="en-US"/>
          </a:p>
        </p:txBody>
      </p:sp>
      <p:graphicFrame>
        <p:nvGraphicFramePr>
          <p:cNvPr id="8" name="Content Placeholder 7">
            <a:extLst>
              <a:ext uri="{FF2B5EF4-FFF2-40B4-BE49-F238E27FC236}">
                <a16:creationId xmlns:a16="http://schemas.microsoft.com/office/drawing/2014/main" id="{98CA288E-4144-7D7E-04AC-6F671F750FF7}"/>
              </a:ext>
            </a:extLst>
          </p:cNvPr>
          <p:cNvGraphicFramePr>
            <a:graphicFrameLocks noGrp="1"/>
          </p:cNvGraphicFramePr>
          <p:nvPr>
            <p:ph sz="half" idx="2"/>
            <p:extLst>
              <p:ext uri="{D42A27DB-BD31-4B8C-83A1-F6EECF244321}">
                <p14:modId xmlns:p14="http://schemas.microsoft.com/office/powerpoint/2010/main" val="112754583"/>
              </p:ext>
            </p:extLst>
          </p:nvPr>
        </p:nvGraphicFramePr>
        <p:xfrm>
          <a:off x="4708525" y="1200150"/>
          <a:ext cx="4024312" cy="1483360"/>
        </p:xfrm>
        <a:graphic>
          <a:graphicData uri="http://schemas.openxmlformats.org/drawingml/2006/table">
            <a:tbl>
              <a:tblPr firstRow="1" bandRow="1">
                <a:tableStyleId>{20BDE71D-A5DA-4731-8206-4FC7E790C503}</a:tableStyleId>
              </a:tblPr>
              <a:tblGrid>
                <a:gridCol w="2012156">
                  <a:extLst>
                    <a:ext uri="{9D8B030D-6E8A-4147-A177-3AD203B41FA5}">
                      <a16:colId xmlns:a16="http://schemas.microsoft.com/office/drawing/2014/main" val="3878534090"/>
                    </a:ext>
                  </a:extLst>
                </a:gridCol>
                <a:gridCol w="2012156">
                  <a:extLst>
                    <a:ext uri="{9D8B030D-6E8A-4147-A177-3AD203B41FA5}">
                      <a16:colId xmlns:a16="http://schemas.microsoft.com/office/drawing/2014/main" val="3706873763"/>
                    </a:ext>
                  </a:extLst>
                </a:gridCol>
              </a:tblGrid>
              <a:tr h="370840">
                <a:tc>
                  <a:txBody>
                    <a:bodyPr/>
                    <a:lstStyle/>
                    <a:p>
                      <a:r>
                        <a:rPr lang="en-US" dirty="0"/>
                        <a:t>Document</a:t>
                      </a:r>
                    </a:p>
                  </a:txBody>
                  <a:tcPr/>
                </a:tc>
                <a:tc>
                  <a:txBody>
                    <a:bodyPr/>
                    <a:lstStyle/>
                    <a:p>
                      <a:r>
                        <a:rPr lang="en-US" dirty="0"/>
                        <a:t>Label</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Positive</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Negative</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Positive</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784145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FE20-08AA-6B42-28E0-6E9197E322F8}"/>
              </a:ext>
            </a:extLst>
          </p:cNvPr>
          <p:cNvSpPr>
            <a:spLocks noGrp="1"/>
          </p:cNvSpPr>
          <p:nvPr>
            <p:ph type="title"/>
          </p:nvPr>
        </p:nvSpPr>
        <p:spPr/>
        <p:txBody>
          <a:bodyPr/>
          <a:lstStyle/>
          <a:p>
            <a:r>
              <a:rPr lang="en-US" dirty="0"/>
              <a:t>Text Features</a:t>
            </a:r>
          </a:p>
        </p:txBody>
      </p:sp>
      <p:sp>
        <p:nvSpPr>
          <p:cNvPr id="3" name="Content Placeholder 2">
            <a:extLst>
              <a:ext uri="{FF2B5EF4-FFF2-40B4-BE49-F238E27FC236}">
                <a16:creationId xmlns:a16="http://schemas.microsoft.com/office/drawing/2014/main" id="{38DDD61F-4823-DE01-8D21-85787E14DDF1}"/>
              </a:ext>
            </a:extLst>
          </p:cNvPr>
          <p:cNvSpPr>
            <a:spLocks noGrp="1"/>
          </p:cNvSpPr>
          <p:nvPr>
            <p:ph sz="half" idx="1"/>
          </p:nvPr>
        </p:nvSpPr>
        <p:spPr/>
        <p:txBody>
          <a:bodyPr/>
          <a:lstStyle/>
          <a:p>
            <a:r>
              <a:rPr lang="en-US" dirty="0"/>
              <a:t>The problem:  most ML models require features, mostly numeric features</a:t>
            </a:r>
          </a:p>
          <a:p>
            <a:r>
              <a:rPr lang="en-US" dirty="0"/>
              <a:t>How do we “encode” features of a sentence into numbers?</a:t>
            </a:r>
          </a:p>
          <a:p>
            <a:endParaRPr lang="en-US" dirty="0"/>
          </a:p>
          <a:p>
            <a:pPr lvl="1"/>
            <a:endParaRPr lang="en-US" dirty="0"/>
          </a:p>
        </p:txBody>
      </p:sp>
      <p:sp>
        <p:nvSpPr>
          <p:cNvPr id="5" name="Date Placeholder 4">
            <a:extLst>
              <a:ext uri="{FF2B5EF4-FFF2-40B4-BE49-F238E27FC236}">
                <a16:creationId xmlns:a16="http://schemas.microsoft.com/office/drawing/2014/main" id="{DB675BA6-6F97-0799-2DA6-6B25E5BBE743}"/>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AE4C93B-BE6B-B9C9-8D0B-EBDA82C85749}"/>
              </a:ext>
            </a:extLst>
          </p:cNvPr>
          <p:cNvSpPr>
            <a:spLocks noGrp="1"/>
          </p:cNvSpPr>
          <p:nvPr>
            <p:ph type="sldNum" sz="quarter" idx="11"/>
          </p:nvPr>
        </p:nvSpPr>
        <p:spPr/>
        <p:txBody>
          <a:bodyPr/>
          <a:lstStyle/>
          <a:p>
            <a:fld id="{64E5BE4B-2FBF-4174-9E62-85FAD1CB43A6}" type="slidenum">
              <a:rPr lang="en-US" smtClean="0"/>
              <a:pPr/>
              <a:t>23</a:t>
            </a:fld>
            <a:endParaRPr lang="en-US"/>
          </a:p>
        </p:txBody>
      </p:sp>
      <p:graphicFrame>
        <p:nvGraphicFramePr>
          <p:cNvPr id="7" name="Content Placeholder 7">
            <a:extLst>
              <a:ext uri="{FF2B5EF4-FFF2-40B4-BE49-F238E27FC236}">
                <a16:creationId xmlns:a16="http://schemas.microsoft.com/office/drawing/2014/main" id="{E5D3B495-F28A-5C66-74EE-8318E5B749F0}"/>
              </a:ext>
            </a:extLst>
          </p:cNvPr>
          <p:cNvGraphicFramePr>
            <a:graphicFrameLocks noGrp="1"/>
          </p:cNvGraphicFramePr>
          <p:nvPr>
            <p:ph sz="half" idx="2"/>
            <p:extLst>
              <p:ext uri="{D42A27DB-BD31-4B8C-83A1-F6EECF244321}">
                <p14:modId xmlns:p14="http://schemas.microsoft.com/office/powerpoint/2010/main" val="1218088963"/>
              </p:ext>
            </p:extLst>
          </p:nvPr>
        </p:nvGraphicFramePr>
        <p:xfrm>
          <a:off x="4708525" y="1200150"/>
          <a:ext cx="4024312" cy="2393950"/>
        </p:xfrm>
        <a:graphic>
          <a:graphicData uri="http://schemas.openxmlformats.org/drawingml/2006/table">
            <a:tbl>
              <a:tblPr firstRow="1" bandRow="1">
                <a:tableStyleId>{20BDE71D-A5DA-4731-8206-4FC7E790C503}</a:tableStyleId>
              </a:tblPr>
              <a:tblGrid>
                <a:gridCol w="2012156">
                  <a:extLst>
                    <a:ext uri="{9D8B030D-6E8A-4147-A177-3AD203B41FA5}">
                      <a16:colId xmlns:a16="http://schemas.microsoft.com/office/drawing/2014/main" val="3878534090"/>
                    </a:ext>
                  </a:extLst>
                </a:gridCol>
                <a:gridCol w="2012156">
                  <a:extLst>
                    <a:ext uri="{9D8B030D-6E8A-4147-A177-3AD203B41FA5}">
                      <a16:colId xmlns:a16="http://schemas.microsoft.com/office/drawing/2014/main" val="3706873763"/>
                    </a:ext>
                  </a:extLst>
                </a:gridCol>
              </a:tblGrid>
              <a:tr h="370840">
                <a:tc>
                  <a:txBody>
                    <a:bodyPr/>
                    <a:lstStyle/>
                    <a:p>
                      <a:r>
                        <a:rPr lang="en-US" dirty="0"/>
                        <a:t>Document</a:t>
                      </a:r>
                    </a:p>
                  </a:txBody>
                  <a:tcPr/>
                </a:tc>
                <a:tc>
                  <a:txBody>
                    <a:bodyPr/>
                    <a:lstStyle/>
                    <a:p>
                      <a:r>
                        <a:rPr lang="en-US" dirty="0"/>
                        <a:t>Features</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Length: 3</a:t>
                      </a:r>
                    </a:p>
                    <a:p>
                      <a:r>
                        <a:rPr lang="en-US" dirty="0" err="1"/>
                        <a:t>Num_words</a:t>
                      </a:r>
                      <a:r>
                        <a:rPr lang="en-US" dirty="0"/>
                        <a:t>: 1</a:t>
                      </a:r>
                    </a:p>
                    <a:p>
                      <a:r>
                        <a:rPr lang="en-US" dirty="0"/>
                        <a:t>???</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Length: 6</a:t>
                      </a:r>
                    </a:p>
                    <a:p>
                      <a:r>
                        <a:rPr lang="en-US" dirty="0" err="1"/>
                        <a:t>Num_words</a:t>
                      </a:r>
                      <a:r>
                        <a:rPr lang="en-US" dirty="0"/>
                        <a:t>: 2</a:t>
                      </a:r>
                    </a:p>
                    <a:p>
                      <a:r>
                        <a:rPr lang="en-US" dirty="0"/>
                        <a:t>???</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Length: 10</a:t>
                      </a:r>
                    </a:p>
                    <a:p>
                      <a:r>
                        <a:rPr lang="en-US" dirty="0" err="1"/>
                        <a:t>Num_words</a:t>
                      </a:r>
                      <a:r>
                        <a:rPr lang="en-US" dirty="0"/>
                        <a:t>: 3</a:t>
                      </a:r>
                    </a:p>
                    <a:p>
                      <a:r>
                        <a:rPr lang="en-US" dirty="0"/>
                        <a:t>???</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2060373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814D3-F989-17C1-CEE2-0DCBB9C3DA63}"/>
              </a:ext>
            </a:extLst>
          </p:cNvPr>
          <p:cNvSpPr>
            <a:spLocks noGrp="1"/>
          </p:cNvSpPr>
          <p:nvPr>
            <p:ph type="title"/>
          </p:nvPr>
        </p:nvSpPr>
        <p:spPr/>
        <p:txBody>
          <a:bodyPr/>
          <a:lstStyle/>
          <a:p>
            <a:r>
              <a:rPr lang="en-US" dirty="0"/>
              <a:t>Count Vectorizer</a:t>
            </a:r>
          </a:p>
        </p:txBody>
      </p:sp>
      <p:sp>
        <p:nvSpPr>
          <p:cNvPr id="3" name="Content Placeholder 2">
            <a:extLst>
              <a:ext uri="{FF2B5EF4-FFF2-40B4-BE49-F238E27FC236}">
                <a16:creationId xmlns:a16="http://schemas.microsoft.com/office/drawing/2014/main" id="{C957D813-F94A-BF28-7B4B-6BF30D9C58AA}"/>
              </a:ext>
            </a:extLst>
          </p:cNvPr>
          <p:cNvSpPr>
            <a:spLocks noGrp="1"/>
          </p:cNvSpPr>
          <p:nvPr>
            <p:ph sz="half" idx="1"/>
          </p:nvPr>
        </p:nvSpPr>
        <p:spPr/>
        <p:txBody>
          <a:bodyPr/>
          <a:lstStyle/>
          <a:p>
            <a:r>
              <a:rPr lang="en-US" dirty="0"/>
              <a:t>Simple idea</a:t>
            </a:r>
          </a:p>
          <a:p>
            <a:r>
              <a:rPr lang="en-US" dirty="0"/>
              <a:t>Determine (learn) the words present in the corpus</a:t>
            </a:r>
          </a:p>
          <a:p>
            <a:r>
              <a:rPr lang="en-US" dirty="0"/>
              <a:t>For each document, count the num words present</a:t>
            </a:r>
          </a:p>
        </p:txBody>
      </p:sp>
      <p:sp>
        <p:nvSpPr>
          <p:cNvPr id="5" name="Date Placeholder 4">
            <a:extLst>
              <a:ext uri="{FF2B5EF4-FFF2-40B4-BE49-F238E27FC236}">
                <a16:creationId xmlns:a16="http://schemas.microsoft.com/office/drawing/2014/main" id="{2B950C89-EC8F-464E-6D73-0A9A3158DE4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0243317-545C-F458-55D6-99CDF3BDF30E}"/>
              </a:ext>
            </a:extLst>
          </p:cNvPr>
          <p:cNvSpPr>
            <a:spLocks noGrp="1"/>
          </p:cNvSpPr>
          <p:nvPr>
            <p:ph type="sldNum" sz="quarter" idx="11"/>
          </p:nvPr>
        </p:nvSpPr>
        <p:spPr/>
        <p:txBody>
          <a:bodyPr/>
          <a:lstStyle/>
          <a:p>
            <a:fld id="{64E5BE4B-2FBF-4174-9E62-85FAD1CB43A6}" type="slidenum">
              <a:rPr lang="en-US" smtClean="0"/>
              <a:pPr/>
              <a:t>24</a:t>
            </a:fld>
            <a:endParaRPr lang="en-US"/>
          </a:p>
        </p:txBody>
      </p:sp>
      <p:graphicFrame>
        <p:nvGraphicFramePr>
          <p:cNvPr id="7" name="Content Placeholder 7">
            <a:extLst>
              <a:ext uri="{FF2B5EF4-FFF2-40B4-BE49-F238E27FC236}">
                <a16:creationId xmlns:a16="http://schemas.microsoft.com/office/drawing/2014/main" id="{B73FC2D0-DCDD-98EA-A92A-DEB8B2E378CA}"/>
              </a:ext>
            </a:extLst>
          </p:cNvPr>
          <p:cNvGraphicFramePr>
            <a:graphicFrameLocks noGrp="1"/>
          </p:cNvGraphicFramePr>
          <p:nvPr>
            <p:ph sz="half" idx="2"/>
            <p:extLst>
              <p:ext uri="{D42A27DB-BD31-4B8C-83A1-F6EECF244321}">
                <p14:modId xmlns:p14="http://schemas.microsoft.com/office/powerpoint/2010/main" val="2813101633"/>
              </p:ext>
            </p:extLst>
          </p:nvPr>
        </p:nvGraphicFramePr>
        <p:xfrm>
          <a:off x="4708525" y="1200150"/>
          <a:ext cx="4024311" cy="185420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r>
                        <a:rPr lang="en-US" dirty="0"/>
                        <a:t>Document</a:t>
                      </a:r>
                    </a:p>
                  </a:txBody>
                  <a:tcPr/>
                </a:tc>
                <a:tc>
                  <a:txBody>
                    <a:bodyPr/>
                    <a:lstStyle/>
                    <a:p>
                      <a:r>
                        <a:rPr lang="en-US" dirty="0"/>
                        <a:t>Ok</a:t>
                      </a:r>
                    </a:p>
                  </a:txBody>
                  <a:tcPr/>
                </a:tc>
                <a:tc>
                  <a:txBody>
                    <a:bodyPr/>
                    <a:lstStyle/>
                    <a:p>
                      <a:r>
                        <a:rPr lang="en-US" dirty="0"/>
                        <a:t>Not</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560363483"/>
                  </a:ext>
                </a:extLst>
              </a:tr>
              <a:tr h="370840">
                <a:tc>
                  <a:txBody>
                    <a:bodyPr/>
                    <a:lstStyle/>
                    <a:p>
                      <a:r>
                        <a:rPr lang="en-US" dirty="0"/>
                        <a:t>Not </a:t>
                      </a:r>
                      <a:r>
                        <a:rPr lang="en-US" dirty="0" err="1"/>
                        <a:t>not</a:t>
                      </a:r>
                      <a:endParaRPr lang="en-US" dirty="0"/>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2856788798"/>
                  </a:ext>
                </a:extLst>
              </a:tr>
            </a:tbl>
          </a:graphicData>
        </a:graphic>
      </p:graphicFrame>
    </p:spTree>
    <p:extLst>
      <p:ext uri="{BB962C8B-B14F-4D97-AF65-F5344CB8AC3E}">
        <p14:creationId xmlns:p14="http://schemas.microsoft.com/office/powerpoint/2010/main" val="2394692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2F8B4-32FF-C0DE-2CC0-5C442BAA8278}"/>
              </a:ext>
            </a:extLst>
          </p:cNvPr>
          <p:cNvSpPr>
            <a:spLocks noGrp="1"/>
          </p:cNvSpPr>
          <p:nvPr>
            <p:ph type="title"/>
          </p:nvPr>
        </p:nvSpPr>
        <p:spPr/>
        <p:txBody>
          <a:bodyPr/>
          <a:lstStyle/>
          <a:p>
            <a:r>
              <a:rPr lang="en-US" dirty="0"/>
              <a:t>Why Vectors??</a:t>
            </a:r>
          </a:p>
        </p:txBody>
      </p:sp>
      <p:sp>
        <p:nvSpPr>
          <p:cNvPr id="3" name="Content Placeholder 2">
            <a:extLst>
              <a:ext uri="{FF2B5EF4-FFF2-40B4-BE49-F238E27FC236}">
                <a16:creationId xmlns:a16="http://schemas.microsoft.com/office/drawing/2014/main" id="{84684495-E5A4-F6D2-50E7-200640277A66}"/>
              </a:ext>
            </a:extLst>
          </p:cNvPr>
          <p:cNvSpPr>
            <a:spLocks noGrp="1"/>
          </p:cNvSpPr>
          <p:nvPr>
            <p:ph sz="half" idx="1"/>
          </p:nvPr>
        </p:nvSpPr>
        <p:spPr/>
        <p:txBody>
          <a:bodyPr/>
          <a:lstStyle/>
          <a:p>
            <a:r>
              <a:rPr lang="en-US" dirty="0"/>
              <a:t>Any point can be considered a vector from the origin</a:t>
            </a:r>
          </a:p>
          <a:p>
            <a:r>
              <a:rPr lang="en-US" dirty="0"/>
              <a:t>Vectors have magnitude and direction</a:t>
            </a:r>
          </a:p>
          <a:p>
            <a:r>
              <a:rPr lang="en-US" dirty="0"/>
              <a:t>Efficient linear algebra computations</a:t>
            </a:r>
          </a:p>
        </p:txBody>
      </p:sp>
      <p:pic>
        <p:nvPicPr>
          <p:cNvPr id="8" name="Content Placeholder 7">
            <a:extLst>
              <a:ext uri="{FF2B5EF4-FFF2-40B4-BE49-F238E27FC236}">
                <a16:creationId xmlns:a16="http://schemas.microsoft.com/office/drawing/2014/main" id="{C24AE5FB-5EA4-323F-9BB3-55C29AC377C2}"/>
              </a:ext>
            </a:extLst>
          </p:cNvPr>
          <p:cNvPicPr>
            <a:picLocks noGrp="1" noChangeAspect="1"/>
          </p:cNvPicPr>
          <p:nvPr>
            <p:ph sz="half" idx="2"/>
          </p:nvPr>
        </p:nvPicPr>
        <p:blipFill>
          <a:blip r:embed="rId2"/>
          <a:stretch>
            <a:fillRect/>
          </a:stretch>
        </p:blipFill>
        <p:spPr>
          <a:xfrm>
            <a:off x="4708525" y="1338865"/>
            <a:ext cx="4024313" cy="3151570"/>
          </a:xfrm>
          <a:prstGeom prst="rect">
            <a:avLst/>
          </a:prstGeom>
        </p:spPr>
      </p:pic>
      <p:sp>
        <p:nvSpPr>
          <p:cNvPr id="5" name="Date Placeholder 4">
            <a:extLst>
              <a:ext uri="{FF2B5EF4-FFF2-40B4-BE49-F238E27FC236}">
                <a16:creationId xmlns:a16="http://schemas.microsoft.com/office/drawing/2014/main" id="{D297F8E6-AA3E-6E97-E615-A95E5314ED75}"/>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88E8565E-E4F9-2374-D11F-2CA2032BD475}"/>
              </a:ext>
            </a:extLst>
          </p:cNvPr>
          <p:cNvSpPr>
            <a:spLocks noGrp="1"/>
          </p:cNvSpPr>
          <p:nvPr>
            <p:ph type="sldNum" sz="quarter" idx="11"/>
          </p:nvPr>
        </p:nvSpPr>
        <p:spPr/>
        <p:txBody>
          <a:bodyPr/>
          <a:lstStyle/>
          <a:p>
            <a:fld id="{64E5BE4B-2FBF-4174-9E62-85FAD1CB43A6}" type="slidenum">
              <a:rPr lang="en-US" smtClean="0"/>
              <a:pPr/>
              <a:t>25</a:t>
            </a:fld>
            <a:endParaRPr lang="en-US"/>
          </a:p>
        </p:txBody>
      </p:sp>
      <p:graphicFrame>
        <p:nvGraphicFramePr>
          <p:cNvPr id="9" name="Content Placeholder 7">
            <a:extLst>
              <a:ext uri="{FF2B5EF4-FFF2-40B4-BE49-F238E27FC236}">
                <a16:creationId xmlns:a16="http://schemas.microsoft.com/office/drawing/2014/main" id="{DCAC5426-FED0-4697-CE92-A9F2B56BB9CC}"/>
              </a:ext>
            </a:extLst>
          </p:cNvPr>
          <p:cNvGraphicFramePr>
            <a:graphicFrameLocks/>
          </p:cNvGraphicFramePr>
          <p:nvPr>
            <p:extLst>
              <p:ext uri="{D42A27DB-BD31-4B8C-83A1-F6EECF244321}">
                <p14:modId xmlns:p14="http://schemas.microsoft.com/office/powerpoint/2010/main" val="4249353543"/>
              </p:ext>
            </p:extLst>
          </p:nvPr>
        </p:nvGraphicFramePr>
        <p:xfrm>
          <a:off x="410528" y="2388429"/>
          <a:ext cx="4024311" cy="148336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r>
                        <a:rPr lang="en-US" dirty="0"/>
                        <a:t>Document</a:t>
                      </a:r>
                    </a:p>
                  </a:txBody>
                  <a:tcPr/>
                </a:tc>
                <a:tc>
                  <a:txBody>
                    <a:bodyPr/>
                    <a:lstStyle/>
                    <a:p>
                      <a:r>
                        <a:rPr lang="en-US" dirty="0"/>
                        <a:t>Ok</a:t>
                      </a:r>
                    </a:p>
                  </a:txBody>
                  <a:tcPr/>
                </a:tc>
                <a:tc>
                  <a:txBody>
                    <a:bodyPr/>
                    <a:lstStyle/>
                    <a:p>
                      <a:r>
                        <a:rPr lang="en-US" dirty="0"/>
                        <a:t>Not</a:t>
                      </a:r>
                    </a:p>
                  </a:txBody>
                  <a:tcPr/>
                </a:tc>
                <a:extLst>
                  <a:ext uri="{0D108BD9-81ED-4DB2-BD59-A6C34878D82A}">
                    <a16:rowId xmlns:a16="http://schemas.microsoft.com/office/drawing/2014/main" val="1001098265"/>
                  </a:ext>
                </a:extLst>
              </a:tr>
              <a:tr h="370840">
                <a:tc>
                  <a:txBody>
                    <a:bodyPr/>
                    <a:lstStyle/>
                    <a:p>
                      <a:r>
                        <a:rPr lang="en-US" dirty="0"/>
                        <a:t>Ok</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tc>
                  <a:txBody>
                    <a:bodyPr/>
                    <a:lstStyle/>
                    <a:p>
                      <a:r>
                        <a:rPr lang="en-US" dirty="0"/>
                        <a:t>0</a:t>
                      </a:r>
                    </a:p>
                  </a:txBody>
                  <a:tcPr>
                    <a:solidFill>
                      <a:schemeClr val="bg2">
                        <a:lumMod val="40000"/>
                        <a:lumOff val="60000"/>
                      </a:schemeClr>
                    </a:solidFill>
                  </a:tcPr>
                </a:tc>
                <a:extLst>
                  <a:ext uri="{0D108BD9-81ED-4DB2-BD59-A6C34878D82A}">
                    <a16:rowId xmlns:a16="http://schemas.microsoft.com/office/drawing/2014/main" val="869006863"/>
                  </a:ext>
                </a:extLst>
              </a:tr>
              <a:tr h="370840">
                <a:tc>
                  <a:txBody>
                    <a:bodyPr/>
                    <a:lstStyle/>
                    <a:p>
                      <a:r>
                        <a:rPr lang="en-US" dirty="0"/>
                        <a:t>Not ok</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531160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50E1E7-6128-1D1C-D919-DBCC8662335A}"/>
              </a:ext>
            </a:extLst>
          </p:cNvPr>
          <p:cNvSpPr>
            <a:spLocks noGrp="1"/>
          </p:cNvSpPr>
          <p:nvPr>
            <p:ph type="title"/>
          </p:nvPr>
        </p:nvSpPr>
        <p:spPr/>
        <p:txBody>
          <a:bodyPr/>
          <a:lstStyle/>
          <a:p>
            <a:r>
              <a:rPr lang="en-US" dirty="0"/>
              <a:t>Where Am I Going With This?</a:t>
            </a:r>
          </a:p>
        </p:txBody>
      </p:sp>
      <p:sp>
        <p:nvSpPr>
          <p:cNvPr id="5" name="Date Placeholder 4">
            <a:extLst>
              <a:ext uri="{FF2B5EF4-FFF2-40B4-BE49-F238E27FC236}">
                <a16:creationId xmlns:a16="http://schemas.microsoft.com/office/drawing/2014/main" id="{F4E60F55-B49D-2AFE-246A-57903345B9D0}"/>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8A26B69C-DD36-7244-DDC2-BC7F9CA843D6}"/>
              </a:ext>
            </a:extLst>
          </p:cNvPr>
          <p:cNvSpPr>
            <a:spLocks noGrp="1"/>
          </p:cNvSpPr>
          <p:nvPr>
            <p:ph type="sldNum" sz="quarter" idx="11"/>
          </p:nvPr>
        </p:nvSpPr>
        <p:spPr/>
        <p:txBody>
          <a:bodyPr/>
          <a:lstStyle/>
          <a:p>
            <a:fld id="{64E5BE4B-2FBF-4174-9E62-85FAD1CB43A6}" type="slidenum">
              <a:rPr lang="en-US" smtClean="0"/>
              <a:pPr/>
              <a:t>26</a:t>
            </a:fld>
            <a:endParaRPr lang="en-US"/>
          </a:p>
        </p:txBody>
      </p:sp>
      <p:pic>
        <p:nvPicPr>
          <p:cNvPr id="9" name="Content Placeholder 7">
            <a:extLst>
              <a:ext uri="{FF2B5EF4-FFF2-40B4-BE49-F238E27FC236}">
                <a16:creationId xmlns:a16="http://schemas.microsoft.com/office/drawing/2014/main" id="{9923A21C-8985-4805-1901-B472D09E6681}"/>
              </a:ext>
            </a:extLst>
          </p:cNvPr>
          <p:cNvPicPr>
            <a:picLocks noGrp="1" noChangeAspect="1"/>
          </p:cNvPicPr>
          <p:nvPr>
            <p:ph idx="1"/>
          </p:nvPr>
        </p:nvPicPr>
        <p:blipFill>
          <a:blip r:embed="rId3"/>
          <a:stretch>
            <a:fillRect/>
          </a:stretch>
        </p:blipFill>
        <p:spPr>
          <a:xfrm>
            <a:off x="2356522" y="1200150"/>
            <a:ext cx="4378569" cy="3429000"/>
          </a:xfrm>
          <a:prstGeom prst="rect">
            <a:avLst/>
          </a:prstGeom>
        </p:spPr>
      </p:pic>
    </p:spTree>
    <p:extLst>
      <p:ext uri="{BB962C8B-B14F-4D97-AF65-F5344CB8AC3E}">
        <p14:creationId xmlns:p14="http://schemas.microsoft.com/office/powerpoint/2010/main" val="2307453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7F45-C2C6-8F9E-C722-4E8E509E3B0D}"/>
              </a:ext>
            </a:extLst>
          </p:cNvPr>
          <p:cNvSpPr>
            <a:spLocks noGrp="1"/>
          </p:cNvSpPr>
          <p:nvPr>
            <p:ph type="title"/>
          </p:nvPr>
        </p:nvSpPr>
        <p:spPr/>
        <p:txBody>
          <a:bodyPr/>
          <a:lstStyle/>
          <a:p>
            <a:r>
              <a:rPr lang="en-US" dirty="0"/>
              <a:t>Modeling</a:t>
            </a:r>
          </a:p>
        </p:txBody>
      </p:sp>
      <p:pic>
        <p:nvPicPr>
          <p:cNvPr id="7" name="Content Placeholder 6">
            <a:extLst>
              <a:ext uri="{FF2B5EF4-FFF2-40B4-BE49-F238E27FC236}">
                <a16:creationId xmlns:a16="http://schemas.microsoft.com/office/drawing/2014/main" id="{F2801406-B60C-A32B-1EF3-1B1EDF056BF9}"/>
              </a:ext>
            </a:extLst>
          </p:cNvPr>
          <p:cNvPicPr>
            <a:picLocks noGrp="1" noChangeAspect="1"/>
          </p:cNvPicPr>
          <p:nvPr>
            <p:ph idx="1"/>
          </p:nvPr>
        </p:nvPicPr>
        <p:blipFill>
          <a:blip r:embed="rId2"/>
          <a:stretch>
            <a:fillRect/>
          </a:stretch>
        </p:blipFill>
        <p:spPr>
          <a:xfrm>
            <a:off x="2356522" y="1200150"/>
            <a:ext cx="4378569" cy="3429000"/>
          </a:xfrm>
          <a:prstGeom prst="rect">
            <a:avLst/>
          </a:prstGeom>
        </p:spPr>
      </p:pic>
      <p:sp>
        <p:nvSpPr>
          <p:cNvPr id="4" name="Date Placeholder 3">
            <a:extLst>
              <a:ext uri="{FF2B5EF4-FFF2-40B4-BE49-F238E27FC236}">
                <a16:creationId xmlns:a16="http://schemas.microsoft.com/office/drawing/2014/main" id="{B3C932EF-AFE9-6167-68CA-0E65D23013DE}"/>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3016E5B7-0541-F126-03F0-BA04BEFB464E}"/>
              </a:ext>
            </a:extLst>
          </p:cNvPr>
          <p:cNvSpPr>
            <a:spLocks noGrp="1"/>
          </p:cNvSpPr>
          <p:nvPr>
            <p:ph type="sldNum" sz="quarter" idx="11"/>
          </p:nvPr>
        </p:nvSpPr>
        <p:spPr/>
        <p:txBody>
          <a:bodyPr/>
          <a:lstStyle/>
          <a:p>
            <a:fld id="{64E5BE4B-2FBF-4174-9E62-85FAD1CB43A6}" type="slidenum">
              <a:rPr lang="en-US" smtClean="0"/>
              <a:pPr/>
              <a:t>27</a:t>
            </a:fld>
            <a:endParaRPr lang="en-US"/>
          </a:p>
        </p:txBody>
      </p:sp>
    </p:spTree>
    <p:extLst>
      <p:ext uri="{BB962C8B-B14F-4D97-AF65-F5344CB8AC3E}">
        <p14:creationId xmlns:p14="http://schemas.microsoft.com/office/powerpoint/2010/main" val="4129597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24E3-2318-28D9-6130-8222636D3A71}"/>
              </a:ext>
            </a:extLst>
          </p:cNvPr>
          <p:cNvSpPr>
            <a:spLocks noGrp="1"/>
          </p:cNvSpPr>
          <p:nvPr>
            <p:ph type="title"/>
          </p:nvPr>
        </p:nvSpPr>
        <p:spPr/>
        <p:txBody>
          <a:bodyPr/>
          <a:lstStyle/>
          <a:p>
            <a:r>
              <a:rPr lang="en-US" dirty="0"/>
              <a:t>Predicting Unseen Data</a:t>
            </a:r>
          </a:p>
        </p:txBody>
      </p:sp>
      <p:pic>
        <p:nvPicPr>
          <p:cNvPr id="7" name="Content Placeholder 6">
            <a:extLst>
              <a:ext uri="{FF2B5EF4-FFF2-40B4-BE49-F238E27FC236}">
                <a16:creationId xmlns:a16="http://schemas.microsoft.com/office/drawing/2014/main" id="{2957EF21-CE02-4897-942A-C6D23C264648}"/>
              </a:ext>
            </a:extLst>
          </p:cNvPr>
          <p:cNvPicPr>
            <a:picLocks noGrp="1" noChangeAspect="1"/>
          </p:cNvPicPr>
          <p:nvPr>
            <p:ph idx="1"/>
          </p:nvPr>
        </p:nvPicPr>
        <p:blipFill>
          <a:blip r:embed="rId3"/>
          <a:stretch>
            <a:fillRect/>
          </a:stretch>
        </p:blipFill>
        <p:spPr>
          <a:xfrm>
            <a:off x="2356522" y="1200150"/>
            <a:ext cx="4378569" cy="3429000"/>
          </a:xfrm>
          <a:prstGeom prst="rect">
            <a:avLst/>
          </a:prstGeom>
        </p:spPr>
      </p:pic>
      <p:sp>
        <p:nvSpPr>
          <p:cNvPr id="4" name="Date Placeholder 3">
            <a:extLst>
              <a:ext uri="{FF2B5EF4-FFF2-40B4-BE49-F238E27FC236}">
                <a16:creationId xmlns:a16="http://schemas.microsoft.com/office/drawing/2014/main" id="{E3C81175-641B-ECDC-C6E5-C288CC2B0B0E}"/>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A93473BD-B799-80FE-9034-F20D56910157}"/>
              </a:ext>
            </a:extLst>
          </p:cNvPr>
          <p:cNvSpPr>
            <a:spLocks noGrp="1"/>
          </p:cNvSpPr>
          <p:nvPr>
            <p:ph type="sldNum" sz="quarter" idx="11"/>
          </p:nvPr>
        </p:nvSpPr>
        <p:spPr/>
        <p:txBody>
          <a:bodyPr/>
          <a:lstStyle/>
          <a:p>
            <a:fld id="{64E5BE4B-2FBF-4174-9E62-85FAD1CB43A6}" type="slidenum">
              <a:rPr lang="en-US" smtClean="0"/>
              <a:pPr/>
              <a:t>28</a:t>
            </a:fld>
            <a:endParaRPr lang="en-US"/>
          </a:p>
        </p:txBody>
      </p:sp>
    </p:spTree>
    <p:extLst>
      <p:ext uri="{BB962C8B-B14F-4D97-AF65-F5344CB8AC3E}">
        <p14:creationId xmlns:p14="http://schemas.microsoft.com/office/powerpoint/2010/main" val="3206330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06FF6-0C69-C901-4DC4-81A105D794D7}"/>
              </a:ext>
            </a:extLst>
          </p:cNvPr>
          <p:cNvSpPr>
            <a:spLocks noGrp="1"/>
          </p:cNvSpPr>
          <p:nvPr>
            <p:ph type="title"/>
          </p:nvPr>
        </p:nvSpPr>
        <p:spPr/>
        <p:txBody>
          <a:bodyPr/>
          <a:lstStyle/>
          <a:p>
            <a:r>
              <a:rPr lang="en-US" dirty="0"/>
              <a:t>Other Options</a:t>
            </a:r>
          </a:p>
        </p:txBody>
      </p:sp>
      <p:sp>
        <p:nvSpPr>
          <p:cNvPr id="3" name="Content Placeholder 2">
            <a:extLst>
              <a:ext uri="{FF2B5EF4-FFF2-40B4-BE49-F238E27FC236}">
                <a16:creationId xmlns:a16="http://schemas.microsoft.com/office/drawing/2014/main" id="{16F97C87-77B9-5AFF-CE94-07F064A29A84}"/>
              </a:ext>
            </a:extLst>
          </p:cNvPr>
          <p:cNvSpPr>
            <a:spLocks noGrp="1"/>
          </p:cNvSpPr>
          <p:nvPr>
            <p:ph sz="half" idx="1"/>
          </p:nvPr>
        </p:nvSpPr>
        <p:spPr/>
        <p:txBody>
          <a:bodyPr/>
          <a:lstStyle/>
          <a:p>
            <a:r>
              <a:rPr lang="en-US" dirty="0"/>
              <a:t>TF-IDF vectorizer</a:t>
            </a:r>
          </a:p>
          <a:p>
            <a:pPr lvl="1"/>
            <a:r>
              <a:rPr lang="en-US" dirty="0"/>
              <a:t>Minimizes the value of frequent words</a:t>
            </a:r>
          </a:p>
          <a:p>
            <a:pPr lvl="1"/>
            <a:r>
              <a:rPr lang="en-US" dirty="0"/>
              <a:t>Maximizes value of rare words</a:t>
            </a:r>
          </a:p>
          <a:p>
            <a:pPr lvl="1"/>
            <a:endParaRPr lang="en-US" dirty="0"/>
          </a:p>
          <a:p>
            <a:pPr lvl="1"/>
            <a:endParaRPr lang="en-US" dirty="0"/>
          </a:p>
          <a:p>
            <a:endParaRPr lang="en-US" dirty="0"/>
          </a:p>
          <a:p>
            <a:endParaRPr lang="en-US" dirty="0"/>
          </a:p>
          <a:p>
            <a:r>
              <a:rPr lang="en-US" dirty="0"/>
              <a:t>Bag of Words</a:t>
            </a:r>
          </a:p>
          <a:p>
            <a:r>
              <a:rPr lang="en-US" dirty="0"/>
              <a:t>Part of Speech Tagging</a:t>
            </a:r>
          </a:p>
          <a:p>
            <a:r>
              <a:rPr lang="en-US" dirty="0"/>
              <a:t>Topic Modeling</a:t>
            </a:r>
          </a:p>
          <a:p>
            <a:r>
              <a:rPr lang="en-US" dirty="0"/>
              <a:t>Word2Vec, Doc2Vec</a:t>
            </a:r>
          </a:p>
          <a:p>
            <a:r>
              <a:rPr lang="en-US" dirty="0"/>
              <a:t>Transformers (BERT, </a:t>
            </a:r>
            <a:r>
              <a:rPr lang="en-US" dirty="0" err="1"/>
              <a:t>etc</a:t>
            </a:r>
            <a:r>
              <a:rPr lang="en-US" dirty="0"/>
              <a:t>)</a:t>
            </a:r>
          </a:p>
        </p:txBody>
      </p:sp>
      <p:sp>
        <p:nvSpPr>
          <p:cNvPr id="4" name="Date Placeholder 3">
            <a:extLst>
              <a:ext uri="{FF2B5EF4-FFF2-40B4-BE49-F238E27FC236}">
                <a16:creationId xmlns:a16="http://schemas.microsoft.com/office/drawing/2014/main" id="{33A2FE47-87D0-3664-9CF1-C265D3762A86}"/>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B5169E1D-7CF5-3A40-2437-5FBC567E5E65}"/>
              </a:ext>
            </a:extLst>
          </p:cNvPr>
          <p:cNvSpPr>
            <a:spLocks noGrp="1"/>
          </p:cNvSpPr>
          <p:nvPr>
            <p:ph type="sldNum" sz="quarter" idx="11"/>
          </p:nvPr>
        </p:nvSpPr>
        <p:spPr/>
        <p:txBody>
          <a:bodyPr/>
          <a:lstStyle/>
          <a:p>
            <a:fld id="{64E5BE4B-2FBF-4174-9E62-85FAD1CB43A6}" type="slidenum">
              <a:rPr lang="en-US" smtClean="0"/>
              <a:pPr/>
              <a:t>29</a:t>
            </a:fld>
            <a:endParaRPr lang="en-US"/>
          </a:p>
        </p:txBody>
      </p:sp>
      <p:graphicFrame>
        <p:nvGraphicFramePr>
          <p:cNvPr id="8" name="Content Placeholder 7">
            <a:extLst>
              <a:ext uri="{FF2B5EF4-FFF2-40B4-BE49-F238E27FC236}">
                <a16:creationId xmlns:a16="http://schemas.microsoft.com/office/drawing/2014/main" id="{26040870-2159-C746-755A-ADB63909CCF8}"/>
              </a:ext>
            </a:extLst>
          </p:cNvPr>
          <p:cNvGraphicFramePr>
            <a:graphicFrameLocks/>
          </p:cNvGraphicFramePr>
          <p:nvPr>
            <p:extLst>
              <p:ext uri="{D42A27DB-BD31-4B8C-83A1-F6EECF244321}">
                <p14:modId xmlns:p14="http://schemas.microsoft.com/office/powerpoint/2010/main" val="3456092454"/>
              </p:ext>
            </p:extLst>
          </p:nvPr>
        </p:nvGraphicFramePr>
        <p:xfrm>
          <a:off x="4572000" y="994411"/>
          <a:ext cx="4024311" cy="185420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pPr>
                        <a:buNone/>
                      </a:pPr>
                      <a:r>
                        <a:rPr lang="en-US" sz="1280"/>
                        <a:t>Document</a:t>
                      </a:r>
                    </a:p>
                  </a:txBody>
                  <a:tcPr marL="44220" marR="44220" marT="22110" marB="22110" anchor="ctr"/>
                </a:tc>
                <a:tc>
                  <a:txBody>
                    <a:bodyPr/>
                    <a:lstStyle/>
                    <a:p>
                      <a:pPr>
                        <a:buNone/>
                      </a:pPr>
                      <a:r>
                        <a:rPr lang="en-US" sz="1280"/>
                        <a:t>Ok</a:t>
                      </a:r>
                    </a:p>
                  </a:txBody>
                  <a:tcPr marL="44220" marR="44220" marT="22110" marB="22110" anchor="ctr"/>
                </a:tc>
                <a:tc>
                  <a:txBody>
                    <a:bodyPr/>
                    <a:lstStyle/>
                    <a:p>
                      <a:pPr>
                        <a:buNone/>
                      </a:pPr>
                      <a:r>
                        <a:rPr lang="en-US" sz="1280"/>
                        <a:t>Not</a:t>
                      </a:r>
                    </a:p>
                  </a:txBody>
                  <a:tcPr marL="44220" marR="44220" marT="22110" marB="22110" anchor="ctr"/>
                </a:tc>
                <a:extLst>
                  <a:ext uri="{0D108BD9-81ED-4DB2-BD59-A6C34878D82A}">
                    <a16:rowId xmlns:a16="http://schemas.microsoft.com/office/drawing/2014/main" val="1001098265"/>
                  </a:ext>
                </a:extLst>
              </a:tr>
              <a:tr h="370840">
                <a:tc>
                  <a:txBody>
                    <a:bodyPr/>
                    <a:lstStyle/>
                    <a:p>
                      <a:pPr>
                        <a:buNone/>
                      </a:pPr>
                      <a:r>
                        <a:rPr lang="en-US" sz="1280"/>
                        <a:t>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a:t>
                      </a:r>
                    </a:p>
                  </a:txBody>
                  <a:tcPr marL="44220" marR="44220" marT="22110" marB="22110" anchor="ctr"/>
                </a:tc>
                <a:extLst>
                  <a:ext uri="{0D108BD9-81ED-4DB2-BD59-A6C34878D82A}">
                    <a16:rowId xmlns:a16="http://schemas.microsoft.com/office/drawing/2014/main" val="869006863"/>
                  </a:ext>
                </a:extLst>
              </a:tr>
              <a:tr h="370840">
                <a:tc>
                  <a:txBody>
                    <a:bodyPr/>
                    <a:lstStyle/>
                    <a:p>
                      <a:pPr>
                        <a:buNone/>
                      </a:pPr>
                      <a:r>
                        <a:rPr lang="en-US" sz="1280"/>
                        <a:t>Not 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0.288</a:t>
                      </a:r>
                    </a:p>
                  </a:txBody>
                  <a:tcPr marL="44220" marR="44220" marT="22110" marB="22110" anchor="ctr"/>
                </a:tc>
                <a:extLst>
                  <a:ext uri="{0D108BD9-81ED-4DB2-BD59-A6C34878D82A}">
                    <a16:rowId xmlns:a16="http://schemas.microsoft.com/office/drawing/2014/main" val="3322813205"/>
                  </a:ext>
                </a:extLst>
              </a:tr>
              <a:tr h="370840">
                <a:tc>
                  <a:txBody>
                    <a:bodyPr/>
                    <a:lstStyle/>
                    <a:p>
                      <a:pPr>
                        <a:buNone/>
                      </a:pPr>
                      <a:r>
                        <a:rPr lang="en-US" sz="1280" dirty="0"/>
                        <a:t>Not </a:t>
                      </a:r>
                      <a:r>
                        <a:rPr lang="en-US" sz="1280" dirty="0" err="1"/>
                        <a:t>not</a:t>
                      </a:r>
                      <a:r>
                        <a:rPr lang="en-US" sz="1280" dirty="0"/>
                        <a:t> 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0.576</a:t>
                      </a:r>
                    </a:p>
                  </a:txBody>
                  <a:tcPr marL="44220" marR="44220" marT="22110" marB="22110" anchor="ctr"/>
                </a:tc>
                <a:extLst>
                  <a:ext uri="{0D108BD9-81ED-4DB2-BD59-A6C34878D82A}">
                    <a16:rowId xmlns:a16="http://schemas.microsoft.com/office/drawing/2014/main" val="2560363483"/>
                  </a:ext>
                </a:extLst>
              </a:tr>
              <a:tr h="370840">
                <a:tc>
                  <a:txBody>
                    <a:bodyPr/>
                    <a:lstStyle/>
                    <a:p>
                      <a:pPr>
                        <a:buNone/>
                      </a:pPr>
                      <a:r>
                        <a:rPr lang="en-US" sz="1280" dirty="0"/>
                        <a:t>Not </a:t>
                      </a:r>
                      <a:r>
                        <a:rPr lang="en-US" sz="1280" dirty="0" err="1"/>
                        <a:t>not</a:t>
                      </a:r>
                      <a:endParaRPr lang="en-US" sz="1280" dirty="0"/>
                    </a:p>
                  </a:txBody>
                  <a:tcPr marL="44220" marR="44220" marT="22110" marB="22110" anchor="ctr"/>
                </a:tc>
                <a:tc>
                  <a:txBody>
                    <a:bodyPr/>
                    <a:lstStyle/>
                    <a:p>
                      <a:pPr>
                        <a:buNone/>
                      </a:pPr>
                      <a:r>
                        <a:rPr lang="en-US" sz="1280"/>
                        <a:t>0</a:t>
                      </a:r>
                    </a:p>
                  </a:txBody>
                  <a:tcPr marL="44220" marR="44220" marT="22110" marB="22110" anchor="ctr"/>
                </a:tc>
                <a:tc>
                  <a:txBody>
                    <a:bodyPr/>
                    <a:lstStyle/>
                    <a:p>
                      <a:pPr>
                        <a:buNone/>
                      </a:pPr>
                      <a:r>
                        <a:rPr lang="en-US" sz="1280" dirty="0"/>
                        <a:t>0.576</a:t>
                      </a:r>
                    </a:p>
                  </a:txBody>
                  <a:tcPr marL="44220" marR="44220" marT="22110" marB="22110" anchor="ctr"/>
                </a:tc>
                <a:extLst>
                  <a:ext uri="{0D108BD9-81ED-4DB2-BD59-A6C34878D82A}">
                    <a16:rowId xmlns:a16="http://schemas.microsoft.com/office/drawing/2014/main" val="2856788798"/>
                  </a:ext>
                </a:extLst>
              </a:tr>
            </a:tbl>
          </a:graphicData>
        </a:graphic>
      </p:graphicFrame>
    </p:spTree>
    <p:extLst>
      <p:ext uri="{BB962C8B-B14F-4D97-AF65-F5344CB8AC3E}">
        <p14:creationId xmlns:p14="http://schemas.microsoft.com/office/powerpoint/2010/main" val="594242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45281-6F14-4B46-04CE-3C0B964ADA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48CBF2-6E31-F132-F483-B14DD8674CA7}"/>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FA25ABA3-1364-9658-2B54-91A8B493CEC0}"/>
              </a:ext>
            </a:extLst>
          </p:cNvPr>
          <p:cNvSpPr>
            <a:spLocks noGrp="1"/>
          </p:cNvSpPr>
          <p:nvPr>
            <p:ph type="subTitle" idx="1"/>
          </p:nvPr>
        </p:nvSpPr>
        <p:spPr/>
        <p:txBody>
          <a:bodyPr/>
          <a:lstStyle/>
          <a:p>
            <a:r>
              <a:rPr lang="en-US" dirty="0"/>
              <a:t>Quick Code Demo</a:t>
            </a:r>
          </a:p>
        </p:txBody>
      </p:sp>
      <p:sp>
        <p:nvSpPr>
          <p:cNvPr id="4" name="Date Placeholder 3">
            <a:extLst>
              <a:ext uri="{FF2B5EF4-FFF2-40B4-BE49-F238E27FC236}">
                <a16:creationId xmlns:a16="http://schemas.microsoft.com/office/drawing/2014/main" id="{4258B787-52CC-A59C-D2A7-794C17919DE4}"/>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99B024D3-88C0-9259-14B3-0ED8921C883C}"/>
              </a:ext>
            </a:extLst>
          </p:cNvPr>
          <p:cNvSpPr>
            <a:spLocks noGrp="1"/>
          </p:cNvSpPr>
          <p:nvPr>
            <p:ph type="sldNum" idx="12"/>
          </p:nvPr>
        </p:nvSpPr>
        <p:spPr/>
        <p:txBody>
          <a:bodyPr/>
          <a:lstStyle/>
          <a:p>
            <a:fld id="{64E5BE4B-2FBF-4174-9E62-85FAD1CB43A6}" type="slidenum">
              <a:rPr lang="en-US" smtClean="0"/>
              <a:pPr/>
              <a:t>30</a:t>
            </a:fld>
            <a:endParaRPr lang="en-US"/>
          </a:p>
        </p:txBody>
      </p:sp>
    </p:spTree>
    <p:extLst>
      <p:ext uri="{BB962C8B-B14F-4D97-AF65-F5344CB8AC3E}">
        <p14:creationId xmlns:p14="http://schemas.microsoft.com/office/powerpoint/2010/main" val="675622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BCC2-4670-F3DC-5F51-20BCE69D7721}"/>
              </a:ext>
            </a:extLst>
          </p:cNvPr>
          <p:cNvSpPr>
            <a:spLocks noGrp="1"/>
          </p:cNvSpPr>
          <p:nvPr>
            <p:ph type="title"/>
          </p:nvPr>
        </p:nvSpPr>
        <p:spPr/>
        <p:txBody>
          <a:bodyPr/>
          <a:lstStyle/>
          <a:p>
            <a:r>
              <a:rPr lang="en-US" dirty="0"/>
              <a:t>A Note On </a:t>
            </a:r>
            <a:r>
              <a:rPr lang="en-US" dirty="0" err="1"/>
              <a:t>SkLearn</a:t>
            </a:r>
            <a:endParaRPr lang="en-US" dirty="0"/>
          </a:p>
        </p:txBody>
      </p:sp>
      <p:sp>
        <p:nvSpPr>
          <p:cNvPr id="3" name="Content Placeholder 2">
            <a:extLst>
              <a:ext uri="{FF2B5EF4-FFF2-40B4-BE49-F238E27FC236}">
                <a16:creationId xmlns:a16="http://schemas.microsoft.com/office/drawing/2014/main" id="{9A723A14-FF82-0431-CCB9-26A2535B5E4D}"/>
              </a:ext>
            </a:extLst>
          </p:cNvPr>
          <p:cNvSpPr>
            <a:spLocks noGrp="1"/>
          </p:cNvSpPr>
          <p:nvPr>
            <p:ph sz="half" idx="1"/>
          </p:nvPr>
        </p:nvSpPr>
        <p:spPr/>
        <p:txBody>
          <a:bodyPr/>
          <a:lstStyle/>
          <a:p>
            <a:r>
              <a:rPr lang="en-US" dirty="0"/>
              <a:t>Transformers</a:t>
            </a:r>
          </a:p>
          <a:p>
            <a:pPr lvl="1"/>
            <a:r>
              <a:rPr lang="en-US" dirty="0"/>
              <a:t>Fit = learning about dataset</a:t>
            </a:r>
          </a:p>
          <a:p>
            <a:pPr lvl="1"/>
            <a:r>
              <a:rPr lang="en-US" dirty="0"/>
              <a:t>Transform = change dataset</a:t>
            </a:r>
          </a:p>
          <a:p>
            <a:r>
              <a:rPr lang="en-US" dirty="0"/>
              <a:t>Classifiers</a:t>
            </a:r>
          </a:p>
          <a:p>
            <a:pPr lvl="1"/>
            <a:r>
              <a:rPr lang="en-US" dirty="0"/>
              <a:t>Fit = build model</a:t>
            </a:r>
          </a:p>
          <a:p>
            <a:pPr lvl="1"/>
            <a:r>
              <a:rPr lang="en-US" dirty="0"/>
              <a:t>Predict = make predictions</a:t>
            </a:r>
          </a:p>
        </p:txBody>
      </p:sp>
      <p:sp>
        <p:nvSpPr>
          <p:cNvPr id="4" name="Content Placeholder 3">
            <a:extLst>
              <a:ext uri="{FF2B5EF4-FFF2-40B4-BE49-F238E27FC236}">
                <a16:creationId xmlns:a16="http://schemas.microsoft.com/office/drawing/2014/main" id="{BA466212-8B10-4D66-0CF9-A960C6FC9D33}"/>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4675CE17-74FA-58D0-068A-62990829C513}"/>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3C1177C9-9313-0F4E-3E90-6A727EACA3BF}"/>
              </a:ext>
            </a:extLst>
          </p:cNvPr>
          <p:cNvSpPr>
            <a:spLocks noGrp="1"/>
          </p:cNvSpPr>
          <p:nvPr>
            <p:ph type="sldNum" sz="quarter" idx="11"/>
          </p:nvPr>
        </p:nvSpPr>
        <p:spPr/>
        <p:txBody>
          <a:bodyPr/>
          <a:lstStyle/>
          <a:p>
            <a:fld id="{64E5BE4B-2FBF-4174-9E62-85FAD1CB43A6}" type="slidenum">
              <a:rPr lang="en-US" smtClean="0"/>
              <a:pPr/>
              <a:t>31</a:t>
            </a:fld>
            <a:endParaRPr lang="en-US"/>
          </a:p>
        </p:txBody>
      </p:sp>
    </p:spTree>
    <p:extLst>
      <p:ext uri="{BB962C8B-B14F-4D97-AF65-F5344CB8AC3E}">
        <p14:creationId xmlns:p14="http://schemas.microsoft.com/office/powerpoint/2010/main" val="1683738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9BB285-FAC8-125A-8550-25560F66A4D9}"/>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BB461378-5E4E-EAA7-2DA6-FF06B0491E78}"/>
              </a:ext>
            </a:extLst>
          </p:cNvPr>
          <p:cNvSpPr>
            <a:spLocks noGrp="1"/>
          </p:cNvSpPr>
          <p:nvPr>
            <p:ph type="subTitle" idx="1"/>
          </p:nvPr>
        </p:nvSpPr>
        <p:spPr/>
        <p:txBody>
          <a:bodyPr/>
          <a:lstStyle/>
          <a:p>
            <a:r>
              <a:rPr lang="en-US" dirty="0"/>
              <a:t>Questions (k-fold, </a:t>
            </a:r>
            <a:r>
              <a:rPr lang="en-US"/>
              <a:t>performance metrics, hyperparameters)?</a:t>
            </a:r>
            <a:endParaRPr lang="en-US" dirty="0"/>
          </a:p>
        </p:txBody>
      </p:sp>
      <p:sp>
        <p:nvSpPr>
          <p:cNvPr id="4" name="Date Placeholder 3">
            <a:extLst>
              <a:ext uri="{FF2B5EF4-FFF2-40B4-BE49-F238E27FC236}">
                <a16:creationId xmlns:a16="http://schemas.microsoft.com/office/drawing/2014/main" id="{C7EF127C-DDD5-C7BF-D5E8-90D39B1EDE6E}"/>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5482DB0D-94F5-49EC-EC7E-FF3574D6EE60}"/>
              </a:ext>
            </a:extLst>
          </p:cNvPr>
          <p:cNvSpPr>
            <a:spLocks noGrp="1"/>
          </p:cNvSpPr>
          <p:nvPr>
            <p:ph type="sldNum" idx="12"/>
          </p:nvPr>
        </p:nvSpPr>
        <p:spPr/>
        <p:txBody>
          <a:bodyPr/>
          <a:lstStyle/>
          <a:p>
            <a:fld id="{64E5BE4B-2FBF-4174-9E62-85FAD1CB43A6}" type="slidenum">
              <a:rPr lang="en-US" smtClean="0"/>
              <a:pPr/>
              <a:t>32</a:t>
            </a:fld>
            <a:endParaRPr lang="en-US"/>
          </a:p>
        </p:txBody>
      </p:sp>
    </p:spTree>
    <p:extLst>
      <p:ext uri="{BB962C8B-B14F-4D97-AF65-F5344CB8AC3E}">
        <p14:creationId xmlns:p14="http://schemas.microsoft.com/office/powerpoint/2010/main" val="3952093329"/>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356</TotalTime>
  <Words>1710</Words>
  <Application>Microsoft Office PowerPoint</Application>
  <PresentationFormat>On-screen Show (16:9)</PresentationFormat>
  <Paragraphs>313</Paragraphs>
  <Slides>32</Slides>
  <Notes>12</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Arial Bold</vt:lpstr>
      <vt:lpstr>Calibri</vt:lpstr>
      <vt:lpstr>Cambria Math</vt:lpstr>
      <vt:lpstr>Play</vt:lpstr>
      <vt:lpstr>Tahoma</vt:lpstr>
      <vt:lpstr>Times New Roman</vt:lpstr>
      <vt:lpstr>Verdana</vt:lpstr>
      <vt:lpstr>Wingdings</vt:lpstr>
      <vt:lpstr>US Army 2023 AFC DEVCOM Logo</vt:lpstr>
      <vt:lpstr>Ai2c technician lesson 99: Modeling / NLP</vt:lpstr>
      <vt:lpstr>PowerPoint Presentation</vt:lpstr>
      <vt:lpstr>Classical Programming vs Machine Learning</vt:lpstr>
      <vt:lpstr>AI Applications</vt:lpstr>
      <vt:lpstr>Supervised Learning</vt:lpstr>
      <vt:lpstr>Machine Learning Tasks </vt:lpstr>
      <vt:lpstr>Machine Learning Tasks </vt:lpstr>
      <vt:lpstr>Modeling</vt:lpstr>
      <vt:lpstr>Model Creation and Model Use</vt:lpstr>
      <vt:lpstr>PowerPoint Presentation</vt:lpstr>
      <vt:lpstr>Decision Tree</vt:lpstr>
      <vt:lpstr>Tree Terminology</vt:lpstr>
      <vt:lpstr>Decision Boundaries</vt:lpstr>
      <vt:lpstr>Learning(?)</vt:lpstr>
      <vt:lpstr>Random Forests</vt:lpstr>
      <vt:lpstr>PowerPoint Presentation</vt:lpstr>
      <vt:lpstr>Can we partition a different way?</vt:lpstr>
      <vt:lpstr>Linear classifier</vt:lpstr>
      <vt:lpstr>Learning</vt:lpstr>
      <vt:lpstr>SVMs</vt:lpstr>
      <vt:lpstr>PowerPoint Presentation</vt:lpstr>
      <vt:lpstr>Text Classification</vt:lpstr>
      <vt:lpstr>Text Features</vt:lpstr>
      <vt:lpstr>Count Vectorizer</vt:lpstr>
      <vt:lpstr>Why Vectors??</vt:lpstr>
      <vt:lpstr>Where Am I Going With This?</vt:lpstr>
      <vt:lpstr>Modeling</vt:lpstr>
      <vt:lpstr>Predicting Unseen Data</vt:lpstr>
      <vt:lpstr>Other Options</vt:lpstr>
      <vt:lpstr>PowerPoint Presentation</vt:lpstr>
      <vt:lpstr>A Note On SkLearn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Ethan Shafer</cp:lastModifiedBy>
  <cp:revision>195</cp:revision>
  <dcterms:modified xsi:type="dcterms:W3CDTF">2026-02-19T20:04:00Z</dcterms:modified>
</cp:coreProperties>
</file>