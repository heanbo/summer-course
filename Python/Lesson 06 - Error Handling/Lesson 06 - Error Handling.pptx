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9"/>
  </p:notesMasterIdLst>
  <p:sldIdLst>
    <p:sldId id="256" r:id="rId2"/>
    <p:sldId id="486" r:id="rId3"/>
    <p:sldId id="496" r:id="rId4"/>
    <p:sldId id="497" r:id="rId5"/>
    <p:sldId id="498" r:id="rId6"/>
    <p:sldId id="499" r:id="rId7"/>
    <p:sldId id="272" r:id="rId8"/>
    <p:sldId id="500" r:id="rId9"/>
    <p:sldId id="273" r:id="rId10"/>
    <p:sldId id="274" r:id="rId11"/>
    <p:sldId id="275" r:id="rId12"/>
    <p:sldId id="276" r:id="rId13"/>
    <p:sldId id="277" r:id="rId14"/>
    <p:sldId id="494" r:id="rId15"/>
    <p:sldId id="278" r:id="rId16"/>
    <p:sldId id="279" r:id="rId17"/>
    <p:sldId id="280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9063A8-BC75-44AB-A561-BE0A82F3F6A3}">
  <a:tblStyle styleId="{5B9063A8-BC75-44AB-A561-BE0A82F3F6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638" autoAdjust="0"/>
  </p:normalViewPr>
  <p:slideViewPr>
    <p:cSldViewPr snapToGrid="0">
      <p:cViewPr varScale="1">
        <p:scale>
          <a:sx n="129" d="100"/>
          <a:sy n="129" d="100"/>
        </p:scale>
        <p:origin x="110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4719-007A-9D20-6D43-3A4FCAAD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2F23C-3B6C-06AD-FDEF-F55DEF812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4E9A6-CB51-3C7D-DF18-0DDEC1AC4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C7A3-AEE3-A283-A203-B801AB559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14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E6376FA9-B5F0-B037-8046-B6615FDA6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DD419411-177D-3D00-B750-FE80CE812B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78A8749A-07B8-1837-285F-24B38AB73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8703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043152F8-3649-B807-263D-B391F303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D1E0B138-BDAD-22BA-9A52-5E4F9D169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CF3F03FE-85F3-88C7-4359-C593C7C6F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688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A42F07E-2DF9-30B8-1B59-4FE150015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B37E34B5-94DB-CADE-0CC8-E01A9ACEA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DA6DEF0B-A165-966F-E676-253A68C79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0974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74B698B1-BDFD-3AEB-C900-2EF1F8092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5A7C1F7B-8E67-7540-B4E0-759A8BBC5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6538A9C4-2FF2-8D63-0C42-F54643121E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1977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A12850EA-6959-E61A-77A1-1B802E9AF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00249F60-15B7-2FF2-B43C-EDA3D515B1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218ADE94-6AB2-2A6F-2A0E-928FE2E56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368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FCCCB94E-4DAC-39A1-41C4-98623102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2:notes">
            <a:extLst>
              <a:ext uri="{FF2B5EF4-FFF2-40B4-BE49-F238E27FC236}">
                <a16:creationId xmlns:a16="http://schemas.microsoft.com/office/drawing/2014/main" id="{8251AABD-B007-4AD5-A972-EE5B4CA90F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22:notes">
            <a:extLst>
              <a:ext uri="{FF2B5EF4-FFF2-40B4-BE49-F238E27FC236}">
                <a16:creationId xmlns:a16="http://schemas.microsoft.com/office/drawing/2014/main" id="{CEF09820-4800-5082-DB50-0BC96C2B2D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7583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rgbClr val="221F2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pic>
        <p:nvPicPr>
          <p:cNvPr id="31" name="Google Shape;31;p3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34" name="Google Shape;34;p3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35;p3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7" name="Google Shape;37;p3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White">
  <p:cSld name="Title Slide - White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4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5668" y="78731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57" name="Google Shape;57;p4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" name="Google Shape;58;p4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" name="Google Shape;59;p4"/>
            <p:cNvCxnSpPr/>
            <p:nvPr/>
          </p:nvCxnSpPr>
          <p:spPr>
            <a:xfrm>
              <a:off x="4272796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" name="Google Shape;60;p4"/>
          <p:cNvSpPr txBox="1"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subTitle" idx="14"/>
          </p:nvPr>
        </p:nvSpPr>
        <p:spPr>
          <a:xfrm>
            <a:off x="685800" y="2838549"/>
            <a:ext cx="267414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Image">
  <p:cSld name="Title Slide - Imag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5" descr="U.S. Arm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78" name="Google Shape;78;p5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" name="Google Shape;79;p5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" name="Google Shape;80;p5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1" name="Google Shape;81;p5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2"/>
          </p:nvPr>
        </p:nvSpPr>
        <p:spPr>
          <a:xfrm>
            <a:off x="3278124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3"/>
          </p:nvPr>
        </p:nvSpPr>
        <p:spPr>
          <a:xfrm>
            <a:off x="6144767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body" idx="1"/>
          </p:nvPr>
        </p:nvSpPr>
        <p:spPr>
          <a:xfrm>
            <a:off x="41148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body" idx="2"/>
          </p:nvPr>
        </p:nvSpPr>
        <p:spPr>
          <a:xfrm>
            <a:off x="256032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3"/>
          </p:nvPr>
        </p:nvSpPr>
        <p:spPr>
          <a:xfrm>
            <a:off x="470916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4"/>
          </p:nvPr>
        </p:nvSpPr>
        <p:spPr>
          <a:xfrm>
            <a:off x="685800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cons">
  <p:cSld name="4 Icon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0"/>
          <p:cNvSpPr>
            <a:spLocks noGrp="1"/>
          </p:cNvSpPr>
          <p:nvPr>
            <p:ph type="pic" idx="2"/>
          </p:nvPr>
        </p:nvSpPr>
        <p:spPr>
          <a:xfrm>
            <a:off x="411480" y="1200150"/>
            <a:ext cx="418338" cy="416624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0"/>
          <p:cNvSpPr txBox="1">
            <a:spLocks noGrp="1"/>
          </p:cNvSpPr>
          <p:nvPr>
            <p:ph type="body" idx="1"/>
          </p:nvPr>
        </p:nvSpPr>
        <p:spPr>
          <a:xfrm>
            <a:off x="41148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7" name="Google Shape;117;p10"/>
          <p:cNvSpPr>
            <a:spLocks noGrp="1"/>
          </p:cNvSpPr>
          <p:nvPr>
            <p:ph type="pic" idx="3"/>
          </p:nvPr>
        </p:nvSpPr>
        <p:spPr>
          <a:xfrm>
            <a:off x="256032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0"/>
          <p:cNvSpPr txBox="1">
            <a:spLocks noGrp="1"/>
          </p:cNvSpPr>
          <p:nvPr>
            <p:ph type="body" idx="4"/>
          </p:nvPr>
        </p:nvSpPr>
        <p:spPr>
          <a:xfrm>
            <a:off x="256032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9" name="Google Shape;119;p10"/>
          <p:cNvSpPr>
            <a:spLocks noGrp="1"/>
          </p:cNvSpPr>
          <p:nvPr>
            <p:ph type="pic" idx="5"/>
          </p:nvPr>
        </p:nvSpPr>
        <p:spPr>
          <a:xfrm>
            <a:off x="470916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0"/>
          <p:cNvSpPr txBox="1">
            <a:spLocks noGrp="1"/>
          </p:cNvSpPr>
          <p:nvPr>
            <p:ph type="body" idx="6"/>
          </p:nvPr>
        </p:nvSpPr>
        <p:spPr>
          <a:xfrm>
            <a:off x="470916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1" name="Google Shape;121;p10"/>
          <p:cNvSpPr>
            <a:spLocks noGrp="1"/>
          </p:cNvSpPr>
          <p:nvPr>
            <p:ph type="pic" idx="7"/>
          </p:nvPr>
        </p:nvSpPr>
        <p:spPr>
          <a:xfrm>
            <a:off x="685800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"/>
          <p:cNvSpPr txBox="1">
            <a:spLocks noGrp="1"/>
          </p:cNvSpPr>
          <p:nvPr>
            <p:ph type="body" idx="8"/>
          </p:nvPr>
        </p:nvSpPr>
        <p:spPr>
          <a:xfrm>
            <a:off x="685800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Numbers">
  <p:cSld name="4 Numbers">
    <p:bg>
      <p:bgPr>
        <a:solidFill>
          <a:srgbClr val="221F2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7" name="Google Shape;127;p11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8" name="Google Shape;128;p11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0" name="Google Shape;130;p11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1" name="Google Shape;131;p11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2" name="Google Shape;132;p11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3" name="Google Shape;133;p11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4" name="Google Shape;134;p11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6" name="Google Shape;136;p11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7" name="Google Shape;137;p11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43" name="Google Shape;14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Numbers - White">
  <p:cSld name="4 Numbers - Whit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6" name="Google Shape;146;p12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7" name="Google Shape;147;p12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49" name="Google Shape;149;p12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0" name="Google Shape;150;p12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2" name="Google Shape;152;p12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3" name="Google Shape;153;p12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5" name="Google Shape;155;p12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6" name="Google Shape;156;p12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 Numbers">
  <p:cSld name="8 Numbers">
    <p:bg>
      <p:bgPr>
        <a:solidFill>
          <a:srgbClr val="221F2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13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3" name="Google Shape;163;p13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5" name="Google Shape;165;p13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6" name="Google Shape;166;p13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8" name="Google Shape;168;p13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9" name="Google Shape;169;p13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1" name="Google Shape;171;p13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2" name="Google Shape;172;p13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4" name="Google Shape;174;p13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5" name="Google Shape;175;p13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7" name="Google Shape;177;p13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8" name="Google Shape;178;p13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0" name="Google Shape;180;p13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1" name="Google Shape;181;p13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3" name="Google Shape;183;p13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4" name="Google Shape;184;p13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90" name="Google Shape;1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Numbers - White">
  <p:cSld name="8 Numbers - 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3" name="Google Shape;193;p14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4" name="Google Shape;194;p14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6" name="Google Shape;196;p14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7" name="Google Shape;197;p14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9" name="Google Shape;199;p14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0" name="Google Shape;200;p14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2" name="Google Shape;202;p14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3" name="Google Shape;203;p14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5" name="Google Shape;205;p14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6" name="Google Shape;206;p14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8" name="Google Shape;208;p14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9" name="Google Shape;209;p14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1" name="Google Shape;211;p14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2" name="Google Shape;212;p14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4" name="Google Shape;214;p14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5" name="Google Shape;215;p14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21" name="Google Shape;221;p1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1">
  <p:cSld name="Content and Image 0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1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2">
  <p:cSld name="Content and Image 0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>
            <a:spLocks noGrp="1"/>
          </p:cNvSpPr>
          <p:nvPr>
            <p:ph type="pic" idx="2"/>
          </p:nvPr>
        </p:nvSpPr>
        <p:spPr>
          <a:xfrm>
            <a:off x="411479" y="308610"/>
            <a:ext cx="8321040" cy="233172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33" name="Google Shape;233;p17"/>
          <p:cNvSpPr txBox="1">
            <a:spLocks noGrp="1"/>
          </p:cNvSpPr>
          <p:nvPr>
            <p:ph type="title"/>
          </p:nvPr>
        </p:nvSpPr>
        <p:spPr>
          <a:xfrm>
            <a:off x="411480" y="284607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body" idx="1"/>
          </p:nvPr>
        </p:nvSpPr>
        <p:spPr>
          <a:xfrm>
            <a:off x="4709159" y="2846070"/>
            <a:ext cx="40233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2 Images">
  <p:cSld name="Content and 2 Images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8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0" name="Google Shape;240;p18"/>
          <p:cNvSpPr txBox="1">
            <a:spLocks noGrp="1"/>
          </p:cNvSpPr>
          <p:nvPr>
            <p:ph type="body" idx="1"/>
          </p:nvPr>
        </p:nvSpPr>
        <p:spPr>
          <a:xfrm>
            <a:off x="411478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1" name="Google Shape;241;p18"/>
          <p:cNvSpPr txBox="1">
            <a:spLocks noGrp="1"/>
          </p:cNvSpPr>
          <p:nvPr>
            <p:ph type="body" idx="3"/>
          </p:nvPr>
        </p:nvSpPr>
        <p:spPr>
          <a:xfrm>
            <a:off x="41147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2" name="Google Shape;242;p18"/>
          <p:cNvSpPr>
            <a:spLocks noGrp="1"/>
          </p:cNvSpPr>
          <p:nvPr>
            <p:ph type="pic" idx="4"/>
          </p:nvPr>
        </p:nvSpPr>
        <p:spPr>
          <a:xfrm>
            <a:off x="470915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3" name="Google Shape;243;p18"/>
          <p:cNvSpPr txBox="1">
            <a:spLocks noGrp="1"/>
          </p:cNvSpPr>
          <p:nvPr>
            <p:ph type="body" idx="5"/>
          </p:nvPr>
        </p:nvSpPr>
        <p:spPr>
          <a:xfrm>
            <a:off x="4709159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body" idx="6"/>
          </p:nvPr>
        </p:nvSpPr>
        <p:spPr>
          <a:xfrm>
            <a:off x="470915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3 Images">
  <p:cSld name="Content and 3 Images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9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0" name="Google Shape;250;p19"/>
          <p:cNvSpPr txBox="1">
            <a:spLocks noGrp="1"/>
          </p:cNvSpPr>
          <p:nvPr>
            <p:ph type="body" idx="1"/>
          </p:nvPr>
        </p:nvSpPr>
        <p:spPr>
          <a:xfrm>
            <a:off x="411478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body" idx="3"/>
          </p:nvPr>
        </p:nvSpPr>
        <p:spPr>
          <a:xfrm>
            <a:off x="411479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2" name="Google Shape;252;p19"/>
          <p:cNvSpPr>
            <a:spLocks noGrp="1"/>
          </p:cNvSpPr>
          <p:nvPr>
            <p:ph type="pic" idx="4"/>
          </p:nvPr>
        </p:nvSpPr>
        <p:spPr>
          <a:xfrm>
            <a:off x="3278123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3" name="Google Shape;253;p19"/>
          <p:cNvSpPr txBox="1">
            <a:spLocks noGrp="1"/>
          </p:cNvSpPr>
          <p:nvPr>
            <p:ph type="body" idx="5"/>
          </p:nvPr>
        </p:nvSpPr>
        <p:spPr>
          <a:xfrm>
            <a:off x="3278123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4" name="Google Shape;254;p19"/>
          <p:cNvSpPr txBox="1">
            <a:spLocks noGrp="1"/>
          </p:cNvSpPr>
          <p:nvPr>
            <p:ph type="body" idx="6"/>
          </p:nvPr>
        </p:nvSpPr>
        <p:spPr>
          <a:xfrm>
            <a:off x="3278123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5" name="Google Shape;255;p19"/>
          <p:cNvSpPr>
            <a:spLocks noGrp="1"/>
          </p:cNvSpPr>
          <p:nvPr>
            <p:ph type="pic" idx="7"/>
          </p:nvPr>
        </p:nvSpPr>
        <p:spPr>
          <a:xfrm>
            <a:off x="6144767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6" name="Google Shape;256;p19"/>
          <p:cNvSpPr txBox="1">
            <a:spLocks noGrp="1"/>
          </p:cNvSpPr>
          <p:nvPr>
            <p:ph type="body" idx="8"/>
          </p:nvPr>
        </p:nvSpPr>
        <p:spPr>
          <a:xfrm>
            <a:off x="6144767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7" name="Google Shape;257;p19"/>
          <p:cNvSpPr txBox="1">
            <a:spLocks noGrp="1"/>
          </p:cNvSpPr>
          <p:nvPr>
            <p:ph type="body" idx="9"/>
          </p:nvPr>
        </p:nvSpPr>
        <p:spPr>
          <a:xfrm>
            <a:off x="6144767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8" name="Google Shape;258;p1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4 Images">
  <p:cSld name="Content and 4 Images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>
            <a:spLocks noGrp="1"/>
          </p:cNvSpPr>
          <p:nvPr>
            <p:ph type="pic" idx="2"/>
          </p:nvPr>
        </p:nvSpPr>
        <p:spPr>
          <a:xfrm>
            <a:off x="4114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3" name="Google Shape;263;p20"/>
          <p:cNvSpPr txBox="1">
            <a:spLocks noGrp="1"/>
          </p:cNvSpPr>
          <p:nvPr>
            <p:ph type="body" idx="1"/>
          </p:nvPr>
        </p:nvSpPr>
        <p:spPr>
          <a:xfrm>
            <a:off x="411480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body" idx="3"/>
          </p:nvPr>
        </p:nvSpPr>
        <p:spPr>
          <a:xfrm>
            <a:off x="4114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5" name="Google Shape;265;p20"/>
          <p:cNvSpPr>
            <a:spLocks noGrp="1"/>
          </p:cNvSpPr>
          <p:nvPr>
            <p:ph type="pic" idx="4"/>
          </p:nvPr>
        </p:nvSpPr>
        <p:spPr>
          <a:xfrm>
            <a:off x="2571604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6" name="Google Shape;266;p20"/>
          <p:cNvSpPr txBox="1">
            <a:spLocks noGrp="1"/>
          </p:cNvSpPr>
          <p:nvPr>
            <p:ph type="body" idx="5"/>
          </p:nvPr>
        </p:nvSpPr>
        <p:spPr>
          <a:xfrm>
            <a:off x="2571604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7" name="Google Shape;267;p20"/>
          <p:cNvSpPr txBox="1">
            <a:spLocks noGrp="1"/>
          </p:cNvSpPr>
          <p:nvPr>
            <p:ph type="body" idx="6"/>
          </p:nvPr>
        </p:nvSpPr>
        <p:spPr>
          <a:xfrm>
            <a:off x="2571604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8" name="Google Shape;268;p20"/>
          <p:cNvSpPr>
            <a:spLocks noGrp="1"/>
          </p:cNvSpPr>
          <p:nvPr>
            <p:ph type="pic" idx="7"/>
          </p:nvPr>
        </p:nvSpPr>
        <p:spPr>
          <a:xfrm>
            <a:off x="46978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9" name="Google Shape;269;p20"/>
          <p:cNvSpPr txBox="1">
            <a:spLocks noGrp="1"/>
          </p:cNvSpPr>
          <p:nvPr>
            <p:ph type="body" idx="8"/>
          </p:nvPr>
        </p:nvSpPr>
        <p:spPr>
          <a:xfrm>
            <a:off x="469788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9"/>
          </p:nvPr>
        </p:nvSpPr>
        <p:spPr>
          <a:xfrm>
            <a:off x="46978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1" name="Google Shape;271;p20"/>
          <p:cNvSpPr>
            <a:spLocks noGrp="1"/>
          </p:cNvSpPr>
          <p:nvPr>
            <p:ph type="pic" idx="13"/>
          </p:nvPr>
        </p:nvSpPr>
        <p:spPr>
          <a:xfrm>
            <a:off x="685800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72" name="Google Shape;272;p20"/>
          <p:cNvSpPr txBox="1">
            <a:spLocks noGrp="1"/>
          </p:cNvSpPr>
          <p:nvPr>
            <p:ph type="body" idx="14"/>
          </p:nvPr>
        </p:nvSpPr>
        <p:spPr>
          <a:xfrm>
            <a:off x="685800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3" name="Google Shape;273;p20"/>
          <p:cNvSpPr txBox="1">
            <a:spLocks noGrp="1"/>
          </p:cNvSpPr>
          <p:nvPr>
            <p:ph type="body" idx="15"/>
          </p:nvPr>
        </p:nvSpPr>
        <p:spPr>
          <a:xfrm>
            <a:off x="685800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4" name="Google Shape;274;p2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bg>
      <p:bgPr>
        <a:solidFill>
          <a:srgbClr val="221F20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79" name="Google Shape;279;p2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3" name="Google Shape;28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Image">
  <p:cSld name="Section Header - Image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565557"/>
          </a:solidFill>
          <a:ln>
            <a:noFill/>
          </a:ln>
        </p:spPr>
      </p:sp>
      <p:sp>
        <p:nvSpPr>
          <p:cNvPr id="286" name="Google Shape;286;p2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1">
  <p:cSld name="Section Header - White 01">
    <p:bg>
      <p:bgPr>
        <a:solidFill>
          <a:schemeClr val="lt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2">
  <p:cSld name="Section Header - White 02"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>
            <a:spLocks noGrp="1"/>
          </p:cNvSpPr>
          <p:nvPr>
            <p:ph type="title"/>
          </p:nvPr>
        </p:nvSpPr>
        <p:spPr>
          <a:xfrm>
            <a:off x="411481" y="308610"/>
            <a:ext cx="402399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4"/>
          <p:cNvSpPr txBox="1">
            <a:spLocks noGrp="1"/>
          </p:cNvSpPr>
          <p:nvPr>
            <p:ph type="body" idx="1"/>
          </p:nvPr>
        </p:nvSpPr>
        <p:spPr>
          <a:xfrm>
            <a:off x="411480" y="1200150"/>
            <a:ext cx="509635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9" name="Google Shape;299;p2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- Half Image">
  <p:cSld name="Section Header - Half Image">
    <p:bg>
      <p:bgPr>
        <a:solidFill>
          <a:srgbClr val="221F20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25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25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07" name="Google Shape;307;p2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09" name="Google Shape;30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Half Image - White">
  <p:cSld name="Section Header - Half Image - White">
    <p:bg>
      <p:bgPr>
        <a:solidFill>
          <a:schemeClr val="lt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13" name="Google Shape;313;p2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14" name="Google Shape;314;p2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- Black">
  <p:cSld name="Title Only - Black">
    <p:bg>
      <p:bgPr>
        <a:solidFill>
          <a:srgbClr val="221F20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26" name="Google Shape;326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2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- Black">
  <p:cSld name="Blank - Black">
    <p:bg>
      <p:bgPr>
        <a:solidFill>
          <a:srgbClr val="221F20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35" name="Google Shape;33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bg>
      <p:bgPr>
        <a:solidFill>
          <a:srgbClr val="221F20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1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FFCC0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/>
          </a:p>
        </p:txBody>
      </p:sp>
      <p:sp>
        <p:nvSpPr>
          <p:cNvPr id="338" name="Google Shape;338;p31"/>
          <p:cNvSpPr txBox="1">
            <a:spLocks noGrp="1"/>
          </p:cNvSpPr>
          <p:nvPr>
            <p:ph type="body" idx="1"/>
          </p:nvPr>
        </p:nvSpPr>
        <p:spPr>
          <a:xfrm>
            <a:off x="411164" y="3614561"/>
            <a:ext cx="4024312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339" name="Google Shape;339;p3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1" name="Google Shape;34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>
  <p:cSld name="Logo">
    <p:bg>
      <p:bgPr>
        <a:solidFill>
          <a:srgbClr val="221F20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2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20265" y="1645920"/>
            <a:ext cx="4903470" cy="185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6" name="Google Shape;34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50963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971AFA9C-17DA-4726-B9E3-ADECF7729AF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1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5">
            <a:alphaModFix/>
          </a:blip>
          <a:srcRect l="26274" t="67"/>
          <a:stretch/>
        </p:blipFill>
        <p:spPr>
          <a:xfrm>
            <a:off x="7821386" y="308611"/>
            <a:ext cx="911133" cy="35827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9562" algn="l" rtl="0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1" descr="A picture containing icon&#10;&#10;AI-generated content may be incorrect.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7444515" y="318065"/>
            <a:ext cx="376871" cy="3582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2" r:id="rId32"/>
    <p:sldLayoutId id="2147483685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5" pos="1018">
          <p15:clr>
            <a:srgbClr val="A4A3A4"/>
          </p15:clr>
        </p15:guide>
        <p15:guide id="6" pos="1248">
          <p15:clr>
            <a:srgbClr val="A4A3A4"/>
          </p15:clr>
        </p15:guide>
        <p15:guide id="7" pos="2148">
          <p15:clr>
            <a:srgbClr val="A4A3A4"/>
          </p15:clr>
        </p15:guide>
        <p15:guide id="8" pos="3052">
          <p15:clr>
            <a:srgbClr val="A4A3A4"/>
          </p15:clr>
        </p15:guide>
        <p15:guide id="9" pos="3954">
          <p15:clr>
            <a:srgbClr val="A4A3A4"/>
          </p15:clr>
        </p15:guide>
        <p15:guide id="10" pos="3724">
          <p15:clr>
            <a:srgbClr val="A4A3A4"/>
          </p15:clr>
        </p15:guide>
        <p15:guide id="11" pos="4858">
          <p15:clr>
            <a:srgbClr val="A4A3A4"/>
          </p15:clr>
        </p15:guide>
        <p15:guide id="12" pos="5784">
          <p15:clr>
            <a:srgbClr val="A4A3A4"/>
          </p15:clr>
        </p15:guide>
        <p15:guide id="13" pos="6660">
          <p15:clr>
            <a:srgbClr val="A4A3A4"/>
          </p15:clr>
        </p15:guide>
        <p15:guide id="14" pos="1920">
          <p15:clr>
            <a:srgbClr val="A4A3A4"/>
          </p15:clr>
        </p15:guide>
        <p15:guide id="15" pos="2822">
          <p15:clr>
            <a:srgbClr val="A4A3A4"/>
          </p15:clr>
        </p15:guide>
        <p15:guide id="16" pos="4626">
          <p15:clr>
            <a:srgbClr val="A4A3A4"/>
          </p15:clr>
        </p15:guide>
        <p15:guide id="17" pos="5530">
          <p15:clr>
            <a:srgbClr val="A4A3A4"/>
          </p15:clr>
        </p15:guide>
        <p15:guide id="18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70E2C-C69B-CF2A-4AFC-23A14A6A0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D8E2E-8543-A688-763B-E884BB31846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0D199-3936-A1F3-B0EB-089330973D5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6C0D10-A9D9-A711-D381-3D00C47E0FB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D0B74B-73C2-B2A1-57AF-63998F4A4F49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903D50-9478-61DD-97EF-868FFEC1A203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195E4-F595-93CB-A46C-7430AD0680AD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959FF5-1EE2-7B58-60C8-30418EF2E627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2EDCAF-FCD3-27B6-7A7D-482980E30A32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30A370C-AC35-54DB-180E-CF84A6DE97E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7" name="Google Shape;377;p39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>
                <a:solidFill>
                  <a:schemeClr val="bg1"/>
                </a:solidFill>
              </a:rPr>
              <a:t>Error Handling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375DF464-1047-E0FE-E481-3664C51B5C5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1E60D9-3A05-7A61-72B6-7F9C21F9F66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87CF-5E92-D709-ADC1-CD5AB2C3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597834-3CB9-D2D2-07EE-7AF72725D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5" y="870725"/>
            <a:ext cx="9144000" cy="38779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EBB9CF-99E0-34C2-13BD-CE711791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Course Schedule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366FE1-DAFA-E7EC-025F-E1D1E8686851}"/>
              </a:ext>
            </a:extLst>
          </p:cNvPr>
          <p:cNvSpPr/>
          <p:nvPr/>
        </p:nvSpPr>
        <p:spPr>
          <a:xfrm>
            <a:off x="8295" y="2696096"/>
            <a:ext cx="4713249" cy="2272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47940-905D-681C-419F-799A93057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18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31C143A-1CF1-E401-0CB5-D7BA2231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55422540-3734-61F7-53F7-602380429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8426" y="212586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934622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105E84A-1205-0701-E7F9-9675FAC2D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CEB7E12F-E2C9-500B-63E1-77AA22B0D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4426" y="2356319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What did we do last lesson?</a:t>
            </a:r>
          </a:p>
        </p:txBody>
      </p:sp>
    </p:spTree>
    <p:extLst>
      <p:ext uri="{BB962C8B-B14F-4D97-AF65-F5344CB8AC3E}">
        <p14:creationId xmlns:p14="http://schemas.microsoft.com/office/powerpoint/2010/main" val="180858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69CB039-FD37-0C39-F21F-C7BACD8C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9B8D174E-8CC3-13F6-9772-7F086E366F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440" y="42344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Pre Class Problem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392748-B27B-1B59-3E8A-2EF44BD57245}"/>
              </a:ext>
            </a:extLst>
          </p:cNvPr>
          <p:cNvSpPr txBox="1"/>
          <p:nvPr/>
        </p:nvSpPr>
        <p:spPr>
          <a:xfrm>
            <a:off x="195889" y="1247815"/>
            <a:ext cx="83905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2400" dirty="0">
                <a:solidFill>
                  <a:schemeClr val="bg1"/>
                </a:solidFill>
              </a:rPr>
              <a:t>Write a Python Script that writes 100 random integer values (from 1 to 1000) to another file (.txt) .  **Only do this once**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2400" dirty="0">
              <a:solidFill>
                <a:schemeClr val="bg1"/>
              </a:solidFill>
            </a:endParaRP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2400" dirty="0">
              <a:solidFill>
                <a:schemeClr val="bg1"/>
              </a:solidFill>
            </a:endParaRP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2400" dirty="0">
                <a:solidFill>
                  <a:schemeClr val="bg1"/>
                </a:solidFill>
              </a:rPr>
              <a:t>Write another Python Script that opens that file, displays the highest number in the list, the lowest number in the list, and the average of that list.</a:t>
            </a:r>
          </a:p>
        </p:txBody>
      </p:sp>
    </p:spTree>
    <p:extLst>
      <p:ext uri="{BB962C8B-B14F-4D97-AF65-F5344CB8AC3E}">
        <p14:creationId xmlns:p14="http://schemas.microsoft.com/office/powerpoint/2010/main" val="4226055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E9656FE8-FD50-A356-0EE5-BBF107562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11CF11BC-40F7-7823-BE15-7648E4FEB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440" y="42344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Pre Class Problem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77DEC7-1E2D-6138-2E95-98E16C392A91}"/>
              </a:ext>
            </a:extLst>
          </p:cNvPr>
          <p:cNvSpPr txBox="1"/>
          <p:nvPr/>
        </p:nvSpPr>
        <p:spPr>
          <a:xfrm>
            <a:off x="218192" y="1265797"/>
            <a:ext cx="83905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>
              <a:buSzPts val="1800"/>
            </a:pPr>
            <a:r>
              <a:rPr lang="en-US" sz="2400" dirty="0">
                <a:solidFill>
                  <a:schemeClr val="bg1"/>
                </a:solidFill>
              </a:rPr>
              <a:t>cd into the Lesson 04 folder</a:t>
            </a:r>
          </a:p>
          <a:p>
            <a:pPr marL="114300" lvl="0">
              <a:buSzPts val="1800"/>
            </a:pPr>
            <a:endParaRPr lang="en-US" sz="2400" dirty="0">
              <a:solidFill>
                <a:schemeClr val="bg1"/>
              </a:solidFill>
            </a:endParaRPr>
          </a:p>
          <a:p>
            <a:pPr marL="114300" lvl="0">
              <a:buSzPts val="1800"/>
            </a:pPr>
            <a:r>
              <a:rPr lang="en-US" sz="2400" dirty="0">
                <a:solidFill>
                  <a:schemeClr val="bg1"/>
                </a:solidFill>
              </a:rPr>
              <a:t>Create a virtual environment there.  Activate the virtual environment and install all of the dependencies listed in requirements.txt.  After you do this, add this folder to your .</a:t>
            </a:r>
            <a:r>
              <a:rPr lang="en-US" sz="2400" dirty="0" err="1">
                <a:solidFill>
                  <a:schemeClr val="bg1"/>
                </a:solidFill>
              </a:rPr>
              <a:t>gitignore</a:t>
            </a:r>
            <a:r>
              <a:rPr lang="en-US" sz="2400" dirty="0">
                <a:solidFill>
                  <a:schemeClr val="bg1"/>
                </a:solidFill>
              </a:rPr>
              <a:t> within your repo.</a:t>
            </a:r>
          </a:p>
        </p:txBody>
      </p:sp>
    </p:spTree>
    <p:extLst>
      <p:ext uri="{BB962C8B-B14F-4D97-AF65-F5344CB8AC3E}">
        <p14:creationId xmlns:p14="http://schemas.microsoft.com/office/powerpoint/2010/main" val="2152760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PYTHON ERRORS</a:t>
            </a:r>
          </a:p>
        </p:txBody>
      </p:sp>
      <p:sp>
        <p:nvSpPr>
          <p:cNvPr id="472" name="Google Shape;472;p55"/>
          <p:cNvSpPr txBox="1"/>
          <p:nvPr/>
        </p:nvSpPr>
        <p:spPr>
          <a:xfrm>
            <a:off x="616150" y="1580550"/>
            <a:ext cx="7647000" cy="3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b="0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Errors are issues in a program that prevent it from running as expected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endParaRPr sz="1800" b="0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b="0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They help programmers find and fix mistakes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endParaRPr sz="1800" b="0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b="0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learn errors?</a:t>
            </a:r>
            <a:endParaRPr sz="1800" b="0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b="0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Errors help you debug</a:t>
            </a:r>
            <a:endParaRPr sz="1800" b="0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b="0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Knowing common errors makes writing and fixing code faster</a:t>
            </a:r>
            <a:endParaRPr sz="1800" b="0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b="0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Good programs handle errors gracefully</a:t>
            </a:r>
            <a:endParaRPr sz="1800" b="0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534B5E92-E257-7AC5-BBA4-4E361AD2A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653252-A59F-3C11-2036-F09C82DD1E18}"/>
              </a:ext>
            </a:extLst>
          </p:cNvPr>
          <p:cNvSpPr/>
          <p:nvPr/>
        </p:nvSpPr>
        <p:spPr>
          <a:xfrm>
            <a:off x="750849" y="1063083"/>
            <a:ext cx="7582829" cy="38731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7C60BFF9-4AD2-941C-C5A4-9EFF523F72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PYTHON ERRORS</a:t>
            </a:r>
          </a:p>
        </p:txBody>
      </p:sp>
      <p:pic>
        <p:nvPicPr>
          <p:cNvPr id="2" name="Picture 1" descr="junior python что надо знать">
            <a:extLst>
              <a:ext uri="{FF2B5EF4-FFF2-40B4-BE49-F238E27FC236}">
                <a16:creationId xmlns:a16="http://schemas.microsoft.com/office/drawing/2014/main" id="{E5A6A1FC-791B-B0DB-C874-D01C938C2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1180403"/>
            <a:ext cx="666750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24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EXERCISE - PYTHON ERRORS</a:t>
            </a:r>
          </a:p>
        </p:txBody>
      </p:sp>
      <p:sp>
        <p:nvSpPr>
          <p:cNvPr id="478" name="Google Shape;478;p56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/>
            <a:r>
              <a:rPr lang="en-US"/>
              <a:t>5 minutes</a:t>
            </a:r>
          </a:p>
          <a:p>
            <a:pPr lvl="0"/>
            <a:endParaRPr lang="en-US"/>
          </a:p>
          <a:p>
            <a:pPr lvl="0"/>
            <a:r>
              <a:rPr lang="en-US"/>
              <a:t>Groups of 2-3</a:t>
            </a:r>
          </a:p>
          <a:p>
            <a:pPr lvl="0"/>
            <a:r>
              <a:rPr lang="en-US"/>
              <a:t>Research each python error and demonstrate an example case of when this error will be raised</a:t>
            </a:r>
          </a:p>
          <a:p>
            <a:pPr lvl="0"/>
            <a:r>
              <a:rPr lang="en-US"/>
              <a:t>SyntaxError</a:t>
            </a:r>
          </a:p>
          <a:p>
            <a:pPr lvl="0"/>
            <a:r>
              <a:rPr lang="en-US"/>
              <a:t>IndentationError</a:t>
            </a:r>
          </a:p>
          <a:p>
            <a:pPr lvl="0"/>
            <a:r>
              <a:rPr lang="en-US"/>
              <a:t>TypeError </a:t>
            </a:r>
          </a:p>
          <a:p>
            <a:pPr lvl="0"/>
            <a:r>
              <a:rPr lang="en-US"/>
              <a:t>ValueError</a:t>
            </a:r>
          </a:p>
          <a:p>
            <a:pPr lvl="0"/>
            <a:r>
              <a:rPr lang="en-US"/>
              <a:t>ZeroDivisionError</a:t>
            </a:r>
          </a:p>
          <a:p>
            <a:pPr lvl="0"/>
            <a:r>
              <a:rPr lang="en-US"/>
              <a:t>IndexError</a:t>
            </a:r>
          </a:p>
          <a:p>
            <a:pPr lvl="0"/>
            <a:r>
              <a:rPr lang="en-US"/>
              <a:t>KeyError</a:t>
            </a:r>
          </a:p>
          <a:p>
            <a:pPr lvl="0"/>
            <a:r>
              <a:rPr lang="en-US"/>
              <a:t>AttributeError</a:t>
            </a:r>
          </a:p>
          <a:p>
            <a:pPr lvl="0"/>
            <a:r>
              <a:rPr lang="en-US"/>
              <a:t>FileNotFoundError</a:t>
            </a:r>
          </a:p>
          <a:p>
            <a:pPr lvl="0"/>
            <a:r>
              <a:rPr lang="en-US"/>
              <a:t>ImportError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3" name="Google Shape;483;p57"/>
          <p:cNvGraphicFramePr/>
          <p:nvPr/>
        </p:nvGraphicFramePr>
        <p:xfrm>
          <a:off x="107150" y="712766"/>
          <a:ext cx="8991600" cy="3870630"/>
        </p:xfrm>
        <a:graphic>
          <a:graphicData uri="http://schemas.openxmlformats.org/drawingml/2006/table">
            <a:tbl>
              <a:tblPr>
                <a:noFill/>
                <a:tableStyleId>{5B9063A8-BC75-44AB-A561-BE0A82F3F6A3}</a:tableStyleId>
              </a:tblPr>
              <a:tblGrid>
                <a:gridCol w="255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b="1" u="none" strike="noStrike" cap="none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When it Happens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Example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SyntaxError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 violates Python’s rules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Missing colon :</a:t>
                      </a:r>
                      <a:endParaRPr sz="1100" u="none" strike="noStrike" cap="none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IndentationError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 has wrong indentation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Misaligned blocks</a:t>
                      </a:r>
                      <a:endParaRPr sz="1100" u="none" strike="noStrike" cap="none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Wrong type used in operation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 int to str</a:t>
                      </a:r>
                      <a:endParaRPr sz="1100" u="none" strike="noStrike" cap="none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Right type, wrong value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int("abc")</a:t>
                      </a:r>
                      <a:endParaRPr sz="1100" u="none" strike="noStrike" cap="none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ZeroDivisionError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Dividing by zero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 / 0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 out of range in a sequence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list[5] with 3 items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Missing key in a dictionary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dict["missing"]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AttributeError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Attribute doesn’t exist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int.append()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FileNotFoundError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File does not exist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Open missing file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Cannot import a module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Wrong module name</a:t>
                      </a:r>
                      <a:endParaRPr sz="1100" u="none" strike="noStrike" cap="none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ERROR HANDLING</a:t>
            </a:r>
          </a:p>
        </p:txBody>
      </p:sp>
      <p:sp>
        <p:nvSpPr>
          <p:cNvPr id="489" name="Google Shape;489;p58"/>
          <p:cNvSpPr txBox="1"/>
          <p:nvPr/>
        </p:nvSpPr>
        <p:spPr>
          <a:xfrm>
            <a:off x="606210" y="1570610"/>
            <a:ext cx="7647000" cy="3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Handle Errors?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Prevent your program from crashing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Provide helpful messages to users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 your code recover from unexpected situations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TRY - EXCEPT</a:t>
            </a:r>
          </a:p>
        </p:txBody>
      </p:sp>
      <p:sp>
        <p:nvSpPr>
          <p:cNvPr id="495" name="Google Shape;495;p59"/>
          <p:cNvSpPr txBox="1">
            <a:spLocks noGrp="1"/>
          </p:cNvSpPr>
          <p:nvPr>
            <p:ph type="body" idx="1"/>
          </p:nvPr>
        </p:nvSpPr>
        <p:spPr>
          <a:xfrm>
            <a:off x="411480" y="1062990"/>
            <a:ext cx="7572793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Tries a block a code and if an error is raised, can handle that error gracefully</a:t>
            </a:r>
          </a:p>
          <a:p>
            <a:pPr lvl="0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B90202-0B70-8588-4936-1142769ECA11}"/>
              </a:ext>
            </a:extLst>
          </p:cNvPr>
          <p:cNvSpPr txBox="1"/>
          <p:nvPr/>
        </p:nvSpPr>
        <p:spPr>
          <a:xfrm>
            <a:off x="553841" y="2099097"/>
            <a:ext cx="53563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try: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     # code that might cause an error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     number = int("</a:t>
            </a:r>
            <a:r>
              <a:rPr lang="en-US" sz="2000" dirty="0" err="1">
                <a:solidFill>
                  <a:schemeClr val="bg1"/>
                </a:solidFill>
                <a:sym typeface="Consolas"/>
              </a:rPr>
              <a:t>abc</a:t>
            </a:r>
            <a:r>
              <a:rPr lang="en-US" sz="2000" dirty="0">
                <a:solidFill>
                  <a:schemeClr val="bg1"/>
                </a:solidFill>
                <a:sym typeface="Consolas"/>
              </a:rPr>
              <a:t>")</a:t>
            </a:r>
            <a:endParaRPr lang="en-US" sz="2000" dirty="0">
              <a:solidFill>
                <a:schemeClr val="bg1"/>
              </a:solidFill>
            </a:endParaRP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except </a:t>
            </a:r>
            <a:r>
              <a:rPr lang="en-US" sz="2000" dirty="0" err="1">
                <a:solidFill>
                  <a:schemeClr val="bg1"/>
                </a:solidFill>
                <a:sym typeface="Consolas"/>
              </a:rPr>
              <a:t>ValueError</a:t>
            </a:r>
            <a:r>
              <a:rPr lang="en-US" sz="2000" dirty="0">
                <a:solidFill>
                  <a:schemeClr val="bg1"/>
                </a:solidFill>
                <a:sym typeface="Consolas"/>
              </a:rPr>
              <a:t>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     print("Oops! That wasn't a number.")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TRY - EXCEPT CONTINUED</a:t>
            </a:r>
          </a:p>
        </p:txBody>
      </p:sp>
      <p:sp>
        <p:nvSpPr>
          <p:cNvPr id="501" name="Google Shape;501;p60"/>
          <p:cNvSpPr txBox="1">
            <a:spLocks noGrp="1"/>
          </p:cNvSpPr>
          <p:nvPr>
            <p:ph type="body" idx="1"/>
          </p:nvPr>
        </p:nvSpPr>
        <p:spPr>
          <a:xfrm>
            <a:off x="352007" y="914400"/>
            <a:ext cx="5929847" cy="1457093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sz="2600" dirty="0">
                <a:solidFill>
                  <a:schemeClr val="bg1"/>
                </a:solidFill>
              </a:rPr>
              <a:t>Multiple except statements</a:t>
            </a:r>
            <a:endParaRPr lang="en-US" sz="2100" dirty="0">
              <a:solidFill>
                <a:schemeClr val="bg1"/>
              </a:solidFill>
            </a:endParaRPr>
          </a:p>
          <a:p>
            <a:pPr marL="604838" lvl="1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lvl="0"/>
            <a:endParaRPr lang="en-US" dirty="0">
              <a:sym typeface="Consolas"/>
            </a:endParaRP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A03235-D35B-4026-1609-55A4708471CD}"/>
              </a:ext>
            </a:extLst>
          </p:cNvPr>
          <p:cNvSpPr txBox="1"/>
          <p:nvPr/>
        </p:nvSpPr>
        <p:spPr>
          <a:xfrm>
            <a:off x="702524" y="1642946"/>
            <a:ext cx="569084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try: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    result = 10 / 2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except ZeroDivisionError: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    print("Cannot divide by zero.")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except </a:t>
            </a:r>
            <a:r>
              <a:rPr lang="en-US" sz="2000" dirty="0" err="1">
                <a:solidFill>
                  <a:schemeClr val="bg1"/>
                </a:solidFill>
                <a:sym typeface="Consolas"/>
              </a:rPr>
              <a:t>ValueError</a:t>
            </a:r>
            <a:r>
              <a:rPr lang="en-US" sz="2000" dirty="0">
                <a:solidFill>
                  <a:schemeClr val="bg1"/>
                </a:solidFill>
                <a:sym typeface="Consolas"/>
              </a:rPr>
              <a:t>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    print(“Incorrect conversion”)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except: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    print(“You are seeing this message in error!”)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EEBC8AFD-5F6C-C21C-EC80-EC2EE62AE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0">
            <a:extLst>
              <a:ext uri="{FF2B5EF4-FFF2-40B4-BE49-F238E27FC236}">
                <a16:creationId xmlns:a16="http://schemas.microsoft.com/office/drawing/2014/main" id="{F1D83413-65FF-EA44-5CA2-D03B294AE4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TRY - EXCEPT CONTINUED</a:t>
            </a:r>
          </a:p>
        </p:txBody>
      </p:sp>
      <p:sp>
        <p:nvSpPr>
          <p:cNvPr id="501" name="Google Shape;501;p60">
            <a:extLst>
              <a:ext uri="{FF2B5EF4-FFF2-40B4-BE49-F238E27FC236}">
                <a16:creationId xmlns:a16="http://schemas.microsoft.com/office/drawing/2014/main" id="{559571E5-1152-2BFE-0A02-FA002AFE9A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2007" y="914400"/>
            <a:ext cx="5929847" cy="1457093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sz="2600" dirty="0">
                <a:solidFill>
                  <a:schemeClr val="bg1"/>
                </a:solidFill>
              </a:rPr>
              <a:t>Optional</a:t>
            </a:r>
          </a:p>
          <a:p>
            <a:pPr lvl="1"/>
            <a:r>
              <a:rPr lang="en-US" sz="2100" dirty="0">
                <a:solidFill>
                  <a:schemeClr val="bg1"/>
                </a:solidFill>
                <a:sym typeface="Consolas"/>
              </a:rPr>
              <a:t>else</a:t>
            </a:r>
            <a:r>
              <a:rPr lang="en-US" sz="2100" dirty="0">
                <a:solidFill>
                  <a:schemeClr val="bg1"/>
                </a:solidFill>
              </a:rPr>
              <a:t>: Runs if no error occurs</a:t>
            </a:r>
          </a:p>
          <a:p>
            <a:pPr lvl="1"/>
            <a:r>
              <a:rPr lang="en-US" sz="2100" dirty="0">
                <a:solidFill>
                  <a:schemeClr val="bg1"/>
                </a:solidFill>
                <a:sym typeface="Consolas"/>
              </a:rPr>
              <a:t>finally</a:t>
            </a:r>
            <a:r>
              <a:rPr lang="en-US" sz="2100" dirty="0">
                <a:solidFill>
                  <a:schemeClr val="bg1"/>
                </a:solidFill>
              </a:rPr>
              <a:t>: always runs</a:t>
            </a:r>
          </a:p>
          <a:p>
            <a:pPr marL="604838" lvl="1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lvl="0"/>
            <a:endParaRPr lang="en-US" dirty="0">
              <a:sym typeface="Consolas"/>
            </a:endParaRP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5D585-17CB-A1A3-D712-7F458F86A4FC}"/>
              </a:ext>
            </a:extLst>
          </p:cNvPr>
          <p:cNvSpPr txBox="1"/>
          <p:nvPr/>
        </p:nvSpPr>
        <p:spPr>
          <a:xfrm>
            <a:off x="687657" y="2371493"/>
            <a:ext cx="457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try: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    result = 10 / 2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except ZeroDivisionError: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    print("Cannot divide by zero.")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else: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    print("Division successful.")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finally: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sym typeface="Consolas"/>
              </a:rPr>
              <a:t>    print("Done.")</a:t>
            </a:r>
          </a:p>
        </p:txBody>
      </p:sp>
    </p:spTree>
    <p:extLst>
      <p:ext uri="{BB962C8B-B14F-4D97-AF65-F5344CB8AC3E}">
        <p14:creationId xmlns:p14="http://schemas.microsoft.com/office/powerpoint/2010/main" val="241023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RAISE</a:t>
            </a:r>
          </a:p>
        </p:txBody>
      </p:sp>
      <p:sp>
        <p:nvSpPr>
          <p:cNvPr id="507" name="Google Shape;507;p61"/>
          <p:cNvSpPr txBox="1">
            <a:spLocks noGrp="1"/>
          </p:cNvSpPr>
          <p:nvPr>
            <p:ph type="body" idx="1"/>
          </p:nvPr>
        </p:nvSpPr>
        <p:spPr>
          <a:xfrm>
            <a:off x="240495" y="860782"/>
            <a:ext cx="8516930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“raise” is used to intentionally trigger an error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Helps enforce rules and catch problems early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Make your code more predictable and safe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Useful for custom error messages or defining your own exceptions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96DBA-7DE9-0229-30AC-41536D9BD04E}"/>
              </a:ext>
            </a:extLst>
          </p:cNvPr>
          <p:cNvSpPr txBox="1"/>
          <p:nvPr/>
        </p:nvSpPr>
        <p:spPr>
          <a:xfrm>
            <a:off x="539982" y="2278104"/>
            <a:ext cx="806403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US" dirty="0">
              <a:solidFill>
                <a:schemeClr val="bg1"/>
              </a:solidFill>
              <a:sym typeface="Consolas"/>
            </a:endParaRPr>
          </a:p>
          <a:p>
            <a:pPr lvl="0"/>
            <a:r>
              <a:rPr lang="en-US" dirty="0">
                <a:solidFill>
                  <a:schemeClr val="bg1"/>
                </a:solidFill>
                <a:sym typeface="Consolas"/>
              </a:rPr>
              <a:t>if age &lt; 0:</a:t>
            </a:r>
          </a:p>
          <a:p>
            <a:pPr lvl="0"/>
            <a:r>
              <a:rPr lang="en-US" dirty="0">
                <a:solidFill>
                  <a:schemeClr val="bg1"/>
                </a:solidFill>
                <a:sym typeface="Consolas"/>
              </a:rPr>
              <a:t>raise </a:t>
            </a:r>
            <a:r>
              <a:rPr lang="en-US" dirty="0" err="1">
                <a:solidFill>
                  <a:schemeClr val="bg1"/>
                </a:solidFill>
                <a:sym typeface="Consolas"/>
              </a:rPr>
              <a:t>ValueError</a:t>
            </a:r>
            <a:r>
              <a:rPr lang="en-US" dirty="0">
                <a:solidFill>
                  <a:schemeClr val="bg1"/>
                </a:solidFill>
                <a:sym typeface="Consolas"/>
              </a:rPr>
              <a:t>("Age cannot be negative.")</a:t>
            </a:r>
          </a:p>
          <a:p>
            <a:pPr lvl="0"/>
            <a:endParaRPr lang="en-US" dirty="0">
              <a:solidFill>
                <a:schemeClr val="bg1"/>
              </a:solidFill>
              <a:sym typeface="Consolas"/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Built-in Exceptions</a:t>
            </a:r>
          </a:p>
          <a:p>
            <a:pPr lvl="0"/>
            <a:r>
              <a:rPr lang="en-US" dirty="0">
                <a:solidFill>
                  <a:schemeClr val="bg1"/>
                </a:solidFill>
                <a:sym typeface="Consolas"/>
              </a:rPr>
              <a:t>raise </a:t>
            </a:r>
            <a:r>
              <a:rPr lang="en-US" dirty="0" err="1">
                <a:solidFill>
                  <a:schemeClr val="bg1"/>
                </a:solidFill>
                <a:sym typeface="Consolas"/>
              </a:rPr>
              <a:t>TypeError</a:t>
            </a:r>
            <a:r>
              <a:rPr lang="en-US" dirty="0">
                <a:solidFill>
                  <a:schemeClr val="bg1"/>
                </a:solidFill>
                <a:sym typeface="Consolas"/>
              </a:rPr>
              <a:t>("This function only accepts strings.")</a:t>
            </a:r>
          </a:p>
          <a:p>
            <a:pPr lvl="0"/>
            <a:r>
              <a:rPr lang="en-US" dirty="0">
                <a:solidFill>
                  <a:schemeClr val="bg1"/>
                </a:solidFill>
                <a:sym typeface="Consolas"/>
              </a:rPr>
              <a:t>raise ZeroDivisionError("Cannot divide by zero.")</a:t>
            </a:r>
          </a:p>
          <a:p>
            <a:pPr lvl="0"/>
            <a:endParaRPr lang="en-US" dirty="0">
              <a:solidFill>
                <a:schemeClr val="bg1"/>
              </a:solidFill>
              <a:sym typeface="Consolas"/>
            </a:endParaRP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Raised errors can be caught and handled with try / except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If not caught, they will be passed to the output and stop the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Exercise (20 min)</a:t>
            </a:r>
          </a:p>
        </p:txBody>
      </p:sp>
      <p:sp>
        <p:nvSpPr>
          <p:cNvPr id="513" name="Google Shape;513;p62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7847857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Randomly assign a number from 1 to 100.</a:t>
            </a: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Write a block of code that takes in user input until they guess the random number</a:t>
            </a: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Prompt the user to help them with their guess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Handle the following situations: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User does not input the right python data type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User inputs a negative number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User inputs a number outside the guess range</a:t>
            </a:r>
          </a:p>
          <a:p>
            <a:pPr marL="604838" lvl="1" indent="0">
              <a:buNone/>
            </a:pPr>
            <a:r>
              <a:rPr lang="en-US" dirty="0">
                <a:solidFill>
                  <a:schemeClr val="bg1"/>
                </a:solidFill>
              </a:rPr>
              <a:t>Hint: use </a:t>
            </a:r>
            <a:r>
              <a:rPr lang="en-US" dirty="0" err="1">
                <a:solidFill>
                  <a:schemeClr val="bg1"/>
                </a:solidFill>
              </a:rPr>
              <a:t>random.randomint</a:t>
            </a:r>
            <a:r>
              <a:rPr lang="en-US" dirty="0">
                <a:solidFill>
                  <a:schemeClr val="bg1"/>
                </a:solidFill>
              </a:rPr>
              <a:t>() to generate a random number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Exercise 3 (20 min)</a:t>
            </a:r>
          </a:p>
        </p:txBody>
      </p:sp>
      <p:sp>
        <p:nvSpPr>
          <p:cNvPr id="519" name="Google Shape;519;p63"/>
          <p:cNvSpPr txBox="1">
            <a:spLocks noGrp="1"/>
          </p:cNvSpPr>
          <p:nvPr>
            <p:ph type="body" idx="1"/>
          </p:nvPr>
        </p:nvSpPr>
        <p:spPr>
          <a:xfrm>
            <a:off x="411479" y="1200389"/>
            <a:ext cx="8390549" cy="36345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sz="1400" dirty="0">
                <a:solidFill>
                  <a:schemeClr val="bg1"/>
                </a:solidFill>
              </a:rPr>
              <a:t>Given a list of numbers, write a program that:</a:t>
            </a:r>
          </a:p>
          <a:p>
            <a:pPr lvl="0"/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Loops through the List: </a:t>
            </a:r>
            <a:r>
              <a:rPr lang="en-US" sz="1400" dirty="0">
                <a:solidFill>
                  <a:schemeClr val="bg1"/>
                </a:solidFill>
                <a:sym typeface="Consolas"/>
              </a:rPr>
              <a:t>[10, -5, 20, ‘hello’, 5.2, 15, None, 30]</a:t>
            </a:r>
          </a:p>
          <a:p>
            <a:pPr lvl="0"/>
            <a:endParaRPr lang="en-US" sz="1400" dirty="0">
              <a:solidFill>
                <a:schemeClr val="bg1"/>
              </a:solidFill>
              <a:sym typeface="Consolas"/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Skips any None values or non-integer types with an error message using try/except</a:t>
            </a: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Raises a </a:t>
            </a:r>
            <a:r>
              <a:rPr lang="en-US" sz="1400" dirty="0" err="1">
                <a:solidFill>
                  <a:schemeClr val="bg1"/>
                </a:solidFill>
              </a:rPr>
              <a:t>ValueError</a:t>
            </a:r>
            <a:r>
              <a:rPr lang="en-US" sz="1400" dirty="0">
                <a:solidFill>
                  <a:schemeClr val="bg1"/>
                </a:solidFill>
              </a:rPr>
              <a:t> if it finds a negative number (stops the program)</a:t>
            </a:r>
          </a:p>
          <a:p>
            <a:pPr lvl="0"/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Collects all valid positive integers into a new list</a:t>
            </a:r>
          </a:p>
          <a:p>
            <a:pPr lvl="0"/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Prints the new list and the sum of its numbers</a:t>
            </a:r>
          </a:p>
          <a:p>
            <a:pPr lvl="0"/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Once you have a solution, remove -5 from the list and run it again.</a:t>
            </a:r>
          </a:p>
          <a:p>
            <a:pPr lvl="0"/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Hints:  </a:t>
            </a: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Use </a:t>
            </a:r>
            <a:r>
              <a:rPr lang="en-US" sz="1400" dirty="0" err="1">
                <a:solidFill>
                  <a:schemeClr val="bg1"/>
                </a:solidFill>
                <a:sym typeface="Consolas"/>
              </a:rPr>
              <a:t>isinstance</a:t>
            </a:r>
            <a:r>
              <a:rPr lang="en-US" sz="1400" dirty="0">
                <a:solidFill>
                  <a:schemeClr val="bg1"/>
                </a:solidFill>
                <a:sym typeface="Consolas"/>
              </a:rPr>
              <a:t>(item, int) </a:t>
            </a:r>
            <a:r>
              <a:rPr lang="en-US" sz="1400" dirty="0">
                <a:solidFill>
                  <a:schemeClr val="bg1"/>
                </a:solidFill>
              </a:rPr>
              <a:t>to check types</a:t>
            </a: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Build the valid list as you go</a:t>
            </a:r>
            <a:endParaRPr lang="en-US" sz="1400" dirty="0">
              <a:solidFill>
                <a:schemeClr val="bg1"/>
              </a:solidFill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</TotalTime>
  <Words>770</Words>
  <Application>Microsoft Office PowerPoint</Application>
  <PresentationFormat>On-screen Show (16:9)</PresentationFormat>
  <Paragraphs>155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Roboto</vt:lpstr>
      <vt:lpstr>Consolas</vt:lpstr>
      <vt:lpstr>Arial</vt:lpstr>
      <vt:lpstr>US Army 2023 AFC DEVCOM Logo</vt:lpstr>
      <vt:lpstr>Error Handling</vt:lpstr>
      <vt:lpstr> Course Schedule</vt:lpstr>
      <vt:lpstr>Review</vt:lpstr>
      <vt:lpstr>What did we do last lesson?</vt:lpstr>
      <vt:lpstr>Pre Class Problem 1</vt:lpstr>
      <vt:lpstr>Pre Class Problem 2</vt:lpstr>
      <vt:lpstr>PYTHON ERRORS</vt:lpstr>
      <vt:lpstr>PYTHON ERRORS</vt:lpstr>
      <vt:lpstr>EXERCISE - PYTHON ERRORS</vt:lpstr>
      <vt:lpstr>PowerPoint Presentation</vt:lpstr>
      <vt:lpstr>ERROR HANDLING</vt:lpstr>
      <vt:lpstr>TRY - EXCEPT</vt:lpstr>
      <vt:lpstr>TRY - EXCEPT CONTINUED</vt:lpstr>
      <vt:lpstr>TRY - EXCEPT CONTINUED</vt:lpstr>
      <vt:lpstr>RAISE</vt:lpstr>
      <vt:lpstr>Exercise (20 min)</vt:lpstr>
      <vt:lpstr>Exercise 3 (20 min)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Ryan Neville</cp:lastModifiedBy>
  <cp:revision>31</cp:revision>
  <dcterms:modified xsi:type="dcterms:W3CDTF">2026-07-24T19:29:32Z</dcterms:modified>
</cp:coreProperties>
</file>