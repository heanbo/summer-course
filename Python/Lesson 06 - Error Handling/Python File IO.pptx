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4" r:id="rId2"/>
  </p:sldMasterIdLst>
  <p:notesMasterIdLst>
    <p:notesMasterId r:id="rId26"/>
  </p:notesMasterIdLst>
  <p:sldIdLst>
    <p:sldId id="284" r:id="rId3"/>
    <p:sldId id="488" r:id="rId4"/>
    <p:sldId id="486" r:id="rId5"/>
    <p:sldId id="491" r:id="rId6"/>
    <p:sldId id="492" r:id="rId7"/>
    <p:sldId id="493" r:id="rId8"/>
    <p:sldId id="494" r:id="rId9"/>
    <p:sldId id="276" r:id="rId10"/>
    <p:sldId id="278" r:id="rId11"/>
    <p:sldId id="495" r:id="rId12"/>
    <p:sldId id="498" r:id="rId13"/>
    <p:sldId id="497" r:id="rId14"/>
    <p:sldId id="496" r:id="rId15"/>
    <p:sldId id="279" r:id="rId16"/>
    <p:sldId id="280" r:id="rId17"/>
    <p:sldId id="499" r:id="rId18"/>
    <p:sldId id="261" r:id="rId19"/>
    <p:sldId id="277" r:id="rId20"/>
    <p:sldId id="281" r:id="rId21"/>
    <p:sldId id="282" r:id="rId22"/>
    <p:sldId id="283" r:id="rId23"/>
    <p:sldId id="273" r:id="rId24"/>
    <p:sldId id="25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89375" autoAdjust="0"/>
  </p:normalViewPr>
  <p:slideViewPr>
    <p:cSldViewPr snapToGrid="0">
      <p:cViewPr varScale="1">
        <p:scale>
          <a:sx n="99" d="100"/>
          <a:sy n="99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1F8BC1-DC94-491B-AA44-0232F744EE98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8B709C-82E0-4ADF-BDA3-CCA1C8B22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990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70A4C-6580-9B96-AD9C-7B89F40C2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BC750F-D722-5702-D396-607F3EB383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743D21-3E28-75DD-6B79-50F7034E19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804FB5-1C20-6F5F-93AF-A0AA572392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2570D5-C374-43AE-876B-55C2A221664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225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64719-007A-9D20-6D43-3A4FCAADA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32F23C-3B6C-06AD-FDEF-F55DEF812C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84E9A6-CB51-3C7D-DF18-0DDEC1AC42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5C7A3-AEE3-A283-A203-B801AB559F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2570D5-C374-43AE-876B-55C2A221664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2140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FD7E6-9378-263A-EC10-412A02CBC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3A103B-85B0-E208-6061-CF80516F0A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8FB0F2-B5C0-3ABE-C3C6-2B1D82398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06EB43-F4ED-79BD-FD95-5B1538063B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2570D5-C374-43AE-876B-55C2A221664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7649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DFB6B-EE01-3DF8-B9A3-A31F191B4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CDC87D-3D85-CC05-4FE4-53FF5D106D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08C36D-D4B9-4FE5-DC38-B23AF49F08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F69198-CDDB-EB2A-AE29-45385A9F1F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2570D5-C374-43AE-876B-55C2A221664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1412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077D8-23A0-69AD-C9B1-F0DA5168D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AD0539-47CA-484E-1C37-380F6DF5A4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CBD807-4EEE-A554-CBD4-973B5C7FE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DA5CF-D680-92FD-8250-5906F78C84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2570D5-C374-43AE-876B-55C2A221664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5874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E1876-9A88-AC9A-EEA0-09A5D443F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48ED5F-1EBB-D3DA-21D1-17A4AC27EB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D7F1C4-8BD1-42DE-2251-2E35849A0D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78741C-CD8D-4A35-2F6E-59CC0DFE77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2570D5-C374-43AE-876B-55C2A221664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5435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8B709C-82E0-4ADF-BDA3-CCA1C8B2222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376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202820"/>
            <a:ext cx="6429375" cy="1325880"/>
          </a:xfrm>
          <a:prstGeom prst="rect">
            <a:avLst/>
          </a:prstGeo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</p:spTree>
    <p:extLst>
      <p:ext uri="{BB962C8B-B14F-4D97-AF65-F5344CB8AC3E}">
        <p14:creationId xmlns:p14="http://schemas.microsoft.com/office/powerpoint/2010/main" val="8929378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180891" y="104974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9" y="1974220"/>
            <a:ext cx="7173382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399" y="2202820"/>
            <a:ext cx="6429375" cy="1325880"/>
          </a:xfrm>
          <a:prstGeom prst="rect">
            <a:avLst/>
          </a:prstGeo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36716954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4" cy="1325880"/>
          </a:xfrm>
          <a:prstGeom prst="rect">
            <a:avLst/>
          </a:prstGeo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</p:spTree>
    <p:extLst>
      <p:ext uri="{BB962C8B-B14F-4D97-AF65-F5344CB8AC3E}">
        <p14:creationId xmlns:p14="http://schemas.microsoft.com/office/powerpoint/2010/main" val="32732724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8"/>
            <a:ext cx="6795136" cy="4572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  <a:prstGeom prst="rect">
            <a:avLst/>
          </a:prstGeom>
        </p:spPr>
        <p:txBody>
          <a:bodyPr lIns="0"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0" cy="228600"/>
          </a:xfrm>
          <a:prstGeom prst="rect">
            <a:avLst/>
          </a:prstGeom>
        </p:spPr>
        <p:txBody>
          <a:bodyPr rIns="0"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1541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8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3259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1600200"/>
            <a:ext cx="2499359" cy="4572000"/>
          </a:xfrm>
          <a:prstGeom prst="rect">
            <a:avLst/>
          </a:prstGeo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1600200"/>
            <a:ext cx="2499359" cy="4572000"/>
          </a:xfrm>
          <a:prstGeom prst="rect">
            <a:avLst/>
          </a:prstGeo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1600200"/>
            <a:ext cx="2499359" cy="4572000"/>
          </a:xfrm>
          <a:prstGeom prst="rect">
            <a:avLst/>
          </a:prstGeo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1600200"/>
            <a:ext cx="2499359" cy="4572000"/>
          </a:xfrm>
          <a:prstGeom prst="rect">
            <a:avLst/>
          </a:prstGeo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8676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1" y="2285998"/>
            <a:ext cx="2499359" cy="3886202"/>
          </a:xfrm>
          <a:prstGeom prst="rect">
            <a:avLst/>
          </a:prstGeo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1" y="2285998"/>
            <a:ext cx="2499359" cy="3886202"/>
          </a:xfrm>
          <a:prstGeom prst="rect">
            <a:avLst/>
          </a:prstGeo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5998"/>
            <a:ext cx="2499359" cy="3886202"/>
          </a:xfrm>
          <a:prstGeom prst="rect">
            <a:avLst/>
          </a:prstGeo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5998"/>
            <a:ext cx="2499359" cy="3886202"/>
          </a:xfrm>
          <a:prstGeom prst="rect">
            <a:avLst/>
          </a:prstGeo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508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  <a:endParaRPr lang="en-US" sz="700" b="1" dirty="0">
              <a:solidFill>
                <a:schemeClr val="tx1"/>
              </a:solidFill>
              <a:latin typeface="+mn-lt"/>
              <a:cs typeface="Arial Bold" panose="020B07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663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551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  <a:endParaRPr lang="en-US" sz="700" b="1" dirty="0">
              <a:solidFill>
                <a:schemeClr val="tx1"/>
              </a:solidFill>
              <a:latin typeface="+mn-lt"/>
              <a:cs typeface="Arial Bold" panose="020B07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067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08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054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  <a:prstGeom prst="rect">
            <a:avLst/>
          </a:prstGeo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59691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  <a:prstGeom prst="rect">
            <a:avLst/>
          </a:prstGeo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500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  <a:prstGeom prst="rect">
            <a:avLst/>
          </a:prstGeo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  <a:prstGeom prst="rect">
            <a:avLst/>
          </a:prstGeo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5694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  <a:prstGeom prst="rect">
            <a:avLst/>
          </a:prstGeo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  <a:prstGeom prst="rect">
            <a:avLst/>
          </a:prstGeo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  <a:prstGeom prst="rect">
            <a:avLst/>
          </a:prstGeo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9594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1" y="1600200"/>
            <a:ext cx="2499359" cy="123444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9" y="3063240"/>
            <a:ext cx="2499359" cy="36576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1" y="3474720"/>
            <a:ext cx="2499359" cy="2697480"/>
          </a:xfrm>
          <a:prstGeom prst="rect">
            <a:avLst/>
          </a:prstGeo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5" y="1600200"/>
            <a:ext cx="2499359" cy="123444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5" y="3063240"/>
            <a:ext cx="2499359" cy="36576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5" y="3474720"/>
            <a:ext cx="2499359" cy="2697480"/>
          </a:xfrm>
          <a:prstGeom prst="rect">
            <a:avLst/>
          </a:prstGeo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1" y="1600200"/>
            <a:ext cx="2499359" cy="123444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1" y="3063240"/>
            <a:ext cx="2499359" cy="36576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1" y="3474720"/>
            <a:ext cx="2499359" cy="2697480"/>
          </a:xfrm>
          <a:prstGeom prst="rect">
            <a:avLst/>
          </a:prstGeo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1" y="1600200"/>
            <a:ext cx="2499359" cy="123444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1" y="3063240"/>
            <a:ext cx="2499359" cy="36576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1" y="3474720"/>
            <a:ext cx="2499359" cy="2697480"/>
          </a:xfrm>
          <a:prstGeom prst="rect">
            <a:avLst/>
          </a:prstGeo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769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  <a:endParaRPr lang="en-US" sz="700" b="1" dirty="0">
              <a:solidFill>
                <a:schemeClr val="tx1"/>
              </a:solidFill>
              <a:latin typeface="+mn-lt"/>
              <a:cs typeface="Arial Bold" panose="020B07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  <a:endParaRPr lang="en-US" sz="700" b="1" dirty="0">
              <a:solidFill>
                <a:schemeClr val="tx1"/>
              </a:solidFill>
              <a:latin typeface="+mn-lt"/>
              <a:cs typeface="Arial Bold" panose="020B07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9280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prstGeom prst="rect">
            <a:avLst/>
          </a:prstGeo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646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6310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0"/>
            <a:ext cx="5365327" cy="914400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8766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  <a:endParaRPr lang="en-US" sz="700" b="1" dirty="0">
              <a:solidFill>
                <a:schemeClr val="tx1"/>
              </a:solidFill>
              <a:latin typeface="+mn-lt"/>
              <a:cs typeface="Arial Bold" panose="020B07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  <a:endParaRPr lang="en-US" sz="700" b="1" dirty="0">
              <a:solidFill>
                <a:schemeClr val="tx1"/>
              </a:solidFill>
              <a:latin typeface="+mn-lt"/>
              <a:cs typeface="Arial Bold" panose="020B07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1054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8438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142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  <a:endParaRPr lang="en-US" sz="700" b="1" dirty="0">
              <a:solidFill>
                <a:schemeClr val="tx1"/>
              </a:solidFill>
              <a:latin typeface="+mn-lt"/>
              <a:cs typeface="Arial Bold" panose="020B07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  <a:endParaRPr lang="en-US" sz="700" b="1" dirty="0">
              <a:solidFill>
                <a:schemeClr val="tx1"/>
              </a:solidFill>
              <a:latin typeface="+mn-lt"/>
              <a:cs typeface="Arial Bold" panose="020B07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353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085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  <a:endParaRPr lang="en-US" sz="700" b="1" dirty="0">
              <a:solidFill>
                <a:schemeClr val="tx1"/>
              </a:solidFill>
              <a:latin typeface="+mn-lt"/>
              <a:cs typeface="Arial Bold" panose="020B07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  <a:endParaRPr lang="en-US" sz="700" b="1" dirty="0">
              <a:solidFill>
                <a:schemeClr val="tx1"/>
              </a:solidFill>
              <a:latin typeface="+mn-lt"/>
              <a:cs typeface="Arial Bold" panose="020B07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7762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8" y="4819414"/>
            <a:ext cx="5365749" cy="1371599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7707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050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9A25F-48AD-B7A3-3D9B-3DC3D785A8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312A15-0410-A7CA-A9D8-43BD6886A5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027A1-7EB5-0678-EB0F-650BD7B194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CD30D-C707-EB24-E631-D0451E6B5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F5385-DE6D-8457-5ACD-902B1E935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88788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D7D6D-A7B7-74EA-6F74-BAC98296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38D3C-1A6F-289C-01D0-FC0269EF3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96C649-11FB-438A-AD59-9806225D3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B33B82-9CC4-ADC8-65F7-7702DD6C0D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491D42-AB19-DC33-0C4F-15A205A2A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55D150-C001-8E81-3EC1-3DDA1A934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17601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6D627-4126-76BB-49CC-802CFFF6F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3C272-A5FE-0B53-A485-80572D12E1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64E39B-8710-B75C-19D6-9A82A326F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456664-2E10-493D-CCC1-B9E27A5EB2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127F7E-8CC3-D827-3CEB-A0E08CA08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82C5AF-AA21-6708-D407-33B690604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77117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</p:spTree>
    <p:extLst>
      <p:ext uri="{BB962C8B-B14F-4D97-AF65-F5344CB8AC3E}">
        <p14:creationId xmlns:p14="http://schemas.microsoft.com/office/powerpoint/2010/main" val="9189209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180891" y="104974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9" y="1974220"/>
            <a:ext cx="7173382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399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22764608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4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</p:spTree>
    <p:extLst>
      <p:ext uri="{BB962C8B-B14F-4D97-AF65-F5344CB8AC3E}">
        <p14:creationId xmlns:p14="http://schemas.microsoft.com/office/powerpoint/2010/main" val="38086243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8"/>
            <a:ext cx="67951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0" cy="228600"/>
          </a:xfrm>
        </p:spPr>
        <p:txBody>
          <a:bodyPr rIns="0"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8372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7816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009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0938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8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029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  <a:endParaRPr lang="en-US" sz="700" b="1" dirty="0">
              <a:solidFill>
                <a:schemeClr val="tx1"/>
              </a:solidFill>
              <a:latin typeface="+mn-lt"/>
              <a:cs typeface="Arial Bold" panose="020B07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  <a:endParaRPr lang="en-US" sz="700" b="1" dirty="0">
              <a:solidFill>
                <a:schemeClr val="tx1"/>
              </a:solidFill>
              <a:latin typeface="+mn-lt"/>
              <a:cs typeface="Arial Bold" panose="020B07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0256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1269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  <a:endParaRPr lang="en-US" sz="700" b="1" dirty="0">
              <a:solidFill>
                <a:schemeClr val="tx1"/>
              </a:solidFill>
              <a:latin typeface="+mn-lt"/>
              <a:cs typeface="Arial Bold" panose="020B0704020202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  <a:endParaRPr lang="en-US" sz="700" b="1" dirty="0">
              <a:solidFill>
                <a:schemeClr val="tx1"/>
              </a:solidFill>
              <a:latin typeface="+mn-lt"/>
              <a:cs typeface="Arial Bold" panose="020B07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2932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1292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5741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0608106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761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4332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1339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9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5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5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5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93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  <a:endParaRPr lang="en-US" sz="700" b="1" dirty="0">
              <a:solidFill>
                <a:schemeClr val="tx1"/>
              </a:solidFill>
              <a:latin typeface="+mn-lt"/>
              <a:cs typeface="Arial Bold" panose="020B07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3330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8760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8901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5492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  <a:endParaRPr lang="en-US" sz="700" b="1" dirty="0">
              <a:solidFill>
                <a:schemeClr val="tx1"/>
              </a:solidFill>
              <a:latin typeface="+mn-lt"/>
              <a:cs typeface="Arial Bold" panose="020B07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  <a:endParaRPr lang="en-US" sz="700" b="1" dirty="0">
              <a:solidFill>
                <a:schemeClr val="tx1"/>
              </a:solidFill>
              <a:latin typeface="+mn-lt"/>
              <a:cs typeface="Arial Bold" panose="020B07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8632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- Image">
  <p:cSld name="1_Title Slide - Imag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 txBox="1">
            <a:spLocks noGrp="1"/>
          </p:cNvSpPr>
          <p:nvPr>
            <p:ph type="dt" idx="10"/>
          </p:nvPr>
        </p:nvSpPr>
        <p:spPr>
          <a:xfrm>
            <a:off x="547688" y="6629400"/>
            <a:ext cx="8239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5"/>
          <p:cNvSpPr txBox="1">
            <a:spLocks noGrp="1"/>
          </p:cNvSpPr>
          <p:nvPr>
            <p:ph type="sldNum" idx="12"/>
          </p:nvPr>
        </p:nvSpPr>
        <p:spPr>
          <a:xfrm>
            <a:off x="11210717" y="6629400"/>
            <a:ext cx="44200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6" name="Google Shape;66;p5" descr="U.S. Army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4899" y="112631"/>
            <a:ext cx="3246120" cy="122580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5"/>
          <p:cNvSpPr txBox="1">
            <a:spLocks noGrp="1"/>
          </p:cNvSpPr>
          <p:nvPr>
            <p:ph type="body" idx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9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lvl="1" indent="-304792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1000">
                <a:latin typeface="Arial"/>
                <a:ea typeface="Arial"/>
                <a:cs typeface="Arial"/>
                <a:sym typeface="Arial"/>
              </a:defRPr>
            </a:lvl2pPr>
            <a:lvl3pPr marL="1828754" lvl="2" indent="-304792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1000">
                <a:latin typeface="Arial"/>
                <a:ea typeface="Arial"/>
                <a:cs typeface="Arial"/>
                <a:sym typeface="Arial"/>
              </a:defRPr>
            </a:lvl3pPr>
            <a:lvl4pPr marL="2438339" lvl="3" indent="-304792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1000">
                <a:latin typeface="Arial"/>
                <a:ea typeface="Arial"/>
                <a:cs typeface="Arial"/>
                <a:sym typeface="Arial"/>
              </a:defRPr>
            </a:lvl4pPr>
            <a:lvl5pPr marL="3047924" lvl="4" indent="-304792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1000">
                <a:latin typeface="Arial"/>
                <a:ea typeface="Arial"/>
                <a:cs typeface="Arial"/>
                <a:sym typeface="Arial"/>
              </a:defRPr>
            </a:lvl5pPr>
            <a:lvl6pPr marL="3657509" lvl="5" indent="-45718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4267093" lvl="6" indent="-45718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4876678" lvl="7" indent="-45718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5486263" lvl="8" indent="-45718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68" name="Google Shape;68;p5"/>
          <p:cNvSpPr txBox="1">
            <a:spLocks noGrp="1"/>
          </p:cNvSpPr>
          <p:nvPr>
            <p:ph type="body" idx="2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9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lvl="1" indent="-304792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1000">
                <a:latin typeface="Arial"/>
                <a:ea typeface="Arial"/>
                <a:cs typeface="Arial"/>
                <a:sym typeface="Arial"/>
              </a:defRPr>
            </a:lvl2pPr>
            <a:lvl3pPr marL="1828754" lvl="2" indent="-304792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1000">
                <a:latin typeface="Arial"/>
                <a:ea typeface="Arial"/>
                <a:cs typeface="Arial"/>
                <a:sym typeface="Arial"/>
              </a:defRPr>
            </a:lvl3pPr>
            <a:lvl4pPr marL="2438339" lvl="3" indent="-304792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1000">
                <a:latin typeface="Arial"/>
                <a:ea typeface="Arial"/>
                <a:cs typeface="Arial"/>
                <a:sym typeface="Arial"/>
              </a:defRPr>
            </a:lvl4pPr>
            <a:lvl5pPr marL="3047924" lvl="4" indent="-304792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1000">
                <a:latin typeface="Arial"/>
                <a:ea typeface="Arial"/>
                <a:cs typeface="Arial"/>
                <a:sym typeface="Arial"/>
              </a:defRPr>
            </a:lvl5pPr>
            <a:lvl6pPr marL="3657509" lvl="5" indent="-45718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4267093" lvl="6" indent="-45718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4876678" lvl="7" indent="-45718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5486263" lvl="8" indent="-45718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69" name="Google Shape;69;p5"/>
          <p:cNvSpPr txBox="1">
            <a:spLocks noGrp="1"/>
          </p:cNvSpPr>
          <p:nvPr>
            <p:ph type="body" idx="3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9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lvl="1" indent="-304792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1000">
                <a:latin typeface="Arial"/>
                <a:ea typeface="Arial"/>
                <a:cs typeface="Arial"/>
                <a:sym typeface="Arial"/>
              </a:defRPr>
            </a:lvl2pPr>
            <a:lvl3pPr marL="1828754" lvl="2" indent="-304792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1000">
                <a:latin typeface="Arial"/>
                <a:ea typeface="Arial"/>
                <a:cs typeface="Arial"/>
                <a:sym typeface="Arial"/>
              </a:defRPr>
            </a:lvl3pPr>
            <a:lvl4pPr marL="2438339" lvl="3" indent="-304792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1000">
                <a:latin typeface="Arial"/>
                <a:ea typeface="Arial"/>
                <a:cs typeface="Arial"/>
                <a:sym typeface="Arial"/>
              </a:defRPr>
            </a:lvl4pPr>
            <a:lvl5pPr marL="3047924" lvl="4" indent="-304792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1000">
                <a:latin typeface="Arial"/>
                <a:ea typeface="Arial"/>
                <a:cs typeface="Arial"/>
                <a:sym typeface="Arial"/>
              </a:defRPr>
            </a:lvl5pPr>
            <a:lvl6pPr marL="3657509" lvl="5" indent="-45718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4267093" lvl="6" indent="-45718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4876678" lvl="7" indent="-45718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5486263" lvl="8" indent="-45718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0" name="Google Shape;70;p5"/>
          <p:cNvSpPr txBox="1">
            <a:spLocks noGrp="1"/>
          </p:cNvSpPr>
          <p:nvPr>
            <p:ph type="body" idx="4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9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lvl="1" indent="-304792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1000">
                <a:latin typeface="Arial"/>
                <a:ea typeface="Arial"/>
                <a:cs typeface="Arial"/>
                <a:sym typeface="Arial"/>
              </a:defRPr>
            </a:lvl2pPr>
            <a:lvl3pPr marL="1828754" lvl="2" indent="-304792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1000">
                <a:latin typeface="Arial"/>
                <a:ea typeface="Arial"/>
                <a:cs typeface="Arial"/>
                <a:sym typeface="Arial"/>
              </a:defRPr>
            </a:lvl3pPr>
            <a:lvl4pPr marL="2438339" lvl="3" indent="-304792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1000">
                <a:latin typeface="Arial"/>
                <a:ea typeface="Arial"/>
                <a:cs typeface="Arial"/>
                <a:sym typeface="Arial"/>
              </a:defRPr>
            </a:lvl4pPr>
            <a:lvl5pPr marL="3047924" lvl="4" indent="-304792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1000">
                <a:latin typeface="Arial"/>
                <a:ea typeface="Arial"/>
                <a:cs typeface="Arial"/>
                <a:sym typeface="Arial"/>
              </a:defRPr>
            </a:lvl5pPr>
            <a:lvl6pPr marL="3657509" lvl="5" indent="-45718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4267093" lvl="6" indent="-45718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4876678" lvl="7" indent="-45718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5486263" lvl="8" indent="-45718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1" name="Google Shape;71;p5"/>
          <p:cNvSpPr txBox="1">
            <a:spLocks noGrp="1"/>
          </p:cNvSpPr>
          <p:nvPr>
            <p:ph type="body" idx="5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9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lvl="1" indent="-304792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1000">
                <a:latin typeface="Arial"/>
                <a:ea typeface="Arial"/>
                <a:cs typeface="Arial"/>
                <a:sym typeface="Arial"/>
              </a:defRPr>
            </a:lvl2pPr>
            <a:lvl3pPr marL="1828754" lvl="2" indent="-304792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1000">
                <a:latin typeface="Arial"/>
                <a:ea typeface="Arial"/>
                <a:cs typeface="Arial"/>
                <a:sym typeface="Arial"/>
              </a:defRPr>
            </a:lvl3pPr>
            <a:lvl4pPr marL="2438339" lvl="3" indent="-304792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1000">
                <a:latin typeface="Arial"/>
                <a:ea typeface="Arial"/>
                <a:cs typeface="Arial"/>
                <a:sym typeface="Arial"/>
              </a:defRPr>
            </a:lvl4pPr>
            <a:lvl5pPr marL="3047924" lvl="4" indent="-304792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1000">
                <a:latin typeface="Arial"/>
                <a:ea typeface="Arial"/>
                <a:cs typeface="Arial"/>
                <a:sym typeface="Arial"/>
              </a:defRPr>
            </a:lvl5pPr>
            <a:lvl6pPr marL="3657509" lvl="5" indent="-45718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4267093" lvl="6" indent="-45718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4876678" lvl="7" indent="-45718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5486263" lvl="8" indent="-45718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2" name="Google Shape;72;p5"/>
          <p:cNvSpPr txBox="1">
            <a:spLocks noGrp="1"/>
          </p:cNvSpPr>
          <p:nvPr>
            <p:ph type="body" idx="6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9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lvl="1" indent="-304792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1000">
                <a:latin typeface="Arial"/>
                <a:ea typeface="Arial"/>
                <a:cs typeface="Arial"/>
                <a:sym typeface="Arial"/>
              </a:defRPr>
            </a:lvl2pPr>
            <a:lvl3pPr marL="1828754" lvl="2" indent="-304792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1000">
                <a:latin typeface="Arial"/>
                <a:ea typeface="Arial"/>
                <a:cs typeface="Arial"/>
                <a:sym typeface="Arial"/>
              </a:defRPr>
            </a:lvl3pPr>
            <a:lvl4pPr marL="2438339" lvl="3" indent="-304792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1000">
                <a:latin typeface="Arial"/>
                <a:ea typeface="Arial"/>
                <a:cs typeface="Arial"/>
                <a:sym typeface="Arial"/>
              </a:defRPr>
            </a:lvl4pPr>
            <a:lvl5pPr marL="3047924" lvl="4" indent="-304792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1000">
                <a:latin typeface="Arial"/>
                <a:ea typeface="Arial"/>
                <a:cs typeface="Arial"/>
                <a:sym typeface="Arial"/>
              </a:defRPr>
            </a:lvl5pPr>
            <a:lvl6pPr marL="3657509" lvl="5" indent="-45718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4267093" lvl="6" indent="-45718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4876678" lvl="7" indent="-45718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5486263" lvl="8" indent="-45718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3" name="Google Shape;73;p5"/>
          <p:cNvSpPr txBox="1">
            <a:spLocks noGrp="1"/>
          </p:cNvSpPr>
          <p:nvPr>
            <p:ph type="body" idx="7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9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lvl="1" indent="-304792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1000">
                <a:latin typeface="Arial"/>
                <a:ea typeface="Arial"/>
                <a:cs typeface="Arial"/>
                <a:sym typeface="Arial"/>
              </a:defRPr>
            </a:lvl2pPr>
            <a:lvl3pPr marL="1828754" lvl="2" indent="-304792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1000">
                <a:latin typeface="Arial"/>
                <a:ea typeface="Arial"/>
                <a:cs typeface="Arial"/>
                <a:sym typeface="Arial"/>
              </a:defRPr>
            </a:lvl3pPr>
            <a:lvl4pPr marL="2438339" lvl="3" indent="-304792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1000">
                <a:latin typeface="Arial"/>
                <a:ea typeface="Arial"/>
                <a:cs typeface="Arial"/>
                <a:sym typeface="Arial"/>
              </a:defRPr>
            </a:lvl4pPr>
            <a:lvl5pPr marL="3047924" lvl="4" indent="-304792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1000">
                <a:latin typeface="Arial"/>
                <a:ea typeface="Arial"/>
                <a:cs typeface="Arial"/>
                <a:sym typeface="Arial"/>
              </a:defRPr>
            </a:lvl5pPr>
            <a:lvl6pPr marL="3657509" lvl="5" indent="-45718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4267093" lvl="6" indent="-45718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4876678" lvl="7" indent="-45718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5486263" lvl="8" indent="-45718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4" name="Google Shape;74;p5"/>
          <p:cNvSpPr txBox="1">
            <a:spLocks noGrp="1"/>
          </p:cNvSpPr>
          <p:nvPr>
            <p:ph type="body" idx="8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9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lvl="1" indent="-304792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1000">
                <a:latin typeface="Arial"/>
                <a:ea typeface="Arial"/>
                <a:cs typeface="Arial"/>
                <a:sym typeface="Arial"/>
              </a:defRPr>
            </a:lvl2pPr>
            <a:lvl3pPr marL="1828754" lvl="2" indent="-304792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1000">
                <a:latin typeface="Arial"/>
                <a:ea typeface="Arial"/>
                <a:cs typeface="Arial"/>
                <a:sym typeface="Arial"/>
              </a:defRPr>
            </a:lvl3pPr>
            <a:lvl4pPr marL="2438339" lvl="3" indent="-304792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1000">
                <a:latin typeface="Arial"/>
                <a:ea typeface="Arial"/>
                <a:cs typeface="Arial"/>
                <a:sym typeface="Arial"/>
              </a:defRPr>
            </a:lvl4pPr>
            <a:lvl5pPr marL="3047924" lvl="4" indent="-304792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1000">
                <a:latin typeface="Arial"/>
                <a:ea typeface="Arial"/>
                <a:cs typeface="Arial"/>
                <a:sym typeface="Arial"/>
              </a:defRPr>
            </a:lvl5pPr>
            <a:lvl6pPr marL="3657509" lvl="5" indent="-45718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4267093" lvl="6" indent="-45718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4876678" lvl="7" indent="-45718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5486263" lvl="8" indent="-45718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5" name="Google Shape;75;p5"/>
          <p:cNvSpPr txBox="1">
            <a:spLocks noGrp="1"/>
          </p:cNvSpPr>
          <p:nvPr>
            <p:ph type="body" idx="9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9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lvl="1" indent="-304792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1000">
                <a:latin typeface="Arial"/>
                <a:ea typeface="Arial"/>
                <a:cs typeface="Arial"/>
                <a:sym typeface="Arial"/>
              </a:defRPr>
            </a:lvl2pPr>
            <a:lvl3pPr marL="1828754" lvl="2" indent="-304792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1000">
                <a:latin typeface="Arial"/>
                <a:ea typeface="Arial"/>
                <a:cs typeface="Arial"/>
                <a:sym typeface="Arial"/>
              </a:defRPr>
            </a:lvl3pPr>
            <a:lvl4pPr marL="2438339" lvl="3" indent="-304792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1000">
                <a:latin typeface="Arial"/>
                <a:ea typeface="Arial"/>
                <a:cs typeface="Arial"/>
                <a:sym typeface="Arial"/>
              </a:defRPr>
            </a:lvl4pPr>
            <a:lvl5pPr marL="3047924" lvl="4" indent="-304792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1000">
                <a:latin typeface="Arial"/>
                <a:ea typeface="Arial"/>
                <a:cs typeface="Arial"/>
                <a:sym typeface="Arial"/>
              </a:defRPr>
            </a:lvl5pPr>
            <a:lvl6pPr marL="3657509" lvl="5" indent="-45718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4267093" lvl="6" indent="-45718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4876678" lvl="7" indent="-45718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5486263" lvl="8" indent="-45718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6" name="Google Shape;76;p5"/>
          <p:cNvSpPr txBox="1">
            <a:spLocks noGrp="1"/>
          </p:cNvSpPr>
          <p:nvPr>
            <p:ph type="body" idx="13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9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lvl="1" indent="-304792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1000">
                <a:latin typeface="Arial"/>
                <a:ea typeface="Arial"/>
                <a:cs typeface="Arial"/>
                <a:sym typeface="Arial"/>
              </a:defRPr>
            </a:lvl2pPr>
            <a:lvl3pPr marL="1828754" lvl="2" indent="-304792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1000">
                <a:latin typeface="Arial"/>
                <a:ea typeface="Arial"/>
                <a:cs typeface="Arial"/>
                <a:sym typeface="Arial"/>
              </a:defRPr>
            </a:lvl3pPr>
            <a:lvl4pPr marL="2438339" lvl="3" indent="-304792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1000">
                <a:latin typeface="Arial"/>
                <a:ea typeface="Arial"/>
                <a:cs typeface="Arial"/>
                <a:sym typeface="Arial"/>
              </a:defRPr>
            </a:lvl4pPr>
            <a:lvl5pPr marL="3047924" lvl="4" indent="-304792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1000">
                <a:latin typeface="Arial"/>
                <a:ea typeface="Arial"/>
                <a:cs typeface="Arial"/>
                <a:sym typeface="Arial"/>
              </a:defRPr>
            </a:lvl5pPr>
            <a:lvl6pPr marL="3657509" lvl="5" indent="-45718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4267093" lvl="6" indent="-45718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4876678" lvl="7" indent="-45718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5486263" lvl="8" indent="-45718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grpSp>
        <p:nvGrpSpPr>
          <p:cNvPr id="77" name="Google Shape;77;p5"/>
          <p:cNvGrpSpPr/>
          <p:nvPr/>
        </p:nvGrpSpPr>
        <p:grpSpPr>
          <a:xfrm>
            <a:off x="548219" y="1974220"/>
            <a:ext cx="7173381" cy="2377440"/>
            <a:chOff x="411163" y="2240280"/>
            <a:chExt cx="6446837" cy="2377440"/>
          </a:xfrm>
        </p:grpSpPr>
        <p:sp>
          <p:nvSpPr>
            <p:cNvPr id="78" name="Google Shape;78;p5"/>
            <p:cNvSpPr/>
            <p:nvPr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 cmpd="sng">
              <a:solidFill>
                <a:srgbClr val="FFCC0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9" name="Google Shape;79;p5"/>
            <p:cNvCxnSpPr/>
            <p:nvPr/>
          </p:nvCxnSpPr>
          <p:spPr>
            <a:xfrm>
              <a:off x="411163" y="3931920"/>
              <a:ext cx="6446837" cy="0"/>
            </a:xfrm>
            <a:prstGeom prst="straightConnector1">
              <a:avLst/>
            </a:prstGeom>
            <a:noFill/>
            <a:ln w="19050" cap="flat" cmpd="sng">
              <a:solidFill>
                <a:srgbClr val="FFCC0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0" name="Google Shape;80;p5"/>
            <p:cNvCxnSpPr/>
            <p:nvPr/>
          </p:nvCxnSpPr>
          <p:spPr>
            <a:xfrm>
              <a:off x="4274795" y="3931920"/>
              <a:ext cx="0" cy="685800"/>
            </a:xfrm>
            <a:prstGeom prst="straightConnector1">
              <a:avLst/>
            </a:prstGeom>
            <a:noFill/>
            <a:ln w="19050" cap="flat" cmpd="sng">
              <a:solidFill>
                <a:srgbClr val="FFCC0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81" name="Google Shape;81;p5"/>
          <p:cNvSpPr txBox="1">
            <a:spLocks noGrp="1"/>
          </p:cNvSpPr>
          <p:nvPr>
            <p:ph type="ctrTitle"/>
          </p:nvPr>
        </p:nvSpPr>
        <p:spPr>
          <a:xfrm>
            <a:off x="914402" y="2202820"/>
            <a:ext cx="6429375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14"/>
          </p:nvPr>
        </p:nvSpPr>
        <p:spPr>
          <a:xfrm>
            <a:off x="914402" y="3784732"/>
            <a:ext cx="35655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1200" b="1">
                <a:solidFill>
                  <a:schemeClr val="lt2"/>
                </a:solidFill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1200" b="1">
                <a:solidFill>
                  <a:schemeClr val="lt2"/>
                </a:solidFill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1200" b="1">
                <a:solidFill>
                  <a:schemeClr val="lt2"/>
                </a:solidFill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1200" b="1">
                <a:solidFill>
                  <a:schemeClr val="lt2"/>
                </a:solidFill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1200" b="1">
                <a:solidFill>
                  <a:schemeClr val="lt2"/>
                </a:solidFill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1200" b="1">
                <a:solidFill>
                  <a:schemeClr val="lt2"/>
                </a:solidFill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1200" b="1">
                <a:solidFill>
                  <a:schemeClr val="lt2"/>
                </a:solidFill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1200" b="1">
                <a:solidFill>
                  <a:schemeClr val="lt2"/>
                </a:solidFill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12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body" idx="15"/>
          </p:nvPr>
        </p:nvSpPr>
        <p:spPr>
          <a:xfrm>
            <a:off x="5212080" y="3784732"/>
            <a:ext cx="213169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30479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400" b="1" cap="none">
                <a:solidFill>
                  <a:schemeClr val="lt2"/>
                </a:solidFill>
              </a:defRPr>
            </a:lvl1pPr>
            <a:lvl2pPr marL="1219170" lvl="1" indent="-30479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400" b="1" cap="none">
                <a:solidFill>
                  <a:schemeClr val="lt2"/>
                </a:solidFill>
              </a:defRPr>
            </a:lvl2pPr>
            <a:lvl3pPr marL="1828754" lvl="2" indent="-30479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400" b="1" cap="none">
                <a:solidFill>
                  <a:schemeClr val="lt2"/>
                </a:solidFill>
              </a:defRPr>
            </a:lvl3pPr>
            <a:lvl4pPr marL="2438339" lvl="3" indent="-30479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400" b="1" cap="none">
                <a:solidFill>
                  <a:schemeClr val="lt2"/>
                </a:solidFill>
              </a:defRPr>
            </a:lvl4pPr>
            <a:lvl5pPr marL="3047924" lvl="4" indent="-30479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400" b="1" cap="none">
                <a:solidFill>
                  <a:schemeClr val="lt2"/>
                </a:solidFill>
              </a:defRPr>
            </a:lvl5pPr>
            <a:lvl6pPr marL="3657509" lvl="5" indent="-30479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400" b="1" cap="none">
                <a:solidFill>
                  <a:schemeClr val="lt2"/>
                </a:solidFill>
              </a:defRPr>
            </a:lvl6pPr>
            <a:lvl7pPr marL="4267093" lvl="6" indent="-30479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400" b="1" cap="none">
                <a:solidFill>
                  <a:schemeClr val="lt2"/>
                </a:solidFill>
              </a:defRPr>
            </a:lvl7pPr>
            <a:lvl8pPr marL="4876678" lvl="7" indent="-30479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400" b="1" cap="none">
                <a:solidFill>
                  <a:schemeClr val="lt2"/>
                </a:solidFill>
              </a:defRPr>
            </a:lvl8pPr>
            <a:lvl9pPr marL="5486263" lvl="8" indent="-30479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400" b="1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pic>
        <p:nvPicPr>
          <p:cNvPr id="84" name="Google Shape;84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5"/>
          <p:cNvSpPr/>
          <p:nvPr/>
        </p:nvSpPr>
        <p:spPr>
          <a:xfrm>
            <a:off x="1386840" y="6627168"/>
            <a:ext cx="941832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 i="0" u="none" strike="noStrike" cap="none">
                <a:solidFill>
                  <a:srgbClr val="2DAA27"/>
                </a:solidFill>
                <a:latin typeface="Arial"/>
                <a:ea typeface="Arial"/>
                <a:cs typeface="Arial"/>
                <a:sym typeface="Arial"/>
              </a:rPr>
              <a:t>UNCLASSIFIED / GENERAL</a:t>
            </a:r>
            <a:endParaRPr sz="2400"/>
          </a:p>
        </p:txBody>
      </p:sp>
      <p:sp>
        <p:nvSpPr>
          <p:cNvPr id="86" name="Google Shape;86;p5"/>
          <p:cNvSpPr/>
          <p:nvPr/>
        </p:nvSpPr>
        <p:spPr>
          <a:xfrm>
            <a:off x="1386840" y="0"/>
            <a:ext cx="941832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 i="0" u="none" strike="noStrike" cap="none">
                <a:solidFill>
                  <a:srgbClr val="2DAA27"/>
                </a:solidFill>
                <a:latin typeface="Arial"/>
                <a:ea typeface="Arial"/>
                <a:cs typeface="Arial"/>
                <a:sym typeface="Arial"/>
              </a:rPr>
              <a:t>UNCLASSIFIED / GENERAL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273326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51.xml"/><Relationship Id="rId26" Type="http://schemas.openxmlformats.org/officeDocument/2006/relationships/image" Target="../media/image5.png"/><Relationship Id="rId3" Type="http://schemas.openxmlformats.org/officeDocument/2006/relationships/slideLayout" Target="../slideLayouts/slideLayout36.xml"/><Relationship Id="rId21" Type="http://schemas.openxmlformats.org/officeDocument/2006/relationships/slideLayout" Target="../slideLayouts/slideLayout54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53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24" Type="http://schemas.openxmlformats.org/officeDocument/2006/relationships/slideLayout" Target="../slideLayouts/slideLayout57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52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55.xml"/><Relationship Id="rId27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3765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26274" t="67"/>
          <a:stretch>
            <a:fillRect/>
          </a:stretch>
        </p:blipFill>
        <p:spPr>
          <a:xfrm>
            <a:off x="10428514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8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971AFA9C-17DA-4726-B9E3-ADECF7729AF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926020" y="424087"/>
            <a:ext cx="502494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865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  <p:sldLayoutId id="2147483712" r:id="rId18"/>
    <p:sldLayoutId id="2147483713" r:id="rId19"/>
    <p:sldLayoutId id="2147483714" r:id="rId20"/>
    <p:sldLayoutId id="2147483715" r:id="rId21"/>
    <p:sldLayoutId id="2147483716" r:id="rId22"/>
    <p:sldLayoutId id="2147483717" r:id="rId23"/>
    <p:sldLayoutId id="2147483718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070E2C-C69B-CF2A-4AFC-23A14A6A0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FD8E2E-8543-A688-763B-E884BB31846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30D199-3936-A1F3-B0EB-089330973D56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46C0D10-A9D9-A711-D381-3D00C47E0FBF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8D0B74B-73C2-B2A1-57AF-63998F4A4F49}"/>
              </a:ext>
            </a:extLst>
          </p:cNvPr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9903D50-9478-61DD-97EF-868FFEC1A203}"/>
              </a:ext>
            </a:extLst>
          </p:cNvPr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E0195E4-F595-93CB-A46C-7430AD0680AD}"/>
              </a:ext>
            </a:extLst>
          </p:cNvPr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959FF5-1EE2-7B58-60C8-30418EF2E627}"/>
              </a:ext>
            </a:extLst>
          </p:cNvPr>
          <p:cNvSpPr>
            <a:spLocks noGrp="1"/>
          </p:cNvSpPr>
          <p:nvPr>
            <p:ph type="body" idx="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D2EDCAF-FCD3-27B6-7A7D-482980E30A32}"/>
              </a:ext>
            </a:extLst>
          </p:cNvPr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30A370C-AC35-54DB-180E-CF84A6DE97E5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77" name="Google Shape;377;p39"/>
          <p:cNvSpPr txBox="1">
            <a:spLocks noGrp="1"/>
          </p:cNvSpPr>
          <p:nvPr>
            <p:ph type="ctrTitle"/>
          </p:nvPr>
        </p:nvSpPr>
        <p:spPr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lvl="0"/>
            <a:r>
              <a:rPr lang="en-US" dirty="0">
                <a:solidFill>
                  <a:schemeClr val="bg1"/>
                </a:solidFill>
              </a:rPr>
              <a:t>FILE IO</a:t>
            </a:r>
          </a:p>
        </p:txBody>
      </p:sp>
      <p:sp>
        <p:nvSpPr>
          <p:cNvPr id="14" name="Subtitle 13">
            <a:extLst>
              <a:ext uri="{FF2B5EF4-FFF2-40B4-BE49-F238E27FC236}">
                <a16:creationId xmlns:a16="http://schemas.microsoft.com/office/drawing/2014/main" id="{375DF464-1047-E0FE-E481-3664C51B5C5B}"/>
              </a:ext>
            </a:extLst>
          </p:cNvPr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D1E60D9-3A05-7A61-72B6-7F9C21F9F660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9D20E-BD9A-847F-707A-41F7A86C8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69BD9-8066-F6DB-BC59-621195265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Motivation</a:t>
            </a:r>
          </a:p>
        </p:txBody>
      </p:sp>
    </p:spTree>
    <p:extLst>
      <p:ext uri="{BB962C8B-B14F-4D97-AF65-F5344CB8AC3E}">
        <p14:creationId xmlns:p14="http://schemas.microsoft.com/office/powerpoint/2010/main" val="2254684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D87CF-5E92-D709-ADC1-CD5AB2C3F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BB9CF-99E0-34C2-13BD-CE711791B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Course Schedule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6C03BA8-C242-A7E3-06B9-2FDDD142A3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8000" y="1318800"/>
            <a:ext cx="11176000" cy="495514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C366FE1-DAFA-E7EC-025F-E1D1E8686851}"/>
              </a:ext>
            </a:extLst>
          </p:cNvPr>
          <p:cNvSpPr/>
          <p:nvPr/>
        </p:nvSpPr>
        <p:spPr>
          <a:xfrm>
            <a:off x="159744" y="3000396"/>
            <a:ext cx="6284332" cy="3072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919185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9F51F-ADCA-105D-6A2E-72EBEFFBB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0DA68-9A3E-BE02-724E-F79475A24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0" y="3038862"/>
            <a:ext cx="1918505" cy="780276"/>
          </a:xfrm>
        </p:spPr>
        <p:txBody>
          <a:bodyPr/>
          <a:lstStyle/>
          <a:p>
            <a:r>
              <a:rPr lang="en-US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2846455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98111-2BCA-9053-6721-11BD38B85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C19FB-DB9E-7F3E-0C35-8BBBE3132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279" y="2827106"/>
            <a:ext cx="7053360" cy="780276"/>
          </a:xfrm>
        </p:spPr>
        <p:txBody>
          <a:bodyPr/>
          <a:lstStyle/>
          <a:p>
            <a:r>
              <a:rPr lang="en-US" dirty="0"/>
              <a:t>What is the purpose of user defined functions?</a:t>
            </a:r>
          </a:p>
        </p:txBody>
      </p:sp>
    </p:spTree>
    <p:extLst>
      <p:ext uri="{BB962C8B-B14F-4D97-AF65-F5344CB8AC3E}">
        <p14:creationId xmlns:p14="http://schemas.microsoft.com/office/powerpoint/2010/main" val="1474776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5F3F1-C88B-399C-4E5D-94AC701A6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CB736-F71E-1BE5-9659-45563786C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2159" y="2875233"/>
            <a:ext cx="7053360" cy="780276"/>
          </a:xfrm>
        </p:spPr>
        <p:txBody>
          <a:bodyPr/>
          <a:lstStyle/>
          <a:p>
            <a:r>
              <a:rPr lang="en-US" dirty="0"/>
              <a:t>How do you define a function, and how do you use it?</a:t>
            </a:r>
          </a:p>
        </p:txBody>
      </p:sp>
    </p:spTree>
    <p:extLst>
      <p:ext uri="{BB962C8B-B14F-4D97-AF65-F5344CB8AC3E}">
        <p14:creationId xmlns:p14="http://schemas.microsoft.com/office/powerpoint/2010/main" val="1662336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5B1A7-8E0E-589E-EB86-60B4773E0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A3DAE-54C2-F616-33A3-63FF6D72F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3283" y="1181186"/>
            <a:ext cx="7053360" cy="780276"/>
          </a:xfrm>
        </p:spPr>
        <p:txBody>
          <a:bodyPr/>
          <a:lstStyle/>
          <a:p>
            <a:r>
              <a:rPr lang="en-US" dirty="0"/>
              <a:t>Let’s make this a function:</a:t>
            </a:r>
          </a:p>
        </p:txBody>
      </p:sp>
      <p:pic>
        <p:nvPicPr>
          <p:cNvPr id="3" name="Picture 2" descr="The compound interest formula: A = P(1 + r/n)^nt">
            <a:extLst>
              <a:ext uri="{FF2B5EF4-FFF2-40B4-BE49-F238E27FC236}">
                <a16:creationId xmlns:a16="http://schemas.microsoft.com/office/drawing/2014/main" id="{28EB7F59-C3C8-A0C1-2E1A-91BCEE397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4565" y="1851046"/>
            <a:ext cx="3956700" cy="215488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9D2CF20-5FF3-CF01-AD9F-9B2D15DA21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173274"/>
              </p:ext>
            </p:extLst>
          </p:nvPr>
        </p:nvGraphicFramePr>
        <p:xfrm>
          <a:off x="423511" y="4153514"/>
          <a:ext cx="10518809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3135">
                  <a:extLst>
                    <a:ext uri="{9D8B030D-6E8A-4147-A177-3AD203B41FA5}">
                      <a16:colId xmlns:a16="http://schemas.microsoft.com/office/drawing/2014/main" val="1599770990"/>
                    </a:ext>
                  </a:extLst>
                </a:gridCol>
                <a:gridCol w="1753135">
                  <a:extLst>
                    <a:ext uri="{9D8B030D-6E8A-4147-A177-3AD203B41FA5}">
                      <a16:colId xmlns:a16="http://schemas.microsoft.com/office/drawing/2014/main" val="2076677805"/>
                    </a:ext>
                  </a:extLst>
                </a:gridCol>
                <a:gridCol w="1753135">
                  <a:extLst>
                    <a:ext uri="{9D8B030D-6E8A-4147-A177-3AD203B41FA5}">
                      <a16:colId xmlns:a16="http://schemas.microsoft.com/office/drawing/2014/main" val="4293853211"/>
                    </a:ext>
                  </a:extLst>
                </a:gridCol>
                <a:gridCol w="1992087">
                  <a:extLst>
                    <a:ext uri="{9D8B030D-6E8A-4147-A177-3AD203B41FA5}">
                      <a16:colId xmlns:a16="http://schemas.microsoft.com/office/drawing/2014/main" val="2141661481"/>
                    </a:ext>
                  </a:extLst>
                </a:gridCol>
                <a:gridCol w="1514182">
                  <a:extLst>
                    <a:ext uri="{9D8B030D-6E8A-4147-A177-3AD203B41FA5}">
                      <a16:colId xmlns:a16="http://schemas.microsoft.com/office/drawing/2014/main" val="1863223125"/>
                    </a:ext>
                  </a:extLst>
                </a:gridCol>
                <a:gridCol w="1753135">
                  <a:extLst>
                    <a:ext uri="{9D8B030D-6E8A-4147-A177-3AD203B41FA5}">
                      <a16:colId xmlns:a16="http://schemas.microsoft.com/office/drawing/2014/main" val="2610029996"/>
                    </a:ext>
                  </a:extLst>
                </a:gridCol>
              </a:tblGrid>
              <a:tr h="269217">
                <a:tc>
                  <a:txBody>
                    <a:bodyPr/>
                    <a:lstStyle/>
                    <a:p>
                      <a:r>
                        <a:rPr lang="en-US" dirty="0"/>
                        <a:t>Desc.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Principal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 of times compounded annually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101573"/>
                  </a:ext>
                </a:extLst>
              </a:tr>
              <a:tr h="269217">
                <a:tc>
                  <a:txBody>
                    <a:bodyPr/>
                    <a:lstStyle/>
                    <a:p>
                      <a:r>
                        <a:rPr lang="en-US" dirty="0"/>
                        <a:t>Normal Savings Account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$1062.70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867046"/>
                  </a:ext>
                </a:extLst>
              </a:tr>
              <a:tr h="269217">
                <a:tc>
                  <a:txBody>
                    <a:bodyPr/>
                    <a:lstStyle/>
                    <a:p>
                      <a:r>
                        <a:rPr lang="en-US" dirty="0"/>
                        <a:t>Money Market Account (Amex)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$1357.02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7481328"/>
                  </a:ext>
                </a:extLst>
              </a:tr>
              <a:tr h="269217">
                <a:tc>
                  <a:txBody>
                    <a:bodyPr/>
                    <a:lstStyle/>
                    <a:p>
                      <a:r>
                        <a:rPr lang="en-US" dirty="0"/>
                        <a:t>Index Fund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$1967.15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4013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0408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B4430-1F71-D899-34E4-0D4105CCE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FF94A-3BCA-070D-C682-367F5F0F32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Utilize the </a:t>
            </a:r>
            <a:r>
              <a:rPr lang="en-US" dirty="0" err="1"/>
              <a:t>os</a:t>
            </a:r>
            <a:r>
              <a:rPr lang="en-US" dirty="0"/>
              <a:t> and </a:t>
            </a:r>
            <a:r>
              <a:rPr lang="en-US" dirty="0" err="1"/>
              <a:t>pathlib.Path</a:t>
            </a:r>
            <a:r>
              <a:rPr lang="en-US" dirty="0"/>
              <a:t> modules to navigate a filesystem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Utilize standard python functions to manipulate files</a:t>
            </a:r>
          </a:p>
        </p:txBody>
      </p:sp>
    </p:spTree>
    <p:extLst>
      <p:ext uri="{BB962C8B-B14F-4D97-AF65-F5344CB8AC3E}">
        <p14:creationId xmlns:p14="http://schemas.microsoft.com/office/powerpoint/2010/main" val="3616642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09D6BAA-9655-19E9-C6CF-82D4EC658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 module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EAAC7B-2455-0DE6-A3BC-5EE8916C5C2B}"/>
              </a:ext>
            </a:extLst>
          </p:cNvPr>
          <p:cNvSpPr txBox="1"/>
          <p:nvPr/>
        </p:nvSpPr>
        <p:spPr>
          <a:xfrm>
            <a:off x="1568919" y="2644170"/>
            <a:ext cx="945200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effectLst/>
              </a:rPr>
              <a:t>The </a:t>
            </a:r>
            <a:r>
              <a:rPr lang="en-US" sz="2400" dirty="0" err="1">
                <a:effectLst/>
                <a:latin typeface="Courier New" panose="02070309020205020404" pitchFamily="49" charset="0"/>
              </a:rPr>
              <a:t>os</a:t>
            </a:r>
            <a:r>
              <a:rPr lang="en-US" sz="2400" dirty="0">
                <a:effectLst/>
              </a:rPr>
              <a:t> module in Python provides a way to interact with the operating system. It offers a portable interface for OS-dependent functionality, meaning your code can work across different platforms (Windows, macOS, Linux) without major changes.</a:t>
            </a:r>
          </a:p>
        </p:txBody>
      </p:sp>
    </p:spTree>
    <p:extLst>
      <p:ext uri="{BB962C8B-B14F-4D97-AF65-F5344CB8AC3E}">
        <p14:creationId xmlns:p14="http://schemas.microsoft.com/office/powerpoint/2010/main" val="3047554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123D4-A2D3-08B3-B783-E6FB22AEC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D382CB0-BFDC-BF66-27C5-CBF3BC856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 module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112ADD-1C51-54EA-2E61-795ABC93AAA7}"/>
              </a:ext>
            </a:extLst>
          </p:cNvPr>
          <p:cNvSpPr txBox="1"/>
          <p:nvPr/>
        </p:nvSpPr>
        <p:spPr>
          <a:xfrm>
            <a:off x="548640" y="1163346"/>
            <a:ext cx="9057373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Core purposes: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b="1" dirty="0"/>
              <a:t>1. File &amp; Directory Operations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Create, rename, delete files and directories (</a:t>
            </a:r>
            <a:r>
              <a:rPr lang="en-US" sz="2000" dirty="0" err="1">
                <a:latin typeface="Courier New" panose="02070309020205020404" pitchFamily="49" charset="0"/>
              </a:rPr>
              <a:t>os.mkdir</a:t>
            </a:r>
            <a:r>
              <a:rPr lang="en-US" sz="2000" dirty="0">
                <a:latin typeface="Courier New" panose="02070309020205020404" pitchFamily="49" charset="0"/>
              </a:rPr>
              <a:t>()</a:t>
            </a:r>
            <a:r>
              <a:rPr lang="en-US" sz="2000" dirty="0"/>
              <a:t>, </a:t>
            </a:r>
            <a:r>
              <a:rPr lang="en-US" sz="2000" dirty="0" err="1">
                <a:latin typeface="Courier New" panose="02070309020205020404" pitchFamily="49" charset="0"/>
              </a:rPr>
              <a:t>os.remove</a:t>
            </a:r>
            <a:r>
              <a:rPr lang="en-US" sz="2000" dirty="0">
                <a:latin typeface="Courier New" panose="02070309020205020404" pitchFamily="49" charset="0"/>
              </a:rPr>
              <a:t>()</a:t>
            </a:r>
            <a:r>
              <a:rPr lang="en-US" sz="2000" dirty="0"/>
              <a:t>, </a:t>
            </a:r>
            <a:r>
              <a:rPr lang="en-US" sz="2000" dirty="0" err="1">
                <a:latin typeface="Courier New" panose="02070309020205020404" pitchFamily="49" charset="0"/>
              </a:rPr>
              <a:t>os.rename</a:t>
            </a:r>
            <a:r>
              <a:rPr lang="en-US" sz="2000" dirty="0">
                <a:latin typeface="Courier New" panose="02070309020205020404" pitchFamily="49" charset="0"/>
              </a:rPr>
              <a:t>()</a:t>
            </a:r>
            <a:r>
              <a:rPr lang="en-US" sz="20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List directory contents (</a:t>
            </a:r>
            <a:r>
              <a:rPr lang="en-US" sz="2000" dirty="0" err="1">
                <a:latin typeface="Courier New" panose="02070309020205020404" pitchFamily="49" charset="0"/>
              </a:rPr>
              <a:t>os.listdir</a:t>
            </a:r>
            <a:r>
              <a:rPr lang="en-US" sz="2000" dirty="0">
                <a:latin typeface="Courier New" panose="02070309020205020404" pitchFamily="49" charset="0"/>
              </a:rPr>
              <a:t>()</a:t>
            </a:r>
            <a:r>
              <a:rPr lang="en-US" sz="20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Check if paths exist (</a:t>
            </a:r>
            <a:r>
              <a:rPr lang="en-US" sz="2000" dirty="0" err="1">
                <a:latin typeface="Courier New" panose="02070309020205020404" pitchFamily="49" charset="0"/>
              </a:rPr>
              <a:t>os.path.exists</a:t>
            </a:r>
            <a:r>
              <a:rPr lang="en-US" sz="2000" dirty="0">
                <a:latin typeface="Courier New" panose="02070309020205020404" pitchFamily="49" charset="0"/>
              </a:rPr>
              <a:t>()</a:t>
            </a:r>
            <a:r>
              <a:rPr lang="en-US" sz="20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None/>
            </a:pPr>
            <a:r>
              <a:rPr lang="en-US" sz="2000" b="1" dirty="0"/>
              <a:t>2. Path Manipulation</a:t>
            </a:r>
            <a:r>
              <a:rPr lang="en-US" sz="2000" dirty="0"/>
              <a:t> (via </a:t>
            </a:r>
            <a:r>
              <a:rPr lang="en-US" sz="2000" dirty="0" err="1">
                <a:latin typeface="Courier New" panose="02070309020205020404" pitchFamily="49" charset="0"/>
              </a:rPr>
              <a:t>os.path</a:t>
            </a:r>
            <a:r>
              <a:rPr lang="en-US" sz="20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Join paths portably: </a:t>
            </a:r>
            <a:r>
              <a:rPr lang="en-US" sz="2000" dirty="0" err="1">
                <a:latin typeface="Courier New" panose="02070309020205020404" pitchFamily="49" charset="0"/>
              </a:rPr>
              <a:t>os.path.join</a:t>
            </a:r>
            <a:r>
              <a:rPr lang="en-US" sz="2000" dirty="0">
                <a:latin typeface="Courier New" panose="02070309020205020404" pitchFamily="49" charset="0"/>
              </a:rPr>
              <a:t>("folder", "file.txt")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Split paths, get extensions, get filenames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Get absolute paths: </a:t>
            </a:r>
            <a:r>
              <a:rPr lang="en-US" sz="2000" dirty="0" err="1">
                <a:latin typeface="Courier New" panose="02070309020205020404" pitchFamily="49" charset="0"/>
              </a:rPr>
              <a:t>os.path.abspath</a:t>
            </a:r>
            <a:r>
              <a:rPr lang="en-US" sz="2000" dirty="0">
                <a:latin typeface="Courier New" panose="02070309020205020404" pitchFamily="49" charset="0"/>
              </a:rPr>
              <a:t>()</a:t>
            </a:r>
          </a:p>
          <a:p>
            <a:endParaRPr lang="en-US" sz="2000" dirty="0"/>
          </a:p>
          <a:p>
            <a:pPr>
              <a:buNone/>
            </a:pPr>
            <a:r>
              <a:rPr lang="en-US" sz="2000" b="1" dirty="0"/>
              <a:t>3. Environment Variables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Read and set environment variables: </a:t>
            </a:r>
            <a:r>
              <a:rPr lang="en-US" sz="2000" dirty="0" err="1">
                <a:latin typeface="Courier New" panose="02070309020205020404" pitchFamily="49" charset="0"/>
              </a:rPr>
              <a:t>os.environ.get</a:t>
            </a:r>
            <a:r>
              <a:rPr lang="en-US" sz="2000" dirty="0">
                <a:latin typeface="Courier New" panose="02070309020205020404" pitchFamily="49" charset="0"/>
              </a:rPr>
              <a:t>("HOME")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Useful for configuration and secrets management</a:t>
            </a:r>
          </a:p>
        </p:txBody>
      </p:sp>
    </p:spTree>
    <p:extLst>
      <p:ext uri="{BB962C8B-B14F-4D97-AF65-F5344CB8AC3E}">
        <p14:creationId xmlns:p14="http://schemas.microsoft.com/office/powerpoint/2010/main" val="1445905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5DB9B-778B-D784-EEFF-499CD7298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05527BD-32A5-B3DE-7772-85311FADB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 module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CA9FAD-4092-3AAA-0B79-C624B685B9F4}"/>
              </a:ext>
            </a:extLst>
          </p:cNvPr>
          <p:cNvSpPr txBox="1"/>
          <p:nvPr/>
        </p:nvSpPr>
        <p:spPr>
          <a:xfrm>
            <a:off x="548640" y="1432853"/>
            <a:ext cx="905737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3. Environment Variables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Read and set environment variables: </a:t>
            </a:r>
            <a:r>
              <a:rPr lang="en-US" sz="2000" dirty="0" err="1">
                <a:latin typeface="Courier New" panose="02070309020205020404" pitchFamily="49" charset="0"/>
              </a:rPr>
              <a:t>os.environ.get</a:t>
            </a:r>
            <a:r>
              <a:rPr lang="en-US" sz="2000" dirty="0">
                <a:latin typeface="Courier New" panose="02070309020205020404" pitchFamily="49" charset="0"/>
              </a:rPr>
              <a:t>("HOME")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Useful for configuration and secrets management</a:t>
            </a:r>
          </a:p>
          <a:p>
            <a:endParaRPr lang="en-US" sz="2000" dirty="0"/>
          </a:p>
          <a:p>
            <a:pPr>
              <a:buNone/>
            </a:pPr>
            <a:r>
              <a:rPr lang="en-US" sz="2000" b="1" dirty="0"/>
              <a:t>4. Process Management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Get the current process ID: </a:t>
            </a:r>
            <a:r>
              <a:rPr lang="en-US" sz="2000" dirty="0" err="1">
                <a:latin typeface="Courier New" panose="02070309020205020404" pitchFamily="49" charset="0"/>
              </a:rPr>
              <a:t>os.getpid</a:t>
            </a:r>
            <a:r>
              <a:rPr lang="en-US" sz="2000" dirty="0">
                <a:latin typeface="Courier New" panose="02070309020205020404" pitchFamily="49" charset="0"/>
              </a:rPr>
              <a:t>()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Run shell commands: </a:t>
            </a:r>
            <a:r>
              <a:rPr lang="en-US" sz="2000" dirty="0" err="1">
                <a:latin typeface="Courier New" panose="02070309020205020404" pitchFamily="49" charset="0"/>
              </a:rPr>
              <a:t>os.system</a:t>
            </a:r>
            <a:r>
              <a:rPr lang="en-US" sz="2000" dirty="0">
                <a:latin typeface="Courier New" panose="02070309020205020404" pitchFamily="49" charset="0"/>
              </a:rPr>
              <a:t>("ls")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Terminate the process: </a:t>
            </a:r>
            <a:r>
              <a:rPr lang="en-US" sz="2000" dirty="0" err="1">
                <a:latin typeface="Courier New" panose="02070309020205020404" pitchFamily="49" charset="0"/>
              </a:rPr>
              <a:t>os.exit</a:t>
            </a:r>
            <a:r>
              <a:rPr lang="en-US" sz="2000" dirty="0">
                <a:latin typeface="Courier New" panose="02070309020205020404" pitchFamily="49" charset="0"/>
              </a:rPr>
              <a:t>()</a:t>
            </a:r>
          </a:p>
          <a:p>
            <a:endParaRPr lang="en-US" sz="2000" dirty="0"/>
          </a:p>
          <a:p>
            <a:pPr>
              <a:buNone/>
            </a:pPr>
            <a:r>
              <a:rPr lang="en-US" sz="2000" b="1" dirty="0"/>
              <a:t>5. System Information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Get the current working directory: </a:t>
            </a:r>
            <a:r>
              <a:rPr lang="en-US" sz="2000" dirty="0" err="1">
                <a:latin typeface="Courier New" panose="02070309020205020404" pitchFamily="49" charset="0"/>
              </a:rPr>
              <a:t>os.getcwd</a:t>
            </a:r>
            <a:r>
              <a:rPr lang="en-US" sz="2000" dirty="0">
                <a:latin typeface="Courier New" panose="02070309020205020404" pitchFamily="49" charset="0"/>
              </a:rPr>
              <a:t>()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Change the working directory: </a:t>
            </a:r>
            <a:r>
              <a:rPr lang="en-US" sz="2000" dirty="0" err="1">
                <a:latin typeface="Courier New" panose="02070309020205020404" pitchFamily="49" charset="0"/>
              </a:rPr>
              <a:t>os.chdir</a:t>
            </a:r>
            <a:r>
              <a:rPr lang="en-US" sz="2000" dirty="0">
                <a:latin typeface="Courier New" panose="02070309020205020404" pitchFamily="49" charset="0"/>
              </a:rPr>
              <a:t>()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Detect the OS name: </a:t>
            </a:r>
            <a:r>
              <a:rPr lang="en-US" sz="2000" dirty="0">
                <a:latin typeface="Courier New" panose="02070309020205020404" pitchFamily="49" charset="0"/>
              </a:rPr>
              <a:t>os.name</a:t>
            </a:r>
            <a:r>
              <a:rPr lang="en-US" sz="2000" dirty="0"/>
              <a:t> (returns </a:t>
            </a:r>
            <a:r>
              <a:rPr lang="en-US" sz="2000" dirty="0">
                <a:latin typeface="Courier New" panose="02070309020205020404" pitchFamily="49" charset="0"/>
              </a:rPr>
              <a:t>'</a:t>
            </a:r>
            <a:r>
              <a:rPr lang="en-US" sz="2000" dirty="0" err="1">
                <a:latin typeface="Courier New" panose="02070309020205020404" pitchFamily="49" charset="0"/>
              </a:rPr>
              <a:t>nt</a:t>
            </a:r>
            <a:r>
              <a:rPr lang="en-US" sz="2000" dirty="0">
                <a:latin typeface="Courier New" panose="02070309020205020404" pitchFamily="49" charset="0"/>
              </a:rPr>
              <a:t>'</a:t>
            </a:r>
            <a:r>
              <a:rPr lang="en-US" sz="2000" dirty="0"/>
              <a:t> for Windows, </a:t>
            </a:r>
            <a:r>
              <a:rPr lang="en-US" sz="2000" dirty="0">
                <a:latin typeface="Courier New" panose="02070309020205020404" pitchFamily="49" charset="0"/>
              </a:rPr>
              <a:t>'</a:t>
            </a:r>
            <a:r>
              <a:rPr lang="en-US" sz="2000" dirty="0" err="1">
                <a:latin typeface="Courier New" panose="02070309020205020404" pitchFamily="49" charset="0"/>
              </a:rPr>
              <a:t>posix</a:t>
            </a:r>
            <a:r>
              <a:rPr lang="en-US" sz="2000" dirty="0">
                <a:latin typeface="Courier New" panose="02070309020205020404" pitchFamily="49" charset="0"/>
              </a:rPr>
              <a:t>'</a:t>
            </a:r>
            <a:r>
              <a:rPr lang="en-US" sz="2000" dirty="0"/>
              <a:t> for Unix-like)</a:t>
            </a:r>
          </a:p>
        </p:txBody>
      </p:sp>
    </p:spTree>
    <p:extLst>
      <p:ext uri="{BB962C8B-B14F-4D97-AF65-F5344CB8AC3E}">
        <p14:creationId xmlns:p14="http://schemas.microsoft.com/office/powerpoint/2010/main" val="2241926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6BE58-32B6-30D1-487B-C96B505F4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DF80F5D-5ED0-15D7-7DF7-33F5C3C98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 module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092DC3-1E09-34CE-200B-596ED5150F7E}"/>
              </a:ext>
            </a:extLst>
          </p:cNvPr>
          <p:cNvSpPr txBox="1"/>
          <p:nvPr/>
        </p:nvSpPr>
        <p:spPr>
          <a:xfrm>
            <a:off x="548640" y="1163346"/>
            <a:ext cx="90573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Example:</a:t>
            </a: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A7393B-CC8D-C392-6584-D943609023EF}"/>
              </a:ext>
            </a:extLst>
          </p:cNvPr>
          <p:cNvSpPr txBox="1"/>
          <p:nvPr/>
        </p:nvSpPr>
        <p:spPr>
          <a:xfrm>
            <a:off x="548640" y="1807195"/>
            <a:ext cx="785662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import </a:t>
            </a:r>
            <a:r>
              <a:rPr lang="en-US" dirty="0" err="1"/>
              <a:t>os</a:t>
            </a:r>
            <a:endParaRPr lang="en-US" dirty="0"/>
          </a:p>
          <a:p>
            <a:endParaRPr lang="en-US" dirty="0"/>
          </a:p>
          <a:p>
            <a:r>
              <a:rPr lang="en-US" dirty="0"/>
              <a:t># Get current directory</a:t>
            </a:r>
          </a:p>
          <a:p>
            <a:r>
              <a:rPr lang="en-US" dirty="0"/>
              <a:t>print(</a:t>
            </a:r>
            <a:r>
              <a:rPr lang="en-US" dirty="0" err="1"/>
              <a:t>os.getcwd</a:t>
            </a:r>
            <a:r>
              <a:rPr lang="en-US" dirty="0"/>
              <a:t>())</a:t>
            </a:r>
          </a:p>
          <a:p>
            <a:endParaRPr lang="en-US" dirty="0"/>
          </a:p>
          <a:p>
            <a:r>
              <a:rPr lang="en-US" dirty="0"/>
              <a:t># Build a cross-platform path</a:t>
            </a:r>
          </a:p>
          <a:p>
            <a:r>
              <a:rPr lang="en-US" dirty="0"/>
              <a:t>path = </a:t>
            </a:r>
            <a:r>
              <a:rPr lang="en-US" dirty="0" err="1"/>
              <a:t>os.path.join</a:t>
            </a:r>
            <a:r>
              <a:rPr lang="en-US" dirty="0"/>
              <a:t>("data", "reports", "summary.csv")</a:t>
            </a:r>
          </a:p>
          <a:p>
            <a:endParaRPr lang="en-US" dirty="0"/>
          </a:p>
          <a:p>
            <a:r>
              <a:rPr lang="en-US" dirty="0"/>
              <a:t># Check if it exists</a:t>
            </a:r>
          </a:p>
          <a:p>
            <a:r>
              <a:rPr lang="en-US" dirty="0"/>
              <a:t>if </a:t>
            </a:r>
            <a:r>
              <a:rPr lang="en-US" dirty="0" err="1"/>
              <a:t>os.path.exists</a:t>
            </a:r>
            <a:r>
              <a:rPr lang="en-US" dirty="0"/>
              <a:t>(path):</a:t>
            </a:r>
          </a:p>
          <a:p>
            <a:r>
              <a:rPr lang="en-US" dirty="0"/>
              <a:t>    print("File found!")</a:t>
            </a:r>
          </a:p>
          <a:p>
            <a:endParaRPr lang="en-US" dirty="0"/>
          </a:p>
          <a:p>
            <a:r>
              <a:rPr lang="en-US" dirty="0"/>
              <a:t># Read an environment variable</a:t>
            </a:r>
          </a:p>
          <a:p>
            <a:r>
              <a:rPr lang="en-US" dirty="0" err="1"/>
              <a:t>api_key</a:t>
            </a:r>
            <a:r>
              <a:rPr lang="en-US" dirty="0"/>
              <a:t> = </a:t>
            </a:r>
            <a:r>
              <a:rPr lang="en-US" dirty="0" err="1"/>
              <a:t>os.environ.get</a:t>
            </a:r>
            <a:r>
              <a:rPr lang="en-US" dirty="0"/>
              <a:t>("API_KEY", "</a:t>
            </a:r>
            <a:r>
              <a:rPr lang="en-US" dirty="0" err="1"/>
              <a:t>default_value</a:t>
            </a:r>
            <a:r>
              <a:rPr lang="en-US" dirty="0"/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2943770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51596-B14D-9799-A145-8ABF524A2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A4A9818-0F78-071F-6EEC-65D52670A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 module CHEATSHEET</a:t>
            </a:r>
          </a:p>
        </p:txBody>
      </p:sp>
      <p:graphicFrame>
        <p:nvGraphicFramePr>
          <p:cNvPr id="17" name="Content Placeholder 16">
            <a:extLst>
              <a:ext uri="{FF2B5EF4-FFF2-40B4-BE49-F238E27FC236}">
                <a16:creationId xmlns:a16="http://schemas.microsoft.com/office/drawing/2014/main" id="{720F2C90-5683-D0A6-0655-8EA8AF3F7C3F}"/>
              </a:ext>
            </a:extLst>
          </p:cNvPr>
          <p:cNvGraphicFramePr>
            <a:graphicFrameLocks noGrp="1"/>
          </p:cNvGraphicFramePr>
          <p:nvPr>
            <p:ph idx="4294967295"/>
          </p:nvPr>
        </p:nvGraphicFramePr>
        <p:xfrm>
          <a:off x="1112870" y="2173288"/>
          <a:ext cx="10515600" cy="3505200"/>
        </p:xfrm>
        <a:graphic>
          <a:graphicData uri="http://schemas.openxmlformats.org/drawingml/2006/table">
            <a:tbl>
              <a:tblPr/>
              <a:tblGrid>
                <a:gridCol w="2686497">
                  <a:extLst>
                    <a:ext uri="{9D8B030D-6E8A-4147-A177-3AD203B41FA5}">
                      <a16:colId xmlns:a16="http://schemas.microsoft.com/office/drawing/2014/main" val="1648361101"/>
                    </a:ext>
                  </a:extLst>
                </a:gridCol>
                <a:gridCol w="7829103">
                  <a:extLst>
                    <a:ext uri="{9D8B030D-6E8A-4147-A177-3AD203B41FA5}">
                      <a16:colId xmlns:a16="http://schemas.microsoft.com/office/drawing/2014/main" val="6975474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Python 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6904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os.getcwd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Returns the current working directory.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7448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os.chdir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(path)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Changes the current working directory.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408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os.listdir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(path='.')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Lists files and directories in the given path.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188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os.mkdir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(path)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Creates a single directory.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39455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os.makedirs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(path)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Creates nested directories recursively.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447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os.remove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(path)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Deletes a file.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539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os.rmdir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(path)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Removes a directory (must be empty).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673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os.rename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src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dst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Renames or moves a file or directory.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1737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os.stat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(path)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Returns info about a file (like size, modified time).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2125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2494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F72CA-F00B-B9C0-3905-1071A14C1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Look familiar?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96D637A-E869-9722-DE6A-4578A35F3330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995929412"/>
              </p:ext>
            </p:extLst>
          </p:nvPr>
        </p:nvGraphicFramePr>
        <p:xfrm>
          <a:off x="1488558" y="2173288"/>
          <a:ext cx="10132826" cy="3505200"/>
        </p:xfrm>
        <a:graphic>
          <a:graphicData uri="http://schemas.openxmlformats.org/drawingml/2006/table">
            <a:tbl>
              <a:tblPr/>
              <a:tblGrid>
                <a:gridCol w="3122426">
                  <a:extLst>
                    <a:ext uri="{9D8B030D-6E8A-4147-A177-3AD203B41FA5}">
                      <a16:colId xmlns:a16="http://schemas.microsoft.com/office/drawing/2014/main" val="350030605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3165880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210888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Python 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Linux Command Equivalent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5829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os.getcwd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Get current working directory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pwd</a:t>
                      </a:r>
                      <a:endParaRPr lang="en-US" b="1" dirty="0">
                        <a:solidFill>
                          <a:schemeClr val="tx2"/>
                        </a:solidFill>
                        <a:latin typeface="Consolas" panose="020B06090202040302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7787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os.chdir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(path)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Change current directory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cd path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9680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os.listdir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(path='.')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List files and directories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3325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os.mkdir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(path)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Create a directory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mkdir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 path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077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os.makedirs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(path)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Create nested directories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mkdir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 -p path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2813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os.remove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(path)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Delete a 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rm path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823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os.rmdir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(path)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Remove empty directory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rmdir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 path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5573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os.rename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src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dst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Rename or move file/directory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mv </a:t>
                      </a: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src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dst</a:t>
                      </a:r>
                      <a:endParaRPr lang="en-US" b="1" dirty="0">
                        <a:solidFill>
                          <a:schemeClr val="tx2"/>
                        </a:solidFill>
                        <a:latin typeface="Consolas" panose="020B06090202040302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3127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os.stat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(path)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Get file/directory status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stat path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89051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20305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3C8FF-9D57-C917-5486-9DF6A2A13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Pathlib</a:t>
            </a:r>
            <a:r>
              <a:rPr lang="en-US" dirty="0"/>
              <a:t> MODULE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2F5D29-5829-7D46-48F0-1383B37B0E8D}"/>
              </a:ext>
            </a:extLst>
          </p:cNvPr>
          <p:cNvSpPr txBox="1"/>
          <p:nvPr/>
        </p:nvSpPr>
        <p:spPr>
          <a:xfrm>
            <a:off x="464489" y="867350"/>
            <a:ext cx="74709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 object-oriented* focused path library</a:t>
            </a:r>
          </a:p>
          <a:p>
            <a:br>
              <a:rPr lang="en-US" dirty="0">
                <a:solidFill>
                  <a:schemeClr val="tx2"/>
                </a:solidFill>
                <a:latin typeface="Consolas" panose="020B0609020204030204" pitchFamily="49" charset="0"/>
              </a:rPr>
            </a:br>
            <a:endParaRPr lang="en-US" dirty="0">
              <a:solidFill>
                <a:schemeClr val="tx2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15F2D2-2B20-5D6E-8E5E-C90D04170D39}"/>
              </a:ext>
            </a:extLst>
          </p:cNvPr>
          <p:cNvSpPr txBox="1"/>
          <p:nvPr/>
        </p:nvSpPr>
        <p:spPr>
          <a:xfrm>
            <a:off x="548640" y="1447837"/>
            <a:ext cx="914640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The </a:t>
            </a:r>
            <a:r>
              <a:rPr lang="en-US" dirty="0" err="1">
                <a:latin typeface="Courier New" panose="02070309020205020404" pitchFamily="49" charset="0"/>
              </a:rPr>
              <a:t>pathlib</a:t>
            </a:r>
            <a:r>
              <a:rPr lang="en-US" dirty="0"/>
              <a:t> module (introduced in Python 3.4) provides an </a:t>
            </a:r>
            <a:r>
              <a:rPr lang="en-US" b="1" dirty="0"/>
              <a:t>object-oriented approach to filesystem paths</a:t>
            </a:r>
            <a:r>
              <a:rPr lang="en-US" dirty="0"/>
              <a:t>, treating paths as objects rather than plain strings. It's the modern alternative to </a:t>
            </a:r>
            <a:r>
              <a:rPr lang="en-US" dirty="0" err="1">
                <a:latin typeface="Courier New" panose="02070309020205020404" pitchFamily="49" charset="0"/>
              </a:rPr>
              <a:t>os.path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Core purposes:</a:t>
            </a:r>
            <a:endParaRPr lang="en-US" dirty="0"/>
          </a:p>
          <a:p>
            <a:pPr>
              <a:buNone/>
            </a:pPr>
            <a:r>
              <a:rPr lang="en-US" b="1" dirty="0"/>
              <a:t>1. Path Creation &amp; Representation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Paths are objects, not strings: </a:t>
            </a:r>
            <a:r>
              <a:rPr lang="en-US" dirty="0">
                <a:latin typeface="Courier New" panose="02070309020205020404" pitchFamily="49" charset="0"/>
              </a:rPr>
              <a:t>p = Path("/home/user/file.txt")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Automatically handles </a:t>
            </a:r>
            <a:r>
              <a:rPr lang="en-US" dirty="0">
                <a:latin typeface="Courier New" panose="02070309020205020404" pitchFamily="49" charset="0"/>
              </a:rPr>
              <a:t>/</a:t>
            </a:r>
            <a:r>
              <a:rPr lang="en-US" dirty="0"/>
              <a:t> vs </a:t>
            </a:r>
            <a:r>
              <a:rPr lang="en-US" dirty="0">
                <a:latin typeface="Courier New" panose="02070309020205020404" pitchFamily="49" charset="0"/>
              </a:rPr>
              <a:t>\</a:t>
            </a:r>
            <a:r>
              <a:rPr lang="en-US" dirty="0"/>
              <a:t> across platforms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dirty="0">
                <a:latin typeface="Courier New" panose="02070309020205020404" pitchFamily="49" charset="0"/>
              </a:rPr>
              <a:t>/</a:t>
            </a:r>
            <a:r>
              <a:rPr lang="en-US" dirty="0"/>
              <a:t> operator to join paths intuitively: </a:t>
            </a:r>
            <a:r>
              <a:rPr lang="en-US" dirty="0">
                <a:latin typeface="Courier New" panose="02070309020205020404" pitchFamily="49" charset="0"/>
              </a:rPr>
              <a:t>Path("folder") / "sub" / "file.txt“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2. File &amp; Directory Operations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 directories: </a:t>
            </a:r>
            <a:r>
              <a:rPr lang="en-US" dirty="0" err="1">
                <a:latin typeface="Courier New" panose="02070309020205020404" pitchFamily="49" charset="0"/>
              </a:rPr>
              <a:t>p.mkdir</a:t>
            </a:r>
            <a:r>
              <a:rPr lang="en-US" dirty="0">
                <a:latin typeface="Courier New" panose="02070309020205020404" pitchFamily="49" charset="0"/>
              </a:rPr>
              <a:t>(parents=True, </a:t>
            </a:r>
            <a:r>
              <a:rPr lang="en-US" dirty="0" err="1">
                <a:latin typeface="Courier New" panose="02070309020205020404" pitchFamily="49" charset="0"/>
              </a:rPr>
              <a:t>exist_ok</a:t>
            </a:r>
            <a:r>
              <a:rPr lang="en-US" dirty="0">
                <a:latin typeface="Courier New" panose="02070309020205020404" pitchFamily="49" charset="0"/>
              </a:rPr>
              <a:t>=True)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Delete files/</a:t>
            </a:r>
            <a:r>
              <a:rPr lang="en-US" dirty="0" err="1"/>
              <a:t>dirs</a:t>
            </a:r>
            <a:r>
              <a:rPr lang="en-US" dirty="0"/>
              <a:t>: </a:t>
            </a:r>
            <a:r>
              <a:rPr lang="en-US" dirty="0" err="1">
                <a:latin typeface="Courier New" panose="02070309020205020404" pitchFamily="49" charset="0"/>
              </a:rPr>
              <a:t>p.unlink</a:t>
            </a:r>
            <a:r>
              <a:rPr lang="en-US" dirty="0">
                <a:latin typeface="Courier New" panose="02070309020205020404" pitchFamily="49" charset="0"/>
              </a:rPr>
              <a:t>()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</a:rPr>
              <a:t>p.rmdir</a:t>
            </a:r>
            <a:r>
              <a:rPr lang="en-US" dirty="0">
                <a:latin typeface="Courier New" panose="02070309020205020404" pitchFamily="49" charset="0"/>
              </a:rPr>
              <a:t>()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Rename/move: </a:t>
            </a:r>
            <a:r>
              <a:rPr lang="en-US" dirty="0" err="1">
                <a:latin typeface="Courier New" panose="02070309020205020404" pitchFamily="49" charset="0"/>
              </a:rPr>
              <a:t>p.rename</a:t>
            </a:r>
            <a:r>
              <a:rPr lang="en-US" dirty="0">
                <a:latin typeface="Courier New" panose="02070309020205020404" pitchFamily="49" charset="0"/>
              </a:rPr>
              <a:t>("new_name.txt")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Check existence: </a:t>
            </a:r>
            <a:r>
              <a:rPr lang="en-US" dirty="0" err="1">
                <a:latin typeface="Courier New" panose="02070309020205020404" pitchFamily="49" charset="0"/>
              </a:rPr>
              <a:t>p.exists</a:t>
            </a:r>
            <a:r>
              <a:rPr lang="en-US" dirty="0">
                <a:latin typeface="Courier New" panose="02070309020205020404" pitchFamily="49" charset="0"/>
              </a:rPr>
              <a:t>()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</a:rPr>
              <a:t>p.is_file</a:t>
            </a:r>
            <a:r>
              <a:rPr lang="en-US" dirty="0">
                <a:latin typeface="Courier New" panose="02070309020205020404" pitchFamily="49" charset="0"/>
              </a:rPr>
              <a:t>()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</a:rPr>
              <a:t>p.is_dir</a:t>
            </a:r>
            <a:r>
              <a:rPr lang="en-US" dirty="0">
                <a:latin typeface="Courier New" panose="02070309020205020404" pitchFamily="49" charset="0"/>
              </a:rPr>
              <a:t>()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3. Reading &amp; Writing Files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Built-in read/write without needing </a:t>
            </a:r>
            <a:r>
              <a:rPr lang="en-US" dirty="0">
                <a:latin typeface="Courier New" panose="02070309020205020404" pitchFamily="49" charset="0"/>
              </a:rPr>
              <a:t>open()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272350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8EF1D-F5B6-86E4-49B4-405224A24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6AC84-B985-1029-ED7C-8E99DFAA3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Pathlib</a:t>
            </a:r>
            <a:r>
              <a:rPr lang="en-US" dirty="0"/>
              <a:t> MODULE CHEATSHEET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43B90EC-F1C0-A604-0EDB-A3A8317A0A30}"/>
              </a:ext>
            </a:extLst>
          </p:cNvPr>
          <p:cNvGraphicFramePr>
            <a:graphicFrameLocks noGrp="1"/>
          </p:cNvGraphicFramePr>
          <p:nvPr>
            <p:ph idx="4294967295"/>
          </p:nvPr>
        </p:nvGraphicFramePr>
        <p:xfrm>
          <a:off x="569843" y="2117311"/>
          <a:ext cx="10515600" cy="3413760"/>
        </p:xfrm>
        <a:graphic>
          <a:graphicData uri="http://schemas.openxmlformats.org/drawingml/2006/table">
            <a:tbl>
              <a:tblPr/>
              <a:tblGrid>
                <a:gridCol w="3213632">
                  <a:extLst>
                    <a:ext uri="{9D8B030D-6E8A-4147-A177-3AD203B41FA5}">
                      <a16:colId xmlns:a16="http://schemas.microsoft.com/office/drawing/2014/main" val="1408973611"/>
                    </a:ext>
                  </a:extLst>
                </a:gridCol>
                <a:gridCol w="7301968">
                  <a:extLst>
                    <a:ext uri="{9D8B030D-6E8A-4147-A177-3AD203B41FA5}">
                      <a16:colId xmlns:a16="http://schemas.microsoft.com/office/drawing/2014/main" val="3474851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Operation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Example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6799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Create / Join Path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Path('folder') / 'file.txt'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7166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Check Existence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p.exists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(), </a:t>
                      </a: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p.is_file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(), </a:t>
                      </a: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p.is_dir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3200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Read / Write 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p.read_text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(), </a:t>
                      </a: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p.write_text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('Hello')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9797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Create Directory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p.mkdir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exist_ok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=True)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6848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List Contents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f in Path('.').</a:t>
                      </a: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iterdir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():</a:t>
                      </a:r>
                      <a:b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print(f)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0103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Search Files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Path('logs').glob('*.txt')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2529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Remove 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p.unlink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0021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Get File Info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p.stat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().</a:t>
                      </a: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st_size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p.stat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().</a:t>
                      </a: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st_mtime</a:t>
                      </a:r>
                      <a:endParaRPr lang="en-US" b="1" dirty="0">
                        <a:solidFill>
                          <a:schemeClr val="tx2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36099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6EC0023-4749-02D7-5418-81CFC6532CFF}"/>
              </a:ext>
            </a:extLst>
          </p:cNvPr>
          <p:cNvSpPr txBox="1"/>
          <p:nvPr/>
        </p:nvSpPr>
        <p:spPr>
          <a:xfrm>
            <a:off x="464489" y="867350"/>
            <a:ext cx="74709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 object-oriented* focused path library</a:t>
            </a:r>
          </a:p>
          <a:p>
            <a:br>
              <a:rPr lang="en-US" dirty="0">
                <a:solidFill>
                  <a:schemeClr val="tx2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from </a:t>
            </a:r>
            <a:r>
              <a:rPr lang="en-US" dirty="0" err="1">
                <a:solidFill>
                  <a:schemeClr val="tx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pathlib</a:t>
            </a: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import Path</a:t>
            </a:r>
          </a:p>
        </p:txBody>
      </p:sp>
    </p:spTree>
    <p:extLst>
      <p:ext uri="{BB962C8B-B14F-4D97-AF65-F5344CB8AC3E}">
        <p14:creationId xmlns:p14="http://schemas.microsoft.com/office/powerpoint/2010/main" val="30094040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0A79DFE-CA6D-199F-1D8F-0A25E480F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#1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C8DBF7A-ABA5-7245-19D0-84C717D309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Navigating file structures with python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4369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9CDD8-6080-6002-43DF-A45AE5E3F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Manipulating files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48EDCE-F294-B711-19E1-CC0FFC24F34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42163BC-A88E-CDCA-639D-5B3C8DC3E870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1108957"/>
            <a:ext cx="7466275" cy="5058481"/>
          </a:xfrm>
        </p:spPr>
      </p:pic>
    </p:spTree>
    <p:extLst>
      <p:ext uri="{BB962C8B-B14F-4D97-AF65-F5344CB8AC3E}">
        <p14:creationId xmlns:p14="http://schemas.microsoft.com/office/powerpoint/2010/main" val="28623475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E909A96-B147-C0B7-6931-24BF30567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Actions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388E7BE-1112-2D62-6248-B7586DC811DD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099997113"/>
              </p:ext>
            </p:extLst>
          </p:nvPr>
        </p:nvGraphicFramePr>
        <p:xfrm>
          <a:off x="2250219" y="1529317"/>
          <a:ext cx="6762941" cy="4355832"/>
        </p:xfrm>
        <a:graphic>
          <a:graphicData uri="http://schemas.openxmlformats.org/drawingml/2006/table">
            <a:tbl>
              <a:tblPr/>
              <a:tblGrid>
                <a:gridCol w="2631882">
                  <a:extLst>
                    <a:ext uri="{9D8B030D-6E8A-4147-A177-3AD203B41FA5}">
                      <a16:colId xmlns:a16="http://schemas.microsoft.com/office/drawing/2014/main" val="3937651176"/>
                    </a:ext>
                  </a:extLst>
                </a:gridCol>
                <a:gridCol w="4131059">
                  <a:extLst>
                    <a:ext uri="{9D8B030D-6E8A-4147-A177-3AD203B41FA5}">
                      <a16:colId xmlns:a16="http://schemas.microsoft.com/office/drawing/2014/main" val="2019659395"/>
                    </a:ext>
                  </a:extLst>
                </a:gridCol>
              </a:tblGrid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Operation</a:t>
                      </a:r>
                    </a:p>
                  </a:txBody>
                  <a:tcPr marL="54069" marR="54069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Description</a:t>
                      </a:r>
                    </a:p>
                  </a:txBody>
                  <a:tcPr marL="54069" marR="54069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8546582"/>
                  </a:ext>
                </a:extLst>
              </a:tr>
              <a:tr h="58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with open('file.txt', 'r') as f:</a:t>
                      </a:r>
                      <a:br>
                        <a:rPr lang="en-US" sz="16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6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  pass</a:t>
                      </a:r>
                    </a:p>
                  </a:txBody>
                  <a:tcPr marL="54069" marR="54069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Prepare a file for reading</a:t>
                      </a:r>
                    </a:p>
                  </a:txBody>
                  <a:tcPr marL="54069" marR="54069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975046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f.read</a:t>
                      </a:r>
                      <a:r>
                        <a:rPr lang="en-US" sz="16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 marL="54069" marR="54069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Read entire file as a string</a:t>
                      </a:r>
                    </a:p>
                  </a:txBody>
                  <a:tcPr marL="54069" marR="54069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915918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f.readlines</a:t>
                      </a:r>
                      <a:r>
                        <a:rPr lang="en-US" sz="16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 marL="54069" marR="54069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Read file line by line into a list</a:t>
                      </a:r>
                    </a:p>
                  </a:txBody>
                  <a:tcPr marL="54069" marR="54069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3964758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for line in f:</a:t>
                      </a:r>
                    </a:p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  pass</a:t>
                      </a:r>
                    </a:p>
                  </a:txBody>
                  <a:tcPr marL="54069" marR="54069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Loop through file line by line</a:t>
                      </a:r>
                    </a:p>
                  </a:txBody>
                  <a:tcPr marL="54069" marR="54069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6517580"/>
                  </a:ext>
                </a:extLst>
              </a:tr>
              <a:tr h="58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with open('file.txt', 'w') as f:</a:t>
                      </a:r>
                      <a:br>
                        <a:rPr lang="en-US" sz="16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6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600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f.write</a:t>
                      </a:r>
                      <a:r>
                        <a:rPr lang="en-US" sz="16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 marL="54069" marR="54069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Overwrite with new content</a:t>
                      </a:r>
                    </a:p>
                  </a:txBody>
                  <a:tcPr marL="54069" marR="54069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4082115"/>
                  </a:ext>
                </a:extLst>
              </a:tr>
              <a:tr h="58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with open('file.txt', 'a') as f:</a:t>
                      </a:r>
                      <a:br>
                        <a:rPr lang="en-US" sz="16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6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  pass</a:t>
                      </a:r>
                    </a:p>
                  </a:txBody>
                  <a:tcPr marL="54069" marR="54069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Add content to end without erasing existing</a:t>
                      </a:r>
                    </a:p>
                  </a:txBody>
                  <a:tcPr marL="54069" marR="54069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201874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f.writelines</a:t>
                      </a:r>
                      <a:r>
                        <a:rPr lang="en-US" sz="16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(lines)</a:t>
                      </a:r>
                    </a:p>
                  </a:txBody>
                  <a:tcPr marL="54069" marR="54069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Write a list of strings</a:t>
                      </a:r>
                    </a:p>
                  </a:txBody>
                  <a:tcPr marL="54069" marR="54069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3087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23372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C732B-C0CE-A8CC-4FEF-491CF35AB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word about context managers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0CE308F-920C-D8CC-CD6B-88212B274861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3"/>
          <a:stretch>
            <a:fillRect/>
          </a:stretch>
        </p:blipFill>
        <p:spPr>
          <a:xfrm>
            <a:off x="191386" y="1600518"/>
            <a:ext cx="7738252" cy="1401135"/>
          </a:xfr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E1785C3-B737-6AE0-022D-86EB020BB4A4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4"/>
          <a:stretch>
            <a:fillRect/>
          </a:stretch>
        </p:blipFill>
        <p:spPr>
          <a:xfrm>
            <a:off x="191386" y="3910530"/>
            <a:ext cx="8406804" cy="1401134"/>
          </a:xfrm>
        </p:spPr>
      </p:pic>
    </p:spTree>
    <p:extLst>
      <p:ext uri="{BB962C8B-B14F-4D97-AF65-F5344CB8AC3E}">
        <p14:creationId xmlns:p14="http://schemas.microsoft.com/office/powerpoint/2010/main" val="26126673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F48DEDE-6A36-9908-9DD1-7ACF62122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word…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9459C75-8E15-77A8-710F-D2EEC8AB06C9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333153" y="1383933"/>
            <a:ext cx="11015321" cy="1189037"/>
          </a:xfrm>
        </p:spPr>
      </p:pic>
    </p:spTree>
    <p:extLst>
      <p:ext uri="{BB962C8B-B14F-4D97-AF65-F5344CB8AC3E}">
        <p14:creationId xmlns:p14="http://schemas.microsoft.com/office/powerpoint/2010/main" val="30210227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B703F05-852F-AE03-891C-5F619074C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#2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C8BCFF-F88D-9947-8910-B16FF4E68C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Manipulate files in python</a:t>
            </a:r>
          </a:p>
        </p:txBody>
      </p:sp>
    </p:spTree>
    <p:extLst>
      <p:ext uri="{BB962C8B-B14F-4D97-AF65-F5344CB8AC3E}">
        <p14:creationId xmlns:p14="http://schemas.microsoft.com/office/powerpoint/2010/main" val="8634858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8D62AE3-67D3-4386-F1B7-88A1EB58B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199" y="1133475"/>
            <a:ext cx="8231293" cy="1189037"/>
          </a:xfrm>
        </p:spPr>
        <p:txBody>
          <a:bodyPr/>
          <a:lstStyle/>
          <a:p>
            <a:r>
              <a:rPr lang="en-US" dirty="0"/>
              <a:t>Questions?</a:t>
            </a:r>
          </a:p>
        </p:txBody>
      </p:sp>
      <p:pic>
        <p:nvPicPr>
          <p:cNvPr id="8" name="Content Placeholder 7" descr="A cartoon of a turtle and a snake&#10;&#10;AI-generated content may be incorrect.">
            <a:extLst>
              <a:ext uri="{FF2B5EF4-FFF2-40B4-BE49-F238E27FC236}">
                <a16:creationId xmlns:a16="http://schemas.microsoft.com/office/drawing/2014/main" id="{067D074E-099E-A880-8E75-CCE1FF1A5B70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4110" y="1123950"/>
            <a:ext cx="4514850" cy="4600575"/>
          </a:xfrm>
        </p:spPr>
      </p:pic>
    </p:spTree>
    <p:extLst>
      <p:ext uri="{BB962C8B-B14F-4D97-AF65-F5344CB8AC3E}">
        <p14:creationId xmlns:p14="http://schemas.microsoft.com/office/powerpoint/2010/main" val="1610981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1_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AI2C Slide Template</Template>
  <TotalTime>700</TotalTime>
  <Words>1147</Words>
  <Application>Microsoft Office PowerPoint</Application>
  <PresentationFormat>Widescreen</PresentationFormat>
  <Paragraphs>207</Paragraphs>
  <Slides>23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Aptos</vt:lpstr>
      <vt:lpstr>Arial</vt:lpstr>
      <vt:lpstr>Arial Bold</vt:lpstr>
      <vt:lpstr>Consolas</vt:lpstr>
      <vt:lpstr>Courier New</vt:lpstr>
      <vt:lpstr>US Army 2023 AFC DEVCOM Logo</vt:lpstr>
      <vt:lpstr>1_US Army 2023 AFC DEVCOM Logo</vt:lpstr>
      <vt:lpstr>FILE IO</vt:lpstr>
      <vt:lpstr> Motivation</vt:lpstr>
      <vt:lpstr> Course Schedule</vt:lpstr>
      <vt:lpstr>Review</vt:lpstr>
      <vt:lpstr>What is the purpose of user defined functions?</vt:lpstr>
      <vt:lpstr>How do you define a function, and how do you use it?</vt:lpstr>
      <vt:lpstr>Let’s make this a function:</vt:lpstr>
      <vt:lpstr>Today’s Lesson Objectives</vt:lpstr>
      <vt:lpstr>OS module</vt:lpstr>
      <vt:lpstr>OS module</vt:lpstr>
      <vt:lpstr>OS module</vt:lpstr>
      <vt:lpstr>OS module EXAMPLE</vt:lpstr>
      <vt:lpstr>OS module CHEATSHEET</vt:lpstr>
      <vt:lpstr>Look familiar?</vt:lpstr>
      <vt:lpstr>Pathlib MODULE</vt:lpstr>
      <vt:lpstr>Pathlib MODULE CHEATSHEET</vt:lpstr>
      <vt:lpstr>Hands-On #1</vt:lpstr>
      <vt:lpstr>Manipulating files</vt:lpstr>
      <vt:lpstr>Common Actions</vt:lpstr>
      <vt:lpstr>A word about context managers</vt:lpstr>
      <vt:lpstr>Another word…</vt:lpstr>
      <vt:lpstr>Hands-On #2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Shafer</dc:creator>
  <cp:lastModifiedBy>Ryan Neville</cp:lastModifiedBy>
  <cp:revision>134</cp:revision>
  <dcterms:created xsi:type="dcterms:W3CDTF">2025-07-09T23:54:51Z</dcterms:created>
  <dcterms:modified xsi:type="dcterms:W3CDTF">2026-06-19T18:22:44Z</dcterms:modified>
</cp:coreProperties>
</file>