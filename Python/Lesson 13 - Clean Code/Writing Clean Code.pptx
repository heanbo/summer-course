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0" r:id="rId3"/>
    <p:sldId id="261" r:id="rId4"/>
    <p:sldId id="262" r:id="rId5"/>
    <p:sldId id="263" r:id="rId6"/>
    <p:sldId id="270" r:id="rId7"/>
    <p:sldId id="271" r:id="rId8"/>
    <p:sldId id="258" r:id="rId9"/>
    <p:sldId id="257" r:id="rId10"/>
    <p:sldId id="259" r:id="rId11"/>
    <p:sldId id="266" r:id="rId12"/>
    <p:sldId id="267" r:id="rId13"/>
    <p:sldId id="264" r:id="rId14"/>
    <p:sldId id="265" r:id="rId15"/>
    <p:sldId id="275" r:id="rId16"/>
    <p:sldId id="276" r:id="rId17"/>
    <p:sldId id="273" r:id="rId18"/>
    <p:sldId id="277" r:id="rId19"/>
    <p:sldId id="274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28" autoAdjust="0"/>
  </p:normalViewPr>
  <p:slideViewPr>
    <p:cSldViewPr snapToGrid="0">
      <p:cViewPr varScale="1">
        <p:scale>
          <a:sx n="130" d="100"/>
          <a:sy n="130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B54D4-40B1-4F4F-A71E-587F6353CB71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79270-E9D6-4AB0-B8D4-A4702B609E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47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https://www.nasa.gov/wp-content/uploads/2016/10/585637main_swfaultsfailuresfixes.pdf</a:t>
            </a:r>
          </a:p>
          <a:p>
            <a:endParaRPr lang="en-US" dirty="0"/>
          </a:p>
          <a:p>
            <a:r>
              <a:rPr lang="en-US" dirty="0"/>
              <a:t>https://raygun.com/blog/costly-software-errors-history/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25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https://docs.python-guide.org/writing/structure/#modules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30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an intro that these ideas exist</a:t>
            </a:r>
          </a:p>
          <a:p>
            <a:r>
              <a:rPr lang="en-US" dirty="0"/>
              <a:t>https://refactoring.guru/design-patterns/catalog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52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https://dev.to/romansery/why-you-should-favor-composition-over-inheritance-57m6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34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look at select examples moving forward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https://github.com/shafe123/cmu-aegis-scholar/commit/1d10ae2cc11e10b26b7e0f8ef27c7b64975c5a3e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79270-E9D6-4AB0-B8D4-A4702B609EB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61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780130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15431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375282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17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232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311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41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259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026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104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32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708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44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74085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73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3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111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13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648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57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07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23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49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771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3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89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95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801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77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508477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963976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04771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E12E-B806-14ED-48A5-8A2CC9DB1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F68F-2B43-C05D-674A-2B3987247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5878C-42BB-77A8-D16F-0549D48E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274B5-0613-462E-96B2-5EFDDD3DC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45445-9EE7-1AA3-182B-F404798D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04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7174-628E-234E-B403-FB09FD9BF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2BAA-A33D-B33D-DACC-8CD3790E8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5C778-E8BB-1D42-6640-52CBB6B5B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A1C76-2883-A80C-5BBD-E36C710FB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ADBCE-6E34-FB0C-014C-EB3D4A765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FF368-02E8-98E0-DFD3-FEA024EA1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736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AFBD-E53A-A045-105E-67CC389D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265D1-DC7B-0E6E-528A-A29A34CFF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071FA-04AA-CDFB-0AB9-E409F766F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068F26-F217-1F02-9945-54F7B378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3D870-836C-26A2-9F48-BC8B13F60E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4B8DA-A39F-3443-FFD4-774C5731B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EADEB-7507-46CB-9ABE-86F6B40F8C4B}" type="datetimeFigureOut">
              <a:rPr lang="en-US" smtClean="0"/>
              <a:t>02-Jun-26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FFF74-92FB-DB3B-2714-6B2B4265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D959A0-AD1A-2960-A5EA-8D21B831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548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gilemanifesto.org/principles.html" TargetMode="External"/><Relationship Id="rId2" Type="http://schemas.openxmlformats.org/officeDocument/2006/relationships/hyperlink" Target="https://www.eng.auburn.edu/~kchang/comp6710/readings/They%20Write%20the%20Right%20Stuff.pdf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ylint.pycqa.org/en/latest/user_guide/checkers/features.html" TargetMode="External"/><Relationship Id="rId2" Type="http://schemas.openxmlformats.org/officeDocument/2006/relationships/hyperlink" Target="https://black.readthedocs.io/en/stable/the_black_code_style/current_style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ypy.readthedocs.io/en/stable/getting_started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0B44A-C8D0-25B9-06FE-781A05860BF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27AE78-F204-AA06-9A47-9C0BF22ED84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0E6CF9-AA1A-F448-FB9B-FBAE4869E8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D23B15-9283-DE78-1769-176861A6D4B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AA6C50-B14F-E080-1D36-CDE5C89ECA6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C0FBF6-E31B-F7C7-4513-71B43ED2036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AA7202C-671A-2651-12BC-2298E1C1261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D53100-F39A-04E1-6B36-ACE341B5961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01D366-7CA4-4296-21D5-E557B679D2F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6711857-4621-E072-4935-7445CA5A35A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31AF1-0705-E4C2-EC73-4FC0346A26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Writing Clean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5CF54C-979E-11B6-6C35-4FAB32486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18871-5819-9351-C8B8-3352248F9C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8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1778-41E6-3A43-F93A-5F34A200B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04153-FBCD-2BB3-86F5-24E20F7F0D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Understand the importance of “clean code”</a:t>
            </a:r>
          </a:p>
          <a:p>
            <a:r>
              <a:rPr lang="en-US" dirty="0"/>
              <a:t>Identify “code smells”</a:t>
            </a:r>
          </a:p>
          <a:p>
            <a:r>
              <a:rPr lang="en-US" dirty="0"/>
              <a:t>Utilize tooling and processes to improve code quality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(buckle in)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F1F8A6-3826-9122-771C-F6C227B3F1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They Write the Right Stuff</a:t>
            </a:r>
            <a:endParaRPr lang="en-US" dirty="0"/>
          </a:p>
          <a:p>
            <a:r>
              <a:rPr lang="en-US" dirty="0">
                <a:hlinkClick r:id="rId3"/>
              </a:rPr>
              <a:t>Principles of Agile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14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03C4-BA97-DEFC-CF1D-A41D4F49C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They Write the Right Stuff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935F1-D38C-BC73-957C-55524CCBB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Effectively 0 bugs</a:t>
            </a:r>
          </a:p>
          <a:p>
            <a:r>
              <a:rPr lang="en-US" dirty="0"/>
              <a:t>Safety-driven</a:t>
            </a:r>
          </a:p>
          <a:p>
            <a:r>
              <a:rPr lang="en-US" dirty="0"/>
              <a:t>Exhaustive specification, collaborative agreements, rigid change control</a:t>
            </a:r>
          </a:p>
          <a:p>
            <a:endParaRPr lang="en-US" dirty="0"/>
          </a:p>
          <a:p>
            <a:r>
              <a:rPr lang="en-US" dirty="0"/>
              <a:t>The process is the product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22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72F2-3229-E939-BB8F-F51D66FB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Agile Manifesto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064FB-E282-D408-E94A-D8A208A0C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uncovering better ways of developing software by doing it and helping others do it. Through this work we have come to value:</a:t>
            </a:r>
          </a:p>
          <a:p>
            <a:pPr lvl="1"/>
            <a:r>
              <a:rPr lang="en-US" dirty="0"/>
              <a:t>Individuals and interactions over processes and tools</a:t>
            </a:r>
          </a:p>
          <a:p>
            <a:pPr lvl="1"/>
            <a:r>
              <a:rPr lang="en-US" dirty="0"/>
              <a:t>Working software over comprehensive documentation</a:t>
            </a:r>
          </a:p>
          <a:p>
            <a:pPr lvl="1"/>
            <a:r>
              <a:rPr lang="en-US" dirty="0"/>
              <a:t>Customer collaboration over contract negotiation</a:t>
            </a:r>
          </a:p>
          <a:p>
            <a:pPr lvl="1"/>
            <a:r>
              <a:rPr lang="en-US" dirty="0"/>
              <a:t>Responding to change over following a plan</a:t>
            </a:r>
          </a:p>
          <a:p>
            <a:r>
              <a:rPr lang="en-US" dirty="0"/>
              <a:t>That is, while there is value in the items on the right, we value the items on the left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33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946D7-AD54-E1BB-412E-0132D9B1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they compare?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DD7E23-D467-A263-5F9C-CEBB7508B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798571"/>
              </p:ext>
            </p:extLst>
          </p:nvPr>
        </p:nvGraphicFramePr>
        <p:xfrm>
          <a:off x="838200" y="1892532"/>
          <a:ext cx="10515600" cy="3489960"/>
        </p:xfrm>
        <a:graphic>
          <a:graphicData uri="http://schemas.openxmlformats.org/drawingml/2006/table">
            <a:tbl>
              <a:tblPr/>
              <a:tblGrid>
                <a:gridCol w="2724615">
                  <a:extLst>
                    <a:ext uri="{9D8B030D-6E8A-4147-A177-3AD203B41FA5}">
                      <a16:colId xmlns:a16="http://schemas.microsoft.com/office/drawing/2014/main" val="1021654905"/>
                    </a:ext>
                  </a:extLst>
                </a:gridCol>
                <a:gridCol w="3930805">
                  <a:extLst>
                    <a:ext uri="{9D8B030D-6E8A-4147-A177-3AD203B41FA5}">
                      <a16:colId xmlns:a16="http://schemas.microsoft.com/office/drawing/2014/main" val="3155938336"/>
                    </a:ext>
                  </a:extLst>
                </a:gridCol>
                <a:gridCol w="3860180">
                  <a:extLst>
                    <a:ext uri="{9D8B030D-6E8A-4147-A177-3AD203B41FA5}">
                      <a16:colId xmlns:a16="http://schemas.microsoft.com/office/drawing/2014/main" val="4120404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NASA Shuttle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Typical Commercial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299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Lines of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~420,000 per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 or greater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6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Error Count per 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~1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~100-1000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265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Change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Rigid, all changes must be agreed &amp; documented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Flexible, often agile or approximate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5344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Redundancy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Quadruple redundancy with voting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86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Certification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Mandatory human sign-off before every 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Usually no formal, legal gate sign-off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108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i="1" dirty="0"/>
                        <a:t>Design Philosophy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Blueprint-style specs; predict bugs early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Iterative deployment; fix bugs post-launch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43346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47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7E7AD-016E-68F5-2E8A-CEBE7FB8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it matter?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A7B21-CD39-45E7-8D9C-C4AE67B65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93020" y="663000"/>
            <a:ext cx="8605959" cy="5971334"/>
          </a:xfrm>
        </p:spPr>
      </p:pic>
    </p:spTree>
    <p:extLst>
      <p:ext uri="{BB962C8B-B14F-4D97-AF65-F5344CB8AC3E}">
        <p14:creationId xmlns:p14="http://schemas.microsoft.com/office/powerpoint/2010/main" val="383605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94977B-D0E9-E758-D099-5F8B8226A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Coding Faults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EE047-32ED-55E6-6C24-AB67AA539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thoughts &amp; techniques</a:t>
            </a:r>
          </a:p>
        </p:txBody>
      </p:sp>
    </p:spTree>
    <p:extLst>
      <p:ext uri="{BB962C8B-B14F-4D97-AF65-F5344CB8AC3E}">
        <p14:creationId xmlns:p14="http://schemas.microsoft.com/office/powerpoint/2010/main" val="1952706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C6B46-0BEF-9BA7-B42C-693CB0980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 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0EE1C-5514-D329-B647-BD69B8AE9B8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Beautiful is better than ugly.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Explicit is better than implicit.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Simple is better than complex.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Complex is better than complicated.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Flat is better than nested.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Sparse is better than dense.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Readability counts.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Special cases aren't special enough to break the rules.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Although practicality beats purity.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Errors should never pass silently.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Unless explicitly silenced.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F048F9-DD31-4CF5-2F87-72A32D5DB4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In the face of ambiguity, refuse the temptation to guess.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There should be one-- and preferably only one --obvious way to do it.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Although that way may not be obvious at first unless you're Dutch.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Now is better than never.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Although never is often better than *right* now.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If the implementation is hard to explain, it's a bad idea.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If the implementation is easy to explain, it may be a good idea.</a:t>
            </a:r>
          </a:p>
          <a:p>
            <a:pPr marL="514350" indent="-514350">
              <a:buFont typeface="+mj-lt"/>
              <a:buAutoNum type="arabicPeriod" startAt="12"/>
            </a:pPr>
            <a:r>
              <a:rPr lang="en-US" dirty="0"/>
              <a:t>Namespaces are one honking great idea -- let's do more of those!</a:t>
            </a:r>
          </a:p>
        </p:txBody>
      </p:sp>
    </p:spTree>
    <p:extLst>
      <p:ext uri="{BB962C8B-B14F-4D97-AF65-F5344CB8AC3E}">
        <p14:creationId xmlns:p14="http://schemas.microsoft.com/office/powerpoint/2010/main" val="248538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C6E67-3B0A-1EF6-AA22-1F17095DF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05516-98BC-2807-70B4-CDB97913C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Style Guide</a:t>
            </a:r>
          </a:p>
          <a:p>
            <a:r>
              <a:rPr lang="en-US" dirty="0"/>
              <a:t>Covers</a:t>
            </a:r>
          </a:p>
          <a:p>
            <a:pPr lvl="1"/>
            <a:r>
              <a:rPr lang="en-US" dirty="0"/>
              <a:t>Indentation</a:t>
            </a:r>
          </a:p>
          <a:p>
            <a:pPr lvl="1"/>
            <a:r>
              <a:rPr lang="en-US" dirty="0"/>
              <a:t>Docstrings</a:t>
            </a:r>
          </a:p>
          <a:p>
            <a:pPr lvl="1"/>
            <a:r>
              <a:rPr lang="en-US" dirty="0"/>
              <a:t>Long code lines</a:t>
            </a:r>
          </a:p>
          <a:p>
            <a:pPr lvl="1"/>
            <a:r>
              <a:rPr lang="en-US" dirty="0"/>
              <a:t>Whitespace in a line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Naming conventions</a:t>
            </a:r>
          </a:p>
          <a:p>
            <a:pPr lvl="1"/>
            <a:r>
              <a:rPr lang="en-US" dirty="0"/>
              <a:t>And more!</a:t>
            </a:r>
          </a:p>
          <a:p>
            <a:r>
              <a:rPr lang="en-US" dirty="0"/>
              <a:t>Why is style important?</a:t>
            </a:r>
          </a:p>
        </p:txBody>
      </p:sp>
    </p:spTree>
    <p:extLst>
      <p:ext uri="{BB962C8B-B14F-4D97-AF65-F5344CB8AC3E}">
        <p14:creationId xmlns:p14="http://schemas.microsoft.com/office/powerpoint/2010/main" val="97956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B9D9-63F1-ECFB-585C-F6E7F995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Don’t Repeat Yourself (DRY)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3137-22B6-32AD-C8C3-F33778CA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code is more likely to have errors, especially during changes</a:t>
            </a:r>
          </a:p>
          <a:p>
            <a:r>
              <a:rPr lang="en-US" dirty="0"/>
              <a:t>If you ever find yourself copying &amp; pasting code in multiple places…</a:t>
            </a:r>
          </a:p>
          <a:p>
            <a:pPr lvl="1"/>
            <a:r>
              <a:rPr lang="en-US" dirty="0"/>
              <a:t>Probably a good candidate for a function</a:t>
            </a:r>
          </a:p>
          <a:p>
            <a:pPr lvl="1"/>
            <a:r>
              <a:rPr lang="en-US" dirty="0"/>
              <a:t>Or a loop</a:t>
            </a:r>
          </a:p>
        </p:txBody>
      </p:sp>
    </p:spTree>
    <p:extLst>
      <p:ext uri="{BB962C8B-B14F-4D97-AF65-F5344CB8AC3E}">
        <p14:creationId xmlns:p14="http://schemas.microsoft.com/office/powerpoint/2010/main" val="3040299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CB90-BAC8-2C5D-3712-2F7828994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&amp;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C27F5-EB6B-62E2-A896-D04A747F1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 bundle functionality into an installable artifact</a:t>
            </a:r>
          </a:p>
          <a:p>
            <a:r>
              <a:rPr lang="en-US" dirty="0"/>
              <a:t>A package can have multiple modules</a:t>
            </a:r>
          </a:p>
          <a:p>
            <a:r>
              <a:rPr lang="en-US" dirty="0"/>
              <a:t>Packages are any directory with a file called `__init__.py`</a:t>
            </a:r>
          </a:p>
          <a:p>
            <a:r>
              <a:rPr lang="en-US" dirty="0"/>
              <a:t>Every python file is effectively a module</a:t>
            </a:r>
          </a:p>
          <a:p>
            <a:endParaRPr lang="en-US" dirty="0"/>
          </a:p>
          <a:p>
            <a:r>
              <a:rPr lang="en-US" dirty="0"/>
              <a:t>Easy way to bundle your code and share with others for re-use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AE88B-382C-412D-21D1-0919D2DC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440" y="4202579"/>
            <a:ext cx="5001323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45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51CC-96DA-A170-9BDF-CA1DDC3F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1696E-C8BF-648F-4248-7D21EF56C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Creational – How do we make objects?</a:t>
            </a:r>
          </a:p>
          <a:p>
            <a:r>
              <a:rPr lang="en-US" dirty="0"/>
              <a:t>Structural – How do we structure our objects?</a:t>
            </a:r>
          </a:p>
          <a:p>
            <a:r>
              <a:rPr lang="en-US" dirty="0"/>
              <a:t>Behavioral – How do our objects interact?</a:t>
            </a:r>
          </a:p>
        </p:txBody>
      </p:sp>
    </p:spTree>
    <p:extLst>
      <p:ext uri="{BB962C8B-B14F-4D97-AF65-F5344CB8AC3E}">
        <p14:creationId xmlns:p14="http://schemas.microsoft.com/office/powerpoint/2010/main" val="2815691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68650-F179-1B91-302C-0F3BF0AA3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Objects, Inheritance,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8448E-1F21-F3C9-27AB-16CB0D765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is a powerful way (to shoot yourself in the foot)</a:t>
            </a:r>
          </a:p>
          <a:p>
            <a:r>
              <a:rPr lang="en-US" dirty="0"/>
              <a:t>Composition over inheritance</a:t>
            </a:r>
          </a:p>
          <a:p>
            <a:pPr lvl="1"/>
            <a:r>
              <a:rPr lang="en-US" dirty="0"/>
              <a:t>Promotes loose coupling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73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C3678D-063F-76F6-4C7C-5CD29411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what’s the deal?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5808C6-1C0D-7BBA-A58D-01E18830B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you apply these ideas?</a:t>
            </a:r>
          </a:p>
          <a:p>
            <a:r>
              <a:rPr lang="en-US" sz="1600" dirty="0"/>
              <a:t>(and do they even matter?)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13968A-B5FD-D3CF-FDFC-1317B4946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6390" y="2048852"/>
            <a:ext cx="4889083" cy="352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962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A724B3-4E6C-7D97-1B36-AA83BCAD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650B7-9282-25F7-13B2-D0DD5D1E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BF60B-FC76-43EF-A574-A47D8B93F449}" type="datetime1">
              <a:rPr lang="en-US" smtClean="0"/>
              <a:t>02-Jun-26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123D2-98E3-9C83-961B-3D5602150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15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AE9EF59-BB31-AC44-02FE-EE898CAE2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750021" y="0"/>
            <a:ext cx="8441979" cy="6845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165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47DB3-DD6A-767C-BB67-9650D28E1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22FA8C-882A-39F2-D8F2-4306C866FC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405" y="1037657"/>
            <a:ext cx="10780955" cy="570604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C4A65-97F2-B0FA-F2DD-D7C5A6BE5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D0296-689F-B258-84E4-7F4E12B62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C4E34-4958-19FF-6EB6-B6C5B835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Techniques and Tooling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25D94D-7111-E8AB-2012-E40F17186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314DE-F1D6-97AF-84BC-4CC9EE088C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Software Design Processes</a:t>
            </a:r>
          </a:p>
          <a:p>
            <a:r>
              <a:rPr lang="en-US" dirty="0"/>
              <a:t>Code Reviews</a:t>
            </a:r>
          </a:p>
          <a:p>
            <a:r>
              <a:rPr lang="en-US" dirty="0"/>
              <a:t>Test Cases</a:t>
            </a:r>
          </a:p>
          <a:p>
            <a:r>
              <a:rPr lang="en-US" dirty="0"/>
              <a:t>Pair Programming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88DF68-4BF3-15B5-48DC-6E6E715F3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822E7-07DB-9EFA-2479-C78885DB19B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Static analysis</a:t>
            </a:r>
          </a:p>
          <a:p>
            <a:pPr lvl="1"/>
            <a:r>
              <a:rPr lang="en-US" dirty="0"/>
              <a:t>Formatters (black)</a:t>
            </a:r>
          </a:p>
          <a:p>
            <a:pPr lvl="1"/>
            <a:r>
              <a:rPr lang="en-US" dirty="0"/>
              <a:t>Linters (</a:t>
            </a:r>
            <a:r>
              <a:rPr lang="en-US" dirty="0" err="1"/>
              <a:t>pylint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Type checking (</a:t>
            </a:r>
            <a:r>
              <a:rPr lang="en-US" dirty="0" err="1"/>
              <a:t>mypy</a:t>
            </a:r>
            <a:r>
              <a:rPr lang="en-US" dirty="0"/>
              <a:t>)</a:t>
            </a:r>
          </a:p>
          <a:p>
            <a:r>
              <a:rPr lang="en-US" dirty="0"/>
              <a:t>Dynamic analysis</a:t>
            </a:r>
          </a:p>
          <a:p>
            <a:pPr lvl="1"/>
            <a:r>
              <a:rPr lang="en-US" dirty="0"/>
              <a:t>Debuggers</a:t>
            </a:r>
          </a:p>
          <a:p>
            <a:pPr lvl="1"/>
            <a:r>
              <a:rPr lang="en-US" dirty="0"/>
              <a:t>Profilers</a:t>
            </a:r>
          </a:p>
          <a:p>
            <a:r>
              <a:rPr lang="en-US" dirty="0"/>
              <a:t>Repository analysis</a:t>
            </a:r>
          </a:p>
          <a:p>
            <a:r>
              <a:rPr lang="en-US" dirty="0"/>
              <a:t>Pre-commit hooks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ECCA25-4A41-4D40-68F4-3F34213DF5DF}"/>
              </a:ext>
            </a:extLst>
          </p:cNvPr>
          <p:cNvSpPr/>
          <p:nvPr/>
        </p:nvSpPr>
        <p:spPr>
          <a:xfrm>
            <a:off x="6172200" y="2505075"/>
            <a:ext cx="4071258" cy="12530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CE8EC8-85EE-A381-E89E-7A584F5EE7D5}"/>
              </a:ext>
            </a:extLst>
          </p:cNvPr>
          <p:cNvSpPr/>
          <p:nvPr/>
        </p:nvSpPr>
        <p:spPr>
          <a:xfrm>
            <a:off x="6172200" y="4824078"/>
            <a:ext cx="4071258" cy="2996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02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6" grpId="0" build="p"/>
      <p:bldP spid="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8DB6469-4272-2BF1-B6E0-66CB8173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Tools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B66996F2-B003-58EE-9FC7-4E7036392B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Black</a:t>
            </a:r>
            <a:endParaRPr lang="en-US" dirty="0"/>
          </a:p>
          <a:p>
            <a:r>
              <a:rPr lang="en-US" dirty="0"/>
              <a:t>Style formatter</a:t>
            </a:r>
          </a:p>
          <a:p>
            <a:pPr lvl="1"/>
            <a:r>
              <a:rPr lang="en-US" dirty="0"/>
              <a:t>Comments</a:t>
            </a:r>
          </a:p>
          <a:p>
            <a:pPr lvl="1"/>
            <a:r>
              <a:rPr lang="en-US" dirty="0"/>
              <a:t>Whitespace</a:t>
            </a:r>
          </a:p>
          <a:p>
            <a:pPr lvl="1"/>
            <a:r>
              <a:rPr lang="en-US" dirty="0"/>
              <a:t>Line width</a:t>
            </a:r>
          </a:p>
          <a:p>
            <a:pPr lvl="1"/>
            <a:r>
              <a:rPr lang="en-US" dirty="0"/>
              <a:t>Numbers</a:t>
            </a:r>
          </a:p>
          <a:p>
            <a:pPr lvl="1"/>
            <a:r>
              <a:rPr lang="en-US" dirty="0"/>
              <a:t>Strings</a:t>
            </a:r>
          </a:p>
          <a:p>
            <a:r>
              <a:rPr lang="en-US" dirty="0"/>
              <a:t>Ensure style consistency across programmers</a:t>
            </a:r>
          </a:p>
          <a:p>
            <a:endParaRPr lang="en-US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4C03FF2F-A090-C303-BAE2-3D321BDF35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3"/>
              </a:rPr>
              <a:t>PyLint</a:t>
            </a:r>
            <a:endParaRPr lang="en-US" dirty="0"/>
          </a:p>
          <a:p>
            <a:r>
              <a:rPr lang="en-US" dirty="0"/>
              <a:t>Linter</a:t>
            </a:r>
          </a:p>
          <a:p>
            <a:pPr lvl="1"/>
            <a:r>
              <a:rPr lang="en-US" dirty="0"/>
              <a:t>Bad practices</a:t>
            </a:r>
          </a:p>
          <a:p>
            <a:pPr lvl="1"/>
            <a:r>
              <a:rPr lang="en-US" dirty="0"/>
              <a:t>Performance issues</a:t>
            </a:r>
          </a:p>
          <a:p>
            <a:pPr lvl="1"/>
            <a:r>
              <a:rPr lang="en-US" dirty="0"/>
              <a:t>Variable naming</a:t>
            </a:r>
          </a:p>
          <a:p>
            <a:pPr lvl="1"/>
            <a:r>
              <a:rPr lang="en-US" dirty="0"/>
              <a:t>(optional) Complexity analysis</a:t>
            </a:r>
          </a:p>
          <a:p>
            <a:pPr lvl="1"/>
            <a:r>
              <a:rPr lang="en-US" dirty="0"/>
              <a:t>(optional) Magic values</a:t>
            </a:r>
          </a:p>
          <a:p>
            <a:pPr lvl="1"/>
            <a:r>
              <a:rPr lang="en-US" dirty="0"/>
              <a:t>And more…</a:t>
            </a:r>
          </a:p>
          <a:p>
            <a:r>
              <a:rPr lang="en-US" dirty="0"/>
              <a:t>Remove some common programming mistakes</a:t>
            </a:r>
          </a:p>
          <a:p>
            <a:pPr lvl="1"/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1BC56D1-ED10-6C0C-F95D-71C2A7888674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hlinkClick r:id="rId4"/>
              </a:rPr>
              <a:t>mypy</a:t>
            </a:r>
            <a:endParaRPr lang="en-US" dirty="0"/>
          </a:p>
          <a:p>
            <a:r>
              <a:rPr lang="en-US" dirty="0"/>
              <a:t>Type checker</a:t>
            </a:r>
          </a:p>
          <a:p>
            <a:pPr lvl="1"/>
            <a:r>
              <a:rPr lang="en-US" dirty="0"/>
              <a:t>Type checking…</a:t>
            </a:r>
          </a:p>
          <a:p>
            <a:r>
              <a:rPr lang="en-US" dirty="0"/>
              <a:t>Remove even more mistakes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1DB55B-FF95-DAF3-2ED6-BE2F30040AC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CD7C113-A95A-4A67-9C34-D78403B0271D}" type="datetime1">
              <a:rPr lang="en-US" smtClean="0"/>
              <a:t>02-Jun-26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F849FA-E0E5-2C5E-4770-91C819EE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3A8F6-47D7-4A48-8FAC-84498EE40F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82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5C65107-8E07-8266-ADFE-60646C2F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AE6363-D32F-2F9D-1D68-ACDDEC6E4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</a:t>
            </a:r>
            <a:r>
              <a:rPr lang="en-US" dirty="0" err="1"/>
              <a:t>autoformatter</a:t>
            </a:r>
            <a:r>
              <a:rPr lang="en-US" dirty="0"/>
              <a:t> to style code</a:t>
            </a:r>
          </a:p>
          <a:p>
            <a:r>
              <a:rPr lang="en-US" dirty="0"/>
              <a:t>Use a linter to identify problem areas</a:t>
            </a:r>
          </a:p>
          <a:p>
            <a:r>
              <a:rPr lang="en-US" dirty="0"/>
              <a:t>Setup pre-commit hooks to handle issues before commits</a:t>
            </a:r>
          </a:p>
          <a:p>
            <a:endParaRPr lang="en-US" dirty="0"/>
          </a:p>
          <a:p>
            <a:r>
              <a:rPr lang="en-US" dirty="0"/>
              <a:t>Write unit tests to validate functionality – if time permits</a:t>
            </a:r>
          </a:p>
        </p:txBody>
      </p:sp>
    </p:spTree>
    <p:extLst>
      <p:ext uri="{BB962C8B-B14F-4D97-AF65-F5344CB8AC3E}">
        <p14:creationId xmlns:p14="http://schemas.microsoft.com/office/powerpoint/2010/main" val="362089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6CF9-BDC2-9184-5DDC-694BBA79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DA2BD-526B-4062-EEF4-C5E498A43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security analysis (bandit)</a:t>
            </a:r>
          </a:p>
          <a:p>
            <a:r>
              <a:rPr lang="en-US" dirty="0"/>
              <a:t>Unit / integration / E2E test suites</a:t>
            </a:r>
          </a:p>
          <a:p>
            <a:r>
              <a:rPr lang="en-US" dirty="0"/>
              <a:t>Other file formatters / linters (markdown, </a:t>
            </a:r>
            <a:r>
              <a:rPr lang="en-US" dirty="0" err="1"/>
              <a:t>yaml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7F17A-6278-C757-4EAE-F7C1D378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B41537-A3B3-61DA-3263-FA361CFDC2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94017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835</Words>
  <Application>Microsoft Office PowerPoint</Application>
  <PresentationFormat>Widescreen</PresentationFormat>
  <Paragraphs>177</Paragraphs>
  <Slides>20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Arial Bold</vt:lpstr>
      <vt:lpstr>Play</vt:lpstr>
      <vt:lpstr>US Army 2023 AFC DEVCOM Logo</vt:lpstr>
      <vt:lpstr>Writing Clean Code</vt:lpstr>
      <vt:lpstr>Objectives</vt:lpstr>
      <vt:lpstr>They Write the Right Stuff</vt:lpstr>
      <vt:lpstr>The Agile Manifesto</vt:lpstr>
      <vt:lpstr>How do they compare?</vt:lpstr>
      <vt:lpstr>Does it matter?</vt:lpstr>
      <vt:lpstr>Reducing Coding Faults</vt:lpstr>
      <vt:lpstr>PEP 20</vt:lpstr>
      <vt:lpstr>PEP 8</vt:lpstr>
      <vt:lpstr>Don’t Repeat Yourself (DRY)</vt:lpstr>
      <vt:lpstr>Packages &amp; Modules</vt:lpstr>
      <vt:lpstr>Design Patterns</vt:lpstr>
      <vt:lpstr>Objects, Inheritance, Composition</vt:lpstr>
      <vt:lpstr>So what’s the deal?</vt:lpstr>
      <vt:lpstr>An Example</vt:lpstr>
      <vt:lpstr>Another Example</vt:lpstr>
      <vt:lpstr>Techniques and Tooling</vt:lpstr>
      <vt:lpstr>Static Tools</vt:lpstr>
      <vt:lpstr>Hands-On #1</vt:lpstr>
      <vt:lpstr>Other Tools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97</cp:revision>
  <dcterms:created xsi:type="dcterms:W3CDTF">2025-07-21T12:27:25Z</dcterms:created>
  <dcterms:modified xsi:type="dcterms:W3CDTF">2026-06-02T16:18:25Z</dcterms:modified>
</cp:coreProperties>
</file>