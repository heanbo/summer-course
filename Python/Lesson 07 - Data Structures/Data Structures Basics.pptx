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486" r:id="rId3"/>
    <p:sldId id="496" r:id="rId4"/>
    <p:sldId id="497" r:id="rId5"/>
    <p:sldId id="498" r:id="rId6"/>
    <p:sldId id="276" r:id="rId7"/>
    <p:sldId id="278" r:id="rId8"/>
    <p:sldId id="500" r:id="rId9"/>
    <p:sldId id="505" r:id="rId10"/>
    <p:sldId id="280" r:id="rId11"/>
    <p:sldId id="502" r:id="rId12"/>
    <p:sldId id="499" r:id="rId13"/>
    <p:sldId id="501" r:id="rId14"/>
    <p:sldId id="506" r:id="rId15"/>
    <p:sldId id="503" r:id="rId16"/>
    <p:sldId id="279" r:id="rId17"/>
    <p:sldId id="261" r:id="rId18"/>
    <p:sldId id="504" r:id="rId19"/>
    <p:sldId id="513" r:id="rId20"/>
    <p:sldId id="507" r:id="rId21"/>
    <p:sldId id="508" r:id="rId22"/>
    <p:sldId id="512" r:id="rId23"/>
    <p:sldId id="509" r:id="rId24"/>
    <p:sldId id="273" r:id="rId25"/>
    <p:sldId id="510" r:id="rId26"/>
    <p:sldId id="511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9388" autoAdjust="0"/>
  </p:normalViewPr>
  <p:slideViewPr>
    <p:cSldViewPr snapToGrid="0">
      <p:cViewPr varScale="1">
        <p:scale>
          <a:sx n="95" d="100"/>
          <a:sy n="95" d="100"/>
        </p:scale>
        <p:origin x="11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BC1-DC94-491B-AA44-0232F744EE9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B709C-82E0-4ADF-BDA3-CCA1C8B22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6376FA9-B5F0-B037-8046-B6615FDA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DD419411-177D-3D00-B750-FE80CE812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78A8749A-07B8-1837-285F-24B38AB73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703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043152F8-3649-B807-263D-B391F303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D1E0B138-BDAD-22BA-9A52-5E4F9D169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CF3F03FE-85F3-88C7-4359-C593C7C6F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68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21EBE75-3C92-49AA-FC30-2E3C377B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3D4EEE32-92BF-3AE2-885A-C618F8483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880F97B4-481F-18FB-2C4C-5968159F6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effectLst/>
              </a:rPr>
              <a:t>✅ The answer students should get: Grid coordinate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47.3</a:t>
            </a:r>
            <a:br>
              <a:rPr lang="en-US" dirty="0">
                <a:effectLst/>
              </a:rPr>
            </a:br>
            <a:r>
              <a:rPr lang="en-US" i="1" dirty="0">
                <a:effectLst/>
              </a:rPr>
              <a:t>(Top 5 values: 98, 96, 95, 92, 92 → sum = 473 → ÷ 10 = </a:t>
            </a:r>
            <a:r>
              <a:rPr lang="en-US" b="1" i="1" dirty="0">
                <a:effectLst/>
              </a:rPr>
              <a:t>47.3</a:t>
            </a:r>
            <a:r>
              <a:rPr lang="en-US" i="1" dirty="0">
                <a:effectLst/>
              </a:rPr>
              <a:t>)</a:t>
            </a:r>
            <a:endParaRPr lang="en-US" dirty="0">
              <a:effectLst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63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11101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573772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579075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09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4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24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64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24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24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73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87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58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48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10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6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3682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98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24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48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3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46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00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24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8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0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5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03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7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5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5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6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7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38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339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01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rgbClr val="221F2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548640" y="411482"/>
            <a:ext cx="8231293" cy="118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548640" y="2148840"/>
            <a:ext cx="6795135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800"/>
            </a:lvl1pPr>
            <a:lvl2pPr marL="1219170" lvl="1" indent="-412739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828754" lvl="2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2438339" lvl="3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3047924" lvl="4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3657509" lvl="5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4267093" lvl="6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4876678" lvl="7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5486263" lvl="8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dt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159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4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AC4D28-436C-C3E8-E0B9-92B51D6A483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7B45948-3FA2-8289-3EAE-A20EDE2342A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DCB2761-784F-FC85-1B92-A698C4A1CDD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250C71-2431-B0BF-147C-14C4481825E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7164429E-3598-7EC8-96B5-A205B260BAE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F0A8C28-8DFF-0BE4-4E6F-78C3DB802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0DA51FF-7403-41EC-CE28-89692499EFC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17B4346-4C78-DEEB-1565-BF4ABDA620B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C037BC6-AD6B-478A-0C6C-E8CC009C52E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B531CF-FB17-BE4C-19ED-F992FE113E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7091F-047B-2674-0073-FA849E63A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Basics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B49BAAE9-60E3-7F9D-E6F3-4455C3037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42EE6-F67F-D586-74AE-D61EB6584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</p:spTree>
    <p:extLst>
      <p:ext uri="{BB962C8B-B14F-4D97-AF65-F5344CB8AC3E}">
        <p14:creationId xmlns:p14="http://schemas.microsoft.com/office/powerpoint/2010/main" val="142766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03BA8-C242-A7E3-06B9-2FDDD142A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000" y="1318800"/>
            <a:ext cx="11176000" cy="495514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235884" y="3429000"/>
            <a:ext cx="6284332" cy="302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31C143A-1CF1-E401-0CB5-D7BA2231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55422540-3734-61F7-53F7-602380429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1235" y="2834482"/>
            <a:ext cx="8231293" cy="1189037"/>
          </a:xfr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/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93462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105E84A-1205-0701-E7F9-9675FAC2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CEB7E12F-E2C9-500B-63E1-77AA22B0D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1602" y="3035881"/>
            <a:ext cx="8231293" cy="1189037"/>
          </a:xfr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lvl="0"/>
            <a:r>
              <a:rPr lang="en-US" dirty="0"/>
              <a:t>What did we do last lesson?</a:t>
            </a:r>
          </a:p>
        </p:txBody>
      </p:sp>
    </p:spTree>
    <p:extLst>
      <p:ext uri="{BB962C8B-B14F-4D97-AF65-F5344CB8AC3E}">
        <p14:creationId xmlns:p14="http://schemas.microsoft.com/office/powerpoint/2010/main" val="180858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DE2D2EB-D5DC-2337-CDF3-57F12874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16074BB9-F153-95B5-1D77-133E1B58EF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928" y="629565"/>
            <a:ext cx="8231293" cy="1189037"/>
          </a:xfr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/>
            <a:r>
              <a:rPr lang="en-US" dirty="0"/>
              <a:t>Pre class problem 1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6BFF574-D87F-5665-E149-A6F07BF5762A}"/>
              </a:ext>
            </a:extLst>
          </p:cNvPr>
          <p:cNvSpPr txBox="1">
            <a:spLocks/>
          </p:cNvSpPr>
          <p:nvPr/>
        </p:nvSpPr>
        <p:spPr>
          <a:xfrm>
            <a:off x="558265" y="1542449"/>
            <a:ext cx="10601960" cy="402336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Intelligence analysts have intercepted a transmission from an enemy outpost. The signal contains </a:t>
            </a:r>
            <a:r>
              <a:rPr lang="en-US" sz="2800" b="1" dirty="0">
                <a:solidFill>
                  <a:schemeClr val="bg1"/>
                </a:solidFill>
              </a:rPr>
              <a:t>100 scrambled numeric values</a:t>
            </a:r>
            <a:r>
              <a:rPr lang="en-US" sz="2800" dirty="0">
                <a:solidFill>
                  <a:schemeClr val="bg1"/>
                </a:solidFill>
              </a:rPr>
              <a:t> — but buried inside are the </a:t>
            </a:r>
            <a:r>
              <a:rPr lang="en-US" sz="2800" b="1" dirty="0">
                <a:solidFill>
                  <a:schemeClr val="bg1"/>
                </a:solidFill>
              </a:rPr>
              <a:t>true coordinates</a:t>
            </a:r>
            <a:r>
              <a:rPr lang="en-US" sz="2800" dirty="0">
                <a:solidFill>
                  <a:schemeClr val="bg1"/>
                </a:solidFill>
              </a:rPr>
              <a:t> of the enemy's hidden command center.</a:t>
            </a:r>
          </a:p>
          <a:p>
            <a:r>
              <a:rPr lang="en-US" sz="2800" dirty="0">
                <a:solidFill>
                  <a:schemeClr val="bg1"/>
                </a:solidFill>
              </a:rPr>
              <a:t>Your commanding officer explains: </a:t>
            </a:r>
            <a:r>
              <a:rPr lang="en-US" sz="2800" i="1" dirty="0">
                <a:solidFill>
                  <a:schemeClr val="bg1"/>
                </a:solidFill>
              </a:rPr>
              <a:t>"The enemy encodes their location by hiding it in plain sight. Take the </a:t>
            </a:r>
            <a:r>
              <a:rPr lang="en-US" sz="2800" b="1" i="1" dirty="0">
                <a:solidFill>
                  <a:schemeClr val="bg1"/>
                </a:solidFill>
              </a:rPr>
              <a:t>5 highest signal values</a:t>
            </a:r>
            <a:r>
              <a:rPr lang="en-US" sz="2800" i="1" dirty="0">
                <a:solidFill>
                  <a:schemeClr val="bg1"/>
                </a:solidFill>
              </a:rPr>
              <a:t>, sum them together, then divide by </a:t>
            </a:r>
            <a:r>
              <a:rPr lang="en-US" sz="2800" b="1" i="1" dirty="0">
                <a:solidFill>
                  <a:schemeClr val="bg1"/>
                </a:solidFill>
              </a:rPr>
              <a:t>10</a:t>
            </a:r>
            <a:r>
              <a:rPr lang="en-US" sz="2800" i="1" dirty="0">
                <a:solidFill>
                  <a:schemeClr val="bg1"/>
                </a:solidFill>
              </a:rPr>
              <a:t>. The result is the target's grid coordinate."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Your mission: write a Python program to decode the transmission and report the coordinates.  You have 20 minutes to finish this before the enemy moves their command post.</a:t>
            </a:r>
          </a:p>
        </p:txBody>
      </p:sp>
    </p:spTree>
    <p:extLst>
      <p:ext uri="{BB962C8B-B14F-4D97-AF65-F5344CB8AC3E}">
        <p14:creationId xmlns:p14="http://schemas.microsoft.com/office/powerpoint/2010/main" val="75092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4430-1F71-D899-34E4-0D4105CC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F94A-3BCA-070D-C682-367F5F0F3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10601960" cy="40233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Understand the difference between lists, tuples, dictionaries, and 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Know when and how to apply nested lists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Implement and discuss some basic list manipulation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3616642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D6BAA-9655-19E9-C6CF-82D4EC65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388461"/>
            <a:ext cx="8231293" cy="1189037"/>
          </a:xfrm>
        </p:spPr>
        <p:txBody>
          <a:bodyPr/>
          <a:lstStyle/>
          <a:p>
            <a:r>
              <a:rPr lang="en-US" dirty="0"/>
              <a:t>Lists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A12711-B623-20A5-8867-310A62CE9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21708"/>
              </p:ext>
            </p:extLst>
          </p:nvPr>
        </p:nvGraphicFramePr>
        <p:xfrm>
          <a:off x="549275" y="2004060"/>
          <a:ext cx="11093450" cy="3870960"/>
        </p:xfrm>
        <a:graphic>
          <a:graphicData uri="http://schemas.openxmlformats.org/drawingml/2006/table">
            <a:tbl>
              <a:tblPr/>
              <a:tblGrid>
                <a:gridCol w="5546725">
                  <a:extLst>
                    <a:ext uri="{9D8B030D-6E8A-4147-A177-3AD203B41FA5}">
                      <a16:colId xmlns:a16="http://schemas.microsoft.com/office/drawing/2014/main" val="1581277800"/>
                    </a:ext>
                  </a:extLst>
                </a:gridCol>
                <a:gridCol w="5546725">
                  <a:extLst>
                    <a:ext uri="{9D8B030D-6E8A-4147-A177-3AD203B41FA5}">
                      <a16:colId xmlns:a16="http://schemas.microsoft.com/office/drawing/2014/main" val="1748122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Syntax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my_list = [1, 2, 3]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729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Ordered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Yes — items maintain insertion 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65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Mutable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items can be added, removed, or changed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5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Duplicates allowed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74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Indexable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zero-based: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my_list[0]</a:t>
                      </a:r>
                      <a:r>
                        <a:rPr lang="en-US"/>
                        <a:t> returns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3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Can mix data types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[1, "hello", 3.14, True]</a:t>
                      </a:r>
                      <a:r>
                        <a:rPr lang="en-US"/>
                        <a:t> is valid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004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Nestable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Yes — lists can contain other lists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798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Common methods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.append()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.remove()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.sort()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.pop()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.reverse()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.extend()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11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Common use case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Any ordered, changeable collection of 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24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55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9053-3BA7-4689-91DA-53BA32F2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FADC-A473-4437-B98E-A54159E5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Lists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C9183-4CF2-2C57-D8E4-2AB6AE7813E7}"/>
              </a:ext>
            </a:extLst>
          </p:cNvPr>
          <p:cNvSpPr txBox="1"/>
          <p:nvPr/>
        </p:nvSpPr>
        <p:spPr>
          <a:xfrm>
            <a:off x="873493" y="1277675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Empty list</a:t>
            </a:r>
          </a:p>
          <a:p>
            <a:r>
              <a:rPr lang="en-US" dirty="0" err="1"/>
              <a:t>my_list</a:t>
            </a:r>
            <a:r>
              <a:rPr lang="en-US" dirty="0"/>
              <a:t> = []</a:t>
            </a:r>
          </a:p>
          <a:p>
            <a:r>
              <a:rPr lang="en-US" dirty="0" err="1"/>
              <a:t>my_list</a:t>
            </a:r>
            <a:r>
              <a:rPr lang="en-US" dirty="0"/>
              <a:t> = list()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3BA37-A210-F85E-A06E-8980DAAF79EF}"/>
              </a:ext>
            </a:extLst>
          </p:cNvPr>
          <p:cNvSpPr txBox="1"/>
          <p:nvPr/>
        </p:nvSpPr>
        <p:spPr>
          <a:xfrm>
            <a:off x="873493" y="2380192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With values</a:t>
            </a:r>
          </a:p>
          <a:p>
            <a:r>
              <a:rPr lang="en-US" dirty="0" err="1"/>
              <a:t>my_list</a:t>
            </a:r>
            <a:r>
              <a:rPr lang="en-US" dirty="0"/>
              <a:t> = [1, 2, 3]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2FF212-E770-B425-1D93-B1B9601CD17E}"/>
              </a:ext>
            </a:extLst>
          </p:cNvPr>
          <p:cNvSpPr txBox="1"/>
          <p:nvPr/>
        </p:nvSpPr>
        <p:spPr>
          <a:xfrm>
            <a:off x="873493" y="3364334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From another </a:t>
            </a:r>
            <a:r>
              <a:rPr lang="en-US" dirty="0" err="1"/>
              <a:t>iterable</a:t>
            </a:r>
            <a:endParaRPr lang="en-US" dirty="0"/>
          </a:p>
          <a:p>
            <a:r>
              <a:rPr lang="en-US" dirty="0" err="1"/>
              <a:t>my_list</a:t>
            </a:r>
            <a:r>
              <a:rPr lang="en-US" dirty="0"/>
              <a:t> = list("hello")        # ['h', 'e', 'l', 'l', 'o']</a:t>
            </a:r>
          </a:p>
          <a:p>
            <a:r>
              <a:rPr lang="en-US" dirty="0" err="1"/>
              <a:t>my_list</a:t>
            </a:r>
            <a:r>
              <a:rPr lang="en-US" dirty="0"/>
              <a:t> = list((1, 2, 3))      # [1, 2, 3]  (from a tuple)</a:t>
            </a:r>
          </a:p>
          <a:p>
            <a:r>
              <a:rPr lang="en-US" dirty="0" err="1"/>
              <a:t>my_list</a:t>
            </a:r>
            <a:r>
              <a:rPr lang="en-US" dirty="0"/>
              <a:t> = list(range(5))       # [0, 1, 2, 3, 4]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170AB-0615-06E2-F05B-73F418AE8775}"/>
              </a:ext>
            </a:extLst>
          </p:cNvPr>
          <p:cNvSpPr txBox="1"/>
          <p:nvPr/>
        </p:nvSpPr>
        <p:spPr>
          <a:xfrm>
            <a:off x="873493" y="4760040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List comprehension</a:t>
            </a:r>
          </a:p>
          <a:p>
            <a:r>
              <a:rPr lang="en-US" dirty="0" err="1"/>
              <a:t>my_list</a:t>
            </a:r>
            <a:r>
              <a:rPr lang="en-US" dirty="0"/>
              <a:t> = [x * 2 for x in range(5)]   # [0, 2, 4, 6, 8]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A5A065-1C4A-16AE-7FAF-FEB554543234}"/>
              </a:ext>
            </a:extLst>
          </p:cNvPr>
          <p:cNvSpPr txBox="1"/>
          <p:nvPr/>
        </p:nvSpPr>
        <p:spPr>
          <a:xfrm>
            <a:off x="873493" y="5683370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Repeated values</a:t>
            </a:r>
          </a:p>
          <a:p>
            <a:r>
              <a:rPr lang="en-US" dirty="0" err="1"/>
              <a:t>my_list</a:t>
            </a:r>
            <a:r>
              <a:rPr lang="en-US" dirty="0"/>
              <a:t> = [0] * 5              # [0, 0, 0, 0, 0]</a:t>
            </a:r>
          </a:p>
        </p:txBody>
      </p:sp>
    </p:spTree>
    <p:extLst>
      <p:ext uri="{BB962C8B-B14F-4D97-AF65-F5344CB8AC3E}">
        <p14:creationId xmlns:p14="http://schemas.microsoft.com/office/powerpoint/2010/main" val="178826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9465-6747-3121-1769-A73A8E64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0E1794-6332-AE7C-0CCE-1ACC181C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388461"/>
            <a:ext cx="8231293" cy="1189037"/>
          </a:xfrm>
        </p:spPr>
        <p:txBody>
          <a:bodyPr/>
          <a:lstStyle/>
          <a:p>
            <a:r>
              <a:rPr lang="en-US" dirty="0"/>
              <a:t>List Methods </a:t>
            </a:r>
            <a:r>
              <a:rPr lang="en-US" dirty="0" err="1"/>
              <a:t>Cheatsheet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0D06AB-E936-156D-2E30-C7E97EC17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16636"/>
              </p:ext>
            </p:extLst>
          </p:nvPr>
        </p:nvGraphicFramePr>
        <p:xfrm>
          <a:off x="422030" y="917554"/>
          <a:ext cx="11117222" cy="5793302"/>
        </p:xfrm>
        <a:graphic>
          <a:graphicData uri="http://schemas.openxmlformats.org/drawingml/2006/table">
            <a:tbl>
              <a:tblPr/>
              <a:tblGrid>
                <a:gridCol w="2505787">
                  <a:extLst>
                    <a:ext uri="{9D8B030D-6E8A-4147-A177-3AD203B41FA5}">
                      <a16:colId xmlns:a16="http://schemas.microsoft.com/office/drawing/2014/main" val="151075792"/>
                    </a:ext>
                  </a:extLst>
                </a:gridCol>
                <a:gridCol w="2873827">
                  <a:extLst>
                    <a:ext uri="{9D8B030D-6E8A-4147-A177-3AD203B41FA5}">
                      <a16:colId xmlns:a16="http://schemas.microsoft.com/office/drawing/2014/main" val="616001578"/>
                    </a:ext>
                  </a:extLst>
                </a:gridCol>
                <a:gridCol w="3553371">
                  <a:extLst>
                    <a:ext uri="{9D8B030D-6E8A-4147-A177-3AD203B41FA5}">
                      <a16:colId xmlns:a16="http://schemas.microsoft.com/office/drawing/2014/main" val="2034672874"/>
                    </a:ext>
                  </a:extLst>
                </a:gridCol>
                <a:gridCol w="2184237">
                  <a:extLst>
                    <a:ext uri="{9D8B030D-6E8A-4147-A177-3AD203B41FA5}">
                      <a16:colId xmlns:a16="http://schemas.microsoft.com/office/drawing/2014/main" val="1846187701"/>
                    </a:ext>
                  </a:extLst>
                </a:gridCol>
              </a:tblGrid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Method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Description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Example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Result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285768"/>
                  </a:ext>
                </a:extLst>
              </a:tr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.append(x)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Adds item to the end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[1,2,3].append(4)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2, 3, 4]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347781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.insert(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, x)</a:t>
                      </a:r>
                      <a:endParaRPr lang="en-US" sz="1600" dirty="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Inserts item at index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i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[1,2,3].insert(1, 99)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99, 2, 3]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117651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.extend(iterable)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Appends all items from another </a:t>
                      </a:r>
                      <a:r>
                        <a:rPr lang="en-US" sz="1600" dirty="0" err="1"/>
                        <a:t>iterable</a:t>
                      </a:r>
                      <a:endParaRPr lang="en-US" sz="1600" dirty="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[1,2].extend([3,4])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2, 3, 4]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209411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.remove(x)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first occurrence of value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[1,2,3,2].remove(2)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3, 2]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019780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.pop(i)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&amp; returns item at index (default: last)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[1,2,3].pop()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600"/>
                        <a:t>, list becomes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[1, 2]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743979"/>
                  </a:ext>
                </a:extLst>
              </a:tr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.clear()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all items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[1,2,3].clear()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122365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.index(x)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index of first occurrence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[1,2,3].index(2)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1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024201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.count(x)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Counts occurrences of value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[1,2,2,3].count(2)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2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508169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.sort()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Sorts list in place (ascending by default)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[3,1,2].sort()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 2, 3]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691988"/>
                  </a:ext>
                </a:extLst>
              </a:tr>
              <a:tr h="42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.sort(reverse=True)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Sorts list in place descending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[3,1,2].sort(reverse=True)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[3, 2, 1]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402746"/>
                  </a:ext>
                </a:extLst>
              </a:tr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.reverse()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Reverses list in place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[1,2,3].reverse()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[3, 2, 1]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311336"/>
                  </a:ext>
                </a:extLst>
              </a:tr>
              <a:tr h="24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.copy()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a shallow copy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[1,2,3].copy()</a:t>
                      </a:r>
                      <a:endParaRPr lang="en-US" sz="1600"/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[1, 2, 3]</a:t>
                      </a:r>
                      <a:r>
                        <a:rPr lang="en-US" sz="1600" dirty="0"/>
                        <a:t> (new object)</a:t>
                      </a:r>
                    </a:p>
                  </a:txBody>
                  <a:tcPr marL="63062" marR="63062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789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6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5B9B-792C-0491-2A64-05D2E2B1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AA55F-998E-E195-F31E-3E01275ED749}"/>
              </a:ext>
            </a:extLst>
          </p:cNvPr>
          <p:cNvSpPr txBox="1"/>
          <p:nvPr/>
        </p:nvSpPr>
        <p:spPr>
          <a:xfrm>
            <a:off x="777240" y="1443841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my_list</a:t>
            </a:r>
            <a:r>
              <a:rPr lang="en-US" dirty="0"/>
              <a:t> = [1, 2, 3]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693D8-02C5-59F7-DE74-F713BB1C8BF9}"/>
              </a:ext>
            </a:extLst>
          </p:cNvPr>
          <p:cNvSpPr txBox="1"/>
          <p:nvPr/>
        </p:nvSpPr>
        <p:spPr>
          <a:xfrm>
            <a:off x="777239" y="2090172"/>
            <a:ext cx="66245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Slice copy</a:t>
            </a:r>
          </a:p>
          <a:p>
            <a:r>
              <a:rPr lang="en-US" dirty="0"/>
              <a:t>copy = </a:t>
            </a:r>
            <a:r>
              <a:rPr lang="en-US" dirty="0" err="1"/>
              <a:t>my_list</a:t>
            </a:r>
            <a:r>
              <a:rPr lang="en-US" dirty="0"/>
              <a:t>[:]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36BAB-3E84-18E3-3FE1-EA4D83CAE4A9}"/>
              </a:ext>
            </a:extLst>
          </p:cNvPr>
          <p:cNvSpPr txBox="1"/>
          <p:nvPr/>
        </p:nvSpPr>
        <p:spPr>
          <a:xfrm>
            <a:off x="777239" y="3143640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.copy() method</a:t>
            </a:r>
          </a:p>
          <a:p>
            <a:r>
              <a:rPr lang="en-US" dirty="0"/>
              <a:t>copy = </a:t>
            </a:r>
            <a:r>
              <a:rPr lang="en-US" dirty="0" err="1"/>
              <a:t>my_list.copy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9935D-880D-0AC0-7920-5F40C0A54DF3}"/>
              </a:ext>
            </a:extLst>
          </p:cNvPr>
          <p:cNvSpPr txBox="1"/>
          <p:nvPr/>
        </p:nvSpPr>
        <p:spPr>
          <a:xfrm>
            <a:off x="777239" y="4264128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list() constructor</a:t>
            </a:r>
          </a:p>
          <a:p>
            <a:r>
              <a:rPr lang="en-US" dirty="0"/>
              <a:t>copy = list(</a:t>
            </a:r>
            <a:r>
              <a:rPr lang="en-US" dirty="0" err="1"/>
              <a:t>my_list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3274A-BA4E-8CBC-CDC8-AD981DF22270}"/>
              </a:ext>
            </a:extLst>
          </p:cNvPr>
          <p:cNvSpPr txBox="1"/>
          <p:nvPr/>
        </p:nvSpPr>
        <p:spPr>
          <a:xfrm>
            <a:off x="777239" y="4982488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# Deep copy (use when list contains nested lists)</a:t>
            </a:r>
          </a:p>
          <a:p>
            <a:r>
              <a:rPr lang="en-US" dirty="0"/>
              <a:t>import copy</a:t>
            </a:r>
          </a:p>
          <a:p>
            <a:r>
              <a:rPr lang="en-US" dirty="0"/>
              <a:t>copy = </a:t>
            </a:r>
            <a:r>
              <a:rPr lang="en-US" dirty="0" err="1"/>
              <a:t>copy.deepcopy</a:t>
            </a:r>
            <a:r>
              <a:rPr lang="en-US" dirty="0"/>
              <a:t>(</a:t>
            </a:r>
            <a:r>
              <a:rPr lang="en-US" dirty="0" err="1"/>
              <a:t>my_list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560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6BFE-A35B-EE92-3045-F70894EC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9B43-812E-17E6-2E93-BBCEC1D5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ABOUT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20226-8296-5EAF-B028-288D546D5CF8}"/>
              </a:ext>
            </a:extLst>
          </p:cNvPr>
          <p:cNvSpPr txBox="1"/>
          <p:nvPr/>
        </p:nvSpPr>
        <p:spPr>
          <a:xfrm>
            <a:off x="777240" y="1443841"/>
            <a:ext cx="60976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my_list</a:t>
            </a:r>
            <a:r>
              <a:rPr lang="en-US" sz="2800" dirty="0"/>
              <a:t> = [1, 2, 3]</a:t>
            </a:r>
          </a:p>
          <a:p>
            <a:r>
              <a:rPr lang="en-US" sz="2800" dirty="0" err="1"/>
              <a:t>second_list</a:t>
            </a:r>
            <a:r>
              <a:rPr lang="en-US" sz="2800" dirty="0"/>
              <a:t> = </a:t>
            </a:r>
            <a:r>
              <a:rPr lang="en-US" sz="2800" dirty="0" err="1"/>
              <a:t>my_list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second_list</a:t>
            </a:r>
            <a:r>
              <a:rPr lang="en-US" sz="2800" dirty="0"/>
              <a:t>[0] = 100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my_list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8753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238E-FA6F-1A28-F457-4DD6B2A2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84C1A7-8084-A931-D59A-D2013912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CB8134-8408-54E9-AD24-56048621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315701"/>
              </p:ext>
            </p:extLst>
          </p:nvPr>
        </p:nvGraphicFramePr>
        <p:xfrm>
          <a:off x="752893" y="1005999"/>
          <a:ext cx="10686214" cy="49590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2241">
                  <a:extLst>
                    <a:ext uri="{9D8B030D-6E8A-4147-A177-3AD203B41FA5}">
                      <a16:colId xmlns:a16="http://schemas.microsoft.com/office/drawing/2014/main" val="2504497373"/>
                    </a:ext>
                  </a:extLst>
                </a:gridCol>
                <a:gridCol w="8293973">
                  <a:extLst>
                    <a:ext uri="{9D8B030D-6E8A-4147-A177-3AD203B41FA5}">
                      <a16:colId xmlns:a16="http://schemas.microsoft.com/office/drawing/2014/main" val="736826440"/>
                    </a:ext>
                  </a:extLst>
                </a:gridCol>
              </a:tblGrid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Detail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09114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Syntax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my_tuple = (1, 2, 3)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212807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Ordered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items maintain insertion order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796511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Mutable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once created, items cannot be changed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976023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Duplicates allowed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71696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Indexable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zero-based: my_tuple[0] returns 1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597134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Can mix data types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(1, "hello", 3.14, True) is valid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669246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Nestable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tuples can contain other tuples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166140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methods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.count(), .index() (only 2 — immutability limits options)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083954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use case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Fixed data that shouldn't change: coordinates, RGB values, database records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93684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Unpacking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x, y, z = (1, 2, 3) assigns each value to a variable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746709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Single-item syntax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Requires trailing comma — (5,) is a tuple; (5) is just an integer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40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04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D2DD-08CD-D892-FC09-8012B904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B93B-3316-AA40-8EEC-110DC481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TUPLES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3488E-E6D4-8785-85F1-4EE90C3C7549}"/>
              </a:ext>
            </a:extLst>
          </p:cNvPr>
          <p:cNvSpPr txBox="1"/>
          <p:nvPr/>
        </p:nvSpPr>
        <p:spPr>
          <a:xfrm>
            <a:off x="548640" y="1223451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Empty tuple</a:t>
            </a:r>
          </a:p>
          <a:p>
            <a:r>
              <a:rPr lang="en-US" dirty="0" err="1"/>
              <a:t>my_tuple</a:t>
            </a:r>
            <a:r>
              <a:rPr lang="en-US" dirty="0"/>
              <a:t> = ()</a:t>
            </a:r>
          </a:p>
          <a:p>
            <a:r>
              <a:rPr lang="en-US" dirty="0" err="1"/>
              <a:t>my_tuple</a:t>
            </a:r>
            <a:r>
              <a:rPr lang="en-US" dirty="0"/>
              <a:t> = tuple()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AA283-2046-FB97-A3A7-3EECA30EFD57}"/>
              </a:ext>
            </a:extLst>
          </p:cNvPr>
          <p:cNvSpPr txBox="1"/>
          <p:nvPr/>
        </p:nvSpPr>
        <p:spPr>
          <a:xfrm>
            <a:off x="548640" y="2423780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With values</a:t>
            </a:r>
          </a:p>
          <a:p>
            <a:r>
              <a:rPr lang="en-US" dirty="0" err="1"/>
              <a:t>my_tuple</a:t>
            </a:r>
            <a:r>
              <a:rPr lang="en-US" dirty="0"/>
              <a:t> = (1, 2, 3)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36A6A9-4D4A-8264-6D0B-5009D29CFB4F}"/>
              </a:ext>
            </a:extLst>
          </p:cNvPr>
          <p:cNvSpPr txBox="1"/>
          <p:nvPr/>
        </p:nvSpPr>
        <p:spPr>
          <a:xfrm>
            <a:off x="548640" y="3374382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Parentheses are actually optional</a:t>
            </a:r>
          </a:p>
          <a:p>
            <a:r>
              <a:rPr lang="en-US" dirty="0" err="1"/>
              <a:t>my_tuple</a:t>
            </a:r>
            <a:r>
              <a:rPr lang="en-US" dirty="0"/>
              <a:t> = 1, 2, 3             # (1, 2, 3)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09B7BB-7250-7390-EE3F-979E92830AE2}"/>
              </a:ext>
            </a:extLst>
          </p:cNvPr>
          <p:cNvSpPr txBox="1"/>
          <p:nvPr/>
        </p:nvSpPr>
        <p:spPr>
          <a:xfrm>
            <a:off x="548640" y="4158279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Single item (trailing comma is required!)</a:t>
            </a:r>
          </a:p>
          <a:p>
            <a:r>
              <a:rPr lang="en-US" dirty="0" err="1"/>
              <a:t>my_tuple</a:t>
            </a:r>
            <a:r>
              <a:rPr lang="en-US" dirty="0"/>
              <a:t> = (5,)                # (5,)  ✅</a:t>
            </a:r>
          </a:p>
          <a:p>
            <a:r>
              <a:rPr lang="en-US" dirty="0" err="1"/>
              <a:t>my_tuple</a:t>
            </a:r>
            <a:r>
              <a:rPr lang="en-US" dirty="0"/>
              <a:t> = (5)                 # 5     ❌ this is just an integer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B1E0A-FD56-0F7B-B7B6-C4D080B4DD12}"/>
              </a:ext>
            </a:extLst>
          </p:cNvPr>
          <p:cNvSpPr txBox="1"/>
          <p:nvPr/>
        </p:nvSpPr>
        <p:spPr>
          <a:xfrm>
            <a:off x="548640" y="5279333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From another </a:t>
            </a:r>
            <a:r>
              <a:rPr lang="en-US" dirty="0" err="1"/>
              <a:t>iterable</a:t>
            </a:r>
            <a:endParaRPr lang="en-US" dirty="0"/>
          </a:p>
          <a:p>
            <a:r>
              <a:rPr lang="en-US" dirty="0" err="1"/>
              <a:t>my_tuple</a:t>
            </a:r>
            <a:r>
              <a:rPr lang="en-US" dirty="0"/>
              <a:t> = tuple("hello")      # ('h', 'e', 'l', 'l', 'o')</a:t>
            </a:r>
          </a:p>
          <a:p>
            <a:r>
              <a:rPr lang="en-US" dirty="0" err="1"/>
              <a:t>my_tuple</a:t>
            </a:r>
            <a:r>
              <a:rPr lang="en-US" dirty="0"/>
              <a:t> = tuple([1, 2, 3])    # (1, 2, 3)  (from a list)</a:t>
            </a:r>
          </a:p>
          <a:p>
            <a:r>
              <a:rPr lang="en-US" dirty="0" err="1"/>
              <a:t>my_tuple</a:t>
            </a:r>
            <a:r>
              <a:rPr lang="en-US" dirty="0"/>
              <a:t> = tuple(range(5))     # (0, 1, 2, 3, 4)</a:t>
            </a:r>
          </a:p>
        </p:txBody>
      </p:sp>
    </p:spTree>
    <p:extLst>
      <p:ext uri="{BB962C8B-B14F-4D97-AF65-F5344CB8AC3E}">
        <p14:creationId xmlns:p14="http://schemas.microsoft.com/office/powerpoint/2010/main" val="2996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4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2F1C7-364F-5C93-38A9-744EA83F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7B5114-B1C7-0AF3-99E7-15AEA0F38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388461"/>
            <a:ext cx="8231293" cy="1189037"/>
          </a:xfrm>
        </p:spPr>
        <p:txBody>
          <a:bodyPr/>
          <a:lstStyle/>
          <a:p>
            <a:r>
              <a:rPr lang="en-US" dirty="0"/>
              <a:t>Tuples methods </a:t>
            </a:r>
            <a:r>
              <a:rPr lang="en-US" dirty="0" err="1"/>
              <a:t>cheatsheet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F34F43-FBAB-1D5A-7EB3-E75EA7C7A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979051"/>
              </p:ext>
            </p:extLst>
          </p:nvPr>
        </p:nvGraphicFramePr>
        <p:xfrm>
          <a:off x="458840" y="2498439"/>
          <a:ext cx="11093448" cy="1569720"/>
        </p:xfrm>
        <a:graphic>
          <a:graphicData uri="http://schemas.openxmlformats.org/drawingml/2006/table">
            <a:tbl>
              <a:tblPr/>
              <a:tblGrid>
                <a:gridCol w="1781942">
                  <a:extLst>
                    <a:ext uri="{9D8B030D-6E8A-4147-A177-3AD203B41FA5}">
                      <a16:colId xmlns:a16="http://schemas.microsoft.com/office/drawing/2014/main" val="1275452038"/>
                    </a:ext>
                  </a:extLst>
                </a:gridCol>
                <a:gridCol w="3647552">
                  <a:extLst>
                    <a:ext uri="{9D8B030D-6E8A-4147-A177-3AD203B41FA5}">
                      <a16:colId xmlns:a16="http://schemas.microsoft.com/office/drawing/2014/main" val="1550522760"/>
                    </a:ext>
                  </a:extLst>
                </a:gridCol>
                <a:gridCol w="3607358">
                  <a:extLst>
                    <a:ext uri="{9D8B030D-6E8A-4147-A177-3AD203B41FA5}">
                      <a16:colId xmlns:a16="http://schemas.microsoft.com/office/drawing/2014/main" val="1761430050"/>
                    </a:ext>
                  </a:extLst>
                </a:gridCol>
                <a:gridCol w="2056596">
                  <a:extLst>
                    <a:ext uri="{9D8B030D-6E8A-4147-A177-3AD203B41FA5}">
                      <a16:colId xmlns:a16="http://schemas.microsoft.com/office/drawing/2014/main" val="270513962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09837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.count(x)</a:t>
                      </a:r>
                      <a:endParaRPr lang="en-US" sz="1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Counts occurrences of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Courier New" panose="02070309020205020404" pitchFamily="49" charset="0"/>
                        </a:rPr>
                        <a:t>(1, 2, 2, 3).count(2)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Courier New" panose="02070309020205020404" pitchFamily="49" charset="0"/>
                        </a:rPr>
                        <a:t>2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6651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.index(x)</a:t>
                      </a:r>
                      <a:endParaRPr lang="en-US" sz="1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Returns index of first occurrence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(1, 2, 3).index(2)</a:t>
                      </a:r>
                      <a:endParaRPr lang="en-US" sz="17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Courier New" panose="02070309020205020404" pitchFamily="49" charset="0"/>
                        </a:rPr>
                        <a:t>1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9106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BD1BB8E-B4AD-168E-577D-EC0415D2EDCF}"/>
              </a:ext>
            </a:extLst>
          </p:cNvPr>
          <p:cNvSpPr txBox="1"/>
          <p:nvPr/>
        </p:nvSpPr>
        <p:spPr>
          <a:xfrm>
            <a:off x="1127928" y="466593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two tuple methods… why?</a:t>
            </a:r>
          </a:p>
        </p:txBody>
      </p:sp>
    </p:spTree>
    <p:extLst>
      <p:ext uri="{BB962C8B-B14F-4D97-AF65-F5344CB8AC3E}">
        <p14:creationId xmlns:p14="http://schemas.microsoft.com/office/powerpoint/2010/main" val="2020080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5750C-9CF6-EAE2-6DEA-7A03850A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586D-F8EA-11B6-DF13-FCABC199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TUPLES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E354D-6DE8-1A66-EFAD-DE4A92076AFB}"/>
              </a:ext>
            </a:extLst>
          </p:cNvPr>
          <p:cNvSpPr txBox="1"/>
          <p:nvPr/>
        </p:nvSpPr>
        <p:spPr>
          <a:xfrm>
            <a:off x="815740" y="1305341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my_tuple</a:t>
            </a:r>
            <a:r>
              <a:rPr lang="en-US" dirty="0"/>
              <a:t> = (1, 2, 3)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DD2AD-20AD-EB44-2986-C11FD8E6B7EB}"/>
              </a:ext>
            </a:extLst>
          </p:cNvPr>
          <p:cNvSpPr txBox="1"/>
          <p:nvPr/>
        </p:nvSpPr>
        <p:spPr>
          <a:xfrm>
            <a:off x="815740" y="1953246"/>
            <a:ext cx="8068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Since tuples are immutable, you rarely need to copy them</a:t>
            </a:r>
          </a:p>
          <a:p>
            <a:r>
              <a:rPr lang="en-US" dirty="0"/>
              <a:t># Simply assign — both variables safely point to the same object</a:t>
            </a:r>
          </a:p>
          <a:p>
            <a:r>
              <a:rPr lang="en-US" dirty="0"/>
              <a:t>copy = </a:t>
            </a:r>
            <a:r>
              <a:rPr lang="en-US" dirty="0" err="1"/>
              <a:t>my_tuple</a:t>
            </a:r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2228F6-9583-4767-010E-5EB5432A0B12}"/>
              </a:ext>
            </a:extLst>
          </p:cNvPr>
          <p:cNvSpPr txBox="1"/>
          <p:nvPr/>
        </p:nvSpPr>
        <p:spPr>
          <a:xfrm>
            <a:off x="815739" y="3704426"/>
            <a:ext cx="64609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tuple() constructor (creates a new object)</a:t>
            </a:r>
          </a:p>
          <a:p>
            <a:r>
              <a:rPr lang="en-US" dirty="0"/>
              <a:t>copy = tuple(</a:t>
            </a:r>
            <a:r>
              <a:rPr lang="en-US" dirty="0" err="1"/>
              <a:t>my_tuple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ACF4B-2712-C751-E9EF-DAD77DBC61F1}"/>
              </a:ext>
            </a:extLst>
          </p:cNvPr>
          <p:cNvSpPr txBox="1"/>
          <p:nvPr/>
        </p:nvSpPr>
        <p:spPr>
          <a:xfrm>
            <a:off x="815739" y="4722607"/>
            <a:ext cx="91464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Deep copy (use when tuple contains nested mutable objects)</a:t>
            </a:r>
          </a:p>
          <a:p>
            <a:r>
              <a:rPr lang="en-US" dirty="0"/>
              <a:t>import copy</a:t>
            </a:r>
          </a:p>
          <a:p>
            <a:r>
              <a:rPr lang="en-US" dirty="0"/>
              <a:t>copy = </a:t>
            </a:r>
            <a:r>
              <a:rPr lang="en-US" dirty="0" err="1"/>
              <a:t>copy.deepcopy</a:t>
            </a:r>
            <a:r>
              <a:rPr lang="en-US" dirty="0"/>
              <a:t>(</a:t>
            </a:r>
            <a:r>
              <a:rPr lang="en-US" dirty="0" err="1"/>
              <a:t>my_tuple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575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D348-CAAF-3773-6861-C22AEF86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VS IMMUTABLE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AB114-1471-32DD-621A-08AAFB643586}"/>
              </a:ext>
            </a:extLst>
          </p:cNvPr>
          <p:cNvSpPr txBox="1"/>
          <p:nvPr/>
        </p:nvSpPr>
        <p:spPr>
          <a:xfrm>
            <a:off x="847023" y="1185019"/>
            <a:ext cx="10087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Mutable</a:t>
            </a:r>
            <a:r>
              <a:rPr lang="en-US" sz="2400" dirty="0"/>
              <a:t> means you can change an object after it's created. </a:t>
            </a:r>
            <a:r>
              <a:rPr lang="en-US" sz="2400" b="1" dirty="0"/>
              <a:t>Immutable</a:t>
            </a:r>
            <a:r>
              <a:rPr lang="en-US" sz="2400" dirty="0"/>
              <a:t> means you cannot.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F51FA-9B33-7C87-C0E2-8368433DC3C8}"/>
              </a:ext>
            </a:extLst>
          </p:cNvPr>
          <p:cNvSpPr txBox="1"/>
          <p:nvPr/>
        </p:nvSpPr>
        <p:spPr>
          <a:xfrm>
            <a:off x="2095900" y="4442134"/>
            <a:ext cx="73849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# Tuple (immutable) — you CANNOT change it</a:t>
            </a:r>
          </a:p>
          <a:p>
            <a:r>
              <a:rPr lang="en-US" sz="2400" dirty="0" err="1"/>
              <a:t>my_tuple</a:t>
            </a:r>
            <a:r>
              <a:rPr lang="en-US" sz="2400" dirty="0"/>
              <a:t> = (1, 2, 3)</a:t>
            </a:r>
          </a:p>
          <a:p>
            <a:r>
              <a:rPr lang="en-US" sz="2400" dirty="0" err="1"/>
              <a:t>my_tuple</a:t>
            </a:r>
            <a:r>
              <a:rPr lang="en-US" sz="2400" dirty="0"/>
              <a:t>[0] = 99  # ❌ </a:t>
            </a:r>
            <a:r>
              <a:rPr lang="en-US" sz="2400" dirty="0" err="1"/>
              <a:t>TypeError</a:t>
            </a:r>
            <a:r>
              <a:rPr lang="en-US" sz="2400" dirty="0"/>
              <a:t>: 'tuple' object does not support item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6598D-D7BC-7556-9253-029C84CC8E6D}"/>
              </a:ext>
            </a:extLst>
          </p:cNvPr>
          <p:cNvSpPr txBox="1"/>
          <p:nvPr/>
        </p:nvSpPr>
        <p:spPr>
          <a:xfrm>
            <a:off x="2095900" y="2789554"/>
            <a:ext cx="60976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List (mutable) — you CAN change it</a:t>
            </a:r>
          </a:p>
          <a:p>
            <a:r>
              <a:rPr lang="en-US" sz="2400" dirty="0" err="1"/>
              <a:t>my_list</a:t>
            </a:r>
            <a:r>
              <a:rPr lang="en-US" sz="2400" dirty="0"/>
              <a:t> = [1, 2, 3]</a:t>
            </a:r>
          </a:p>
          <a:p>
            <a:r>
              <a:rPr lang="en-US" sz="2400" dirty="0" err="1"/>
              <a:t>my_list</a:t>
            </a:r>
            <a:r>
              <a:rPr lang="en-US" sz="2400" dirty="0"/>
              <a:t>[0] = 99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my_list</a:t>
            </a:r>
            <a:r>
              <a:rPr lang="en-US" sz="2400" dirty="0"/>
              <a:t>)  # [99, 2, 3]  ✅</a:t>
            </a:r>
          </a:p>
        </p:txBody>
      </p:sp>
    </p:spTree>
    <p:extLst>
      <p:ext uri="{BB962C8B-B14F-4D97-AF65-F5344CB8AC3E}">
        <p14:creationId xmlns:p14="http://schemas.microsoft.com/office/powerpoint/2010/main" val="373139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A79DFE-CA6D-199F-1D8F-0A25E480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 – Basic algos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8DBF7A-ABA5-7245-19D0-84C717D309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11008360" cy="40233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Mutable and immutable structures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Working with tuples and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36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EE81-699F-1ADA-85CB-3532288F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85A6-A544-7EFA-83E0-DC2F466F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AE4F5A-1DF4-0321-053C-0315B224A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706824"/>
              </p:ext>
            </p:extLst>
          </p:nvPr>
        </p:nvGraphicFramePr>
        <p:xfrm>
          <a:off x="893033" y="1228409"/>
          <a:ext cx="9963806" cy="5131226"/>
        </p:xfrm>
        <a:graphic>
          <a:graphicData uri="http://schemas.openxmlformats.org/drawingml/2006/table">
            <a:tbl>
              <a:tblPr/>
              <a:tblGrid>
                <a:gridCol w="3467952">
                  <a:extLst>
                    <a:ext uri="{9D8B030D-6E8A-4147-A177-3AD203B41FA5}">
                      <a16:colId xmlns:a16="http://schemas.microsoft.com/office/drawing/2014/main" val="4096516330"/>
                    </a:ext>
                  </a:extLst>
                </a:gridCol>
                <a:gridCol w="6495854">
                  <a:extLst>
                    <a:ext uri="{9D8B030D-6E8A-4147-A177-3AD203B41FA5}">
                      <a16:colId xmlns:a16="http://schemas.microsoft.com/office/drawing/2014/main" val="519406715"/>
                    </a:ext>
                  </a:extLst>
                </a:gridCol>
              </a:tblGrid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Feature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Detail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021239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Syntax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my_dict = {"name": "Alice", "age": 25}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140809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Ordered</a:t>
                      </a:r>
                      <a:endParaRPr lang="en-US" sz="1600" dirty="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maintains insertion order (Python 3.7+)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066278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Mutable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keys and values can be added, changed, or removed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215126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Duplicate keys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❌ No — duplicate keys overwrite the previous value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30125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Duplicate values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values can repeat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898535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Indexable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By key —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my_dict["name"]</a:t>
                      </a:r>
                      <a:r>
                        <a:rPr lang="en-US" sz="1600"/>
                        <a:t> returns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"Alice"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7424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Can mix data types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keys and values can be any type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251769"/>
                  </a:ext>
                </a:extLst>
              </a:tr>
              <a:tr h="285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Nestable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— values can be lists, tuples, or other dicts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040543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Common methods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.get()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.keys()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.values()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.items()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.update()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.pop()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220228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Common use case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Key-value lookups, storing structured data, counting frequencies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568921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Key types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Keys must be immutable — strings, numbers, and tuples are valid; lists are not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792908"/>
                  </a:ext>
                </a:extLst>
              </a:tr>
              <a:tr h="49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Safe access</a:t>
                      </a:r>
                      <a:endParaRPr lang="en-US" sz="1600"/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.get("key")</a:t>
                      </a:r>
                      <a:r>
                        <a:rPr lang="en-US" sz="1600" dirty="0"/>
                        <a:t> returns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1600" dirty="0"/>
                        <a:t> instead of raising a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KeyError</a:t>
                      </a:r>
                      <a:r>
                        <a:rPr lang="en-US" sz="1600" dirty="0"/>
                        <a:t> if key is missing</a:t>
                      </a:r>
                    </a:p>
                  </a:txBody>
                  <a:tcPr marL="71437" marR="71437" marT="35719" marB="3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697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540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8C80-F013-5AC4-9BC1-0A40317B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02FC-5B2A-99CC-6FED-0FB5D24A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dictionaries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AD2968-6A0A-CC77-6851-EF23D9CB1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134274"/>
              </p:ext>
            </p:extLst>
          </p:nvPr>
        </p:nvGraphicFramePr>
        <p:xfrm>
          <a:off x="549276" y="1905000"/>
          <a:ext cx="11093448" cy="3048000"/>
        </p:xfrm>
        <a:graphic>
          <a:graphicData uri="http://schemas.openxmlformats.org/drawingml/2006/table">
            <a:tbl>
              <a:tblPr/>
              <a:tblGrid>
                <a:gridCol w="2666197">
                  <a:extLst>
                    <a:ext uri="{9D8B030D-6E8A-4147-A177-3AD203B41FA5}">
                      <a16:colId xmlns:a16="http://schemas.microsoft.com/office/drawing/2014/main" val="2941850188"/>
                    </a:ext>
                  </a:extLst>
                </a:gridCol>
                <a:gridCol w="2880527">
                  <a:extLst>
                    <a:ext uri="{9D8B030D-6E8A-4147-A177-3AD203B41FA5}">
                      <a16:colId xmlns:a16="http://schemas.microsoft.com/office/drawing/2014/main" val="544297882"/>
                    </a:ext>
                  </a:extLst>
                </a:gridCol>
                <a:gridCol w="2773362">
                  <a:extLst>
                    <a:ext uri="{9D8B030D-6E8A-4147-A177-3AD203B41FA5}">
                      <a16:colId xmlns:a16="http://schemas.microsoft.com/office/drawing/2014/main" val="359213826"/>
                    </a:ext>
                  </a:extLst>
                </a:gridCol>
                <a:gridCol w="2773362">
                  <a:extLst>
                    <a:ext uri="{9D8B030D-6E8A-4147-A177-3AD203B41FA5}">
                      <a16:colId xmlns:a16="http://schemas.microsoft.com/office/drawing/2014/main" val="397082734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92093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Curly braces with values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latin typeface="Courier New" panose="02070309020205020404" pitchFamily="49" charset="0"/>
                        </a:rPr>
                        <a:t>my_dict</a:t>
                      </a:r>
                      <a:r>
                        <a:rPr lang="en-US" sz="1700" dirty="0">
                          <a:latin typeface="Courier New" panose="02070309020205020404" pitchFamily="49" charset="0"/>
                        </a:rPr>
                        <a:t> = {"a": 1, "b": 2}</a:t>
                      </a:r>
                      <a:endParaRPr lang="en-US" sz="17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{"a": 1, "b": 2}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Most common 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89822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Empty dictionary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my_dict = {}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{}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Unlike sets, </a:t>
                      </a:r>
                      <a:r>
                        <a:rPr lang="en-US" sz="1700">
                          <a:latin typeface="Courier New" panose="02070309020205020404" pitchFamily="49" charset="0"/>
                        </a:rPr>
                        <a:t>{}</a:t>
                      </a:r>
                      <a:r>
                        <a:rPr lang="en-US" sz="1700"/>
                        <a:t> does create an empty dict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5344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Courier New" panose="02070309020205020404" pitchFamily="49" charset="0"/>
                        </a:rPr>
                        <a:t>dict()</a:t>
                      </a:r>
                      <a:r>
                        <a:rPr lang="en-US" sz="1700" b="1"/>
                        <a:t> constructor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my_dict = dict(a=1, b=2)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{"a": 1, "b": 2}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Keys must be valid variable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09483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From a list of tuples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my_dict = dict([("a", 1), ("b", 2)])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{"a": 1, "b": 2}</a:t>
                      </a:r>
                      <a:endParaRPr lang="en-US" sz="17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Each tuple is a key-value pair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81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417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09BEF-203D-664C-81D3-C646FAD7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5B9BDB-991C-B226-B138-EDE78271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388461"/>
            <a:ext cx="9519173" cy="1189037"/>
          </a:xfrm>
        </p:spPr>
        <p:txBody>
          <a:bodyPr/>
          <a:lstStyle/>
          <a:p>
            <a:r>
              <a:rPr lang="en-US" dirty="0"/>
              <a:t>Dictionary methods </a:t>
            </a:r>
            <a:r>
              <a:rPr lang="en-US" dirty="0" err="1"/>
              <a:t>cheatsheet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D8CB06-7450-FBB7-D95F-A52835ED6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07204"/>
              </p:ext>
            </p:extLst>
          </p:nvPr>
        </p:nvGraphicFramePr>
        <p:xfrm>
          <a:off x="468887" y="982979"/>
          <a:ext cx="11093452" cy="5608392"/>
        </p:xfrm>
        <a:graphic>
          <a:graphicData uri="http://schemas.openxmlformats.org/drawingml/2006/table">
            <a:tbl>
              <a:tblPr/>
              <a:tblGrid>
                <a:gridCol w="2495377">
                  <a:extLst>
                    <a:ext uri="{9D8B030D-6E8A-4147-A177-3AD203B41FA5}">
                      <a16:colId xmlns:a16="http://schemas.microsoft.com/office/drawing/2014/main" val="247754008"/>
                    </a:ext>
                  </a:extLst>
                </a:gridCol>
                <a:gridCol w="3051349">
                  <a:extLst>
                    <a:ext uri="{9D8B030D-6E8A-4147-A177-3AD203B41FA5}">
                      <a16:colId xmlns:a16="http://schemas.microsoft.com/office/drawing/2014/main" val="1539533846"/>
                    </a:ext>
                  </a:extLst>
                </a:gridCol>
                <a:gridCol w="2857082">
                  <a:extLst>
                    <a:ext uri="{9D8B030D-6E8A-4147-A177-3AD203B41FA5}">
                      <a16:colId xmlns:a16="http://schemas.microsoft.com/office/drawing/2014/main" val="772676034"/>
                    </a:ext>
                  </a:extLst>
                </a:gridCol>
                <a:gridCol w="2689644">
                  <a:extLst>
                    <a:ext uri="{9D8B030D-6E8A-4147-A177-3AD203B41FA5}">
                      <a16:colId xmlns:a16="http://schemas.microsoft.com/office/drawing/2014/main" val="191957757"/>
                    </a:ext>
                  </a:extLst>
                </a:gridCol>
              </a:tblGrid>
              <a:tr h="23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Method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Description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Example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Result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19488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.keys()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all keys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{"a":1,"b":2}.keys()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dict_keys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(["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a","b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"])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95980"/>
                  </a:ext>
                </a:extLst>
              </a:tr>
              <a:tr h="396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.values()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all values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{"a":1,"b":2}.values()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dict_values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([1, 2])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231378"/>
                  </a:ext>
                </a:extLst>
              </a:tr>
              <a:tr h="416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.items()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all key-value pairs as tuples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{"a":1,"b":2}.items()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dict_items([("a",1),("b",2)])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18837"/>
                  </a:ext>
                </a:extLst>
              </a:tr>
              <a:tr h="523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.update(d)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Merges another dict in (overwrites duplicates)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{"a":1}.update({"b":2})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 1, "b": 2}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83614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.get(key)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value for key, or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1400"/>
                        <a:t> if missing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{"a":1}.get("a")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1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368792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.get(key, default)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value for key, or default if missing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{"a":1}.get("b", 0)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0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109121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.pop(key)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Removes &amp; returns value for key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{"a":1,"b":2}.pop("a")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returns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dict</a:t>
                      </a:r>
                      <a:r>
                        <a:rPr lang="en-US" sz="1400" dirty="0"/>
                        <a:t> becomes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{"b": 2}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598221"/>
                  </a:ext>
                </a:extLst>
              </a:tr>
              <a:tr h="416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.pop(key, default)</a:t>
                      </a:r>
                      <a:endParaRPr lang="en-US" sz="1400" dirty="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Same but returns default if key missing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{"a":1}.pop("b", 0)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0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514873"/>
                  </a:ext>
                </a:extLst>
              </a:tr>
              <a:tr h="416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.popitem()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Removes &amp; returns last inserted key-value pair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{"a":1,"b":2}.popitem()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("b", 2)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593820"/>
                  </a:ext>
                </a:extLst>
              </a:tr>
              <a:tr h="565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.setdefault(key, x)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value if key exists, else inserts with value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x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{"a":1}.setdefault("b", 99)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 1, "b": 99}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930753"/>
                  </a:ext>
                </a:extLst>
              </a:tr>
              <a:tr h="23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.clear()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Removes all items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{"a":1}.clear()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{}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517193"/>
                  </a:ext>
                </a:extLst>
              </a:tr>
              <a:tr h="23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.copy()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a shallow copy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{"a":1}.copy()</a:t>
                      </a:r>
                      <a:endParaRPr lang="en-US" sz="1400"/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{"a": 1}</a:t>
                      </a:r>
                      <a:r>
                        <a:rPr lang="en-US" sz="1400" dirty="0"/>
                        <a:t> (new object)</a:t>
                      </a:r>
                    </a:p>
                  </a:txBody>
                  <a:tcPr marL="58490" marR="58490" marT="29245" marB="292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422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959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4E22-1B31-3200-12BC-58D8AA1C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C8A7-C346-8340-C0B2-D6FDCA39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7AD4A1-341F-6834-46B9-4E4DCF73E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953589"/>
              </p:ext>
            </p:extLst>
          </p:nvPr>
        </p:nvGraphicFramePr>
        <p:xfrm>
          <a:off x="929058" y="1167407"/>
          <a:ext cx="10333883" cy="5121614"/>
        </p:xfrm>
        <a:graphic>
          <a:graphicData uri="http://schemas.openxmlformats.org/drawingml/2006/table">
            <a:tbl>
              <a:tblPr/>
              <a:tblGrid>
                <a:gridCol w="2988976">
                  <a:extLst>
                    <a:ext uri="{9D8B030D-6E8A-4147-A177-3AD203B41FA5}">
                      <a16:colId xmlns:a16="http://schemas.microsoft.com/office/drawing/2014/main" val="416917561"/>
                    </a:ext>
                  </a:extLst>
                </a:gridCol>
                <a:gridCol w="7344907">
                  <a:extLst>
                    <a:ext uri="{9D8B030D-6E8A-4147-A177-3AD203B41FA5}">
                      <a16:colId xmlns:a16="http://schemas.microsoft.com/office/drawing/2014/main" val="4123525008"/>
                    </a:ext>
                  </a:extLst>
                </a:gridCol>
              </a:tblGrid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Detail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156523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Syntax</a:t>
                      </a:r>
                      <a:endParaRPr lang="en-US" sz="1800" dirty="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my_set = {1, 2, 3}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436457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Ordered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items have no guaranteed order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62074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Mutable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items can be added or removed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198176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Duplicates allowed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automatically removes duplicates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62712"/>
                  </a:ext>
                </a:extLst>
              </a:tr>
              <a:tr h="27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Indexable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cannot access items by index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627819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Can mix data types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but items must be immutable (no lists inside a set)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073758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Nestable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cannot contain lists or other sets (items must be hashable)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458383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methods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.add()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.remove()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.union()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.intersection()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.difference()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385733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use case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Deduplication, fast membership testing, math-style set operations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559106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Empty set syntax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Must use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set()</a:t>
                      </a:r>
                      <a:r>
                        <a:rPr lang="en-US" sz="1800"/>
                        <a:t> — curly braces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{}</a:t>
                      </a:r>
                      <a:r>
                        <a:rPr lang="en-US" sz="1800"/>
                        <a:t> creates an empty dict, not a set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715148"/>
                  </a:ext>
                </a:extLst>
              </a:tr>
              <a:tr h="4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Membership test</a:t>
                      </a:r>
                      <a:endParaRPr lang="en-US" sz="18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 dirty="0"/>
                        <a:t> operator is very fast (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O(1)</a:t>
                      </a:r>
                      <a:r>
                        <a:rPr lang="en-US" sz="1800" dirty="0"/>
                        <a:t>) compared to lists (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O(n)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534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005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A9AD-D2AC-98B8-9140-C681AFB5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8394-374A-A1F0-80D3-1228BB5B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SETS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8E6EA9-0E7C-FAA7-13F3-D3FDBEF75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92400"/>
              </p:ext>
            </p:extLst>
          </p:nvPr>
        </p:nvGraphicFramePr>
        <p:xfrm>
          <a:off x="1301246" y="1439426"/>
          <a:ext cx="9589508" cy="4599630"/>
        </p:xfrm>
        <a:graphic>
          <a:graphicData uri="http://schemas.openxmlformats.org/drawingml/2006/table">
            <a:tbl>
              <a:tblPr/>
              <a:tblGrid>
                <a:gridCol w="2397377">
                  <a:extLst>
                    <a:ext uri="{9D8B030D-6E8A-4147-A177-3AD203B41FA5}">
                      <a16:colId xmlns:a16="http://schemas.microsoft.com/office/drawing/2014/main" val="3899657706"/>
                    </a:ext>
                  </a:extLst>
                </a:gridCol>
                <a:gridCol w="2397377">
                  <a:extLst>
                    <a:ext uri="{9D8B030D-6E8A-4147-A177-3AD203B41FA5}">
                      <a16:colId xmlns:a16="http://schemas.microsoft.com/office/drawing/2014/main" val="2353609706"/>
                    </a:ext>
                  </a:extLst>
                </a:gridCol>
                <a:gridCol w="2397377">
                  <a:extLst>
                    <a:ext uri="{9D8B030D-6E8A-4147-A177-3AD203B41FA5}">
                      <a16:colId xmlns:a16="http://schemas.microsoft.com/office/drawing/2014/main" val="3407084268"/>
                    </a:ext>
                  </a:extLst>
                </a:gridCol>
                <a:gridCol w="2397377">
                  <a:extLst>
                    <a:ext uri="{9D8B030D-6E8A-4147-A177-3AD203B41FA5}">
                      <a16:colId xmlns:a16="http://schemas.microsoft.com/office/drawing/2014/main" val="710442653"/>
                    </a:ext>
                  </a:extLst>
                </a:gridCol>
              </a:tblGrid>
              <a:tr h="29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Method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Example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Result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Notes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071823"/>
                  </a:ext>
                </a:extLst>
              </a:tr>
              <a:tr h="29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Curly braces with values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my_set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 = {1, 2, 3}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Most common way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042873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Empty set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set()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Never use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{}</a:t>
                      </a:r>
                      <a:r>
                        <a:rPr lang="en-US" sz="1400"/>
                        <a:t> — that creates an empty dict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71458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 list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set([1, 2, 2, 3])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Duplicates are automatically removed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770071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 tuple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set((1, 2, 2, 3))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Duplicates are automatically removed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243747"/>
                  </a:ext>
                </a:extLst>
              </a:tr>
              <a:tr h="728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 string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set("hello")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{'h', 'e', 'l', 'o'}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Each character becomes an item, duplicates removed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133498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 range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set(range(5))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{0, 1, 2, 3, 4}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152780"/>
                  </a:ext>
                </a:extLst>
              </a:tr>
              <a:tr h="728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Set comprehension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{x * 2 for x in range(5)}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{0, 2, 4, 6, 8}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Same syntax as list comprehension but with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{}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476932"/>
                  </a:ext>
                </a:extLst>
              </a:tr>
              <a:tr h="51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From another set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my_set = set(other_set)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copy of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other_set</a:t>
                      </a:r>
                      <a:endParaRPr lang="en-US" sz="14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Creates a new independent set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349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138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AC24-50F2-8759-EB8A-249F1AE3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04F-9CA5-FD86-7A59-BE882D75F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methods </a:t>
            </a:r>
            <a:r>
              <a:rPr lang="en-US" dirty="0" err="1"/>
              <a:t>cheatsheet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F64748-A252-FB40-D9F2-1FE1B1448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47669"/>
              </p:ext>
            </p:extLst>
          </p:nvPr>
        </p:nvGraphicFramePr>
        <p:xfrm>
          <a:off x="1167677" y="1155561"/>
          <a:ext cx="9856646" cy="5393152"/>
        </p:xfrm>
        <a:graphic>
          <a:graphicData uri="http://schemas.openxmlformats.org/drawingml/2006/table">
            <a:tbl>
              <a:tblPr/>
              <a:tblGrid>
                <a:gridCol w="2147048">
                  <a:extLst>
                    <a:ext uri="{9D8B030D-6E8A-4147-A177-3AD203B41FA5}">
                      <a16:colId xmlns:a16="http://schemas.microsoft.com/office/drawing/2014/main" val="796205444"/>
                    </a:ext>
                  </a:extLst>
                </a:gridCol>
                <a:gridCol w="2569866">
                  <a:extLst>
                    <a:ext uri="{9D8B030D-6E8A-4147-A177-3AD203B41FA5}">
                      <a16:colId xmlns:a16="http://schemas.microsoft.com/office/drawing/2014/main" val="1968151211"/>
                    </a:ext>
                  </a:extLst>
                </a:gridCol>
                <a:gridCol w="2569866">
                  <a:extLst>
                    <a:ext uri="{9D8B030D-6E8A-4147-A177-3AD203B41FA5}">
                      <a16:colId xmlns:a16="http://schemas.microsoft.com/office/drawing/2014/main" val="3094348587"/>
                    </a:ext>
                  </a:extLst>
                </a:gridCol>
                <a:gridCol w="2569866">
                  <a:extLst>
                    <a:ext uri="{9D8B030D-6E8A-4147-A177-3AD203B41FA5}">
                      <a16:colId xmlns:a16="http://schemas.microsoft.com/office/drawing/2014/main" val="4290249931"/>
                    </a:ext>
                  </a:extLst>
                </a:gridCol>
              </a:tblGrid>
              <a:tr h="18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Method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Description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Example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Result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870811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.add(x)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Adds a single item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{1,2,3}.add(4)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3, 4}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828719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.remove(x)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item — raises </a:t>
                      </a:r>
                      <a:r>
                        <a:rPr lang="en-US" sz="1100">
                          <a:latin typeface="Courier New" panose="02070309020205020404" pitchFamily="49" charset="0"/>
                        </a:rPr>
                        <a:t>KeyError</a:t>
                      </a:r>
                      <a:r>
                        <a:rPr lang="en-US" sz="1100"/>
                        <a:t> if missing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{1,2,3}.remove(2)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043466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.discard(x)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item — no error if missing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{1,2,3}.discard(99)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011212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.pop()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&amp; returns an arbitrary item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{1,2,3}.pop()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unpredictable item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58111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.clear()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all items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{1,2,3}.clear()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set()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798033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.copy()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a shallow copy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{1,2,3}.copy()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3}</a:t>
                      </a:r>
                      <a:r>
                        <a:rPr lang="en-US" sz="1100"/>
                        <a:t> (new object)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905535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.union(s)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Returns all items from both sets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{1,2}.union({2,3})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903874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.intersection(s)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only items in both sets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{1,2}.intersection({2,3})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{2}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714272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.difference(s)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items in first set but not second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{1,2}.difference({2,3})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028208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.symmetric_difference(s)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Returns items in either set but not both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{1,2}.symmetric_difference({2,3})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59125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.issubset(s)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Checks if all items exist in another set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{1,2}.issubset({1,2,3})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True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518625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.issuperset(s)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Checks if set contains all items of another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{1,2,3}.issuperset({1,2})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True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549994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.isdisjoint(s)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Checks if two sets share no items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{1,2}.isdisjoint({3,4})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True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656340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.update(s)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Adds all items from another set in place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{1,2}.update({3,4})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 2, 3, 4}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61571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.intersection_update(s)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Keeps only items found in both sets in place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{1,2,3}.intersection_update({2,3,4})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{2, 3}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8174"/>
                  </a:ext>
                </a:extLst>
              </a:tr>
              <a:tr h="330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.difference_update(s)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Removes items found in another set in place</a:t>
                      </a:r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{1,2,3}.difference_update({2,3})</a:t>
                      </a:r>
                      <a:endParaRPr lang="en-US" sz="110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{1}</a:t>
                      </a:r>
                      <a:endParaRPr lang="en-US" sz="1100" dirty="0"/>
                    </a:p>
                  </a:txBody>
                  <a:tcPr marL="44824" marR="44824" marT="22412" marB="224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39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206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03F05-852F-AE03-891C-5F61907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#2 - Dictionary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ECE7E-E8A2-7449-67E0-349E433DDF27}"/>
              </a:ext>
            </a:extLst>
          </p:cNvPr>
          <p:cNvSpPr txBox="1"/>
          <p:nvPr/>
        </p:nvSpPr>
        <p:spPr>
          <a:xfrm>
            <a:off x="926962" y="1154782"/>
            <a:ext cx="99855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You are building a simple database for a military unit. Each soldier has a name, rank, and years of service. Your job is to store this information and write a function that lets the commanding officer quickly look up any soldier's details by their last name.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Create a dictionary called </a:t>
            </a:r>
            <a:r>
              <a:rPr lang="en-US" dirty="0"/>
              <a:t>unit</a:t>
            </a:r>
            <a:r>
              <a:rPr lang="en-US" sz="2400" dirty="0"/>
              <a:t> where each key is a soldier's last name and each value is another dictionary containing </a:t>
            </a:r>
            <a:r>
              <a:rPr lang="en-US" dirty="0"/>
              <a:t>"rank"</a:t>
            </a:r>
            <a:r>
              <a:rPr lang="en-US" sz="2400" dirty="0"/>
              <a:t> and </a:t>
            </a:r>
            <a:r>
              <a:rPr lang="en-US" dirty="0"/>
              <a:t>"</a:t>
            </a:r>
            <a:r>
              <a:rPr lang="en-US" dirty="0" err="1"/>
              <a:t>years_of_service</a:t>
            </a:r>
            <a:r>
              <a:rPr lang="en-US" dirty="0"/>
              <a:t>“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Populate it with at least 5 soldiers Write a function </a:t>
            </a:r>
            <a:r>
              <a:rPr lang="en-US" dirty="0" err="1"/>
              <a:t>lookup_soldier</a:t>
            </a:r>
            <a:r>
              <a:rPr lang="en-US" dirty="0"/>
              <a:t>(unit, </a:t>
            </a:r>
            <a:r>
              <a:rPr lang="en-US" dirty="0" err="1"/>
              <a:t>last_name</a:t>
            </a:r>
            <a:r>
              <a:rPr lang="en-US" dirty="0"/>
              <a:t>)</a:t>
            </a:r>
            <a:r>
              <a:rPr lang="en-US" sz="2400" dirty="0"/>
              <a:t> that takes the dictionary and a last name and prints the soldier's full profile, or a friendly message if the soldier is not found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Write a function </a:t>
            </a:r>
            <a:r>
              <a:rPr lang="en-US" dirty="0" err="1"/>
              <a:t>lookup_soldier</a:t>
            </a:r>
            <a:r>
              <a:rPr lang="en-US" dirty="0"/>
              <a:t>(unit, </a:t>
            </a:r>
            <a:r>
              <a:rPr lang="en-US" dirty="0" err="1"/>
              <a:t>last_name</a:t>
            </a:r>
            <a:r>
              <a:rPr lang="en-US" dirty="0"/>
              <a:t>)</a:t>
            </a:r>
            <a:r>
              <a:rPr lang="en-US" sz="2400" dirty="0"/>
              <a:t> that takes the dictionary and a last name and prints the soldier's full profile, or a friendly message if the soldier is not found</a:t>
            </a:r>
          </a:p>
        </p:txBody>
      </p:sp>
    </p:spTree>
    <p:extLst>
      <p:ext uri="{BB962C8B-B14F-4D97-AF65-F5344CB8AC3E}">
        <p14:creationId xmlns:p14="http://schemas.microsoft.com/office/powerpoint/2010/main" val="863485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B486A-B7D2-70B4-7E6E-D9255F28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26AA93-9176-252B-57CD-BD714CF3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#3 - 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A87AD-36CB-80ED-9F59-422092F8BFC4}"/>
              </a:ext>
            </a:extLst>
          </p:cNvPr>
          <p:cNvSpPr txBox="1"/>
          <p:nvPr/>
        </p:nvSpPr>
        <p:spPr>
          <a:xfrm>
            <a:off x="374303" y="875371"/>
            <a:ext cx="9985548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A military base has two lists of personnel — soldiers who are </a:t>
            </a:r>
            <a:r>
              <a:rPr lang="en-US" sz="2200" b="1" dirty="0"/>
              <a:t>authorized</a:t>
            </a:r>
            <a:r>
              <a:rPr lang="en-US" sz="2200" dirty="0"/>
              <a:t> to enter a restricted zone, and soldiers who </a:t>
            </a:r>
            <a:r>
              <a:rPr lang="en-US" sz="2200" b="1" dirty="0"/>
              <a:t>showed up</a:t>
            </a:r>
            <a:r>
              <a:rPr lang="en-US" sz="2200" dirty="0"/>
              <a:t> at the gate today. Your job is to write a function that uses sets to help the security officer quickly answer three questions:</a:t>
            </a:r>
          </a:p>
          <a:p>
            <a:endParaRPr lang="en-US" sz="2200" dirty="0"/>
          </a:p>
          <a:p>
            <a:r>
              <a:rPr lang="en-US" sz="2200" dirty="0"/>
              <a:t>Who showed up that is </a:t>
            </a:r>
            <a:r>
              <a:rPr lang="en-US" sz="2200" b="1" dirty="0"/>
              <a:t>authorized</a:t>
            </a:r>
            <a:r>
              <a:rPr lang="en-US" sz="2200" dirty="0"/>
              <a:t>? (let them in)</a:t>
            </a:r>
          </a:p>
          <a:p>
            <a:r>
              <a:rPr lang="en-US" sz="2200" dirty="0"/>
              <a:t>Who showed up that is </a:t>
            </a:r>
            <a:r>
              <a:rPr lang="en-US" sz="2200" b="1" dirty="0"/>
              <a:t>not authorized</a:t>
            </a:r>
            <a:r>
              <a:rPr lang="en-US" sz="2200" dirty="0"/>
              <a:t>? (turn them away)</a:t>
            </a:r>
          </a:p>
          <a:p>
            <a:r>
              <a:rPr lang="en-US" sz="2200" dirty="0"/>
              <a:t>Who is authorized but </a:t>
            </a:r>
            <a:r>
              <a:rPr lang="en-US" sz="2200" b="1" dirty="0"/>
              <a:t>didn't show up</a:t>
            </a:r>
            <a:r>
              <a:rPr lang="en-US" sz="2200" dirty="0"/>
              <a:t>? (report as absent)</a:t>
            </a:r>
          </a:p>
          <a:p>
            <a:endParaRPr lang="en-US" sz="2200" dirty="0"/>
          </a:p>
          <a:p>
            <a:pPr marL="457200" indent="-457200">
              <a:buAutoNum type="arabicParenR"/>
            </a:pPr>
            <a:r>
              <a:rPr lang="en-US" sz="2200" dirty="0"/>
              <a:t>Store the two groups as sets </a:t>
            </a:r>
          </a:p>
          <a:p>
            <a:pPr marL="457200" indent="-457200">
              <a:buAutoNum type="arabicParenR"/>
            </a:pPr>
            <a:r>
              <a:rPr lang="en-US" sz="2200" dirty="0"/>
              <a:t>Write a function </a:t>
            </a:r>
            <a:r>
              <a:rPr lang="en-US" sz="2200" dirty="0" err="1"/>
              <a:t>check_gate</a:t>
            </a:r>
            <a:r>
              <a:rPr lang="en-US" sz="2200" dirty="0"/>
              <a:t>(authorized, arrived) that returns all three answers using set operations </a:t>
            </a:r>
          </a:p>
          <a:p>
            <a:pPr marL="457200" indent="-457200">
              <a:buAutoNum type="arabicParenR"/>
            </a:pPr>
            <a:r>
              <a:rPr lang="en-US" sz="2200" dirty="0"/>
              <a:t>Print each result clearly</a:t>
            </a:r>
          </a:p>
          <a:p>
            <a:pPr marL="457200" indent="-457200">
              <a:buAutoNum type="arabicParenR"/>
            </a:pPr>
            <a:endParaRPr lang="en-US" sz="2200" dirty="0"/>
          </a:p>
          <a:p>
            <a:r>
              <a:rPr lang="en-US" sz="2200" dirty="0"/>
              <a:t>Starter Code:</a:t>
            </a:r>
          </a:p>
          <a:p>
            <a:r>
              <a:rPr lang="en-US" sz="2200" dirty="0"/>
              <a:t>authorized = {"Smith", "Johnson", "Williams", "Brown", "Davis"} </a:t>
            </a:r>
          </a:p>
          <a:p>
            <a:r>
              <a:rPr lang="en-US" sz="2200" dirty="0"/>
              <a:t>arrived = {"Smith", "Davis", "Williams", "Rodriguez"}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1857F8-1250-41C3-7653-2BF7ECD9F293}"/>
              </a:ext>
            </a:extLst>
          </p:cNvPr>
          <p:cNvSpPr txBox="1"/>
          <p:nvPr/>
        </p:nvSpPr>
        <p:spPr>
          <a:xfrm>
            <a:off x="6277893" y="5068229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HINT: explore .intersection() and .difference() methods</a:t>
            </a:r>
          </a:p>
        </p:txBody>
      </p:sp>
    </p:spTree>
    <p:extLst>
      <p:ext uri="{BB962C8B-B14F-4D97-AF65-F5344CB8AC3E}">
        <p14:creationId xmlns:p14="http://schemas.microsoft.com/office/powerpoint/2010/main" val="2520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45D4-ACC5-1EA9-8B3D-4812FC94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55204D-A428-0B69-DAA6-4351266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#4 – sets and dictionaries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BBB91-5A9E-A110-2E1C-BFC8AD56E77F}"/>
              </a:ext>
            </a:extLst>
          </p:cNvPr>
          <p:cNvSpPr txBox="1"/>
          <p:nvPr/>
        </p:nvSpPr>
        <p:spPr>
          <a:xfrm>
            <a:off x="374302" y="875371"/>
            <a:ext cx="1135212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Take the lyrics of your favorite song, and put it in triple quotes</a:t>
            </a:r>
          </a:p>
          <a:p>
            <a:endParaRPr lang="en-US" sz="2200" dirty="0"/>
          </a:p>
          <a:p>
            <a:r>
              <a:rPr lang="en-US" sz="2200" dirty="0"/>
              <a:t>“”” </a:t>
            </a:r>
          </a:p>
          <a:p>
            <a:r>
              <a:rPr lang="en-US" sz="2200" dirty="0"/>
              <a:t>Song lyrics</a:t>
            </a:r>
            <a:br>
              <a:rPr lang="en-US" sz="2200" dirty="0"/>
            </a:br>
            <a:r>
              <a:rPr lang="en-US" sz="2200" dirty="0"/>
              <a:t>“””</a:t>
            </a:r>
          </a:p>
          <a:p>
            <a:endParaRPr lang="en-US" sz="2200" dirty="0"/>
          </a:p>
          <a:p>
            <a:r>
              <a:rPr lang="en-US" sz="2200" dirty="0"/>
              <a:t>Use the set() operation to find all of the unique words in the song.</a:t>
            </a:r>
          </a:p>
          <a:p>
            <a:endParaRPr lang="en-US" sz="2200" dirty="0"/>
          </a:p>
          <a:p>
            <a:r>
              <a:rPr lang="en-US" sz="2200" dirty="0"/>
              <a:t>Using your set, and the initial song lyrics, create a dictionary that contains each word as a key, and the number of times it shows up in your favorite song as the value.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55593-3FD7-6ABE-C6B9-5E7A5E3FDB3B}"/>
              </a:ext>
            </a:extLst>
          </p:cNvPr>
          <p:cNvSpPr txBox="1"/>
          <p:nvPr/>
        </p:nvSpPr>
        <p:spPr>
          <a:xfrm>
            <a:off x="374301" y="5382464"/>
            <a:ext cx="11352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Hint:  You may need to use the split() method, and other methods to clean up your song lyrics before finding all of the unique words.</a:t>
            </a:r>
          </a:p>
        </p:txBody>
      </p:sp>
    </p:spTree>
    <p:extLst>
      <p:ext uri="{BB962C8B-B14F-4D97-AF65-F5344CB8AC3E}">
        <p14:creationId xmlns:p14="http://schemas.microsoft.com/office/powerpoint/2010/main" val="4229231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D62AE3-67D3-4386-F1B7-88A1EB58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4D349-7CB9-0570-C5A9-74E3AAE2B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1608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3263</TotalTime>
  <Words>3263</Words>
  <Application>Microsoft Office PowerPoint</Application>
  <PresentationFormat>Widescreen</PresentationFormat>
  <Paragraphs>467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Arial Bold</vt:lpstr>
      <vt:lpstr>Courier New</vt:lpstr>
      <vt:lpstr>US Army 2023 AFC DEVCOM Logo</vt:lpstr>
      <vt:lpstr>Data Structures Basics</vt:lpstr>
      <vt:lpstr> Course Schedule</vt:lpstr>
      <vt:lpstr>Review</vt:lpstr>
      <vt:lpstr>What did we do last lesson?</vt:lpstr>
      <vt:lpstr>Pre class problem 1</vt:lpstr>
      <vt:lpstr>Objectives</vt:lpstr>
      <vt:lpstr>Lists</vt:lpstr>
      <vt:lpstr>Initializing Lists</vt:lpstr>
      <vt:lpstr>List Methods Cheatsheet</vt:lpstr>
      <vt:lpstr>Copying Lists</vt:lpstr>
      <vt:lpstr>A NOTE ABOUT LISTS</vt:lpstr>
      <vt:lpstr>TUPLES</vt:lpstr>
      <vt:lpstr>Initializing TUPLES</vt:lpstr>
      <vt:lpstr>Tuples methods cheatsheet</vt:lpstr>
      <vt:lpstr>Copying TUPLES</vt:lpstr>
      <vt:lpstr>MUTABLE VS IMMUTABLE</vt:lpstr>
      <vt:lpstr>Hands-On #1 – Basic algos</vt:lpstr>
      <vt:lpstr>dictionaries</vt:lpstr>
      <vt:lpstr>INITIALIZING dictionaries</vt:lpstr>
      <vt:lpstr>Dictionary methods cheatsheet</vt:lpstr>
      <vt:lpstr>SETS</vt:lpstr>
      <vt:lpstr>INITIALIZING SETS</vt:lpstr>
      <vt:lpstr>SET methods cheatsheet</vt:lpstr>
      <vt:lpstr>Hands-On #2 - Dictionary</vt:lpstr>
      <vt:lpstr>Hands-On #3 - sets</vt:lpstr>
      <vt:lpstr>Hands-On #4 – sets and dictionaries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Ryan Neville</cp:lastModifiedBy>
  <cp:revision>143</cp:revision>
  <dcterms:created xsi:type="dcterms:W3CDTF">2025-07-09T23:54:51Z</dcterms:created>
  <dcterms:modified xsi:type="dcterms:W3CDTF">2026-06-24T19:38:19Z</dcterms:modified>
</cp:coreProperties>
</file>