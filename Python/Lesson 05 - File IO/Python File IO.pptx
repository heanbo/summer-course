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4" r:id="rId2"/>
  </p:sldMasterIdLst>
  <p:notesMasterIdLst>
    <p:notesMasterId r:id="rId30"/>
  </p:notesMasterIdLst>
  <p:sldIdLst>
    <p:sldId id="284" r:id="rId3"/>
    <p:sldId id="488" r:id="rId4"/>
    <p:sldId id="486" r:id="rId5"/>
    <p:sldId id="491" r:id="rId6"/>
    <p:sldId id="492" r:id="rId7"/>
    <p:sldId id="493" r:id="rId8"/>
    <p:sldId id="257" r:id="rId9"/>
    <p:sldId id="258" r:id="rId10"/>
    <p:sldId id="500" r:id="rId11"/>
    <p:sldId id="260" r:id="rId12"/>
    <p:sldId id="494" r:id="rId13"/>
    <p:sldId id="276" r:id="rId14"/>
    <p:sldId id="278" r:id="rId15"/>
    <p:sldId id="495" r:id="rId16"/>
    <p:sldId id="498" r:id="rId17"/>
    <p:sldId id="497" r:id="rId18"/>
    <p:sldId id="496" r:id="rId19"/>
    <p:sldId id="279" r:id="rId20"/>
    <p:sldId id="280" r:id="rId21"/>
    <p:sldId id="499" r:id="rId22"/>
    <p:sldId id="261" r:id="rId23"/>
    <p:sldId id="277" r:id="rId24"/>
    <p:sldId id="281" r:id="rId25"/>
    <p:sldId id="282" r:id="rId26"/>
    <p:sldId id="283" r:id="rId27"/>
    <p:sldId id="273" r:id="rId28"/>
    <p:sldId id="25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9375" autoAdjust="0"/>
  </p:normalViewPr>
  <p:slideViewPr>
    <p:cSldViewPr snapToGrid="0">
      <p:cViewPr varScale="1">
        <p:scale>
          <a:sx n="99" d="100"/>
          <a:sy n="9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1F8BC1-DC94-491B-AA44-0232F744EE98}"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8B709C-82E0-4ADF-BDA3-CCA1C8B22229}" type="slidenum">
              <a:rPr lang="en-US" smtClean="0"/>
              <a:t>‹#›</a:t>
            </a:fld>
            <a:endParaRPr lang="en-US"/>
          </a:p>
        </p:txBody>
      </p:sp>
    </p:spTree>
    <p:extLst>
      <p:ext uri="{BB962C8B-B14F-4D97-AF65-F5344CB8AC3E}">
        <p14:creationId xmlns:p14="http://schemas.microsoft.com/office/powerpoint/2010/main" val="3019990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70A4C-6580-9B96-AD9C-7B89F40C2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C750F-D722-5702-D396-607F3EB383E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E743D21-3E28-75DD-6B79-50F7034E19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804FB5-1C20-6F5F-93AF-A0AA5723923A}"/>
              </a:ext>
            </a:extLst>
          </p:cNvPr>
          <p:cNvSpPr>
            <a:spLocks noGrp="1"/>
          </p:cNvSpPr>
          <p:nvPr>
            <p:ph type="sldNum" sz="quarter" idx="5"/>
          </p:nvPr>
        </p:nvSpPr>
        <p:spPr/>
        <p:txBody>
          <a:bodyPr/>
          <a:lstStyle/>
          <a:p>
            <a:fld id="{292570D5-C374-43AE-876B-55C2A221664E}" type="slidenum">
              <a:rPr lang="en-US" smtClean="0"/>
              <a:t>2</a:t>
            </a:fld>
            <a:endParaRPr lang="en-US"/>
          </a:p>
        </p:txBody>
      </p:sp>
    </p:spTree>
    <p:extLst>
      <p:ext uri="{BB962C8B-B14F-4D97-AF65-F5344CB8AC3E}">
        <p14:creationId xmlns:p14="http://schemas.microsoft.com/office/powerpoint/2010/main" val="202222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3</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D7E6-9378-263A-EC10-412A02CBC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A103B-85B0-E208-6061-CF80516F0A4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48FB0F2-B5C0-3ABE-C3C6-2B1D82398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06EB43-F4ED-79BD-FD95-5B1538063BFA}"/>
              </a:ext>
            </a:extLst>
          </p:cNvPr>
          <p:cNvSpPr>
            <a:spLocks noGrp="1"/>
          </p:cNvSpPr>
          <p:nvPr>
            <p:ph type="sldNum" sz="quarter" idx="5"/>
          </p:nvPr>
        </p:nvSpPr>
        <p:spPr/>
        <p:txBody>
          <a:bodyPr/>
          <a:lstStyle/>
          <a:p>
            <a:fld id="{292570D5-C374-43AE-876B-55C2A221664E}" type="slidenum">
              <a:rPr lang="en-US" smtClean="0"/>
              <a:t>4</a:t>
            </a:fld>
            <a:endParaRPr lang="en-US"/>
          </a:p>
        </p:txBody>
      </p:sp>
    </p:spTree>
    <p:extLst>
      <p:ext uri="{BB962C8B-B14F-4D97-AF65-F5344CB8AC3E}">
        <p14:creationId xmlns:p14="http://schemas.microsoft.com/office/powerpoint/2010/main" val="4052764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DFB6B-EE01-3DF8-B9A3-A31F191B45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DC87D-3D85-CC05-4FE4-53FF5D106D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E08C36D-D4B9-4FE5-DC38-B23AF49F08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F69198-CDDB-EB2A-AE29-45385A9F1FF3}"/>
              </a:ext>
            </a:extLst>
          </p:cNvPr>
          <p:cNvSpPr>
            <a:spLocks noGrp="1"/>
          </p:cNvSpPr>
          <p:nvPr>
            <p:ph type="sldNum" sz="quarter" idx="5"/>
          </p:nvPr>
        </p:nvSpPr>
        <p:spPr/>
        <p:txBody>
          <a:bodyPr/>
          <a:lstStyle/>
          <a:p>
            <a:fld id="{292570D5-C374-43AE-876B-55C2A221664E}" type="slidenum">
              <a:rPr lang="en-US" smtClean="0"/>
              <a:t>5</a:t>
            </a:fld>
            <a:endParaRPr lang="en-US"/>
          </a:p>
        </p:txBody>
      </p:sp>
    </p:spTree>
    <p:extLst>
      <p:ext uri="{BB962C8B-B14F-4D97-AF65-F5344CB8AC3E}">
        <p14:creationId xmlns:p14="http://schemas.microsoft.com/office/powerpoint/2010/main" val="3498141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077D8-23A0-69AD-C9B1-F0DA5168D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D0539-47CA-484E-1C37-380F6DF5A4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CBD807-4EEE-A554-CBD4-973B5C7FEF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8DA5CF-D680-92FD-8250-5906F78C84FE}"/>
              </a:ext>
            </a:extLst>
          </p:cNvPr>
          <p:cNvSpPr>
            <a:spLocks noGrp="1"/>
          </p:cNvSpPr>
          <p:nvPr>
            <p:ph type="sldNum" sz="quarter" idx="5"/>
          </p:nvPr>
        </p:nvSpPr>
        <p:spPr/>
        <p:txBody>
          <a:bodyPr/>
          <a:lstStyle/>
          <a:p>
            <a:fld id="{292570D5-C374-43AE-876B-55C2A221664E}" type="slidenum">
              <a:rPr lang="en-US" smtClean="0"/>
              <a:t>6</a:t>
            </a:fld>
            <a:endParaRPr lang="en-US"/>
          </a:p>
        </p:txBody>
      </p:sp>
    </p:spTree>
    <p:extLst>
      <p:ext uri="{BB962C8B-B14F-4D97-AF65-F5344CB8AC3E}">
        <p14:creationId xmlns:p14="http://schemas.microsoft.com/office/powerpoint/2010/main" val="4194587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7105969b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7105969b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715ed335d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715ed335d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7105969b9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7105969b9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715ed335d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715ed335d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E1876-9A88-AC9A-EEA0-09A5D443F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8ED5F-1EBB-D3DA-21D1-17A4AC27EB0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DD7F1C4-8BD1-42DE-2251-2E35849A0D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78741C-CD8D-4A35-2F6E-59CC0DFE77A8}"/>
              </a:ext>
            </a:extLst>
          </p:cNvPr>
          <p:cNvSpPr>
            <a:spLocks noGrp="1"/>
          </p:cNvSpPr>
          <p:nvPr>
            <p:ph type="sldNum" sz="quarter" idx="5"/>
          </p:nvPr>
        </p:nvSpPr>
        <p:spPr/>
        <p:txBody>
          <a:bodyPr/>
          <a:lstStyle/>
          <a:p>
            <a:fld id="{292570D5-C374-43AE-876B-55C2A221664E}" type="slidenum">
              <a:rPr lang="en-US" smtClean="0"/>
              <a:t>11</a:t>
            </a:fld>
            <a:endParaRPr lang="en-US"/>
          </a:p>
        </p:txBody>
      </p:sp>
    </p:spTree>
    <p:extLst>
      <p:ext uri="{BB962C8B-B14F-4D97-AF65-F5344CB8AC3E}">
        <p14:creationId xmlns:p14="http://schemas.microsoft.com/office/powerpoint/2010/main" val="1313543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8B709C-82E0-4ADF-BDA3-CCA1C8B22229}" type="slidenum">
              <a:rPr lang="en-US" smtClean="0"/>
              <a:t>24</a:t>
            </a:fld>
            <a:endParaRPr lang="en-US"/>
          </a:p>
        </p:txBody>
      </p:sp>
    </p:spTree>
    <p:extLst>
      <p:ext uri="{BB962C8B-B14F-4D97-AF65-F5344CB8AC3E}">
        <p14:creationId xmlns:p14="http://schemas.microsoft.com/office/powerpoint/2010/main" val="22693766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a:prstGeom prst="rect">
            <a:avLst/>
          </a:prstGeo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Tree>
    <p:extLst>
      <p:ext uri="{BB962C8B-B14F-4D97-AF65-F5344CB8AC3E}">
        <p14:creationId xmlns:p14="http://schemas.microsoft.com/office/powerpoint/2010/main" val="89293788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p:nvPicPr>
        <p:blipFill>
          <a:blip r:embed="rId2"/>
          <a:stretch>
            <a:fillRect/>
          </a:stretch>
        </p:blipFill>
        <p:spPr bwMode="black">
          <a:xfrm>
            <a:off x="180891" y="104974"/>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0"/>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8"/>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2"/>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4"/>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6"/>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0" y="5133530"/>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0" y="4952738"/>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0" y="5314322"/>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0" y="5495114"/>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0" y="5675906"/>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p:nvGrpSpPr>
        <p:grpSpPr>
          <a:xfrm>
            <a:off x="548219" y="1974220"/>
            <a:ext cx="7173382"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399" y="2202820"/>
            <a:ext cx="6429375" cy="1325880"/>
          </a:xfrm>
          <a:prstGeom prst="rect">
            <a:avLst/>
          </a:prstGeo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79"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67169541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a:xfrm>
            <a:off x="11210716" y="6629400"/>
            <a:ext cx="442001" cy="228600"/>
          </a:xfrm>
          <a:prstGeom prst="rect">
            <a:avLst/>
          </a:prstGeom>
        </p:spPr>
        <p:txBody>
          <a:bodyPr/>
          <a:lstStyle/>
          <a:p>
            <a:fld id="{79D051F2-C7C4-43BD-B552-C78CE0DE4128}"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a:prstGeom prst="rect">
            <a:avLst/>
          </a:prstGeo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4"/>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Tree>
    <p:extLst>
      <p:ext uri="{BB962C8B-B14F-4D97-AF65-F5344CB8AC3E}">
        <p14:creationId xmlns:p14="http://schemas.microsoft.com/office/powerpoint/2010/main" val="32732724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Content Placeholder 2"/>
          <p:cNvSpPr>
            <a:spLocks noGrp="1"/>
          </p:cNvSpPr>
          <p:nvPr>
            <p:ph idx="1"/>
          </p:nvPr>
        </p:nvSpPr>
        <p:spPr>
          <a:xfrm>
            <a:off x="548640" y="1600198"/>
            <a:ext cx="67951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a:prstGeom prst="rect">
            <a:avLst/>
          </a:prstGeom>
        </p:spPr>
        <p:txBody>
          <a:bodyPr lIns="0"/>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a:prstGeom prst="rect">
            <a:avLst/>
          </a:prstGeom>
        </p:spPr>
        <p:txBody>
          <a:bodyPr rIns="0"/>
          <a:lstStyle/>
          <a:p>
            <a:fld id="{79D051F2-C7C4-43BD-B552-C78CE0DE4128}" type="slidenum">
              <a:rPr lang="en-US" smtClean="0"/>
              <a:t>‹#›</a:t>
            </a:fld>
            <a:endParaRPr lang="en-US"/>
          </a:p>
        </p:txBody>
      </p:sp>
    </p:spTree>
    <p:extLst>
      <p:ext uri="{BB962C8B-B14F-4D97-AF65-F5344CB8AC3E}">
        <p14:creationId xmlns:p14="http://schemas.microsoft.com/office/powerpoint/2010/main" val="292815419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6134857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Content Placeholder 2"/>
          <p:cNvSpPr>
            <a:spLocks noGrp="1"/>
          </p:cNvSpPr>
          <p:nvPr>
            <p:ph sz="half" idx="1"/>
          </p:nvPr>
        </p:nvSpPr>
        <p:spPr>
          <a:xfrm>
            <a:off x="548639"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69832592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Content Placeholder 2"/>
          <p:cNvSpPr>
            <a:spLocks noGrp="1"/>
          </p:cNvSpPr>
          <p:nvPr>
            <p:ph sz="half" idx="1"/>
          </p:nvPr>
        </p:nvSpPr>
        <p:spPr>
          <a:xfrm>
            <a:off x="548641" y="1600200"/>
            <a:ext cx="2499359" cy="457200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254486766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a:prstGeom prst="rect">
            <a:avLst/>
          </a:prstGeo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a:prstGeom prst="rect">
            <a:avLst/>
          </a:prstGeo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a:prstGeom prst="rect">
            <a:avLst/>
          </a:prstGeo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a:prstGeom prst="rect">
            <a:avLst/>
          </a:prstGeo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82750821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a:prstGeom prst="rect">
            <a:avLst/>
          </a:prstGeo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a:prstGeom prst="rect">
            <a:avLst/>
          </a:prstGeo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a:prstGeom prst="rect">
            <a:avLst/>
          </a:prstGeo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a:prstGeom prst="rect">
            <a:avLst/>
          </a:prstGeo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553966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a:prstGeom prst="rect">
            <a:avLst/>
          </a:prstGeo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93255105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0310675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a:prstGeom prst="rect">
            <a:avLst/>
          </a:prstGeo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65080817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5960541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a:prstGeom prst="rect">
            <a:avLst/>
          </a:prstGeo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15969158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a:prstGeom prst="rect">
            <a:avLst/>
          </a:prstGeo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122500185"/>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47156940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a:prstGeom prst="rect">
            <a:avLst/>
          </a:prstGeo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417095949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a:prstGeom prst="rect">
            <a:avLst/>
          </a:prstGeo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09476979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9439280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prstGeom prst="rect">
            <a:avLst/>
          </a:prstGeo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a:prstGeom prst="rect">
            <a:avLst/>
          </a:prstGeo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a:xfrm>
            <a:off x="547688" y="6629400"/>
            <a:ext cx="823912" cy="228600"/>
          </a:xfrm>
          <a:prstGeom prst="rect">
            <a:avLst/>
          </a:prstGeom>
        </p:spPr>
        <p:txBody>
          <a:bodyPr/>
          <a:lstStyle>
            <a:lvl1pPr>
              <a:defRPr>
                <a:solidFill>
                  <a:schemeClr val="bg1"/>
                </a:solidFill>
              </a:defRPr>
            </a:lvl1p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a:xfrm>
            <a:off x="11210716" y="6629400"/>
            <a:ext cx="442001" cy="228600"/>
          </a:xfrm>
          <a:prstGeom prst="rect">
            <a:avLst/>
          </a:prstGeom>
        </p:spPr>
        <p:txBody>
          <a:bodyPr/>
          <a:lstStyle>
            <a:lvl1pPr>
              <a:defRPr>
                <a:solidFill>
                  <a:schemeClr val="bg1"/>
                </a:solidFill>
              </a:defRPr>
            </a:lvl1pPr>
          </a:lstStyle>
          <a:p>
            <a:fld id="{79D051F2-C7C4-43BD-B552-C78CE0DE4128}"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3576467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2838631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a:prstGeom prst="rect">
            <a:avLst/>
          </a:prstGeo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a:prstGeom prst="rect">
            <a:avLst/>
          </a:prstGeo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8458766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4641054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a:prstGeom prst="rect">
            <a:avLst/>
          </a:prstGeo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7" y="1076324"/>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338843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406514221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914400"/>
          </a:xfrm>
          <a:prstGeom prst="rect">
            <a:avLst/>
          </a:prstGeom>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228353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4125085601"/>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a:xfrm>
            <a:off x="11210716" y="6629400"/>
            <a:ext cx="442001" cy="228600"/>
          </a:xfrm>
          <a:prstGeom prst="rect">
            <a:avLst/>
          </a:prstGeom>
        </p:spPr>
        <p:txBody>
          <a:bodyPr/>
          <a:lstStyle/>
          <a:p>
            <a:fld id="{79D051F2-C7C4-43BD-B552-C78CE0DE4128}" type="slidenum">
              <a:rPr lang="en-US" smtClean="0"/>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80677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a:prstGeom prst="rect">
            <a:avLst/>
          </a:prstGeo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755770750"/>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5340503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A25F-48AD-B7A3-3D9B-3DC3D785A85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312A15-0410-A7CA-A9D8-43BD6886A5E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8027A1-7EB5-0678-EB0F-650BD7B194F1}"/>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5" name="Footer Placeholder 4">
            <a:extLst>
              <a:ext uri="{FF2B5EF4-FFF2-40B4-BE49-F238E27FC236}">
                <a16:creationId xmlns:a16="http://schemas.microsoft.com/office/drawing/2014/main" id="{30BCD30D-C707-EB24-E631-D0451E6B5F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8F5385-DE6D-8457-5ACD-902B1E9353D0}"/>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1828878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D7D6D-A7B7-74EA-6F74-BAC98296402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238D3C-1A6F-289C-01D0-FC0269EF3E5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96C649-11FB-438A-AD59-9806225D32F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33B82-9CC4-ADC8-65F7-7702DD6C0DA7}"/>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6" name="Footer Placeholder 5">
            <a:extLst>
              <a:ext uri="{FF2B5EF4-FFF2-40B4-BE49-F238E27FC236}">
                <a16:creationId xmlns:a16="http://schemas.microsoft.com/office/drawing/2014/main" id="{5D491D42-AB19-DC33-0C4F-15A205A2A0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5D150-C001-8E81-3EC1-3DDA1A934637}"/>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29171760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6D627-4126-76BB-49CC-802CFFF6F9F1}"/>
              </a:ext>
            </a:extLst>
          </p:cNvPr>
          <p:cNvSpPr>
            <a:spLocks noGrp="1"/>
          </p:cNvSpPr>
          <p:nvPr>
            <p:ph type="title"/>
          </p:nvPr>
        </p:nvSpPr>
        <p:spPr>
          <a:xfrm>
            <a:off x="548640" y="411481"/>
            <a:ext cx="8231293" cy="914400"/>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6F3C272-A5FE-0B53-A485-80572D12E1FF}"/>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64E39B-8710-B75C-19D6-9A82A326FA91}"/>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456664-2E10-493D-CCC1-B9E27A5EB2F2}"/>
              </a:ext>
            </a:extLst>
          </p:cNvPr>
          <p:cNvSpPr>
            <a:spLocks noGrp="1"/>
          </p:cNvSpPr>
          <p:nvPr>
            <p:ph type="dt" sz="half" idx="10"/>
          </p:nvPr>
        </p:nvSpPr>
        <p:spPr>
          <a:xfrm>
            <a:off x="547688" y="6629400"/>
            <a:ext cx="823912" cy="228600"/>
          </a:xfrm>
          <a:prstGeom prst="rect">
            <a:avLst/>
          </a:prstGeom>
        </p:spPr>
        <p:txBody>
          <a:bodyPr/>
          <a:lstStyle/>
          <a:p>
            <a:fld id="{971AFA9C-17DA-4726-B9E3-ADECF7729AF7}" type="datetimeFigureOut">
              <a:rPr lang="en-US" smtClean="0"/>
              <a:t>6/22/2026</a:t>
            </a:fld>
            <a:endParaRPr lang="en-US"/>
          </a:p>
        </p:txBody>
      </p:sp>
      <p:sp>
        <p:nvSpPr>
          <p:cNvPr id="6" name="Footer Placeholder 5">
            <a:extLst>
              <a:ext uri="{FF2B5EF4-FFF2-40B4-BE49-F238E27FC236}">
                <a16:creationId xmlns:a16="http://schemas.microsoft.com/office/drawing/2014/main" id="{E4127F7E-8CC3-D827-3CEB-A0E08CA083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82C5AF-AA21-6708-D407-33B6906041B8}"/>
              </a:ext>
            </a:extLst>
          </p:cNvPr>
          <p:cNvSpPr>
            <a:spLocks noGrp="1"/>
          </p:cNvSpPr>
          <p:nvPr>
            <p:ph type="sldNum" sz="quarter" idx="12"/>
          </p:nvPr>
        </p:nvSpPr>
        <p:spPr>
          <a:xfrm>
            <a:off x="11210716" y="6629400"/>
            <a:ext cx="442001" cy="228600"/>
          </a:xfrm>
          <a:prstGeom prst="rect">
            <a:avLst/>
          </a:prstGeom>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6197711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971AFA9C-17DA-4726-B9E3-ADECF7729AF7}" type="datetimeFigureOut">
              <a:rPr lang="en-US" smtClean="0"/>
              <a:t>6/22/2026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79D051F2-C7C4-43BD-B552-C78CE0DE4128}"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Tree>
    <p:extLst>
      <p:ext uri="{BB962C8B-B14F-4D97-AF65-F5344CB8AC3E}">
        <p14:creationId xmlns:p14="http://schemas.microsoft.com/office/powerpoint/2010/main" val="91892096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971AFA9C-17DA-4726-B9E3-ADECF7729AF7}" type="datetimeFigureOut">
              <a:rPr lang="en-US" smtClean="0"/>
              <a:t>6/22/2026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79D051F2-C7C4-43BD-B552-C78CE0DE4128}" type="slidenum">
              <a:rPr lang="en-US" smtClean="0"/>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p:nvPicPr>
        <p:blipFill>
          <a:blip r:embed="rId2"/>
          <a:stretch>
            <a:fillRect/>
          </a:stretch>
        </p:blipFill>
        <p:spPr bwMode="black">
          <a:xfrm>
            <a:off x="180891" y="104974"/>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0"/>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8"/>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2"/>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4"/>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6"/>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0" y="5133530"/>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0" y="4952738"/>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0" y="5314322"/>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0" y="5495114"/>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0" y="5675906"/>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p:nvGrpSpPr>
        <p:grpSpPr>
          <a:xfrm>
            <a:off x="548219" y="1974220"/>
            <a:ext cx="7173382"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399"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227646085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971AFA9C-17DA-4726-B9E3-ADECF7729AF7}" type="datetimeFigureOut">
              <a:rPr lang="en-US" smtClean="0"/>
              <a:t>6/22/2026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79D051F2-C7C4-43BD-B552-C78CE0DE4128}"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4"/>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Tree>
    <p:extLst>
      <p:ext uri="{BB962C8B-B14F-4D97-AF65-F5344CB8AC3E}">
        <p14:creationId xmlns:p14="http://schemas.microsoft.com/office/powerpoint/2010/main" val="380862432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8"/>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p:spPr>
        <p:txBody>
          <a:bodyPr rIns="0"/>
          <a:lstStyle/>
          <a:p>
            <a:fld id="{79D051F2-C7C4-43BD-B552-C78CE0DE4128}" type="slidenum">
              <a:rPr lang="en-US" smtClean="0"/>
              <a:t>‹#›</a:t>
            </a:fld>
            <a:endParaRPr lang="en-US"/>
          </a:p>
        </p:txBody>
      </p:sp>
    </p:spTree>
    <p:extLst>
      <p:ext uri="{BB962C8B-B14F-4D97-AF65-F5344CB8AC3E}">
        <p14:creationId xmlns:p14="http://schemas.microsoft.com/office/powerpoint/2010/main" val="348183722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971AFA9C-17DA-4726-B9E3-ADECF7729AF7}" type="datetimeFigureOut">
              <a:rPr lang="en-US" smtClean="0"/>
              <a:t>6/22/2026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3087816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971AFA9C-17DA-4726-B9E3-ADECF7729AF7}" type="datetimeFigureOut">
              <a:rPr lang="en-US" smtClean="0"/>
              <a:t>6/22/2026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71900947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971AFA9C-17DA-4726-B9E3-ADECF7729AF7}" type="datetimeFigureOut">
              <a:rPr lang="en-US" smtClean="0"/>
              <a:t>6/22/2026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91709383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971AFA9C-17DA-4726-B9E3-ADECF7729AF7}" type="datetimeFigureOut">
              <a:rPr lang="en-US" smtClean="0"/>
              <a:t>6/22/2026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86102901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971AFA9C-17DA-4726-B9E3-ADECF7729AF7}" type="datetimeFigureOut">
              <a:rPr lang="en-US" smtClean="0"/>
              <a:t>6/22/2026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79D051F2-C7C4-43BD-B552-C78CE0DE4128}"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8900256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971AFA9C-17DA-4726-B9E3-ADECF7729AF7}" type="datetimeFigureOut">
              <a:rPr lang="en-US" smtClean="0"/>
              <a:t>6/22/2026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22801269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971AFA9C-17DA-4726-B9E3-ADECF7729AF7}" type="datetimeFigureOut">
              <a:rPr lang="en-US" smtClean="0"/>
              <a:t>6/22/2026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79D051F2-C7C4-43BD-B552-C78CE0DE4128}"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4302932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971AFA9C-17DA-4726-B9E3-ADECF7729AF7}" type="datetimeFigureOut">
              <a:rPr lang="en-US" smtClean="0"/>
              <a:t>6/22/2026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09812921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971AFA9C-17DA-4726-B9E3-ADECF7729AF7}" type="datetimeFigureOut">
              <a:rPr lang="en-US" smtClean="0"/>
              <a:t>6/22/2026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79D051F2-C7C4-43BD-B552-C78CE0DE4128}"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28257416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79D051F2-C7C4-43BD-B552-C78CE0DE4128}"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206081063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821761570"/>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971AFA9C-17DA-4726-B9E3-ADECF7729AF7}" type="datetimeFigureOut">
              <a:rPr lang="en-US" smtClean="0"/>
              <a:t>6/22/2026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07643329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71AFA9C-17DA-4726-B9E3-ADECF7729AF7}" type="datetimeFigureOut">
              <a:rPr lang="en-US" smtClean="0"/>
              <a:t>6/22/2026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76913390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971AFA9C-17DA-4726-B9E3-ADECF7729AF7}" type="datetimeFigureOut">
              <a:rPr lang="en-US" smtClean="0"/>
              <a:t>6/22/2026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37499359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79D051F2-C7C4-43BD-B552-C78CE0DE4128}"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0003330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79D051F2-C7C4-43BD-B552-C78CE0DE4128}"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5568760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16068901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971AFA9C-17DA-4726-B9E3-ADECF7729AF7}" type="datetimeFigureOut">
              <a:rPr lang="en-US" smtClean="0"/>
              <a:t>6/22/2026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79D051F2-C7C4-43BD-B552-C78CE0DE4128}" type="slidenum">
              <a:rPr lang="en-US" smtClean="0"/>
              <a:t>‹#›</a:t>
            </a:fld>
            <a:endParaRPr lang="en-US"/>
          </a:p>
        </p:txBody>
      </p:sp>
    </p:spTree>
    <p:extLst>
      <p:ext uri="{BB962C8B-B14F-4D97-AF65-F5344CB8AC3E}">
        <p14:creationId xmlns:p14="http://schemas.microsoft.com/office/powerpoint/2010/main" val="7805492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971AFA9C-17DA-4726-B9E3-ADECF7729AF7}" type="datetimeFigureOut">
              <a:rPr lang="en-US" smtClean="0"/>
              <a:t>6/22/2026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79D051F2-C7C4-43BD-B552-C78CE0DE4128}"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endParaRPr lang="en-US" sz="700" b="1" dirty="0">
              <a:solidFill>
                <a:schemeClr val="tx1"/>
              </a:solidFill>
              <a:latin typeface="+mn-lt"/>
              <a:cs typeface="Arial Bold" panose="020B0704020202020204" pitchFamily="34" charset="0"/>
            </a:endParaRP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6888632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Title Slide - Image">
  <p:cSld name="1_Title Slide - Image">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dt" idx="10"/>
          </p:nvPr>
        </p:nvSpPr>
        <p:spPr>
          <a:xfrm>
            <a:off x="547688" y="6629400"/>
            <a:ext cx="823912" cy="22860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sldNum" idx="12"/>
          </p:nvPr>
        </p:nvSpPr>
        <p:spPr>
          <a:xfrm>
            <a:off x="11210717" y="6629400"/>
            <a:ext cx="442001" cy="22860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fld id="{00000000-1234-1234-1234-123412341234}" type="slidenum">
              <a:rPr lang="en" smtClean="0"/>
              <a:pPr/>
              <a:t>‹#›</a:t>
            </a:fld>
            <a:endParaRPr lang="en"/>
          </a:p>
        </p:txBody>
      </p:sp>
      <p:pic>
        <p:nvPicPr>
          <p:cNvPr id="66" name="Google Shape;66;p5" descr="U.S. Army"/>
          <p:cNvPicPr preferRelativeResize="0"/>
          <p:nvPr/>
        </p:nvPicPr>
        <p:blipFill rotWithShape="1">
          <a:blip r:embed="rId3">
            <a:alphaModFix/>
          </a:blip>
          <a:srcRect/>
          <a:stretch/>
        </p:blipFill>
        <p:spPr>
          <a:xfrm>
            <a:off x="244899" y="112631"/>
            <a:ext cx="3246120" cy="1225808"/>
          </a:xfrm>
          <a:prstGeom prst="rect">
            <a:avLst/>
          </a:prstGeom>
          <a:noFill/>
          <a:ln>
            <a:noFill/>
          </a:ln>
        </p:spPr>
      </p:pic>
      <p:sp>
        <p:nvSpPr>
          <p:cNvPr id="67" name="Google Shape;67;p5"/>
          <p:cNvSpPr txBox="1">
            <a:spLocks noGrp="1"/>
          </p:cNvSpPr>
          <p:nvPr>
            <p:ph type="body" idx="1"/>
          </p:nvPr>
        </p:nvSpPr>
        <p:spPr>
          <a:xfrm>
            <a:off x="547688" y="5133531"/>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68" name="Google Shape;68;p5"/>
          <p:cNvSpPr txBox="1">
            <a:spLocks noGrp="1"/>
          </p:cNvSpPr>
          <p:nvPr>
            <p:ph type="body" idx="2"/>
          </p:nvPr>
        </p:nvSpPr>
        <p:spPr>
          <a:xfrm>
            <a:off x="547688" y="4952739"/>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69" name="Google Shape;69;p5"/>
          <p:cNvSpPr txBox="1">
            <a:spLocks noGrp="1"/>
          </p:cNvSpPr>
          <p:nvPr>
            <p:ph type="body" idx="3"/>
          </p:nvPr>
        </p:nvSpPr>
        <p:spPr>
          <a:xfrm>
            <a:off x="547688" y="5314323"/>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0" name="Google Shape;70;p5"/>
          <p:cNvSpPr txBox="1">
            <a:spLocks noGrp="1"/>
          </p:cNvSpPr>
          <p:nvPr>
            <p:ph type="body" idx="4"/>
          </p:nvPr>
        </p:nvSpPr>
        <p:spPr>
          <a:xfrm>
            <a:off x="547688" y="5495115"/>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1" name="Google Shape;71;p5"/>
          <p:cNvSpPr txBox="1">
            <a:spLocks noGrp="1"/>
          </p:cNvSpPr>
          <p:nvPr>
            <p:ph type="body" idx="5"/>
          </p:nvPr>
        </p:nvSpPr>
        <p:spPr>
          <a:xfrm>
            <a:off x="547688" y="5675907"/>
            <a:ext cx="1335568"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2" name="Google Shape;72;p5"/>
          <p:cNvSpPr txBox="1">
            <a:spLocks noGrp="1"/>
          </p:cNvSpPr>
          <p:nvPr>
            <p:ph type="body" idx="6"/>
          </p:nvPr>
        </p:nvSpPr>
        <p:spPr>
          <a:xfrm>
            <a:off x="1981201" y="5133531"/>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3" name="Google Shape;73;p5"/>
          <p:cNvSpPr txBox="1">
            <a:spLocks noGrp="1"/>
          </p:cNvSpPr>
          <p:nvPr>
            <p:ph type="body" idx="7"/>
          </p:nvPr>
        </p:nvSpPr>
        <p:spPr>
          <a:xfrm>
            <a:off x="1981201" y="4952739"/>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1981201" y="5314323"/>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5" name="Google Shape;75;p5"/>
          <p:cNvSpPr txBox="1">
            <a:spLocks noGrp="1"/>
          </p:cNvSpPr>
          <p:nvPr>
            <p:ph type="body" idx="9"/>
          </p:nvPr>
        </p:nvSpPr>
        <p:spPr>
          <a:xfrm>
            <a:off x="1981201" y="5495115"/>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sp>
        <p:nvSpPr>
          <p:cNvPr id="76" name="Google Shape;76;p5"/>
          <p:cNvSpPr txBox="1">
            <a:spLocks noGrp="1"/>
          </p:cNvSpPr>
          <p:nvPr>
            <p:ph type="body" idx="13"/>
          </p:nvPr>
        </p:nvSpPr>
        <p:spPr>
          <a:xfrm>
            <a:off x="1981201" y="5675907"/>
            <a:ext cx="3124935" cy="138499"/>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609585" lvl="0" indent="-304792" algn="l">
              <a:lnSpc>
                <a:spcPct val="100000"/>
              </a:lnSpc>
              <a:spcBef>
                <a:spcPts val="0"/>
              </a:spcBef>
              <a:spcAft>
                <a:spcPts val="0"/>
              </a:spcAft>
              <a:buClr>
                <a:schemeClr val="dk1"/>
              </a:buClr>
              <a:buSzPts val="675"/>
              <a:buNone/>
              <a:defRPr sz="900" b="0">
                <a:solidFill>
                  <a:schemeClr val="dk1"/>
                </a:solidFill>
                <a:latin typeface="Arial"/>
                <a:ea typeface="Arial"/>
                <a:cs typeface="Arial"/>
                <a:sym typeface="Arial"/>
              </a:defRPr>
            </a:lvl1pPr>
            <a:lvl2pPr marL="1219170" lvl="1" indent="-304792" algn="l">
              <a:lnSpc>
                <a:spcPct val="95000"/>
              </a:lnSpc>
              <a:spcBef>
                <a:spcPts val="500"/>
              </a:spcBef>
              <a:spcAft>
                <a:spcPts val="0"/>
              </a:spcAft>
              <a:buClr>
                <a:schemeClr val="lt1"/>
              </a:buClr>
              <a:buSzPts val="750"/>
              <a:buNone/>
              <a:defRPr sz="1000">
                <a:latin typeface="Arial"/>
                <a:ea typeface="Arial"/>
                <a:cs typeface="Arial"/>
                <a:sym typeface="Arial"/>
              </a:defRPr>
            </a:lvl2pPr>
            <a:lvl3pPr marL="1828754" lvl="2" indent="-304792" algn="l">
              <a:lnSpc>
                <a:spcPct val="95000"/>
              </a:lnSpc>
              <a:spcBef>
                <a:spcPts val="500"/>
              </a:spcBef>
              <a:spcAft>
                <a:spcPts val="0"/>
              </a:spcAft>
              <a:buClr>
                <a:schemeClr val="lt1"/>
              </a:buClr>
              <a:buSzPts val="750"/>
              <a:buNone/>
              <a:defRPr sz="1000">
                <a:latin typeface="Arial"/>
                <a:ea typeface="Arial"/>
                <a:cs typeface="Arial"/>
                <a:sym typeface="Arial"/>
              </a:defRPr>
            </a:lvl3pPr>
            <a:lvl4pPr marL="2438339" lvl="3" indent="-304792" algn="l">
              <a:lnSpc>
                <a:spcPct val="95000"/>
              </a:lnSpc>
              <a:spcBef>
                <a:spcPts val="500"/>
              </a:spcBef>
              <a:spcAft>
                <a:spcPts val="0"/>
              </a:spcAft>
              <a:buClr>
                <a:schemeClr val="lt1"/>
              </a:buClr>
              <a:buSzPts val="750"/>
              <a:buNone/>
              <a:defRPr sz="1000">
                <a:latin typeface="Arial"/>
                <a:ea typeface="Arial"/>
                <a:cs typeface="Arial"/>
                <a:sym typeface="Arial"/>
              </a:defRPr>
            </a:lvl4pPr>
            <a:lvl5pPr marL="3047924" lvl="4" indent="-304792" algn="l">
              <a:lnSpc>
                <a:spcPct val="95000"/>
              </a:lnSpc>
              <a:spcBef>
                <a:spcPts val="500"/>
              </a:spcBef>
              <a:spcAft>
                <a:spcPts val="0"/>
              </a:spcAft>
              <a:buClr>
                <a:schemeClr val="lt1"/>
              </a:buClr>
              <a:buSzPts val="750"/>
              <a:buNone/>
              <a:defRPr sz="1000">
                <a:latin typeface="Arial"/>
                <a:ea typeface="Arial"/>
                <a:cs typeface="Arial"/>
                <a:sym typeface="Arial"/>
              </a:defRPr>
            </a:lvl5pPr>
            <a:lvl6pPr marL="3657509" lvl="5" indent="-457189" algn="l">
              <a:lnSpc>
                <a:spcPct val="95000"/>
              </a:lnSpc>
              <a:spcBef>
                <a:spcPts val="500"/>
              </a:spcBef>
              <a:spcAft>
                <a:spcPts val="0"/>
              </a:spcAft>
              <a:buClr>
                <a:schemeClr val="lt1"/>
              </a:buClr>
              <a:buSzPts val="1800"/>
              <a:buChar char="–"/>
              <a:defRPr/>
            </a:lvl6pPr>
            <a:lvl7pPr marL="4267093" lvl="6" indent="-457189" algn="l">
              <a:lnSpc>
                <a:spcPct val="95000"/>
              </a:lnSpc>
              <a:spcBef>
                <a:spcPts val="500"/>
              </a:spcBef>
              <a:spcAft>
                <a:spcPts val="0"/>
              </a:spcAft>
              <a:buClr>
                <a:schemeClr val="lt1"/>
              </a:buClr>
              <a:buSzPts val="1800"/>
              <a:buChar char="–"/>
              <a:defRPr/>
            </a:lvl7pPr>
            <a:lvl8pPr marL="4876678" lvl="7" indent="-457189" algn="l">
              <a:lnSpc>
                <a:spcPct val="95000"/>
              </a:lnSpc>
              <a:spcBef>
                <a:spcPts val="500"/>
              </a:spcBef>
              <a:spcAft>
                <a:spcPts val="0"/>
              </a:spcAft>
              <a:buClr>
                <a:schemeClr val="lt1"/>
              </a:buClr>
              <a:buSzPts val="1800"/>
              <a:buChar char="–"/>
              <a:defRPr/>
            </a:lvl8pPr>
            <a:lvl9pPr marL="5486263" lvl="8" indent="-457189" algn="l">
              <a:lnSpc>
                <a:spcPct val="95000"/>
              </a:lnSpc>
              <a:spcBef>
                <a:spcPts val="500"/>
              </a:spcBef>
              <a:spcAft>
                <a:spcPts val="0"/>
              </a:spcAft>
              <a:buClr>
                <a:schemeClr val="lt1"/>
              </a:buClr>
              <a:buSzPts val="1800"/>
              <a:buChar char="–"/>
              <a:defRPr/>
            </a:lvl9pPr>
          </a:lstStyle>
          <a:p>
            <a:endParaRPr/>
          </a:p>
        </p:txBody>
      </p:sp>
      <p:grpSp>
        <p:nvGrpSpPr>
          <p:cNvPr id="77" name="Google Shape;77;p5"/>
          <p:cNvGrpSpPr/>
          <p:nvPr/>
        </p:nvGrpSpPr>
        <p:grpSpPr>
          <a:xfrm>
            <a:off x="548219" y="1974220"/>
            <a:ext cx="7173381" cy="2377440"/>
            <a:chOff x="411163" y="2240280"/>
            <a:chExt cx="6446837" cy="2377440"/>
          </a:xfrm>
        </p:grpSpPr>
        <p:sp>
          <p:nvSpPr>
            <p:cNvPr id="78" name="Google Shape;78;p5"/>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cxnSp>
          <p:nvCxnSpPr>
            <p:cNvPr id="79" name="Google Shape;79;p5"/>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80" name="Google Shape;80;p5"/>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81" name="Google Shape;81;p5"/>
          <p:cNvSpPr txBox="1">
            <a:spLocks noGrp="1"/>
          </p:cNvSpPr>
          <p:nvPr>
            <p:ph type="ctrTitle"/>
          </p:nvPr>
        </p:nvSpPr>
        <p:spPr>
          <a:xfrm>
            <a:off x="914402" y="2202820"/>
            <a:ext cx="6429375" cy="132588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
          <p:cNvSpPr txBox="1">
            <a:spLocks noGrp="1"/>
          </p:cNvSpPr>
          <p:nvPr>
            <p:ph type="subTitle" idx="14"/>
          </p:nvPr>
        </p:nvSpPr>
        <p:spPr>
          <a:xfrm>
            <a:off x="914402" y="3784732"/>
            <a:ext cx="3565524" cy="4572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1200" b="1">
                <a:solidFill>
                  <a:schemeClr val="lt2"/>
                </a:solidFill>
              </a:defRPr>
            </a:lvl1pPr>
            <a:lvl2pPr lvl="1" algn="l">
              <a:lnSpc>
                <a:spcPct val="95000"/>
              </a:lnSpc>
              <a:spcBef>
                <a:spcPts val="0"/>
              </a:spcBef>
              <a:spcAft>
                <a:spcPts val="0"/>
              </a:spcAft>
              <a:buClr>
                <a:schemeClr val="lt2"/>
              </a:buClr>
              <a:buSzPts val="900"/>
              <a:buNone/>
              <a:defRPr sz="1200" b="1">
                <a:solidFill>
                  <a:schemeClr val="lt2"/>
                </a:solidFill>
              </a:defRPr>
            </a:lvl2pPr>
            <a:lvl3pPr lvl="2" algn="l">
              <a:lnSpc>
                <a:spcPct val="95000"/>
              </a:lnSpc>
              <a:spcBef>
                <a:spcPts val="0"/>
              </a:spcBef>
              <a:spcAft>
                <a:spcPts val="0"/>
              </a:spcAft>
              <a:buClr>
                <a:schemeClr val="lt2"/>
              </a:buClr>
              <a:buSzPts val="900"/>
              <a:buNone/>
              <a:defRPr sz="1200" b="1">
                <a:solidFill>
                  <a:schemeClr val="lt2"/>
                </a:solidFill>
              </a:defRPr>
            </a:lvl3pPr>
            <a:lvl4pPr lvl="3" algn="l">
              <a:lnSpc>
                <a:spcPct val="95000"/>
              </a:lnSpc>
              <a:spcBef>
                <a:spcPts val="0"/>
              </a:spcBef>
              <a:spcAft>
                <a:spcPts val="0"/>
              </a:spcAft>
              <a:buClr>
                <a:schemeClr val="lt2"/>
              </a:buClr>
              <a:buSzPts val="900"/>
              <a:buNone/>
              <a:defRPr sz="1200" b="1">
                <a:solidFill>
                  <a:schemeClr val="lt2"/>
                </a:solidFill>
              </a:defRPr>
            </a:lvl4pPr>
            <a:lvl5pPr lvl="4" algn="l">
              <a:lnSpc>
                <a:spcPct val="95000"/>
              </a:lnSpc>
              <a:spcBef>
                <a:spcPts val="0"/>
              </a:spcBef>
              <a:spcAft>
                <a:spcPts val="0"/>
              </a:spcAft>
              <a:buClr>
                <a:schemeClr val="lt2"/>
              </a:buClr>
              <a:buSzPts val="900"/>
              <a:buNone/>
              <a:defRPr sz="1200" b="1">
                <a:solidFill>
                  <a:schemeClr val="lt2"/>
                </a:solidFill>
              </a:defRPr>
            </a:lvl5pPr>
            <a:lvl6pPr lvl="5" algn="l">
              <a:lnSpc>
                <a:spcPct val="95000"/>
              </a:lnSpc>
              <a:spcBef>
                <a:spcPts val="0"/>
              </a:spcBef>
              <a:spcAft>
                <a:spcPts val="0"/>
              </a:spcAft>
              <a:buClr>
                <a:schemeClr val="lt2"/>
              </a:buClr>
              <a:buSzPts val="900"/>
              <a:buNone/>
              <a:defRPr sz="1200" b="1">
                <a:solidFill>
                  <a:schemeClr val="lt2"/>
                </a:solidFill>
              </a:defRPr>
            </a:lvl6pPr>
            <a:lvl7pPr lvl="6" algn="l">
              <a:lnSpc>
                <a:spcPct val="95000"/>
              </a:lnSpc>
              <a:spcBef>
                <a:spcPts val="0"/>
              </a:spcBef>
              <a:spcAft>
                <a:spcPts val="0"/>
              </a:spcAft>
              <a:buClr>
                <a:schemeClr val="lt2"/>
              </a:buClr>
              <a:buSzPts val="900"/>
              <a:buNone/>
              <a:defRPr sz="1200" b="1">
                <a:solidFill>
                  <a:schemeClr val="lt2"/>
                </a:solidFill>
              </a:defRPr>
            </a:lvl7pPr>
            <a:lvl8pPr lvl="7" algn="l">
              <a:lnSpc>
                <a:spcPct val="95000"/>
              </a:lnSpc>
              <a:spcBef>
                <a:spcPts val="0"/>
              </a:spcBef>
              <a:spcAft>
                <a:spcPts val="0"/>
              </a:spcAft>
              <a:buClr>
                <a:schemeClr val="lt2"/>
              </a:buClr>
              <a:buSzPts val="900"/>
              <a:buNone/>
              <a:defRPr sz="1200" b="1">
                <a:solidFill>
                  <a:schemeClr val="lt2"/>
                </a:solidFill>
              </a:defRPr>
            </a:lvl8pPr>
            <a:lvl9pPr lvl="8" algn="l">
              <a:lnSpc>
                <a:spcPct val="95000"/>
              </a:lnSpc>
              <a:spcBef>
                <a:spcPts val="0"/>
              </a:spcBef>
              <a:spcAft>
                <a:spcPts val="0"/>
              </a:spcAft>
              <a:buClr>
                <a:schemeClr val="lt2"/>
              </a:buClr>
              <a:buSzPts val="900"/>
              <a:buNone/>
              <a:defRPr sz="1200" b="1">
                <a:solidFill>
                  <a:schemeClr val="lt2"/>
                </a:solidFill>
              </a:defRPr>
            </a:lvl9pPr>
          </a:lstStyle>
          <a:p>
            <a:endParaRPr/>
          </a:p>
        </p:txBody>
      </p:sp>
      <p:sp>
        <p:nvSpPr>
          <p:cNvPr id="83" name="Google Shape;83;p5"/>
          <p:cNvSpPr txBox="1">
            <a:spLocks noGrp="1"/>
          </p:cNvSpPr>
          <p:nvPr>
            <p:ph type="body" idx="15"/>
          </p:nvPr>
        </p:nvSpPr>
        <p:spPr>
          <a:xfrm>
            <a:off x="5212080" y="3784732"/>
            <a:ext cx="2131695" cy="457200"/>
          </a:xfrm>
          <a:prstGeom prst="rect">
            <a:avLst/>
          </a:prstGeom>
          <a:noFill/>
          <a:ln>
            <a:noFill/>
          </a:ln>
        </p:spPr>
        <p:txBody>
          <a:bodyPr spcFirstLastPara="1" wrap="square" lIns="0" tIns="0" rIns="0" bIns="0" anchor="ctr" anchorCtr="0">
            <a:noAutofit/>
          </a:bodyPr>
          <a:lstStyle>
            <a:lvl1pPr marL="609585" lvl="0" indent="-304792" algn="ctr">
              <a:lnSpc>
                <a:spcPct val="80000"/>
              </a:lnSpc>
              <a:spcBef>
                <a:spcPts val="0"/>
              </a:spcBef>
              <a:spcAft>
                <a:spcPts val="0"/>
              </a:spcAft>
              <a:buClr>
                <a:schemeClr val="lt2"/>
              </a:buClr>
              <a:buSzPts val="1050"/>
              <a:buFont typeface="Arial"/>
              <a:buNone/>
              <a:defRPr sz="1400" b="1" cap="none">
                <a:solidFill>
                  <a:schemeClr val="lt2"/>
                </a:solidFill>
              </a:defRPr>
            </a:lvl1pPr>
            <a:lvl2pPr marL="1219170" lvl="1" indent="-304792" algn="ctr">
              <a:lnSpc>
                <a:spcPct val="80000"/>
              </a:lnSpc>
              <a:spcBef>
                <a:spcPts val="0"/>
              </a:spcBef>
              <a:spcAft>
                <a:spcPts val="0"/>
              </a:spcAft>
              <a:buClr>
                <a:schemeClr val="lt2"/>
              </a:buClr>
              <a:buSzPts val="1050"/>
              <a:buFont typeface="Arial"/>
              <a:buNone/>
              <a:defRPr sz="1400" b="1" cap="none">
                <a:solidFill>
                  <a:schemeClr val="lt2"/>
                </a:solidFill>
              </a:defRPr>
            </a:lvl2pPr>
            <a:lvl3pPr marL="1828754" lvl="2" indent="-304792" algn="ctr">
              <a:lnSpc>
                <a:spcPct val="80000"/>
              </a:lnSpc>
              <a:spcBef>
                <a:spcPts val="0"/>
              </a:spcBef>
              <a:spcAft>
                <a:spcPts val="0"/>
              </a:spcAft>
              <a:buClr>
                <a:schemeClr val="lt2"/>
              </a:buClr>
              <a:buSzPts val="1050"/>
              <a:buFont typeface="Arial"/>
              <a:buNone/>
              <a:defRPr sz="1400" b="1" cap="none">
                <a:solidFill>
                  <a:schemeClr val="lt2"/>
                </a:solidFill>
              </a:defRPr>
            </a:lvl3pPr>
            <a:lvl4pPr marL="2438339" lvl="3" indent="-304792" algn="ctr">
              <a:lnSpc>
                <a:spcPct val="80000"/>
              </a:lnSpc>
              <a:spcBef>
                <a:spcPts val="0"/>
              </a:spcBef>
              <a:spcAft>
                <a:spcPts val="0"/>
              </a:spcAft>
              <a:buClr>
                <a:schemeClr val="lt2"/>
              </a:buClr>
              <a:buSzPts val="1050"/>
              <a:buFont typeface="Arial"/>
              <a:buNone/>
              <a:defRPr sz="1400" b="1" cap="none">
                <a:solidFill>
                  <a:schemeClr val="lt2"/>
                </a:solidFill>
              </a:defRPr>
            </a:lvl4pPr>
            <a:lvl5pPr marL="3047924" lvl="4" indent="-304792" algn="ctr">
              <a:lnSpc>
                <a:spcPct val="80000"/>
              </a:lnSpc>
              <a:spcBef>
                <a:spcPts val="0"/>
              </a:spcBef>
              <a:spcAft>
                <a:spcPts val="0"/>
              </a:spcAft>
              <a:buClr>
                <a:schemeClr val="lt2"/>
              </a:buClr>
              <a:buSzPts val="1050"/>
              <a:buFont typeface="Arial"/>
              <a:buNone/>
              <a:defRPr sz="1400" b="1" cap="none">
                <a:solidFill>
                  <a:schemeClr val="lt2"/>
                </a:solidFill>
              </a:defRPr>
            </a:lvl5pPr>
            <a:lvl6pPr marL="3657509" lvl="5" indent="-304792" algn="ctr">
              <a:lnSpc>
                <a:spcPct val="80000"/>
              </a:lnSpc>
              <a:spcBef>
                <a:spcPts val="0"/>
              </a:spcBef>
              <a:spcAft>
                <a:spcPts val="0"/>
              </a:spcAft>
              <a:buClr>
                <a:schemeClr val="lt2"/>
              </a:buClr>
              <a:buSzPts val="1050"/>
              <a:buFont typeface="Arial"/>
              <a:buNone/>
              <a:defRPr sz="1400" b="1" cap="none">
                <a:solidFill>
                  <a:schemeClr val="lt2"/>
                </a:solidFill>
              </a:defRPr>
            </a:lvl6pPr>
            <a:lvl7pPr marL="4267093" lvl="6" indent="-304792" algn="ctr">
              <a:lnSpc>
                <a:spcPct val="80000"/>
              </a:lnSpc>
              <a:spcBef>
                <a:spcPts val="0"/>
              </a:spcBef>
              <a:spcAft>
                <a:spcPts val="0"/>
              </a:spcAft>
              <a:buClr>
                <a:schemeClr val="lt2"/>
              </a:buClr>
              <a:buSzPts val="1050"/>
              <a:buFont typeface="Arial"/>
              <a:buNone/>
              <a:defRPr sz="1400" b="1" cap="none">
                <a:solidFill>
                  <a:schemeClr val="lt2"/>
                </a:solidFill>
              </a:defRPr>
            </a:lvl7pPr>
            <a:lvl8pPr marL="4876678" lvl="7" indent="-304792" algn="ctr">
              <a:lnSpc>
                <a:spcPct val="80000"/>
              </a:lnSpc>
              <a:spcBef>
                <a:spcPts val="0"/>
              </a:spcBef>
              <a:spcAft>
                <a:spcPts val="0"/>
              </a:spcAft>
              <a:buClr>
                <a:schemeClr val="lt2"/>
              </a:buClr>
              <a:buSzPts val="1050"/>
              <a:buFont typeface="Arial"/>
              <a:buNone/>
              <a:defRPr sz="1400" b="1" cap="none">
                <a:solidFill>
                  <a:schemeClr val="lt2"/>
                </a:solidFill>
              </a:defRPr>
            </a:lvl8pPr>
            <a:lvl9pPr marL="5486263" lvl="8" indent="-304792" algn="ctr">
              <a:lnSpc>
                <a:spcPct val="80000"/>
              </a:lnSpc>
              <a:spcBef>
                <a:spcPts val="0"/>
              </a:spcBef>
              <a:spcAft>
                <a:spcPts val="0"/>
              </a:spcAft>
              <a:buClr>
                <a:schemeClr val="lt2"/>
              </a:buClr>
              <a:buSzPts val="1050"/>
              <a:buFont typeface="Arial"/>
              <a:buNone/>
              <a:defRPr sz="1400" b="1" cap="none">
                <a:solidFill>
                  <a:schemeClr val="lt2"/>
                </a:solidFill>
              </a:defRPr>
            </a:lvl9pPr>
          </a:lstStyle>
          <a:p>
            <a:endParaRPr/>
          </a:p>
        </p:txBody>
      </p:sp>
      <p:pic>
        <p:nvPicPr>
          <p:cNvPr id="84" name="Google Shape;84;p5"/>
          <p:cNvPicPr preferRelativeResize="0"/>
          <p:nvPr/>
        </p:nvPicPr>
        <p:blipFill rotWithShape="1">
          <a:blip r:embed="rId4">
            <a:alphaModFix/>
          </a:blip>
          <a:srcRect/>
          <a:stretch/>
        </p:blipFill>
        <p:spPr>
          <a:xfrm>
            <a:off x="10004616" y="411163"/>
            <a:ext cx="1629707" cy="478023"/>
          </a:xfrm>
          <a:prstGeom prst="rect">
            <a:avLst/>
          </a:prstGeom>
          <a:noFill/>
          <a:ln>
            <a:noFill/>
          </a:ln>
        </p:spPr>
      </p:pic>
      <p:sp>
        <p:nvSpPr>
          <p:cNvPr id="85" name="Google Shape;85;p5"/>
          <p:cNvSpPr/>
          <p:nvPr/>
        </p:nvSpPr>
        <p:spPr>
          <a:xfrm>
            <a:off x="1386840" y="6627168"/>
            <a:ext cx="9418320" cy="230832"/>
          </a:xfrm>
          <a:prstGeom prst="rect">
            <a:avLst/>
          </a:prstGeom>
          <a:noFill/>
          <a:ln>
            <a:noFill/>
          </a:ln>
        </p:spPr>
        <p:txBody>
          <a:bodyPr spcFirstLastPara="1" wrap="square" lIns="0" tIns="60933" rIns="0" bIns="60933" anchor="b" anchorCtr="0">
            <a:noAutofit/>
          </a:bodyPr>
          <a:lstStyle/>
          <a:p>
            <a:pPr marL="0" marR="0" lvl="0" indent="0" algn="ctr" rtl="0">
              <a:spcBef>
                <a:spcPts val="0"/>
              </a:spcBef>
              <a:spcAft>
                <a:spcPts val="0"/>
              </a:spcAft>
              <a:buNone/>
            </a:pPr>
            <a:r>
              <a:rPr lang="en" sz="700" b="1" i="0" u="none" strike="noStrike" cap="none">
                <a:solidFill>
                  <a:srgbClr val="2DAA27"/>
                </a:solidFill>
                <a:latin typeface="Arial"/>
                <a:ea typeface="Arial"/>
                <a:cs typeface="Arial"/>
                <a:sym typeface="Arial"/>
              </a:rPr>
              <a:t>UNCLASSIFIED / GENERAL</a:t>
            </a:r>
            <a:endParaRPr sz="2400"/>
          </a:p>
        </p:txBody>
      </p:sp>
      <p:sp>
        <p:nvSpPr>
          <p:cNvPr id="86" name="Google Shape;86;p5"/>
          <p:cNvSpPr/>
          <p:nvPr/>
        </p:nvSpPr>
        <p:spPr>
          <a:xfrm>
            <a:off x="1386840" y="0"/>
            <a:ext cx="9418320" cy="230832"/>
          </a:xfrm>
          <a:prstGeom prst="rect">
            <a:avLst/>
          </a:prstGeom>
          <a:noFill/>
          <a:ln>
            <a:noFill/>
          </a:ln>
        </p:spPr>
        <p:txBody>
          <a:bodyPr spcFirstLastPara="1" wrap="square" lIns="121900" tIns="60933" rIns="121900" bIns="60933" anchor="t" anchorCtr="0">
            <a:noAutofit/>
          </a:bodyPr>
          <a:lstStyle/>
          <a:p>
            <a:pPr marL="0" marR="0" lvl="0" indent="0" algn="ctr" rtl="0">
              <a:spcBef>
                <a:spcPts val="0"/>
              </a:spcBef>
              <a:spcAft>
                <a:spcPts val="0"/>
              </a:spcAft>
              <a:buNone/>
            </a:pPr>
            <a:r>
              <a:rPr lang="en" sz="700" b="1" i="0" u="none" strike="noStrike" cap="none">
                <a:solidFill>
                  <a:srgbClr val="2DAA27"/>
                </a:solidFill>
                <a:latin typeface="Arial"/>
                <a:ea typeface="Arial"/>
                <a:cs typeface="Arial"/>
                <a:sym typeface="Arial"/>
              </a:rPr>
              <a:t>UNCLASSIFIED / GENERAL</a:t>
            </a:r>
            <a:endParaRPr sz="2400"/>
          </a:p>
        </p:txBody>
      </p:sp>
    </p:spTree>
    <p:extLst>
      <p:ext uri="{BB962C8B-B14F-4D97-AF65-F5344CB8AC3E}">
        <p14:creationId xmlns:p14="http://schemas.microsoft.com/office/powerpoint/2010/main" val="22733264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673250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theme" Target="../theme/theme2.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6.pn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765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27"/>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971AFA9C-17DA-4726-B9E3-ADECF7729AF7}" type="datetimeFigureOut">
              <a:rPr lang="en-US" smtClean="0"/>
              <a:t>6/22/2026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79D051F2-C7C4-43BD-B552-C78CE0DE4128}" type="slidenum">
              <a:rPr lang="en-US" smtClean="0"/>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28"/>
          <a:stretch>
            <a:fillRect/>
          </a:stretch>
        </p:blipFill>
        <p:spPr>
          <a:xfrm>
            <a:off x="9926020" y="424087"/>
            <a:ext cx="502494" cy="477704"/>
          </a:xfrm>
          <a:prstGeom prst="rect">
            <a:avLst/>
          </a:prstGeom>
        </p:spPr>
      </p:pic>
    </p:spTree>
    <p:extLst>
      <p:ext uri="{BB962C8B-B14F-4D97-AF65-F5344CB8AC3E}">
        <p14:creationId xmlns:p14="http://schemas.microsoft.com/office/powerpoint/2010/main" val="109386516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19" r:id="rId25"/>
  </p:sldLayoutIdLst>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7.xml"/><Relationship Id="rId1" Type="http://schemas.openxmlformats.org/officeDocument/2006/relationships/video" Target="https://www.youtube.com/embed/ZXsQAXx_ao0?feature=oembed" TargetMode="Externa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4" name="Text Placeholder 3">
            <a:extLst>
              <a:ext uri="{FF2B5EF4-FFF2-40B4-BE49-F238E27FC236}">
                <a16:creationId xmlns:a16="http://schemas.microsoft.com/office/drawing/2014/main" id="{3F070E2C-C69B-CF2A-4AFC-23A14A6A0794}"/>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6EFD8E2E-8543-A688-763B-E884BB31846B}"/>
              </a:ext>
            </a:extLst>
          </p:cNvPr>
          <p:cNvSpPr>
            <a:spLocks noGrp="1"/>
          </p:cNvSpPr>
          <p:nvPr>
            <p:ph type="body" idx="2"/>
          </p:nvPr>
        </p:nvSpPr>
        <p:spPr/>
        <p:txBody>
          <a:bodyPr/>
          <a:lstStyle/>
          <a:p>
            <a:endParaRPr lang="en-US"/>
          </a:p>
        </p:txBody>
      </p:sp>
      <p:sp>
        <p:nvSpPr>
          <p:cNvPr id="6" name="Text Placeholder 5">
            <a:extLst>
              <a:ext uri="{FF2B5EF4-FFF2-40B4-BE49-F238E27FC236}">
                <a16:creationId xmlns:a16="http://schemas.microsoft.com/office/drawing/2014/main" id="{2230D199-3936-A1F3-B0EB-089330973D56}"/>
              </a:ext>
            </a:extLst>
          </p:cNvPr>
          <p:cNvSpPr>
            <a:spLocks noGrp="1"/>
          </p:cNvSpPr>
          <p:nvPr>
            <p:ph type="body" idx="3"/>
          </p:nvPr>
        </p:nvSpPr>
        <p:spPr/>
        <p:txBody>
          <a:bodyPr/>
          <a:lstStyle/>
          <a:p>
            <a:endParaRPr lang="en-US"/>
          </a:p>
        </p:txBody>
      </p:sp>
      <p:sp>
        <p:nvSpPr>
          <p:cNvPr id="7" name="Text Placeholder 6">
            <a:extLst>
              <a:ext uri="{FF2B5EF4-FFF2-40B4-BE49-F238E27FC236}">
                <a16:creationId xmlns:a16="http://schemas.microsoft.com/office/drawing/2014/main" id="{846C0D10-A9D9-A711-D381-3D00C47E0FBF}"/>
              </a:ext>
            </a:extLst>
          </p:cNvPr>
          <p:cNvSpPr>
            <a:spLocks noGrp="1"/>
          </p:cNvSpPr>
          <p:nvPr>
            <p:ph type="body" idx="4"/>
          </p:nvPr>
        </p:nvSpPr>
        <p:spPr/>
        <p:txBody>
          <a:bodyPr/>
          <a:lstStyle/>
          <a:p>
            <a:endParaRPr lang="en-US"/>
          </a:p>
        </p:txBody>
      </p:sp>
      <p:sp>
        <p:nvSpPr>
          <p:cNvPr id="8" name="Text Placeholder 7">
            <a:extLst>
              <a:ext uri="{FF2B5EF4-FFF2-40B4-BE49-F238E27FC236}">
                <a16:creationId xmlns:a16="http://schemas.microsoft.com/office/drawing/2014/main" id="{48D0B74B-73C2-B2A1-57AF-63998F4A4F49}"/>
              </a:ext>
            </a:extLst>
          </p:cNvPr>
          <p:cNvSpPr>
            <a:spLocks noGrp="1"/>
          </p:cNvSpPr>
          <p:nvPr>
            <p:ph type="body" idx="5"/>
          </p:nvPr>
        </p:nvSpPr>
        <p:spPr/>
        <p:txBody>
          <a:bodyPr/>
          <a:lstStyle/>
          <a:p>
            <a:endParaRPr lang="en-US"/>
          </a:p>
        </p:txBody>
      </p:sp>
      <p:sp>
        <p:nvSpPr>
          <p:cNvPr id="9" name="Text Placeholder 8">
            <a:extLst>
              <a:ext uri="{FF2B5EF4-FFF2-40B4-BE49-F238E27FC236}">
                <a16:creationId xmlns:a16="http://schemas.microsoft.com/office/drawing/2014/main" id="{39903D50-9478-61DD-97EF-868FFEC1A203}"/>
              </a:ext>
            </a:extLst>
          </p:cNvPr>
          <p:cNvSpPr>
            <a:spLocks noGrp="1"/>
          </p:cNvSpPr>
          <p:nvPr>
            <p:ph type="body" idx="6"/>
          </p:nvPr>
        </p:nvSpPr>
        <p:spPr/>
        <p:txBody>
          <a:bodyPr/>
          <a:lstStyle/>
          <a:p>
            <a:endParaRPr lang="en-US"/>
          </a:p>
        </p:txBody>
      </p:sp>
      <p:sp>
        <p:nvSpPr>
          <p:cNvPr id="10" name="Text Placeholder 9">
            <a:extLst>
              <a:ext uri="{FF2B5EF4-FFF2-40B4-BE49-F238E27FC236}">
                <a16:creationId xmlns:a16="http://schemas.microsoft.com/office/drawing/2014/main" id="{AE0195E4-F595-93CB-A46C-7430AD0680AD}"/>
              </a:ext>
            </a:extLst>
          </p:cNvPr>
          <p:cNvSpPr>
            <a:spLocks noGrp="1"/>
          </p:cNvSpPr>
          <p:nvPr>
            <p:ph type="body" idx="7"/>
          </p:nvPr>
        </p:nvSpPr>
        <p:spPr/>
        <p:txBody>
          <a:bodyPr/>
          <a:lstStyle/>
          <a:p>
            <a:endParaRPr lang="en-US"/>
          </a:p>
        </p:txBody>
      </p:sp>
      <p:sp>
        <p:nvSpPr>
          <p:cNvPr id="11" name="Text Placeholder 10">
            <a:extLst>
              <a:ext uri="{FF2B5EF4-FFF2-40B4-BE49-F238E27FC236}">
                <a16:creationId xmlns:a16="http://schemas.microsoft.com/office/drawing/2014/main" id="{5B959FF5-1EE2-7B58-60C8-30418EF2E627}"/>
              </a:ext>
            </a:extLst>
          </p:cNvPr>
          <p:cNvSpPr>
            <a:spLocks noGrp="1"/>
          </p:cNvSpPr>
          <p:nvPr>
            <p:ph type="body" idx="8"/>
          </p:nvPr>
        </p:nvSpPr>
        <p:spPr/>
        <p:txBody>
          <a:bodyPr/>
          <a:lstStyle/>
          <a:p>
            <a:endParaRPr lang="en-US"/>
          </a:p>
        </p:txBody>
      </p:sp>
      <p:sp>
        <p:nvSpPr>
          <p:cNvPr id="12" name="Text Placeholder 11">
            <a:extLst>
              <a:ext uri="{FF2B5EF4-FFF2-40B4-BE49-F238E27FC236}">
                <a16:creationId xmlns:a16="http://schemas.microsoft.com/office/drawing/2014/main" id="{BD2EDCAF-FCD3-27B6-7A7D-482980E30A32}"/>
              </a:ext>
            </a:extLst>
          </p:cNvPr>
          <p:cNvSpPr>
            <a:spLocks noGrp="1"/>
          </p:cNvSpPr>
          <p:nvPr>
            <p:ph type="body" idx="9"/>
          </p:nvPr>
        </p:nvSpPr>
        <p:spPr/>
        <p:txBody>
          <a:bodyPr/>
          <a:lstStyle/>
          <a:p>
            <a:endParaRPr lang="en-US"/>
          </a:p>
        </p:txBody>
      </p:sp>
      <p:sp>
        <p:nvSpPr>
          <p:cNvPr id="13" name="Text Placeholder 12">
            <a:extLst>
              <a:ext uri="{FF2B5EF4-FFF2-40B4-BE49-F238E27FC236}">
                <a16:creationId xmlns:a16="http://schemas.microsoft.com/office/drawing/2014/main" id="{B30A370C-AC35-54DB-180E-CF84A6DE97E5}"/>
              </a:ext>
            </a:extLst>
          </p:cNvPr>
          <p:cNvSpPr>
            <a:spLocks noGrp="1"/>
          </p:cNvSpPr>
          <p:nvPr>
            <p:ph type="body" idx="13"/>
          </p:nvPr>
        </p:nvSpPr>
        <p:spPr/>
        <p:txBody>
          <a:bodyPr/>
          <a:lstStyle/>
          <a:p>
            <a:endParaRPr lang="en-US"/>
          </a:p>
        </p:txBody>
      </p:sp>
      <p:sp>
        <p:nvSpPr>
          <p:cNvPr id="377" name="Google Shape;377;p39"/>
          <p:cNvSpPr txBox="1">
            <a:spLocks noGrp="1"/>
          </p:cNvSpPr>
          <p:nvPr>
            <p:ph type="ctrTitle"/>
          </p:nvPr>
        </p:nvSpPr>
        <p:spPr>
          <a:noFill/>
          <a:ln>
            <a:noFill/>
          </a:ln>
        </p:spPr>
        <p:txBody>
          <a:bodyPr spcFirstLastPara="1" vert="horz" wrap="square" lIns="121900" tIns="121900" rIns="121900" bIns="121900" rtlCol="0" anchor="t" anchorCtr="0">
            <a:normAutofit/>
          </a:bodyPr>
          <a:lstStyle/>
          <a:p>
            <a:pPr lvl="0"/>
            <a:r>
              <a:rPr lang="en-US" dirty="0">
                <a:solidFill>
                  <a:schemeClr val="bg1"/>
                </a:solidFill>
              </a:rPr>
              <a:t>FILE IO</a:t>
            </a:r>
          </a:p>
        </p:txBody>
      </p:sp>
      <p:sp>
        <p:nvSpPr>
          <p:cNvPr id="14" name="Subtitle 13">
            <a:extLst>
              <a:ext uri="{FF2B5EF4-FFF2-40B4-BE49-F238E27FC236}">
                <a16:creationId xmlns:a16="http://schemas.microsoft.com/office/drawing/2014/main" id="{375DF464-1047-E0FE-E481-3664C51B5C5B}"/>
              </a:ext>
            </a:extLst>
          </p:cNvPr>
          <p:cNvSpPr>
            <a:spLocks noGrp="1"/>
          </p:cNvSpPr>
          <p:nvPr>
            <p:ph type="subTitle" idx="14"/>
          </p:nvPr>
        </p:nvSpPr>
        <p:spPr/>
        <p:txBody>
          <a:bodyPr/>
          <a:lstStyle/>
          <a:p>
            <a:endParaRPr lang="en-US" dirty="0"/>
          </a:p>
        </p:txBody>
      </p:sp>
      <p:sp>
        <p:nvSpPr>
          <p:cNvPr id="15" name="Text Placeholder 14">
            <a:extLst>
              <a:ext uri="{FF2B5EF4-FFF2-40B4-BE49-F238E27FC236}">
                <a16:creationId xmlns:a16="http://schemas.microsoft.com/office/drawing/2014/main" id="{ED1E60D9-3A05-7A61-72B6-7F9C21F9F660}"/>
              </a:ext>
            </a:extLst>
          </p:cNvPr>
          <p:cNvSpPr>
            <a:spLocks noGrp="1"/>
          </p:cNvSpPr>
          <p:nvPr>
            <p:ph type="body" idx="15"/>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9D20E-BD9A-847F-707A-41F7A86C8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69BD9-8066-F6DB-BC59-621195265012}"/>
              </a:ext>
            </a:extLst>
          </p:cNvPr>
          <p:cNvSpPr>
            <a:spLocks noGrp="1"/>
          </p:cNvSpPr>
          <p:nvPr>
            <p:ph type="title"/>
          </p:nvPr>
        </p:nvSpPr>
        <p:spPr/>
        <p:txBody>
          <a:bodyPr/>
          <a:lstStyle/>
          <a:p>
            <a:br>
              <a:rPr lang="en-US" dirty="0"/>
            </a:br>
            <a:r>
              <a:rPr lang="en-US" dirty="0"/>
              <a:t>Motivation</a:t>
            </a:r>
          </a:p>
        </p:txBody>
      </p:sp>
      <p:pic>
        <p:nvPicPr>
          <p:cNvPr id="5" name="Online Media 4" title="Shia LaBeouf &quot;Just Do It&quot; Motivational Speech (Original Video by LaBeouf, Rönkkö &amp; Turner)">
            <a:hlinkClick r:id="" action="ppaction://media"/>
            <a:extLst>
              <a:ext uri="{FF2B5EF4-FFF2-40B4-BE49-F238E27FC236}">
                <a16:creationId xmlns:a16="http://schemas.microsoft.com/office/drawing/2014/main" id="{F897A0C9-F5F4-E02C-08D8-BD4BFD254FF8}"/>
              </a:ext>
            </a:extLst>
          </p:cNvPr>
          <p:cNvPicPr>
            <a:picLocks noRot="1" noChangeAspect="1"/>
          </p:cNvPicPr>
          <p:nvPr>
            <a:videoFile r:link="rId1"/>
          </p:nvPr>
        </p:nvPicPr>
        <p:blipFill>
          <a:blip r:embed="rId4"/>
          <a:stretch>
            <a:fillRect/>
          </a:stretch>
        </p:blipFill>
        <p:spPr>
          <a:xfrm>
            <a:off x="1799923" y="1555719"/>
            <a:ext cx="8162224" cy="4611667"/>
          </a:xfrm>
          <a:prstGeom prst="rect">
            <a:avLst/>
          </a:prstGeom>
        </p:spPr>
      </p:pic>
    </p:spTree>
    <p:extLst>
      <p:ext uri="{BB962C8B-B14F-4D97-AF65-F5344CB8AC3E}">
        <p14:creationId xmlns:p14="http://schemas.microsoft.com/office/powerpoint/2010/main" val="225468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7" name="Content Placeholder 6">
            <a:extLst>
              <a:ext uri="{FF2B5EF4-FFF2-40B4-BE49-F238E27FC236}">
                <a16:creationId xmlns:a16="http://schemas.microsoft.com/office/drawing/2014/main" id="{D6C03BA8-C242-A7E3-06B9-2FDDD142A3E2}"/>
              </a:ext>
            </a:extLst>
          </p:cNvPr>
          <p:cNvPicPr>
            <a:picLocks noGrp="1" noChangeAspect="1"/>
          </p:cNvPicPr>
          <p:nvPr>
            <p:ph idx="1"/>
          </p:nvPr>
        </p:nvPicPr>
        <p:blipFill>
          <a:blip r:embed="rId3"/>
          <a:stretch>
            <a:fillRect/>
          </a:stretch>
        </p:blipFill>
        <p:spPr>
          <a:xfrm>
            <a:off x="508000" y="1318800"/>
            <a:ext cx="11176000" cy="4955141"/>
          </a:xfrm>
          <a:prstGeom prst="rect">
            <a:avLst/>
          </a:prstGeom>
          <a:noFill/>
          <a:ln>
            <a:noFill/>
          </a:ln>
        </p:spPr>
      </p:pic>
      <p:sp>
        <p:nvSpPr>
          <p:cNvPr id="8" name="Rectangle 7">
            <a:extLst>
              <a:ext uri="{FF2B5EF4-FFF2-40B4-BE49-F238E27FC236}">
                <a16:creationId xmlns:a16="http://schemas.microsoft.com/office/drawing/2014/main" id="{0C366FE1-DAFA-E7EC-025F-E1D1E8686851}"/>
              </a:ext>
            </a:extLst>
          </p:cNvPr>
          <p:cNvSpPr/>
          <p:nvPr/>
        </p:nvSpPr>
        <p:spPr>
          <a:xfrm>
            <a:off x="159744" y="3000396"/>
            <a:ext cx="6284332" cy="3072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91918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F51F-ADCA-105D-6A2E-72EBEFFBB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0DA68-9A3E-BE02-724E-F79475A2462B}"/>
              </a:ext>
            </a:extLst>
          </p:cNvPr>
          <p:cNvSpPr>
            <a:spLocks noGrp="1"/>
          </p:cNvSpPr>
          <p:nvPr>
            <p:ph type="title"/>
          </p:nvPr>
        </p:nvSpPr>
        <p:spPr>
          <a:xfrm>
            <a:off x="5055220" y="3038862"/>
            <a:ext cx="1918505" cy="780276"/>
          </a:xfrm>
        </p:spPr>
        <p:txBody>
          <a:bodyPr/>
          <a:lstStyle/>
          <a:p>
            <a:r>
              <a:rPr lang="en-US" dirty="0"/>
              <a:t>Review</a:t>
            </a:r>
          </a:p>
        </p:txBody>
      </p:sp>
    </p:spTree>
    <p:extLst>
      <p:ext uri="{BB962C8B-B14F-4D97-AF65-F5344CB8AC3E}">
        <p14:creationId xmlns:p14="http://schemas.microsoft.com/office/powerpoint/2010/main" val="2846455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98111-2BCA-9053-6721-11BD38B85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C19FB-DB9E-7F3E-0C35-8BBBE313207B}"/>
              </a:ext>
            </a:extLst>
          </p:cNvPr>
          <p:cNvSpPr>
            <a:spLocks noGrp="1"/>
          </p:cNvSpPr>
          <p:nvPr>
            <p:ph type="title"/>
          </p:nvPr>
        </p:nvSpPr>
        <p:spPr>
          <a:xfrm>
            <a:off x="2639279" y="2827106"/>
            <a:ext cx="7053360" cy="780276"/>
          </a:xfrm>
        </p:spPr>
        <p:txBody>
          <a:bodyPr/>
          <a:lstStyle/>
          <a:p>
            <a:r>
              <a:rPr lang="en-US" dirty="0"/>
              <a:t>What is the purpose of user defined functions?</a:t>
            </a:r>
          </a:p>
        </p:txBody>
      </p:sp>
    </p:spTree>
    <p:extLst>
      <p:ext uri="{BB962C8B-B14F-4D97-AF65-F5344CB8AC3E}">
        <p14:creationId xmlns:p14="http://schemas.microsoft.com/office/powerpoint/2010/main" val="1474776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5F3F1-C88B-399C-4E5D-94AC701A6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CB736-F71E-1BE5-9659-45563786CBD8}"/>
              </a:ext>
            </a:extLst>
          </p:cNvPr>
          <p:cNvSpPr>
            <a:spLocks noGrp="1"/>
          </p:cNvSpPr>
          <p:nvPr>
            <p:ph type="title"/>
          </p:nvPr>
        </p:nvSpPr>
        <p:spPr>
          <a:xfrm>
            <a:off x="2822159" y="2875233"/>
            <a:ext cx="7053360" cy="780276"/>
          </a:xfrm>
        </p:spPr>
        <p:txBody>
          <a:bodyPr/>
          <a:lstStyle/>
          <a:p>
            <a:r>
              <a:rPr lang="en-US" dirty="0"/>
              <a:t>How do you define a function, and how do you use it?</a:t>
            </a:r>
          </a:p>
        </p:txBody>
      </p:sp>
    </p:spTree>
    <p:extLst>
      <p:ext uri="{BB962C8B-B14F-4D97-AF65-F5344CB8AC3E}">
        <p14:creationId xmlns:p14="http://schemas.microsoft.com/office/powerpoint/2010/main" val="166233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338598" y="534400"/>
            <a:ext cx="11360800" cy="6323600"/>
          </a:xfrm>
          <a:prstGeom prst="rect">
            <a:avLst/>
          </a:prstGeom>
        </p:spPr>
        <p:txBody>
          <a:bodyPr spcFirstLastPara="1" vert="horz" wrap="square" lIns="121900" tIns="121900" rIns="121900" bIns="121900" spcCol="365760" rtlCol="0" anchor="t" anchorCtr="0">
            <a:normAutofit fontScale="70000" lnSpcReduction="20000"/>
          </a:bodyPr>
          <a:lstStyle/>
          <a:p>
            <a:pPr marL="0" indent="0">
              <a:buNone/>
            </a:pPr>
            <a:r>
              <a:rPr lang="en" sz="3333" b="1" u="sng" dirty="0"/>
              <a:t>Pre Class Problem 1 - The ULTIMATE RPS Simulation (20 min)</a:t>
            </a:r>
            <a:endParaRPr sz="3333" b="1" u="sng" dirty="0"/>
          </a:p>
          <a:p>
            <a:pPr marL="0" indent="0">
              <a:spcBef>
                <a:spcPts val="1600"/>
              </a:spcBef>
              <a:buNone/>
            </a:pPr>
            <a:r>
              <a:rPr lang="en" sz="3333" b="1" dirty="0"/>
              <a:t>Starting from scratch </a:t>
            </a:r>
            <a:r>
              <a:rPr lang="en" sz="3333" dirty="0"/>
              <a:t>write a python script that allows you to play rock, paper, scissors against the computer.</a:t>
            </a:r>
            <a:endParaRPr sz="3333" dirty="0"/>
          </a:p>
          <a:p>
            <a:pPr marL="0" indent="0">
              <a:spcBef>
                <a:spcPts val="1600"/>
              </a:spcBef>
              <a:buNone/>
            </a:pPr>
            <a:r>
              <a:rPr lang="en" sz="3333" i="1" dirty="0"/>
              <a:t>However</a:t>
            </a:r>
            <a:r>
              <a:rPr lang="en" sz="3333" dirty="0"/>
              <a:t>, in this version you will ask the user how many games they want to play to determine the overall winner.  The computer has other things to do, so it will only accept playing the best of 1 to 9 games.</a:t>
            </a:r>
            <a:br>
              <a:rPr lang="en" sz="3333" dirty="0"/>
            </a:br>
            <a:br>
              <a:rPr lang="en" sz="3333" dirty="0"/>
            </a:br>
            <a:r>
              <a:rPr lang="en" sz="3333" dirty="0"/>
              <a:t>Example:  How many games would you like to play to determine who is the ultimate winner?  </a:t>
            </a:r>
            <a:br>
              <a:rPr lang="en" sz="3333" dirty="0"/>
            </a:br>
            <a:br>
              <a:rPr lang="en" sz="3333" dirty="0"/>
            </a:br>
            <a:r>
              <a:rPr lang="en" sz="3333" dirty="0"/>
              <a:t>Implied:  User input can only be an odd number from 1 to 9.  Continue to ask the user to re-enter how many games they would like to play until the user meets these criteria.  </a:t>
            </a:r>
            <a:endParaRPr sz="3333" dirty="0"/>
          </a:p>
          <a:p>
            <a:pPr marL="0" indent="0">
              <a:spcBef>
                <a:spcPts val="1600"/>
              </a:spcBef>
              <a:buNone/>
            </a:pPr>
            <a:r>
              <a:rPr lang="en" sz="3333" dirty="0"/>
              <a:t>Also implied:  If the user wants to play the best of 3 games, and wins the first two, they do not need to play a third game.</a:t>
            </a:r>
            <a:endParaRPr sz="3333" dirty="0"/>
          </a:p>
          <a:p>
            <a:pPr marL="0" indent="0">
              <a:spcBef>
                <a:spcPts val="1600"/>
              </a:spcBef>
              <a:buNone/>
            </a:pPr>
            <a:r>
              <a:rPr lang="en" sz="3333" b="1" dirty="0"/>
              <a:t>Bonus:  </a:t>
            </a:r>
            <a:r>
              <a:rPr lang="en" sz="3333" dirty="0"/>
              <a:t>Incorporate ASCII-ART and delays into your game to add some flare.</a:t>
            </a:r>
            <a:endParaRPr sz="3333" dirty="0"/>
          </a:p>
          <a:p>
            <a:pPr marL="0" indent="0">
              <a:spcBef>
                <a:spcPts val="1600"/>
              </a:spcBef>
              <a:buNone/>
            </a:pPr>
            <a:r>
              <a:rPr lang="en" sz="3333" b="1" u="sng" dirty="0"/>
              <a:t>DO NOT USE GENERATIVE AI – PUSH YOURSELF TO FIGURE THIS OUT</a:t>
            </a:r>
            <a:endParaRPr sz="3333" b="1" u="sng" dirty="0"/>
          </a:p>
          <a:p>
            <a:pPr marL="0" indent="0">
              <a:spcBef>
                <a:spcPts val="1600"/>
              </a:spcBef>
              <a:buNone/>
            </a:pPr>
            <a:endParaRPr dirty="0"/>
          </a:p>
          <a:p>
            <a:pPr marL="0" indent="0">
              <a:spcBef>
                <a:spcPts val="1600"/>
              </a:spcBef>
              <a:spcAft>
                <a:spcPts val="16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body" idx="1"/>
          </p:nvPr>
        </p:nvSpPr>
        <p:spPr>
          <a:xfrm>
            <a:off x="415600" y="284900"/>
            <a:ext cx="11360800" cy="6323600"/>
          </a:xfrm>
          <a:prstGeom prst="rect">
            <a:avLst/>
          </a:prstGeom>
        </p:spPr>
        <p:txBody>
          <a:bodyPr spcFirstLastPara="1" vert="horz" wrap="square" lIns="121900" tIns="121900" rIns="121900" bIns="121900" spcCol="365760" rtlCol="0" anchor="t" anchorCtr="0">
            <a:normAutofit/>
          </a:bodyPr>
          <a:lstStyle/>
          <a:p>
            <a:pPr marL="0" indent="0">
              <a:buNone/>
            </a:pPr>
            <a:r>
              <a:rPr lang="en" sz="3333" b="1" u="sng"/>
              <a:t>Problem 1 Assessment</a:t>
            </a:r>
            <a:endParaRPr sz="3333" b="1" u="sng"/>
          </a:p>
          <a:p>
            <a:pPr marL="0" indent="0">
              <a:spcBef>
                <a:spcPts val="1600"/>
              </a:spcBef>
              <a:buNone/>
            </a:pPr>
            <a:endParaRPr/>
          </a:p>
          <a:p>
            <a:pPr marL="0" indent="0">
              <a:spcBef>
                <a:spcPts val="1600"/>
              </a:spcBef>
              <a:spcAft>
                <a:spcPts val="1600"/>
              </a:spcAft>
              <a:buNone/>
            </a:pPr>
            <a:endParaRPr/>
          </a:p>
        </p:txBody>
      </p:sp>
      <p:graphicFrame>
        <p:nvGraphicFramePr>
          <p:cNvPr id="65" name="Google Shape;65;p15"/>
          <p:cNvGraphicFramePr/>
          <p:nvPr>
            <p:extLst>
              <p:ext uri="{D42A27DB-BD31-4B8C-83A1-F6EECF244321}">
                <p14:modId xmlns:p14="http://schemas.microsoft.com/office/powerpoint/2010/main" val="1828954826"/>
              </p:ext>
            </p:extLst>
          </p:nvPr>
        </p:nvGraphicFramePr>
        <p:xfrm>
          <a:off x="1270000" y="1254580"/>
          <a:ext cx="9652000" cy="5318520"/>
        </p:xfrm>
        <a:graphic>
          <a:graphicData uri="http://schemas.openxmlformats.org/drawingml/2006/table">
            <a:tbl>
              <a:tblPr>
                <a:noFill/>
              </a:tblPr>
              <a:tblGrid>
                <a:gridCol w="1303533">
                  <a:extLst>
                    <a:ext uri="{9D8B030D-6E8A-4147-A177-3AD203B41FA5}">
                      <a16:colId xmlns:a16="http://schemas.microsoft.com/office/drawing/2014/main" val="20000"/>
                    </a:ext>
                  </a:extLst>
                </a:gridCol>
                <a:gridCol w="8348467">
                  <a:extLst>
                    <a:ext uri="{9D8B030D-6E8A-4147-A177-3AD203B41FA5}">
                      <a16:colId xmlns:a16="http://schemas.microsoft.com/office/drawing/2014/main" val="20001"/>
                    </a:ext>
                  </a:extLst>
                </a:gridCol>
              </a:tblGrid>
              <a:tr h="589240">
                <a:tc>
                  <a:txBody>
                    <a:bodyPr/>
                    <a:lstStyle/>
                    <a:p>
                      <a:pPr marL="0" lvl="0" indent="0" algn="l" rtl="0">
                        <a:spcBef>
                          <a:spcPts val="0"/>
                        </a:spcBef>
                        <a:spcAft>
                          <a:spcPts val="0"/>
                        </a:spcAft>
                        <a:buNone/>
                      </a:pPr>
                      <a:r>
                        <a:rPr lang="en" sz="2300"/>
                        <a:t>Grade</a:t>
                      </a:r>
                      <a:endParaRPr sz="2300"/>
                    </a:p>
                  </a:txBody>
                  <a:tcPr marL="121900" marR="121900" marT="121900" marB="121900"/>
                </a:tc>
                <a:tc>
                  <a:txBody>
                    <a:bodyPr/>
                    <a:lstStyle/>
                    <a:p>
                      <a:pPr marL="0" lvl="0" indent="0" algn="l" rtl="0">
                        <a:spcBef>
                          <a:spcPts val="0"/>
                        </a:spcBef>
                        <a:spcAft>
                          <a:spcPts val="0"/>
                        </a:spcAft>
                        <a:buNone/>
                      </a:pPr>
                      <a:r>
                        <a:rPr lang="en" sz="2300"/>
                        <a:t>Criteria</a:t>
                      </a:r>
                      <a:endParaRPr sz="2300"/>
                    </a:p>
                  </a:txBody>
                  <a:tcPr marL="121900" marR="121900" marT="121900" marB="121900"/>
                </a:tc>
                <a:extLst>
                  <a:ext uri="{0D108BD9-81ED-4DB2-BD59-A6C34878D82A}">
                    <a16:rowId xmlns:a16="http://schemas.microsoft.com/office/drawing/2014/main" val="10000"/>
                  </a:ext>
                </a:extLst>
              </a:tr>
              <a:tr h="589240">
                <a:tc>
                  <a:txBody>
                    <a:bodyPr/>
                    <a:lstStyle/>
                    <a:p>
                      <a:pPr marL="0" lvl="0" indent="0" algn="l" rtl="0">
                        <a:spcBef>
                          <a:spcPts val="0"/>
                        </a:spcBef>
                        <a:spcAft>
                          <a:spcPts val="0"/>
                        </a:spcAft>
                        <a:buNone/>
                      </a:pPr>
                      <a:r>
                        <a:rPr lang="en" sz="2300"/>
                        <a:t>D</a:t>
                      </a:r>
                      <a:endParaRPr sz="2300"/>
                    </a:p>
                  </a:txBody>
                  <a:tcPr marL="121900" marR="121900" marT="121900" marB="121900"/>
                </a:tc>
                <a:tc>
                  <a:txBody>
                    <a:bodyPr/>
                    <a:lstStyle/>
                    <a:p>
                      <a:pPr marL="0" lvl="0" indent="0" algn="l" rtl="0">
                        <a:spcBef>
                          <a:spcPts val="0"/>
                        </a:spcBef>
                        <a:spcAft>
                          <a:spcPts val="0"/>
                        </a:spcAft>
                        <a:buNone/>
                      </a:pPr>
                      <a:r>
                        <a:rPr lang="en" sz="2300"/>
                        <a:t>You can play one game of RPS against the computer.</a:t>
                      </a:r>
                      <a:endParaRPr sz="2300"/>
                    </a:p>
                  </a:txBody>
                  <a:tcPr marL="121900" marR="121900" marT="121900" marB="121900"/>
                </a:tc>
                <a:extLst>
                  <a:ext uri="{0D108BD9-81ED-4DB2-BD59-A6C34878D82A}">
                    <a16:rowId xmlns:a16="http://schemas.microsoft.com/office/drawing/2014/main" val="10001"/>
                  </a:ext>
                </a:extLst>
              </a:tr>
              <a:tr h="1280120">
                <a:tc>
                  <a:txBody>
                    <a:bodyPr/>
                    <a:lstStyle/>
                    <a:p>
                      <a:pPr marL="0" lvl="0" indent="0" algn="l" rtl="0">
                        <a:spcBef>
                          <a:spcPts val="0"/>
                        </a:spcBef>
                        <a:spcAft>
                          <a:spcPts val="0"/>
                        </a:spcAft>
                        <a:buNone/>
                      </a:pPr>
                      <a:r>
                        <a:rPr lang="en" sz="2300"/>
                        <a:t>C</a:t>
                      </a:r>
                      <a:endParaRPr sz="2300"/>
                    </a:p>
                  </a:txBody>
                  <a:tcPr marL="121900" marR="121900" marT="121900" marB="121900"/>
                </a:tc>
                <a:tc>
                  <a:txBody>
                    <a:bodyPr/>
                    <a:lstStyle/>
                    <a:p>
                      <a:pPr marL="0" lvl="0" indent="0" algn="l" rtl="0">
                        <a:spcBef>
                          <a:spcPts val="0"/>
                        </a:spcBef>
                        <a:spcAft>
                          <a:spcPts val="0"/>
                        </a:spcAft>
                        <a:buNone/>
                      </a:pPr>
                      <a:r>
                        <a:rPr lang="en" sz="2300"/>
                        <a:t>You can specify the number of games to play, but the computer plays all of the games without determining “best of” the number of games.</a:t>
                      </a:r>
                      <a:endParaRPr sz="2300"/>
                    </a:p>
                  </a:txBody>
                  <a:tcPr marL="121900" marR="121900" marT="121900" marB="121900"/>
                </a:tc>
                <a:extLst>
                  <a:ext uri="{0D108BD9-81ED-4DB2-BD59-A6C34878D82A}">
                    <a16:rowId xmlns:a16="http://schemas.microsoft.com/office/drawing/2014/main" val="10002"/>
                  </a:ext>
                </a:extLst>
              </a:tr>
              <a:tr h="934680">
                <a:tc>
                  <a:txBody>
                    <a:bodyPr/>
                    <a:lstStyle/>
                    <a:p>
                      <a:pPr marL="0" lvl="0" indent="0" algn="l" rtl="0">
                        <a:spcBef>
                          <a:spcPts val="0"/>
                        </a:spcBef>
                        <a:spcAft>
                          <a:spcPts val="0"/>
                        </a:spcAft>
                        <a:buNone/>
                      </a:pPr>
                      <a:r>
                        <a:rPr lang="en" sz="2300"/>
                        <a:t>B</a:t>
                      </a:r>
                      <a:endParaRPr sz="2300"/>
                    </a:p>
                  </a:txBody>
                  <a:tcPr marL="121900" marR="121900" marT="121900" marB="121900"/>
                </a:tc>
                <a:tc>
                  <a:txBody>
                    <a:bodyPr/>
                    <a:lstStyle/>
                    <a:p>
                      <a:pPr marL="0" lvl="0" indent="0" algn="l" rtl="0">
                        <a:spcBef>
                          <a:spcPts val="0"/>
                        </a:spcBef>
                        <a:spcAft>
                          <a:spcPts val="0"/>
                        </a:spcAft>
                        <a:buNone/>
                      </a:pPr>
                      <a:r>
                        <a:rPr lang="en" sz="2300"/>
                        <a:t>Input is validated correctly, so only 1, 3, 5, 7, or 9 games can be played.</a:t>
                      </a:r>
                      <a:endParaRPr sz="2300"/>
                    </a:p>
                  </a:txBody>
                  <a:tcPr marL="121900" marR="121900" marT="121900" marB="121900"/>
                </a:tc>
                <a:extLst>
                  <a:ext uri="{0D108BD9-81ED-4DB2-BD59-A6C34878D82A}">
                    <a16:rowId xmlns:a16="http://schemas.microsoft.com/office/drawing/2014/main" val="10003"/>
                  </a:ext>
                </a:extLst>
              </a:tr>
              <a:tr h="1280120">
                <a:tc>
                  <a:txBody>
                    <a:bodyPr/>
                    <a:lstStyle/>
                    <a:p>
                      <a:pPr marL="0" lvl="0" indent="0" algn="l" rtl="0">
                        <a:spcBef>
                          <a:spcPts val="0"/>
                        </a:spcBef>
                        <a:spcAft>
                          <a:spcPts val="0"/>
                        </a:spcAft>
                        <a:buNone/>
                      </a:pPr>
                      <a:r>
                        <a:rPr lang="en" sz="2300"/>
                        <a:t>A</a:t>
                      </a:r>
                      <a:endParaRPr sz="2300"/>
                    </a:p>
                  </a:txBody>
                  <a:tcPr marL="121900" marR="121900" marT="121900" marB="121900"/>
                </a:tc>
                <a:tc>
                  <a:txBody>
                    <a:bodyPr/>
                    <a:lstStyle/>
                    <a:p>
                      <a:pPr marL="0" lvl="0" indent="0" algn="l" rtl="0">
                        <a:spcBef>
                          <a:spcPts val="0"/>
                        </a:spcBef>
                        <a:spcAft>
                          <a:spcPts val="0"/>
                        </a:spcAft>
                        <a:buNone/>
                      </a:pPr>
                      <a:r>
                        <a:rPr lang="en" sz="2300"/>
                        <a:t>Input is validated correctly, and the game incorporates best-of analysis (i.e. if the user wants to play 3 games and wins the first 2, the third game will not be played.</a:t>
                      </a:r>
                      <a:endParaRPr sz="2300"/>
                    </a:p>
                  </a:txBody>
                  <a:tcPr marL="121900" marR="121900" marT="121900" marB="121900"/>
                </a:tc>
                <a:extLst>
                  <a:ext uri="{0D108BD9-81ED-4DB2-BD59-A6C34878D82A}">
                    <a16:rowId xmlns:a16="http://schemas.microsoft.com/office/drawing/2014/main" val="10004"/>
                  </a:ext>
                </a:extLst>
              </a:tr>
              <a:tr h="589240">
                <a:tc>
                  <a:txBody>
                    <a:bodyPr/>
                    <a:lstStyle/>
                    <a:p>
                      <a:pPr marL="0" lvl="0" indent="0" algn="l" rtl="0">
                        <a:spcBef>
                          <a:spcPts val="0"/>
                        </a:spcBef>
                        <a:spcAft>
                          <a:spcPts val="0"/>
                        </a:spcAft>
                        <a:buNone/>
                      </a:pPr>
                      <a:r>
                        <a:rPr lang="en" sz="2300"/>
                        <a:t>A+</a:t>
                      </a:r>
                      <a:endParaRPr sz="2300"/>
                    </a:p>
                  </a:txBody>
                  <a:tcPr marL="121900" marR="121900" marT="121900" marB="121900"/>
                </a:tc>
                <a:tc>
                  <a:txBody>
                    <a:bodyPr/>
                    <a:lstStyle/>
                    <a:p>
                      <a:pPr marL="0" lvl="0" indent="0" algn="l" rtl="0">
                        <a:spcBef>
                          <a:spcPts val="0"/>
                        </a:spcBef>
                        <a:spcAft>
                          <a:spcPts val="0"/>
                        </a:spcAft>
                        <a:buNone/>
                      </a:pPr>
                      <a:r>
                        <a:rPr lang="en" sz="2300" dirty="0"/>
                        <a:t>Added ASCII Art and delays for style</a:t>
                      </a:r>
                      <a:endParaRPr sz="2300" dirty="0"/>
                    </a:p>
                  </a:txBody>
                  <a:tcPr marL="121900" marR="121900" marT="121900" marB="121900"/>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body" idx="1"/>
          </p:nvPr>
        </p:nvSpPr>
        <p:spPr>
          <a:xfrm>
            <a:off x="415600" y="284900"/>
            <a:ext cx="11360800" cy="6323600"/>
          </a:xfrm>
          <a:prstGeom prst="rect">
            <a:avLst/>
          </a:prstGeom>
        </p:spPr>
        <p:txBody>
          <a:bodyPr spcFirstLastPara="1" vert="horz" wrap="square" lIns="121900" tIns="121900" rIns="121900" bIns="121900" spcCol="365760" rtlCol="0" anchor="t" anchorCtr="0">
            <a:noAutofit/>
          </a:bodyPr>
          <a:lstStyle/>
          <a:p>
            <a:pPr marL="0" indent="0">
              <a:buNone/>
            </a:pPr>
            <a:r>
              <a:rPr lang="en" sz="2000" b="1" u="sng" dirty="0"/>
              <a:t>Pre Class Problem 2 - Pizza Shop Shenanigans (20 min)</a:t>
            </a:r>
            <a:endParaRPr sz="2000" b="1" u="sng" dirty="0"/>
          </a:p>
          <a:p>
            <a:pPr marL="0" indent="0">
              <a:spcBef>
                <a:spcPts val="1600"/>
              </a:spcBef>
              <a:buNone/>
            </a:pPr>
            <a:r>
              <a:rPr lang="en" sz="2000" dirty="0"/>
              <a:t>Your local pizza shop (“Byte da Pi”) is rolling out so-called ‘deals’ on the regular, but you’ve become suspicious if they are </a:t>
            </a:r>
            <a:r>
              <a:rPr lang="en" sz="2000" i="1" dirty="0"/>
              <a:t>actually deals</a:t>
            </a:r>
            <a:r>
              <a:rPr lang="en" sz="2000" dirty="0"/>
              <a:t>.</a:t>
            </a:r>
            <a:endParaRPr sz="2000" dirty="0"/>
          </a:p>
          <a:p>
            <a:pPr marL="0" indent="0">
              <a:spcBef>
                <a:spcPts val="1600"/>
              </a:spcBef>
              <a:buNone/>
            </a:pPr>
            <a:r>
              <a:rPr lang="en" sz="2000" dirty="0"/>
              <a:t>For instance, this week Byte da Pi is offering two small pizzas (10” diameter) for $19.99.  However, their regular priced large pizza (16” diameter) is priced $20.99.  Are the two small pizzas really a deal at $19.99?</a:t>
            </a:r>
            <a:endParaRPr sz="2000" dirty="0"/>
          </a:p>
          <a:p>
            <a:pPr marL="0" indent="0">
              <a:spcBef>
                <a:spcPts val="1600"/>
              </a:spcBef>
              <a:buNone/>
            </a:pPr>
            <a:r>
              <a:rPr lang="en" sz="2000" dirty="0"/>
              <a:t>Implied:  You need to determine the area of the pizzas.</a:t>
            </a:r>
            <a:endParaRPr sz="2000" dirty="0"/>
          </a:p>
          <a:p>
            <a:pPr marL="0" indent="0">
              <a:spcBef>
                <a:spcPts val="1600"/>
              </a:spcBef>
              <a:buNone/>
            </a:pPr>
            <a:r>
              <a:rPr lang="en" sz="2000" dirty="0"/>
              <a:t>Solve for this specific deal, and then create two functions to help you solve for </a:t>
            </a:r>
            <a:r>
              <a:rPr lang="en" sz="2000" i="1" dirty="0"/>
              <a:t>any</a:t>
            </a:r>
            <a:r>
              <a:rPr lang="en" sz="2000" dirty="0"/>
              <a:t> deal.</a:t>
            </a:r>
            <a:endParaRPr sz="2000" dirty="0"/>
          </a:p>
          <a:p>
            <a:pPr marL="0" indent="0">
              <a:spcBef>
                <a:spcPts val="1600"/>
              </a:spcBef>
              <a:buNone/>
            </a:pPr>
            <a:r>
              <a:rPr lang="en" sz="2000" dirty="0"/>
              <a:t>The first function should determine the price per square inch of pizza.  </a:t>
            </a:r>
            <a:r>
              <a:rPr lang="en" sz="2000" b="1" dirty="0"/>
              <a:t>How many parameters will this function have?</a:t>
            </a:r>
            <a:endParaRPr sz="2000" b="1" dirty="0"/>
          </a:p>
          <a:p>
            <a:pPr marL="0" indent="0">
              <a:spcBef>
                <a:spcPts val="1600"/>
              </a:spcBef>
              <a:buNone/>
            </a:pPr>
            <a:r>
              <a:rPr lang="en" sz="2000" dirty="0"/>
              <a:t>The second function should compare deals based on $/in</a:t>
            </a:r>
            <a:r>
              <a:rPr lang="en" sz="2000" baseline="30000" dirty="0"/>
              <a:t>2</a:t>
            </a:r>
            <a:r>
              <a:rPr lang="en" sz="2000" dirty="0"/>
              <a:t> and quantity of pizzas offered in the deal.  </a:t>
            </a:r>
            <a:r>
              <a:rPr lang="en" sz="2000" b="1" dirty="0"/>
              <a:t>This function should have four parameters. What are they?</a:t>
            </a:r>
            <a:endParaRPr sz="2000" b="1" dirty="0"/>
          </a:p>
          <a:p>
            <a:pPr marL="0" indent="0">
              <a:spcBef>
                <a:spcPts val="1600"/>
              </a:spcBef>
              <a:buNone/>
            </a:pPr>
            <a:r>
              <a:rPr lang="en" sz="2000" b="1" dirty="0"/>
              <a:t>BONUS:  </a:t>
            </a:r>
            <a:r>
              <a:rPr lang="en" sz="2000" dirty="0"/>
              <a:t>If your program finds it to be a good deal, your python script should open the webpage of a local pizza shop.  If your program finds it to be a bad deal, tell the user, and open the webpage of a pizza chain (Dominoes/Papa Johns…).  Also add ASCII Art.</a:t>
            </a:r>
            <a:endParaRPr sz="2000" dirty="0"/>
          </a:p>
          <a:p>
            <a:pPr marL="0" indent="0">
              <a:spcBef>
                <a:spcPts val="1600"/>
              </a:spcBef>
              <a:spcAft>
                <a:spcPts val="1600"/>
              </a:spcAft>
              <a:buNone/>
            </a:pPr>
            <a:endParaRPr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7"/>
          <p:cNvSpPr txBox="1">
            <a:spLocks noGrp="1"/>
          </p:cNvSpPr>
          <p:nvPr>
            <p:ph type="body" idx="1"/>
          </p:nvPr>
        </p:nvSpPr>
        <p:spPr>
          <a:xfrm>
            <a:off x="415600" y="284900"/>
            <a:ext cx="11360800" cy="6323600"/>
          </a:xfrm>
          <a:prstGeom prst="rect">
            <a:avLst/>
          </a:prstGeom>
        </p:spPr>
        <p:txBody>
          <a:bodyPr spcFirstLastPara="1" vert="horz" wrap="square" lIns="121900" tIns="121900" rIns="121900" bIns="121900" spcCol="365760" rtlCol="0" anchor="t" anchorCtr="0">
            <a:normAutofit/>
          </a:bodyPr>
          <a:lstStyle/>
          <a:p>
            <a:pPr marL="0" indent="0">
              <a:buNone/>
            </a:pPr>
            <a:r>
              <a:rPr lang="en" sz="3333" b="1" u="sng"/>
              <a:t>Problem 2 Assessment</a:t>
            </a:r>
            <a:endParaRPr sz="3333" b="1" u="sng"/>
          </a:p>
          <a:p>
            <a:pPr marL="0" indent="0">
              <a:spcBef>
                <a:spcPts val="1600"/>
              </a:spcBef>
              <a:buNone/>
            </a:pPr>
            <a:endParaRPr/>
          </a:p>
          <a:p>
            <a:pPr marL="0" indent="0">
              <a:spcBef>
                <a:spcPts val="1600"/>
              </a:spcBef>
              <a:spcAft>
                <a:spcPts val="1600"/>
              </a:spcAft>
              <a:buNone/>
            </a:pPr>
            <a:endParaRPr/>
          </a:p>
        </p:txBody>
      </p:sp>
      <p:graphicFrame>
        <p:nvGraphicFramePr>
          <p:cNvPr id="76" name="Google Shape;76;p17"/>
          <p:cNvGraphicFramePr/>
          <p:nvPr/>
        </p:nvGraphicFramePr>
        <p:xfrm>
          <a:off x="1270000" y="1497933"/>
          <a:ext cx="9652000" cy="3916440"/>
        </p:xfrm>
        <a:graphic>
          <a:graphicData uri="http://schemas.openxmlformats.org/drawingml/2006/table">
            <a:tbl>
              <a:tblPr>
                <a:noFill/>
              </a:tblPr>
              <a:tblGrid>
                <a:gridCol w="1303533">
                  <a:extLst>
                    <a:ext uri="{9D8B030D-6E8A-4147-A177-3AD203B41FA5}">
                      <a16:colId xmlns:a16="http://schemas.microsoft.com/office/drawing/2014/main" val="20000"/>
                    </a:ext>
                  </a:extLst>
                </a:gridCol>
                <a:gridCol w="8348467">
                  <a:extLst>
                    <a:ext uri="{9D8B030D-6E8A-4147-A177-3AD203B41FA5}">
                      <a16:colId xmlns:a16="http://schemas.microsoft.com/office/drawing/2014/main" val="20001"/>
                    </a:ext>
                  </a:extLst>
                </a:gridCol>
              </a:tblGrid>
              <a:tr h="589240">
                <a:tc>
                  <a:txBody>
                    <a:bodyPr/>
                    <a:lstStyle/>
                    <a:p>
                      <a:pPr marL="0" lvl="0" indent="0" algn="l" rtl="0">
                        <a:spcBef>
                          <a:spcPts val="0"/>
                        </a:spcBef>
                        <a:spcAft>
                          <a:spcPts val="0"/>
                        </a:spcAft>
                        <a:buNone/>
                      </a:pPr>
                      <a:r>
                        <a:rPr lang="en" sz="2300"/>
                        <a:t>Grade</a:t>
                      </a:r>
                      <a:endParaRPr sz="2300"/>
                    </a:p>
                  </a:txBody>
                  <a:tcPr marL="121900" marR="121900" marT="121900" marB="121900"/>
                </a:tc>
                <a:tc>
                  <a:txBody>
                    <a:bodyPr/>
                    <a:lstStyle/>
                    <a:p>
                      <a:pPr marL="0" lvl="0" indent="0" algn="l" rtl="0">
                        <a:spcBef>
                          <a:spcPts val="0"/>
                        </a:spcBef>
                        <a:spcAft>
                          <a:spcPts val="0"/>
                        </a:spcAft>
                        <a:buNone/>
                      </a:pPr>
                      <a:r>
                        <a:rPr lang="en" sz="2300"/>
                        <a:t>Criteria</a:t>
                      </a:r>
                      <a:endParaRPr sz="2300"/>
                    </a:p>
                  </a:txBody>
                  <a:tcPr marL="121900" marR="121900" marT="121900" marB="121900"/>
                </a:tc>
                <a:extLst>
                  <a:ext uri="{0D108BD9-81ED-4DB2-BD59-A6C34878D82A}">
                    <a16:rowId xmlns:a16="http://schemas.microsoft.com/office/drawing/2014/main" val="10000"/>
                  </a:ext>
                </a:extLst>
              </a:tr>
              <a:tr h="589240">
                <a:tc>
                  <a:txBody>
                    <a:bodyPr/>
                    <a:lstStyle/>
                    <a:p>
                      <a:pPr marL="0" lvl="0" indent="0" algn="l" rtl="0">
                        <a:spcBef>
                          <a:spcPts val="0"/>
                        </a:spcBef>
                        <a:spcAft>
                          <a:spcPts val="0"/>
                        </a:spcAft>
                        <a:buNone/>
                      </a:pPr>
                      <a:r>
                        <a:rPr lang="en" sz="2300"/>
                        <a:t>D</a:t>
                      </a:r>
                      <a:endParaRPr sz="2300"/>
                    </a:p>
                  </a:txBody>
                  <a:tcPr marL="121900" marR="121900" marT="121900" marB="121900"/>
                </a:tc>
                <a:tc>
                  <a:txBody>
                    <a:bodyPr/>
                    <a:lstStyle/>
                    <a:p>
                      <a:pPr marL="0" lvl="0" indent="0" algn="l" rtl="0">
                        <a:spcBef>
                          <a:spcPts val="0"/>
                        </a:spcBef>
                        <a:spcAft>
                          <a:spcPts val="0"/>
                        </a:spcAft>
                        <a:buNone/>
                      </a:pPr>
                      <a:r>
                        <a:rPr lang="en" sz="2300"/>
                        <a:t>You correctly solve the given deal</a:t>
                      </a:r>
                      <a:endParaRPr sz="2300"/>
                    </a:p>
                  </a:txBody>
                  <a:tcPr marL="121900" marR="121900" marT="121900" marB="121900"/>
                </a:tc>
                <a:extLst>
                  <a:ext uri="{0D108BD9-81ED-4DB2-BD59-A6C34878D82A}">
                    <a16:rowId xmlns:a16="http://schemas.microsoft.com/office/drawing/2014/main" val="10001"/>
                  </a:ext>
                </a:extLst>
              </a:tr>
              <a:tr h="589240">
                <a:tc>
                  <a:txBody>
                    <a:bodyPr/>
                    <a:lstStyle/>
                    <a:p>
                      <a:pPr marL="0" lvl="0" indent="0" algn="l" rtl="0">
                        <a:spcBef>
                          <a:spcPts val="0"/>
                        </a:spcBef>
                        <a:spcAft>
                          <a:spcPts val="0"/>
                        </a:spcAft>
                        <a:buNone/>
                      </a:pPr>
                      <a:r>
                        <a:rPr lang="en" sz="2300"/>
                        <a:t>C</a:t>
                      </a:r>
                      <a:endParaRPr sz="2300"/>
                    </a:p>
                  </a:txBody>
                  <a:tcPr marL="121900" marR="121900" marT="121900" marB="121900"/>
                </a:tc>
                <a:tc>
                  <a:txBody>
                    <a:bodyPr/>
                    <a:lstStyle/>
                    <a:p>
                      <a:pPr marL="0" lvl="0" indent="0" algn="l" rtl="0">
                        <a:spcBef>
                          <a:spcPts val="0"/>
                        </a:spcBef>
                        <a:spcAft>
                          <a:spcPts val="0"/>
                        </a:spcAft>
                        <a:buNone/>
                      </a:pPr>
                      <a:r>
                        <a:rPr lang="en" sz="2300"/>
                        <a:t>You write a function to determine price per in squared.</a:t>
                      </a:r>
                      <a:endParaRPr sz="2300"/>
                    </a:p>
                  </a:txBody>
                  <a:tcPr marL="121900" marR="121900" marT="121900" marB="121900"/>
                </a:tc>
                <a:extLst>
                  <a:ext uri="{0D108BD9-81ED-4DB2-BD59-A6C34878D82A}">
                    <a16:rowId xmlns:a16="http://schemas.microsoft.com/office/drawing/2014/main" val="10002"/>
                  </a:ext>
                </a:extLst>
              </a:tr>
              <a:tr h="589240">
                <a:tc>
                  <a:txBody>
                    <a:bodyPr/>
                    <a:lstStyle/>
                    <a:p>
                      <a:pPr marL="0" lvl="0" indent="0" algn="l" rtl="0">
                        <a:spcBef>
                          <a:spcPts val="0"/>
                        </a:spcBef>
                        <a:spcAft>
                          <a:spcPts val="0"/>
                        </a:spcAft>
                        <a:buNone/>
                      </a:pPr>
                      <a:r>
                        <a:rPr lang="en" sz="2300"/>
                        <a:t>B</a:t>
                      </a:r>
                      <a:endParaRPr sz="2300"/>
                    </a:p>
                  </a:txBody>
                  <a:tcPr marL="121900" marR="121900" marT="121900" marB="121900"/>
                </a:tc>
                <a:tc>
                  <a:txBody>
                    <a:bodyPr/>
                    <a:lstStyle/>
                    <a:p>
                      <a:pPr marL="0" lvl="0" indent="0" algn="l" rtl="0">
                        <a:spcBef>
                          <a:spcPts val="0"/>
                        </a:spcBef>
                        <a:spcAft>
                          <a:spcPts val="0"/>
                        </a:spcAft>
                        <a:buNone/>
                      </a:pPr>
                      <a:r>
                        <a:rPr lang="en" sz="2300"/>
                        <a:t>You write a function to compare prices and quantity of pizzas.</a:t>
                      </a:r>
                      <a:endParaRPr sz="2300"/>
                    </a:p>
                  </a:txBody>
                  <a:tcPr marL="121900" marR="121900" marT="121900" marB="121900"/>
                </a:tc>
                <a:extLst>
                  <a:ext uri="{0D108BD9-81ED-4DB2-BD59-A6C34878D82A}">
                    <a16:rowId xmlns:a16="http://schemas.microsoft.com/office/drawing/2014/main" val="10003"/>
                  </a:ext>
                </a:extLst>
              </a:tr>
              <a:tr h="934680">
                <a:tc>
                  <a:txBody>
                    <a:bodyPr/>
                    <a:lstStyle/>
                    <a:p>
                      <a:pPr marL="0" lvl="0" indent="0" algn="l" rtl="0">
                        <a:spcBef>
                          <a:spcPts val="0"/>
                        </a:spcBef>
                        <a:spcAft>
                          <a:spcPts val="0"/>
                        </a:spcAft>
                        <a:buNone/>
                      </a:pPr>
                      <a:r>
                        <a:rPr lang="en" sz="2300"/>
                        <a:t>A</a:t>
                      </a:r>
                      <a:endParaRPr sz="2300"/>
                    </a:p>
                  </a:txBody>
                  <a:tcPr marL="121900" marR="121900" marT="121900" marB="121900"/>
                </a:tc>
                <a:tc>
                  <a:txBody>
                    <a:bodyPr/>
                    <a:lstStyle/>
                    <a:p>
                      <a:pPr marL="0" lvl="0" indent="0" algn="l" rtl="0">
                        <a:spcBef>
                          <a:spcPts val="0"/>
                        </a:spcBef>
                        <a:spcAft>
                          <a:spcPts val="0"/>
                        </a:spcAft>
                        <a:buNone/>
                      </a:pPr>
                      <a:r>
                        <a:rPr lang="en" sz="2300"/>
                        <a:t>Your python script successfully opens webpages based on the outcome.</a:t>
                      </a:r>
                      <a:endParaRPr sz="2300"/>
                    </a:p>
                  </a:txBody>
                  <a:tcPr marL="121900" marR="121900" marT="121900" marB="121900"/>
                </a:tc>
                <a:extLst>
                  <a:ext uri="{0D108BD9-81ED-4DB2-BD59-A6C34878D82A}">
                    <a16:rowId xmlns:a16="http://schemas.microsoft.com/office/drawing/2014/main" val="10004"/>
                  </a:ext>
                </a:extLst>
              </a:tr>
              <a:tr h="589240">
                <a:tc>
                  <a:txBody>
                    <a:bodyPr/>
                    <a:lstStyle/>
                    <a:p>
                      <a:pPr marL="0" lvl="0" indent="0" algn="l" rtl="0">
                        <a:spcBef>
                          <a:spcPts val="0"/>
                        </a:spcBef>
                        <a:spcAft>
                          <a:spcPts val="0"/>
                        </a:spcAft>
                        <a:buNone/>
                      </a:pPr>
                      <a:r>
                        <a:rPr lang="en" sz="2300"/>
                        <a:t>A+</a:t>
                      </a:r>
                      <a:endParaRPr sz="2300"/>
                    </a:p>
                  </a:txBody>
                  <a:tcPr marL="121900" marR="121900" marT="121900" marB="121900"/>
                </a:tc>
                <a:tc>
                  <a:txBody>
                    <a:bodyPr/>
                    <a:lstStyle/>
                    <a:p>
                      <a:pPr marL="0" lvl="0" indent="0" algn="l" rtl="0">
                        <a:spcBef>
                          <a:spcPts val="0"/>
                        </a:spcBef>
                        <a:spcAft>
                          <a:spcPts val="0"/>
                        </a:spcAft>
                        <a:buNone/>
                      </a:pPr>
                      <a:r>
                        <a:rPr lang="en" sz="2300"/>
                        <a:t>Added ASCII Art</a:t>
                      </a:r>
                      <a:endParaRPr sz="2300"/>
                    </a:p>
                  </a:txBody>
                  <a:tcPr marL="121900" marR="121900" marT="121900" marB="121900"/>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5B1A7-8E0E-589E-EB86-60B4773E0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1A3DAE-54C2-F616-33A3-63FF6D72FBE3}"/>
              </a:ext>
            </a:extLst>
          </p:cNvPr>
          <p:cNvSpPr>
            <a:spLocks noGrp="1"/>
          </p:cNvSpPr>
          <p:nvPr>
            <p:ph type="title"/>
          </p:nvPr>
        </p:nvSpPr>
        <p:spPr>
          <a:xfrm>
            <a:off x="2793283" y="1181186"/>
            <a:ext cx="7053360" cy="780276"/>
          </a:xfrm>
        </p:spPr>
        <p:txBody>
          <a:bodyPr/>
          <a:lstStyle/>
          <a:p>
            <a:r>
              <a:rPr lang="en-US" dirty="0"/>
              <a:t>Let’s make this a function:</a:t>
            </a:r>
          </a:p>
        </p:txBody>
      </p:sp>
      <p:pic>
        <p:nvPicPr>
          <p:cNvPr id="3" name="Picture 2" descr="The compound interest formula: A = P(1 + r/n)^nt">
            <a:extLst>
              <a:ext uri="{FF2B5EF4-FFF2-40B4-BE49-F238E27FC236}">
                <a16:creationId xmlns:a16="http://schemas.microsoft.com/office/drawing/2014/main" id="{28EB7F59-C3C8-A0C1-2E1A-91BCEE397C42}"/>
              </a:ext>
            </a:extLst>
          </p:cNvPr>
          <p:cNvPicPr>
            <a:picLocks noChangeAspect="1"/>
          </p:cNvPicPr>
          <p:nvPr/>
        </p:nvPicPr>
        <p:blipFill>
          <a:blip r:embed="rId3"/>
          <a:stretch>
            <a:fillRect/>
          </a:stretch>
        </p:blipFill>
        <p:spPr>
          <a:xfrm>
            <a:off x="3704565" y="1851046"/>
            <a:ext cx="3956700" cy="2154880"/>
          </a:xfrm>
          <a:prstGeom prst="rect">
            <a:avLst/>
          </a:prstGeom>
        </p:spPr>
      </p:pic>
      <p:graphicFrame>
        <p:nvGraphicFramePr>
          <p:cNvPr id="4" name="Table 3">
            <a:extLst>
              <a:ext uri="{FF2B5EF4-FFF2-40B4-BE49-F238E27FC236}">
                <a16:creationId xmlns:a16="http://schemas.microsoft.com/office/drawing/2014/main" id="{09D2CF20-5FF3-CF01-AD9F-9B2D15DA2168}"/>
              </a:ext>
            </a:extLst>
          </p:cNvPr>
          <p:cNvGraphicFramePr>
            <a:graphicFrameLocks noGrp="1"/>
          </p:cNvGraphicFramePr>
          <p:nvPr>
            <p:extLst>
              <p:ext uri="{D42A27DB-BD31-4B8C-83A1-F6EECF244321}">
                <p14:modId xmlns:p14="http://schemas.microsoft.com/office/powerpoint/2010/main" val="1262173274"/>
              </p:ext>
            </p:extLst>
          </p:nvPr>
        </p:nvGraphicFramePr>
        <p:xfrm>
          <a:off x="423511" y="4153514"/>
          <a:ext cx="10518809" cy="2438400"/>
        </p:xfrm>
        <a:graphic>
          <a:graphicData uri="http://schemas.openxmlformats.org/drawingml/2006/table">
            <a:tbl>
              <a:tblPr firstRow="1" bandRow="1">
                <a:tableStyleId>{5C22544A-7EE6-4342-B048-85BDC9FD1C3A}</a:tableStyleId>
              </a:tblPr>
              <a:tblGrid>
                <a:gridCol w="1753135">
                  <a:extLst>
                    <a:ext uri="{9D8B030D-6E8A-4147-A177-3AD203B41FA5}">
                      <a16:colId xmlns:a16="http://schemas.microsoft.com/office/drawing/2014/main" val="1599770990"/>
                    </a:ext>
                  </a:extLst>
                </a:gridCol>
                <a:gridCol w="1753135">
                  <a:extLst>
                    <a:ext uri="{9D8B030D-6E8A-4147-A177-3AD203B41FA5}">
                      <a16:colId xmlns:a16="http://schemas.microsoft.com/office/drawing/2014/main" val="2076677805"/>
                    </a:ext>
                  </a:extLst>
                </a:gridCol>
                <a:gridCol w="1753135">
                  <a:extLst>
                    <a:ext uri="{9D8B030D-6E8A-4147-A177-3AD203B41FA5}">
                      <a16:colId xmlns:a16="http://schemas.microsoft.com/office/drawing/2014/main" val="4293853211"/>
                    </a:ext>
                  </a:extLst>
                </a:gridCol>
                <a:gridCol w="1992087">
                  <a:extLst>
                    <a:ext uri="{9D8B030D-6E8A-4147-A177-3AD203B41FA5}">
                      <a16:colId xmlns:a16="http://schemas.microsoft.com/office/drawing/2014/main" val="2141661481"/>
                    </a:ext>
                  </a:extLst>
                </a:gridCol>
                <a:gridCol w="1514182">
                  <a:extLst>
                    <a:ext uri="{9D8B030D-6E8A-4147-A177-3AD203B41FA5}">
                      <a16:colId xmlns:a16="http://schemas.microsoft.com/office/drawing/2014/main" val="1863223125"/>
                    </a:ext>
                  </a:extLst>
                </a:gridCol>
                <a:gridCol w="1753135">
                  <a:extLst>
                    <a:ext uri="{9D8B030D-6E8A-4147-A177-3AD203B41FA5}">
                      <a16:colId xmlns:a16="http://schemas.microsoft.com/office/drawing/2014/main" val="2610029996"/>
                    </a:ext>
                  </a:extLst>
                </a:gridCol>
              </a:tblGrid>
              <a:tr h="269217">
                <a:tc>
                  <a:txBody>
                    <a:bodyPr/>
                    <a:lstStyle/>
                    <a:p>
                      <a:r>
                        <a:rPr lang="en-US" dirty="0"/>
                        <a:t>Desc.</a:t>
                      </a:r>
                    </a:p>
                  </a:txBody>
                  <a:tcPr/>
                </a:tc>
                <a:tc>
                  <a:txBody>
                    <a:bodyPr/>
                    <a:lstStyle/>
                    <a:p>
                      <a:r>
                        <a:rPr lang="en-US" dirty="0"/>
                        <a:t>Principal</a:t>
                      </a:r>
                    </a:p>
                  </a:txBody>
                  <a:tcPr/>
                </a:tc>
                <a:tc>
                  <a:txBody>
                    <a:bodyPr/>
                    <a:lstStyle/>
                    <a:p>
                      <a:r>
                        <a:rPr lang="en-US" dirty="0"/>
                        <a:t>Rate</a:t>
                      </a:r>
                    </a:p>
                  </a:txBody>
                  <a:tcPr/>
                </a:tc>
                <a:tc>
                  <a:txBody>
                    <a:bodyPr/>
                    <a:lstStyle/>
                    <a:p>
                      <a:r>
                        <a:rPr lang="en-US" dirty="0"/>
                        <a:t># of times compounded annually</a:t>
                      </a:r>
                    </a:p>
                  </a:txBody>
                  <a:tcPr/>
                </a:tc>
                <a:tc>
                  <a:txBody>
                    <a:bodyPr/>
                    <a:lstStyle/>
                    <a:p>
                      <a:r>
                        <a:rPr lang="en-US" dirty="0"/>
                        <a:t>Years</a:t>
                      </a:r>
                    </a:p>
                  </a:txBody>
                  <a:tcPr/>
                </a:tc>
                <a:tc>
                  <a:txBody>
                    <a:bodyPr/>
                    <a:lstStyle/>
                    <a:p>
                      <a:r>
                        <a:rPr lang="en-US" dirty="0"/>
                        <a:t>Output</a:t>
                      </a:r>
                    </a:p>
                  </a:txBody>
                  <a:tcPr/>
                </a:tc>
                <a:extLst>
                  <a:ext uri="{0D108BD9-81ED-4DB2-BD59-A6C34878D82A}">
                    <a16:rowId xmlns:a16="http://schemas.microsoft.com/office/drawing/2014/main" val="3444101573"/>
                  </a:ext>
                </a:extLst>
              </a:tr>
              <a:tr h="269217">
                <a:tc>
                  <a:txBody>
                    <a:bodyPr/>
                    <a:lstStyle/>
                    <a:p>
                      <a:r>
                        <a:rPr lang="en-US" dirty="0"/>
                        <a:t>Normal Savings Account</a:t>
                      </a:r>
                    </a:p>
                  </a:txBody>
                  <a:tcPr/>
                </a:tc>
                <a:tc>
                  <a:txBody>
                    <a:bodyPr/>
                    <a:lstStyle/>
                    <a:p>
                      <a:r>
                        <a:rPr lang="en-US" dirty="0"/>
                        <a:t>1000</a:t>
                      </a:r>
                    </a:p>
                  </a:txBody>
                  <a:tcPr/>
                </a:tc>
                <a:tc>
                  <a:txBody>
                    <a:bodyPr/>
                    <a:lstStyle/>
                    <a:p>
                      <a:r>
                        <a:rPr lang="en-US" dirty="0"/>
                        <a:t>0.0061</a:t>
                      </a:r>
                    </a:p>
                  </a:txBody>
                  <a:tcPr/>
                </a:tc>
                <a:tc>
                  <a:txBody>
                    <a:bodyPr/>
                    <a:lstStyle/>
                    <a:p>
                      <a:r>
                        <a:rPr lang="en-US" dirty="0"/>
                        <a:t>1</a:t>
                      </a:r>
                    </a:p>
                  </a:txBody>
                  <a:tcPr/>
                </a:tc>
                <a:tc>
                  <a:txBody>
                    <a:bodyPr/>
                    <a:lstStyle/>
                    <a:p>
                      <a:r>
                        <a:rPr lang="en-US" dirty="0"/>
                        <a:t>10</a:t>
                      </a:r>
                    </a:p>
                  </a:txBody>
                  <a:tcPr/>
                </a:tc>
                <a:tc>
                  <a:txBody>
                    <a:bodyPr/>
                    <a:lstStyle/>
                    <a:p>
                      <a:r>
                        <a:rPr lang="en-US" dirty="0"/>
                        <a:t>$1062.70</a:t>
                      </a:r>
                    </a:p>
                  </a:txBody>
                  <a:tcPr/>
                </a:tc>
                <a:extLst>
                  <a:ext uri="{0D108BD9-81ED-4DB2-BD59-A6C34878D82A}">
                    <a16:rowId xmlns:a16="http://schemas.microsoft.com/office/drawing/2014/main" val="2415867046"/>
                  </a:ext>
                </a:extLst>
              </a:tr>
              <a:tr h="269217">
                <a:tc>
                  <a:txBody>
                    <a:bodyPr/>
                    <a:lstStyle/>
                    <a:p>
                      <a:r>
                        <a:rPr lang="en-US" dirty="0"/>
                        <a:t>Money Market Account (Amex)</a:t>
                      </a:r>
                    </a:p>
                  </a:txBody>
                  <a:tcPr/>
                </a:tc>
                <a:tc>
                  <a:txBody>
                    <a:bodyPr/>
                    <a:lstStyle/>
                    <a:p>
                      <a:r>
                        <a:rPr lang="en-US" dirty="0"/>
                        <a:t>1000</a:t>
                      </a:r>
                    </a:p>
                  </a:txBody>
                  <a:tcPr/>
                </a:tc>
                <a:tc>
                  <a:txBody>
                    <a:bodyPr/>
                    <a:lstStyle/>
                    <a:p>
                      <a:r>
                        <a:rPr lang="en-US" dirty="0"/>
                        <a:t>0.031</a:t>
                      </a:r>
                    </a:p>
                  </a:txBody>
                  <a:tcPr/>
                </a:tc>
                <a:tc>
                  <a:txBody>
                    <a:bodyPr/>
                    <a:lstStyle/>
                    <a:p>
                      <a:r>
                        <a:rPr lang="en-US" dirty="0"/>
                        <a:t>1</a:t>
                      </a:r>
                    </a:p>
                  </a:txBody>
                  <a:tcPr/>
                </a:tc>
                <a:tc>
                  <a:txBody>
                    <a:bodyPr/>
                    <a:lstStyle/>
                    <a:p>
                      <a:r>
                        <a:rPr lang="en-US" dirty="0"/>
                        <a:t>10</a:t>
                      </a:r>
                    </a:p>
                  </a:txBody>
                  <a:tcPr/>
                </a:tc>
                <a:tc>
                  <a:txBody>
                    <a:bodyPr/>
                    <a:lstStyle/>
                    <a:p>
                      <a:r>
                        <a:rPr lang="en-US" dirty="0"/>
                        <a:t>$1357.02</a:t>
                      </a:r>
                    </a:p>
                  </a:txBody>
                  <a:tcPr/>
                </a:tc>
                <a:extLst>
                  <a:ext uri="{0D108BD9-81ED-4DB2-BD59-A6C34878D82A}">
                    <a16:rowId xmlns:a16="http://schemas.microsoft.com/office/drawing/2014/main" val="3427481328"/>
                  </a:ext>
                </a:extLst>
              </a:tr>
              <a:tr h="269217">
                <a:tc>
                  <a:txBody>
                    <a:bodyPr/>
                    <a:lstStyle/>
                    <a:p>
                      <a:r>
                        <a:rPr lang="en-US" dirty="0"/>
                        <a:t>Index Fund</a:t>
                      </a:r>
                    </a:p>
                  </a:txBody>
                  <a:tcPr/>
                </a:tc>
                <a:tc>
                  <a:txBody>
                    <a:bodyPr/>
                    <a:lstStyle/>
                    <a:p>
                      <a:r>
                        <a:rPr lang="en-US" dirty="0"/>
                        <a:t>1000</a:t>
                      </a:r>
                    </a:p>
                  </a:txBody>
                  <a:tcPr/>
                </a:tc>
                <a:tc>
                  <a:txBody>
                    <a:bodyPr/>
                    <a:lstStyle/>
                    <a:p>
                      <a:r>
                        <a:rPr lang="en-US" dirty="0"/>
                        <a:t>0.07</a:t>
                      </a:r>
                    </a:p>
                  </a:txBody>
                  <a:tcPr/>
                </a:tc>
                <a:tc>
                  <a:txBody>
                    <a:bodyPr/>
                    <a:lstStyle/>
                    <a:p>
                      <a:r>
                        <a:rPr lang="en-US" dirty="0"/>
                        <a:t>1</a:t>
                      </a:r>
                    </a:p>
                  </a:txBody>
                  <a:tcPr/>
                </a:tc>
                <a:tc>
                  <a:txBody>
                    <a:bodyPr/>
                    <a:lstStyle/>
                    <a:p>
                      <a:r>
                        <a:rPr lang="en-US" dirty="0"/>
                        <a:t>10</a:t>
                      </a:r>
                    </a:p>
                  </a:txBody>
                  <a:tcPr/>
                </a:tc>
                <a:tc>
                  <a:txBody>
                    <a:bodyPr/>
                    <a:lstStyle/>
                    <a:p>
                      <a:r>
                        <a:rPr lang="en-US" dirty="0"/>
                        <a:t>$1967.15</a:t>
                      </a:r>
                    </a:p>
                  </a:txBody>
                  <a:tcPr/>
                </a:tc>
                <a:extLst>
                  <a:ext uri="{0D108BD9-81ED-4DB2-BD59-A6C34878D82A}">
                    <a16:rowId xmlns:a16="http://schemas.microsoft.com/office/drawing/2014/main" val="3484013442"/>
                  </a:ext>
                </a:extLst>
              </a:tr>
            </a:tbl>
          </a:graphicData>
        </a:graphic>
      </p:graphicFrame>
      <p:sp>
        <p:nvSpPr>
          <p:cNvPr id="6" name="TextBox 5">
            <a:extLst>
              <a:ext uri="{FF2B5EF4-FFF2-40B4-BE49-F238E27FC236}">
                <a16:creationId xmlns:a16="http://schemas.microsoft.com/office/drawing/2014/main" id="{18F9CE0F-A31D-0778-0E05-B216B09F4DA2}"/>
              </a:ext>
            </a:extLst>
          </p:cNvPr>
          <p:cNvSpPr txBox="1"/>
          <p:nvPr/>
        </p:nvSpPr>
        <p:spPr>
          <a:xfrm>
            <a:off x="222359" y="201022"/>
            <a:ext cx="6097604" cy="369332"/>
          </a:xfrm>
          <a:prstGeom prst="rect">
            <a:avLst/>
          </a:prstGeom>
          <a:noFill/>
        </p:spPr>
        <p:txBody>
          <a:bodyPr wrap="square">
            <a:spAutoFit/>
          </a:bodyPr>
          <a:lstStyle/>
          <a:p>
            <a:pPr marL="0" indent="0">
              <a:buNone/>
            </a:pPr>
            <a:r>
              <a:rPr lang="en-US" sz="1800" b="1" u="sng" dirty="0"/>
              <a:t>Pre Class Problem 3 – A simple function (20 min)</a:t>
            </a:r>
          </a:p>
        </p:txBody>
      </p:sp>
    </p:spTree>
    <p:extLst>
      <p:ext uri="{BB962C8B-B14F-4D97-AF65-F5344CB8AC3E}">
        <p14:creationId xmlns:p14="http://schemas.microsoft.com/office/powerpoint/2010/main" val="318040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4430-1F71-D899-34E4-0D4105CCE823}"/>
              </a:ext>
            </a:extLst>
          </p:cNvPr>
          <p:cNvSpPr>
            <a:spLocks noGrp="1"/>
          </p:cNvSpPr>
          <p:nvPr>
            <p:ph type="title"/>
          </p:nvPr>
        </p:nvSpPr>
        <p:spPr/>
        <p:txBody>
          <a:bodyPr/>
          <a:lstStyle/>
          <a:p>
            <a:r>
              <a:rPr lang="en-US" dirty="0"/>
              <a:t>Today’s Lesson Objectives</a:t>
            </a:r>
          </a:p>
        </p:txBody>
      </p:sp>
      <p:sp>
        <p:nvSpPr>
          <p:cNvPr id="3" name="Content Placeholder 2">
            <a:extLst>
              <a:ext uri="{FF2B5EF4-FFF2-40B4-BE49-F238E27FC236}">
                <a16:creationId xmlns:a16="http://schemas.microsoft.com/office/drawing/2014/main" id="{E76FF94A-3BCA-070D-C682-367F5F0F327C}"/>
              </a:ext>
            </a:extLst>
          </p:cNvPr>
          <p:cNvSpPr>
            <a:spLocks noGrp="1"/>
          </p:cNvSpPr>
          <p:nvPr>
            <p:ph type="body" sz="quarter" idx="11"/>
          </p:nvPr>
        </p:nvSpPr>
        <p:spPr/>
        <p:txBody>
          <a:bodyPr/>
          <a:lstStyle/>
          <a:p>
            <a:pPr marL="457200" indent="-457200">
              <a:buFont typeface="Arial" panose="020B0604020202020204" pitchFamily="34" charset="0"/>
              <a:buChar char="•"/>
            </a:pPr>
            <a:r>
              <a:rPr lang="en-US" dirty="0"/>
              <a:t>Utilize the </a:t>
            </a:r>
            <a:r>
              <a:rPr lang="en-US" dirty="0" err="1"/>
              <a:t>os</a:t>
            </a:r>
            <a:r>
              <a:rPr lang="en-US" dirty="0"/>
              <a:t> and </a:t>
            </a:r>
            <a:r>
              <a:rPr lang="en-US" dirty="0" err="1"/>
              <a:t>pathlib.Path</a:t>
            </a:r>
            <a:r>
              <a:rPr lang="en-US" dirty="0"/>
              <a:t> modules to navigate a filesystem</a:t>
            </a:r>
          </a:p>
          <a:p>
            <a:pPr marL="457200" indent="-457200">
              <a:buFont typeface="Arial" panose="020B0604020202020204" pitchFamily="34" charset="0"/>
              <a:buChar char="•"/>
            </a:pPr>
            <a:r>
              <a:rPr lang="en-US" dirty="0"/>
              <a:t>Utilize standard python functions to manipulate files</a:t>
            </a:r>
          </a:p>
        </p:txBody>
      </p:sp>
    </p:spTree>
    <p:extLst>
      <p:ext uri="{BB962C8B-B14F-4D97-AF65-F5344CB8AC3E}">
        <p14:creationId xmlns:p14="http://schemas.microsoft.com/office/powerpoint/2010/main" val="3616642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09D6BAA-9655-19E9-C6CF-82D4EC658E94}"/>
              </a:ext>
            </a:extLst>
          </p:cNvPr>
          <p:cNvSpPr>
            <a:spLocks noGrp="1"/>
          </p:cNvSpPr>
          <p:nvPr>
            <p:ph type="title"/>
          </p:nvPr>
        </p:nvSpPr>
        <p:spPr/>
        <p:txBody>
          <a:bodyPr/>
          <a:lstStyle/>
          <a:p>
            <a:r>
              <a:rPr lang="en-US" dirty="0"/>
              <a:t>OS module</a:t>
            </a:r>
          </a:p>
        </p:txBody>
      </p:sp>
      <p:sp>
        <p:nvSpPr>
          <p:cNvPr id="3" name="TextBox 2">
            <a:extLst>
              <a:ext uri="{FF2B5EF4-FFF2-40B4-BE49-F238E27FC236}">
                <a16:creationId xmlns:a16="http://schemas.microsoft.com/office/drawing/2014/main" id="{CBEAAC7B-2455-0DE6-A3BC-5EE8916C5C2B}"/>
              </a:ext>
            </a:extLst>
          </p:cNvPr>
          <p:cNvSpPr txBox="1"/>
          <p:nvPr/>
        </p:nvSpPr>
        <p:spPr>
          <a:xfrm>
            <a:off x="1568919" y="2644170"/>
            <a:ext cx="9452008" cy="1569660"/>
          </a:xfrm>
          <a:prstGeom prst="rect">
            <a:avLst/>
          </a:prstGeom>
          <a:noFill/>
        </p:spPr>
        <p:txBody>
          <a:bodyPr wrap="square">
            <a:spAutoFit/>
          </a:bodyPr>
          <a:lstStyle/>
          <a:p>
            <a:pPr>
              <a:buNone/>
            </a:pPr>
            <a:r>
              <a:rPr lang="en-US" sz="2400" dirty="0">
                <a:effectLst/>
              </a:rPr>
              <a:t>The </a:t>
            </a:r>
            <a:r>
              <a:rPr lang="en-US" sz="2400" dirty="0" err="1">
                <a:effectLst/>
                <a:latin typeface="Courier New" panose="02070309020205020404" pitchFamily="49" charset="0"/>
              </a:rPr>
              <a:t>os</a:t>
            </a:r>
            <a:r>
              <a:rPr lang="en-US" sz="2400" dirty="0">
                <a:effectLst/>
              </a:rPr>
              <a:t> module in Python provides a way to interact with the operating system. It offers a portable interface for OS-dependent functionality, meaning your code can work across different platforms (Windows, macOS, Linux) without major changes.</a:t>
            </a:r>
          </a:p>
        </p:txBody>
      </p:sp>
    </p:spTree>
    <p:extLst>
      <p:ext uri="{BB962C8B-B14F-4D97-AF65-F5344CB8AC3E}">
        <p14:creationId xmlns:p14="http://schemas.microsoft.com/office/powerpoint/2010/main" val="3047554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123D4-A2D3-08B3-B783-E6FB22AECF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382CB0-BFDC-BF66-27C5-CBF3BC856296}"/>
              </a:ext>
            </a:extLst>
          </p:cNvPr>
          <p:cNvSpPr>
            <a:spLocks noGrp="1"/>
          </p:cNvSpPr>
          <p:nvPr>
            <p:ph type="title"/>
          </p:nvPr>
        </p:nvSpPr>
        <p:spPr/>
        <p:txBody>
          <a:bodyPr/>
          <a:lstStyle/>
          <a:p>
            <a:r>
              <a:rPr lang="en-US" dirty="0"/>
              <a:t>OS module</a:t>
            </a:r>
          </a:p>
        </p:txBody>
      </p:sp>
      <p:sp>
        <p:nvSpPr>
          <p:cNvPr id="3" name="TextBox 2">
            <a:extLst>
              <a:ext uri="{FF2B5EF4-FFF2-40B4-BE49-F238E27FC236}">
                <a16:creationId xmlns:a16="http://schemas.microsoft.com/office/drawing/2014/main" id="{01112ADD-1C51-54EA-2E61-795ABC93AAA7}"/>
              </a:ext>
            </a:extLst>
          </p:cNvPr>
          <p:cNvSpPr txBox="1"/>
          <p:nvPr/>
        </p:nvSpPr>
        <p:spPr>
          <a:xfrm>
            <a:off x="548640" y="1163346"/>
            <a:ext cx="9057373" cy="4985980"/>
          </a:xfrm>
          <a:prstGeom prst="rect">
            <a:avLst/>
          </a:prstGeom>
          <a:noFill/>
        </p:spPr>
        <p:txBody>
          <a:bodyPr wrap="square">
            <a:spAutoFit/>
          </a:bodyPr>
          <a:lstStyle/>
          <a:p>
            <a:pPr>
              <a:buNone/>
            </a:pPr>
            <a:r>
              <a:rPr lang="en-US" sz="2000" b="1" dirty="0"/>
              <a:t>Core purposes:</a:t>
            </a:r>
          </a:p>
          <a:p>
            <a:pPr>
              <a:buNone/>
            </a:pPr>
            <a:endParaRPr lang="en-US" sz="2000" dirty="0"/>
          </a:p>
          <a:p>
            <a:pPr>
              <a:buNone/>
            </a:pPr>
            <a:r>
              <a:rPr lang="en-US" sz="2000" b="1" dirty="0"/>
              <a:t>1. File &amp; Directory Operations</a:t>
            </a:r>
            <a:endParaRPr lang="en-US" sz="2000" dirty="0"/>
          </a:p>
          <a:p>
            <a:pPr>
              <a:buFont typeface="Arial" panose="020B0604020202020204" pitchFamily="34" charset="0"/>
              <a:buChar char="•"/>
            </a:pPr>
            <a:r>
              <a:rPr lang="en-US" sz="2000" dirty="0"/>
              <a:t>Create, rename, delete files and directories (</a:t>
            </a:r>
            <a:r>
              <a:rPr lang="en-US" sz="2000" dirty="0" err="1">
                <a:latin typeface="Courier New" panose="02070309020205020404" pitchFamily="49" charset="0"/>
              </a:rPr>
              <a:t>os.mkdir</a:t>
            </a:r>
            <a:r>
              <a:rPr lang="en-US" sz="2000" dirty="0">
                <a:latin typeface="Courier New" panose="02070309020205020404" pitchFamily="49" charset="0"/>
              </a:rPr>
              <a:t>()</a:t>
            </a:r>
            <a:r>
              <a:rPr lang="en-US" sz="2000" dirty="0"/>
              <a:t>, </a:t>
            </a:r>
            <a:r>
              <a:rPr lang="en-US" sz="2000" dirty="0" err="1">
                <a:latin typeface="Courier New" panose="02070309020205020404" pitchFamily="49" charset="0"/>
              </a:rPr>
              <a:t>os.remove</a:t>
            </a:r>
            <a:r>
              <a:rPr lang="en-US" sz="2000" dirty="0">
                <a:latin typeface="Courier New" panose="02070309020205020404" pitchFamily="49" charset="0"/>
              </a:rPr>
              <a:t>()</a:t>
            </a:r>
            <a:r>
              <a:rPr lang="en-US" sz="2000" dirty="0"/>
              <a:t>, </a:t>
            </a:r>
            <a:r>
              <a:rPr lang="en-US" sz="2000" dirty="0" err="1">
                <a:latin typeface="Courier New" panose="02070309020205020404" pitchFamily="49" charset="0"/>
              </a:rPr>
              <a:t>os.rename</a:t>
            </a:r>
            <a:r>
              <a:rPr lang="en-US" sz="2000" dirty="0">
                <a:latin typeface="Courier New" panose="02070309020205020404" pitchFamily="49" charset="0"/>
              </a:rPr>
              <a:t>()</a:t>
            </a:r>
            <a:r>
              <a:rPr lang="en-US" sz="2000" dirty="0"/>
              <a:t>)</a:t>
            </a:r>
          </a:p>
          <a:p>
            <a:pPr>
              <a:buFont typeface="Arial" panose="020B0604020202020204" pitchFamily="34" charset="0"/>
              <a:buChar char="•"/>
            </a:pPr>
            <a:r>
              <a:rPr lang="en-US" sz="2000" dirty="0"/>
              <a:t>List directory contents (</a:t>
            </a:r>
            <a:r>
              <a:rPr lang="en-US" sz="2000" dirty="0" err="1">
                <a:latin typeface="Courier New" panose="02070309020205020404" pitchFamily="49" charset="0"/>
              </a:rPr>
              <a:t>os.listdir</a:t>
            </a:r>
            <a:r>
              <a:rPr lang="en-US" sz="2000" dirty="0">
                <a:latin typeface="Courier New" panose="02070309020205020404" pitchFamily="49" charset="0"/>
              </a:rPr>
              <a:t>()</a:t>
            </a:r>
            <a:r>
              <a:rPr lang="en-US" sz="2000" dirty="0"/>
              <a:t>)</a:t>
            </a:r>
          </a:p>
          <a:p>
            <a:pPr>
              <a:buFont typeface="Arial" panose="020B0604020202020204" pitchFamily="34" charset="0"/>
              <a:buChar char="•"/>
            </a:pPr>
            <a:r>
              <a:rPr lang="en-US" sz="2000" dirty="0"/>
              <a:t>Check if paths exist (</a:t>
            </a:r>
            <a:r>
              <a:rPr lang="en-US" sz="2000" dirty="0" err="1">
                <a:latin typeface="Courier New" panose="02070309020205020404" pitchFamily="49" charset="0"/>
              </a:rPr>
              <a:t>os.path.exists</a:t>
            </a:r>
            <a:r>
              <a:rPr lang="en-US" sz="2000" dirty="0">
                <a:latin typeface="Courier New" panose="02070309020205020404" pitchFamily="49" charset="0"/>
              </a:rPr>
              <a:t>()</a:t>
            </a:r>
            <a:r>
              <a:rPr lang="en-US" sz="2000" dirty="0"/>
              <a:t>)</a:t>
            </a:r>
          </a:p>
          <a:p>
            <a:pPr>
              <a:buFont typeface="Arial" panose="020B0604020202020204" pitchFamily="34" charset="0"/>
              <a:buChar char="•"/>
            </a:pPr>
            <a:endParaRPr lang="en-US" sz="2000" dirty="0"/>
          </a:p>
          <a:p>
            <a:pPr>
              <a:buNone/>
            </a:pPr>
            <a:r>
              <a:rPr lang="en-US" sz="2000" b="1" dirty="0"/>
              <a:t>2. Path Manipulation</a:t>
            </a:r>
            <a:r>
              <a:rPr lang="en-US" sz="2000" dirty="0"/>
              <a:t> (via </a:t>
            </a:r>
            <a:r>
              <a:rPr lang="en-US" sz="2000" dirty="0" err="1">
                <a:latin typeface="Courier New" panose="02070309020205020404" pitchFamily="49" charset="0"/>
              </a:rPr>
              <a:t>os.path</a:t>
            </a:r>
            <a:r>
              <a:rPr lang="en-US" sz="2000" dirty="0"/>
              <a:t>)</a:t>
            </a:r>
          </a:p>
          <a:p>
            <a:pPr>
              <a:buFont typeface="Arial" panose="020B0604020202020204" pitchFamily="34" charset="0"/>
              <a:buChar char="•"/>
            </a:pPr>
            <a:r>
              <a:rPr lang="en-US" sz="2000" dirty="0"/>
              <a:t>Join paths portably: </a:t>
            </a:r>
            <a:r>
              <a:rPr lang="en-US" sz="2000" dirty="0" err="1">
                <a:latin typeface="Courier New" panose="02070309020205020404" pitchFamily="49" charset="0"/>
              </a:rPr>
              <a:t>os.path.join</a:t>
            </a:r>
            <a:r>
              <a:rPr lang="en-US" sz="2000" dirty="0">
                <a:latin typeface="Courier New" panose="02070309020205020404" pitchFamily="49" charset="0"/>
              </a:rPr>
              <a:t>("folder", "file.txt")</a:t>
            </a:r>
            <a:endParaRPr lang="en-US" sz="2000" dirty="0"/>
          </a:p>
          <a:p>
            <a:pPr>
              <a:buFont typeface="Arial" panose="020B0604020202020204" pitchFamily="34" charset="0"/>
              <a:buChar char="•"/>
            </a:pPr>
            <a:r>
              <a:rPr lang="en-US" sz="2000" dirty="0"/>
              <a:t>Split paths, get extensions, get filenames</a:t>
            </a:r>
          </a:p>
          <a:p>
            <a:pPr>
              <a:buFont typeface="Arial" panose="020B0604020202020204" pitchFamily="34" charset="0"/>
              <a:buChar char="•"/>
            </a:pPr>
            <a:r>
              <a:rPr lang="en-US" sz="2000" dirty="0"/>
              <a:t>Get absolute paths: </a:t>
            </a:r>
            <a:r>
              <a:rPr lang="en-US" sz="2000" dirty="0" err="1">
                <a:latin typeface="Courier New" panose="02070309020205020404" pitchFamily="49" charset="0"/>
              </a:rPr>
              <a:t>os.path.abspath</a:t>
            </a:r>
            <a:r>
              <a:rPr lang="en-US" sz="2000" dirty="0">
                <a:latin typeface="Courier New" panose="02070309020205020404" pitchFamily="49" charset="0"/>
              </a:rPr>
              <a:t>()</a:t>
            </a:r>
          </a:p>
          <a:p>
            <a:endParaRPr lang="en-US" sz="2000" dirty="0"/>
          </a:p>
          <a:p>
            <a:pPr>
              <a:buNone/>
            </a:pPr>
            <a:r>
              <a:rPr lang="en-US" sz="2000" b="1" dirty="0"/>
              <a:t>3. Environment Variables</a:t>
            </a:r>
            <a:endParaRPr lang="en-US" sz="2000" dirty="0"/>
          </a:p>
          <a:p>
            <a:pPr>
              <a:buFont typeface="Arial" panose="020B0604020202020204" pitchFamily="34" charset="0"/>
              <a:buChar char="•"/>
            </a:pPr>
            <a:r>
              <a:rPr lang="en-US" sz="2000" dirty="0"/>
              <a:t>Read and set environment variables: </a:t>
            </a:r>
            <a:r>
              <a:rPr lang="en-US" sz="2000" dirty="0" err="1">
                <a:latin typeface="Courier New" panose="02070309020205020404" pitchFamily="49" charset="0"/>
              </a:rPr>
              <a:t>os.environ.get</a:t>
            </a:r>
            <a:r>
              <a:rPr lang="en-US" sz="2000" dirty="0">
                <a:latin typeface="Courier New" panose="02070309020205020404" pitchFamily="49" charset="0"/>
              </a:rPr>
              <a:t>("HOME")</a:t>
            </a:r>
            <a:endParaRPr lang="en-US" sz="2000" dirty="0"/>
          </a:p>
          <a:p>
            <a:pPr>
              <a:buFont typeface="Arial" panose="020B0604020202020204" pitchFamily="34" charset="0"/>
              <a:buChar char="•"/>
            </a:pPr>
            <a:r>
              <a:rPr lang="en-US" sz="2000" dirty="0"/>
              <a:t>Useful for configuration and secrets management</a:t>
            </a:r>
          </a:p>
        </p:txBody>
      </p:sp>
    </p:spTree>
    <p:extLst>
      <p:ext uri="{BB962C8B-B14F-4D97-AF65-F5344CB8AC3E}">
        <p14:creationId xmlns:p14="http://schemas.microsoft.com/office/powerpoint/2010/main" val="1445905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5DB9B-778B-D784-EEFF-499CD72982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05527BD-32A5-B3DE-7772-85311FADB074}"/>
              </a:ext>
            </a:extLst>
          </p:cNvPr>
          <p:cNvSpPr>
            <a:spLocks noGrp="1"/>
          </p:cNvSpPr>
          <p:nvPr>
            <p:ph type="title"/>
          </p:nvPr>
        </p:nvSpPr>
        <p:spPr/>
        <p:txBody>
          <a:bodyPr/>
          <a:lstStyle/>
          <a:p>
            <a:r>
              <a:rPr lang="en-US" dirty="0"/>
              <a:t>OS module</a:t>
            </a:r>
          </a:p>
        </p:txBody>
      </p:sp>
      <p:sp>
        <p:nvSpPr>
          <p:cNvPr id="3" name="TextBox 2">
            <a:extLst>
              <a:ext uri="{FF2B5EF4-FFF2-40B4-BE49-F238E27FC236}">
                <a16:creationId xmlns:a16="http://schemas.microsoft.com/office/drawing/2014/main" id="{F5CA9FAD-4092-3AAA-0B79-C624B685B9F4}"/>
              </a:ext>
            </a:extLst>
          </p:cNvPr>
          <p:cNvSpPr txBox="1"/>
          <p:nvPr/>
        </p:nvSpPr>
        <p:spPr>
          <a:xfrm>
            <a:off x="548640" y="1432853"/>
            <a:ext cx="9057373" cy="4401205"/>
          </a:xfrm>
          <a:prstGeom prst="rect">
            <a:avLst/>
          </a:prstGeom>
          <a:noFill/>
        </p:spPr>
        <p:txBody>
          <a:bodyPr wrap="square">
            <a:spAutoFit/>
          </a:bodyPr>
          <a:lstStyle/>
          <a:p>
            <a:pPr>
              <a:buNone/>
            </a:pPr>
            <a:r>
              <a:rPr lang="en-US" sz="2000" b="1" dirty="0"/>
              <a:t>3. Environment Variables</a:t>
            </a:r>
            <a:endParaRPr lang="en-US" sz="2000" dirty="0"/>
          </a:p>
          <a:p>
            <a:pPr>
              <a:buFont typeface="Arial" panose="020B0604020202020204" pitchFamily="34" charset="0"/>
              <a:buChar char="•"/>
            </a:pPr>
            <a:r>
              <a:rPr lang="en-US" sz="2000" dirty="0"/>
              <a:t>Read and set environment variables: </a:t>
            </a:r>
            <a:r>
              <a:rPr lang="en-US" sz="2000" dirty="0" err="1">
                <a:latin typeface="Courier New" panose="02070309020205020404" pitchFamily="49" charset="0"/>
              </a:rPr>
              <a:t>os.environ.get</a:t>
            </a:r>
            <a:r>
              <a:rPr lang="en-US" sz="2000" dirty="0">
                <a:latin typeface="Courier New" panose="02070309020205020404" pitchFamily="49" charset="0"/>
              </a:rPr>
              <a:t>("HOME")</a:t>
            </a:r>
            <a:endParaRPr lang="en-US" sz="2000" dirty="0"/>
          </a:p>
          <a:p>
            <a:pPr>
              <a:buFont typeface="Arial" panose="020B0604020202020204" pitchFamily="34" charset="0"/>
              <a:buChar char="•"/>
            </a:pPr>
            <a:r>
              <a:rPr lang="en-US" sz="2000" dirty="0"/>
              <a:t>Useful for configuration and secrets management</a:t>
            </a:r>
          </a:p>
          <a:p>
            <a:endParaRPr lang="en-US" sz="2000" dirty="0"/>
          </a:p>
          <a:p>
            <a:pPr>
              <a:buNone/>
            </a:pPr>
            <a:r>
              <a:rPr lang="en-US" sz="2000" b="1" dirty="0"/>
              <a:t>4. Process Management</a:t>
            </a:r>
            <a:endParaRPr lang="en-US" sz="2000" dirty="0"/>
          </a:p>
          <a:p>
            <a:pPr>
              <a:buFont typeface="Arial" panose="020B0604020202020204" pitchFamily="34" charset="0"/>
              <a:buChar char="•"/>
            </a:pPr>
            <a:r>
              <a:rPr lang="en-US" sz="2000" dirty="0"/>
              <a:t>Get the current process ID: </a:t>
            </a:r>
            <a:r>
              <a:rPr lang="en-US" sz="2000" dirty="0" err="1">
                <a:latin typeface="Courier New" panose="02070309020205020404" pitchFamily="49" charset="0"/>
              </a:rPr>
              <a:t>os.getpid</a:t>
            </a:r>
            <a:r>
              <a:rPr lang="en-US" sz="2000" dirty="0">
                <a:latin typeface="Courier New" panose="02070309020205020404" pitchFamily="49" charset="0"/>
              </a:rPr>
              <a:t>()</a:t>
            </a:r>
            <a:endParaRPr lang="en-US" sz="2000" dirty="0"/>
          </a:p>
          <a:p>
            <a:pPr>
              <a:buFont typeface="Arial" panose="020B0604020202020204" pitchFamily="34" charset="0"/>
              <a:buChar char="•"/>
            </a:pPr>
            <a:r>
              <a:rPr lang="en-US" sz="2000" dirty="0"/>
              <a:t>Run shell commands: </a:t>
            </a:r>
            <a:r>
              <a:rPr lang="en-US" sz="2000" dirty="0" err="1">
                <a:latin typeface="Courier New" panose="02070309020205020404" pitchFamily="49" charset="0"/>
              </a:rPr>
              <a:t>os.system</a:t>
            </a:r>
            <a:r>
              <a:rPr lang="en-US" sz="2000" dirty="0">
                <a:latin typeface="Courier New" panose="02070309020205020404" pitchFamily="49" charset="0"/>
              </a:rPr>
              <a:t>("ls")</a:t>
            </a:r>
            <a:endParaRPr lang="en-US" sz="2000" dirty="0"/>
          </a:p>
          <a:p>
            <a:pPr>
              <a:buFont typeface="Arial" panose="020B0604020202020204" pitchFamily="34" charset="0"/>
              <a:buChar char="•"/>
            </a:pPr>
            <a:r>
              <a:rPr lang="en-US" sz="2000" dirty="0"/>
              <a:t>Terminate the process: </a:t>
            </a:r>
            <a:r>
              <a:rPr lang="en-US" sz="2000" dirty="0" err="1">
                <a:latin typeface="Courier New" panose="02070309020205020404" pitchFamily="49" charset="0"/>
              </a:rPr>
              <a:t>os.exit</a:t>
            </a:r>
            <a:r>
              <a:rPr lang="en-US" sz="2000" dirty="0">
                <a:latin typeface="Courier New" panose="02070309020205020404" pitchFamily="49" charset="0"/>
              </a:rPr>
              <a:t>()</a:t>
            </a:r>
          </a:p>
          <a:p>
            <a:endParaRPr lang="en-US" sz="2000" dirty="0"/>
          </a:p>
          <a:p>
            <a:pPr>
              <a:buNone/>
            </a:pPr>
            <a:r>
              <a:rPr lang="en-US" sz="2000" b="1" dirty="0"/>
              <a:t>5. System Information</a:t>
            </a:r>
            <a:endParaRPr lang="en-US" sz="2000" dirty="0"/>
          </a:p>
          <a:p>
            <a:pPr>
              <a:buFont typeface="Arial" panose="020B0604020202020204" pitchFamily="34" charset="0"/>
              <a:buChar char="•"/>
            </a:pPr>
            <a:r>
              <a:rPr lang="en-US" sz="2000" dirty="0"/>
              <a:t>Get the current working directory: </a:t>
            </a:r>
            <a:r>
              <a:rPr lang="en-US" sz="2000" dirty="0" err="1">
                <a:latin typeface="Courier New" panose="02070309020205020404" pitchFamily="49" charset="0"/>
              </a:rPr>
              <a:t>os.getcwd</a:t>
            </a:r>
            <a:r>
              <a:rPr lang="en-US" sz="2000" dirty="0">
                <a:latin typeface="Courier New" panose="02070309020205020404" pitchFamily="49" charset="0"/>
              </a:rPr>
              <a:t>()</a:t>
            </a:r>
            <a:endParaRPr lang="en-US" sz="2000" dirty="0"/>
          </a:p>
          <a:p>
            <a:pPr>
              <a:buFont typeface="Arial" panose="020B0604020202020204" pitchFamily="34" charset="0"/>
              <a:buChar char="•"/>
            </a:pPr>
            <a:r>
              <a:rPr lang="en-US" sz="2000" dirty="0"/>
              <a:t>Change the working directory: </a:t>
            </a:r>
            <a:r>
              <a:rPr lang="en-US" sz="2000" dirty="0" err="1">
                <a:latin typeface="Courier New" panose="02070309020205020404" pitchFamily="49" charset="0"/>
              </a:rPr>
              <a:t>os.chdir</a:t>
            </a:r>
            <a:r>
              <a:rPr lang="en-US" sz="2000" dirty="0">
                <a:latin typeface="Courier New" panose="02070309020205020404" pitchFamily="49" charset="0"/>
              </a:rPr>
              <a:t>()</a:t>
            </a:r>
            <a:endParaRPr lang="en-US" sz="2000" dirty="0"/>
          </a:p>
          <a:p>
            <a:pPr>
              <a:buFont typeface="Arial" panose="020B0604020202020204" pitchFamily="34" charset="0"/>
              <a:buChar char="•"/>
            </a:pPr>
            <a:r>
              <a:rPr lang="en-US" sz="2000" dirty="0"/>
              <a:t>Detect the OS name: </a:t>
            </a:r>
            <a:r>
              <a:rPr lang="en-US" sz="2000" dirty="0">
                <a:latin typeface="Courier New" panose="02070309020205020404" pitchFamily="49" charset="0"/>
              </a:rPr>
              <a:t>os.name</a:t>
            </a:r>
            <a:r>
              <a:rPr lang="en-US" sz="2000" dirty="0"/>
              <a:t> (returns </a:t>
            </a:r>
            <a:r>
              <a:rPr lang="en-US" sz="2000" dirty="0">
                <a:latin typeface="Courier New" panose="02070309020205020404" pitchFamily="49" charset="0"/>
              </a:rPr>
              <a:t>'</a:t>
            </a:r>
            <a:r>
              <a:rPr lang="en-US" sz="2000" dirty="0" err="1">
                <a:latin typeface="Courier New" panose="02070309020205020404" pitchFamily="49" charset="0"/>
              </a:rPr>
              <a:t>nt</a:t>
            </a:r>
            <a:r>
              <a:rPr lang="en-US" sz="2000" dirty="0">
                <a:latin typeface="Courier New" panose="02070309020205020404" pitchFamily="49" charset="0"/>
              </a:rPr>
              <a:t>'</a:t>
            </a:r>
            <a:r>
              <a:rPr lang="en-US" sz="2000" dirty="0"/>
              <a:t> for Windows, </a:t>
            </a:r>
            <a:r>
              <a:rPr lang="en-US" sz="2000" dirty="0">
                <a:latin typeface="Courier New" panose="02070309020205020404" pitchFamily="49" charset="0"/>
              </a:rPr>
              <a:t>'</a:t>
            </a:r>
            <a:r>
              <a:rPr lang="en-US" sz="2000" dirty="0" err="1">
                <a:latin typeface="Courier New" panose="02070309020205020404" pitchFamily="49" charset="0"/>
              </a:rPr>
              <a:t>posix</a:t>
            </a:r>
            <a:r>
              <a:rPr lang="en-US" sz="2000" dirty="0">
                <a:latin typeface="Courier New" panose="02070309020205020404" pitchFamily="49" charset="0"/>
              </a:rPr>
              <a:t>'</a:t>
            </a:r>
            <a:r>
              <a:rPr lang="en-US" sz="2000" dirty="0"/>
              <a:t> for Unix-like)</a:t>
            </a:r>
          </a:p>
        </p:txBody>
      </p:sp>
    </p:spTree>
    <p:extLst>
      <p:ext uri="{BB962C8B-B14F-4D97-AF65-F5344CB8AC3E}">
        <p14:creationId xmlns:p14="http://schemas.microsoft.com/office/powerpoint/2010/main" val="224192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BE58-32B6-30D1-487B-C96B505F4C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F80F5D-5ED0-15D7-7DF7-33F5C3C9806B}"/>
              </a:ext>
            </a:extLst>
          </p:cNvPr>
          <p:cNvSpPr>
            <a:spLocks noGrp="1"/>
          </p:cNvSpPr>
          <p:nvPr>
            <p:ph type="title"/>
          </p:nvPr>
        </p:nvSpPr>
        <p:spPr/>
        <p:txBody>
          <a:bodyPr/>
          <a:lstStyle/>
          <a:p>
            <a:r>
              <a:rPr lang="en-US" dirty="0"/>
              <a:t>OS module EXAMPLE</a:t>
            </a:r>
          </a:p>
        </p:txBody>
      </p:sp>
      <p:sp>
        <p:nvSpPr>
          <p:cNvPr id="3" name="TextBox 2">
            <a:extLst>
              <a:ext uri="{FF2B5EF4-FFF2-40B4-BE49-F238E27FC236}">
                <a16:creationId xmlns:a16="http://schemas.microsoft.com/office/drawing/2014/main" id="{0E092DC3-1E09-34CE-200B-596ED5150F7E}"/>
              </a:ext>
            </a:extLst>
          </p:cNvPr>
          <p:cNvSpPr txBox="1"/>
          <p:nvPr/>
        </p:nvSpPr>
        <p:spPr>
          <a:xfrm>
            <a:off x="548640" y="1163346"/>
            <a:ext cx="9057373" cy="400110"/>
          </a:xfrm>
          <a:prstGeom prst="rect">
            <a:avLst/>
          </a:prstGeom>
          <a:noFill/>
        </p:spPr>
        <p:txBody>
          <a:bodyPr wrap="square">
            <a:spAutoFit/>
          </a:bodyPr>
          <a:lstStyle/>
          <a:p>
            <a:pPr>
              <a:buNone/>
            </a:pPr>
            <a:r>
              <a:rPr lang="en-US" sz="2000" b="1" dirty="0"/>
              <a:t>Example:</a:t>
            </a:r>
            <a:endParaRPr lang="en-US" sz="2000" dirty="0"/>
          </a:p>
        </p:txBody>
      </p:sp>
      <p:sp>
        <p:nvSpPr>
          <p:cNvPr id="4" name="TextBox 3">
            <a:extLst>
              <a:ext uri="{FF2B5EF4-FFF2-40B4-BE49-F238E27FC236}">
                <a16:creationId xmlns:a16="http://schemas.microsoft.com/office/drawing/2014/main" id="{C9A7393B-CC8D-C392-6584-D943609023EF}"/>
              </a:ext>
            </a:extLst>
          </p:cNvPr>
          <p:cNvSpPr txBox="1"/>
          <p:nvPr/>
        </p:nvSpPr>
        <p:spPr>
          <a:xfrm>
            <a:off x="548640" y="1807195"/>
            <a:ext cx="7856621" cy="3970318"/>
          </a:xfrm>
          <a:prstGeom prst="rect">
            <a:avLst/>
          </a:prstGeom>
          <a:noFill/>
        </p:spPr>
        <p:txBody>
          <a:bodyPr wrap="square">
            <a:spAutoFit/>
          </a:bodyPr>
          <a:lstStyle/>
          <a:p>
            <a:r>
              <a:rPr lang="en-US" dirty="0"/>
              <a:t>import </a:t>
            </a:r>
            <a:r>
              <a:rPr lang="en-US" dirty="0" err="1"/>
              <a:t>os</a:t>
            </a:r>
            <a:endParaRPr lang="en-US" dirty="0"/>
          </a:p>
          <a:p>
            <a:endParaRPr lang="en-US" dirty="0"/>
          </a:p>
          <a:p>
            <a:r>
              <a:rPr lang="en-US" dirty="0"/>
              <a:t># Get current directory</a:t>
            </a:r>
          </a:p>
          <a:p>
            <a:r>
              <a:rPr lang="en-US" dirty="0"/>
              <a:t>print(</a:t>
            </a:r>
            <a:r>
              <a:rPr lang="en-US" dirty="0" err="1"/>
              <a:t>os.getcwd</a:t>
            </a:r>
            <a:r>
              <a:rPr lang="en-US" dirty="0"/>
              <a:t>())</a:t>
            </a:r>
          </a:p>
          <a:p>
            <a:endParaRPr lang="en-US" dirty="0"/>
          </a:p>
          <a:p>
            <a:r>
              <a:rPr lang="en-US" dirty="0"/>
              <a:t># Build a cross-platform path</a:t>
            </a:r>
          </a:p>
          <a:p>
            <a:r>
              <a:rPr lang="en-US" dirty="0"/>
              <a:t>path = </a:t>
            </a:r>
            <a:r>
              <a:rPr lang="en-US" dirty="0" err="1"/>
              <a:t>os.path.join</a:t>
            </a:r>
            <a:r>
              <a:rPr lang="en-US" dirty="0"/>
              <a:t>("data", "reports", "summary.csv")</a:t>
            </a:r>
          </a:p>
          <a:p>
            <a:endParaRPr lang="en-US" dirty="0"/>
          </a:p>
          <a:p>
            <a:r>
              <a:rPr lang="en-US" dirty="0"/>
              <a:t># Check if it exists</a:t>
            </a:r>
          </a:p>
          <a:p>
            <a:r>
              <a:rPr lang="en-US" dirty="0"/>
              <a:t>if </a:t>
            </a:r>
            <a:r>
              <a:rPr lang="en-US" dirty="0" err="1"/>
              <a:t>os.path.exists</a:t>
            </a:r>
            <a:r>
              <a:rPr lang="en-US" dirty="0"/>
              <a:t>(path):</a:t>
            </a:r>
          </a:p>
          <a:p>
            <a:r>
              <a:rPr lang="en-US" dirty="0"/>
              <a:t>    print("File found!")</a:t>
            </a:r>
          </a:p>
          <a:p>
            <a:endParaRPr lang="en-US" dirty="0"/>
          </a:p>
          <a:p>
            <a:r>
              <a:rPr lang="en-US" dirty="0"/>
              <a:t># Read an environment variable</a:t>
            </a:r>
          </a:p>
          <a:p>
            <a:r>
              <a:rPr lang="en-US" dirty="0" err="1"/>
              <a:t>api_key</a:t>
            </a:r>
            <a:r>
              <a:rPr lang="en-US" dirty="0"/>
              <a:t> = </a:t>
            </a:r>
            <a:r>
              <a:rPr lang="en-US" dirty="0" err="1"/>
              <a:t>os.environ.get</a:t>
            </a:r>
            <a:r>
              <a:rPr lang="en-US" dirty="0"/>
              <a:t>("API_KEY", "</a:t>
            </a:r>
            <a:r>
              <a:rPr lang="en-US" dirty="0" err="1"/>
              <a:t>default_value</a:t>
            </a:r>
            <a:r>
              <a:rPr lang="en-US" dirty="0"/>
              <a:t>")</a:t>
            </a:r>
          </a:p>
        </p:txBody>
      </p:sp>
    </p:spTree>
    <p:extLst>
      <p:ext uri="{BB962C8B-B14F-4D97-AF65-F5344CB8AC3E}">
        <p14:creationId xmlns:p14="http://schemas.microsoft.com/office/powerpoint/2010/main" val="2943770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51596-B14D-9799-A145-8ABF524A22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4A9818-0F78-071F-6EEC-65D52670A26E}"/>
              </a:ext>
            </a:extLst>
          </p:cNvPr>
          <p:cNvSpPr>
            <a:spLocks noGrp="1"/>
          </p:cNvSpPr>
          <p:nvPr>
            <p:ph type="title"/>
          </p:nvPr>
        </p:nvSpPr>
        <p:spPr/>
        <p:txBody>
          <a:bodyPr/>
          <a:lstStyle/>
          <a:p>
            <a:r>
              <a:rPr lang="en-US" dirty="0"/>
              <a:t>OS module CHEATSHEET</a:t>
            </a:r>
          </a:p>
        </p:txBody>
      </p:sp>
      <p:graphicFrame>
        <p:nvGraphicFramePr>
          <p:cNvPr id="17" name="Content Placeholder 16">
            <a:extLst>
              <a:ext uri="{FF2B5EF4-FFF2-40B4-BE49-F238E27FC236}">
                <a16:creationId xmlns:a16="http://schemas.microsoft.com/office/drawing/2014/main" id="{720F2C90-5683-D0A6-0655-8EA8AF3F7C3F}"/>
              </a:ext>
            </a:extLst>
          </p:cNvPr>
          <p:cNvGraphicFramePr>
            <a:graphicFrameLocks noGrp="1"/>
          </p:cNvGraphicFramePr>
          <p:nvPr>
            <p:ph idx="4294967295"/>
          </p:nvPr>
        </p:nvGraphicFramePr>
        <p:xfrm>
          <a:off x="1112870" y="2173288"/>
          <a:ext cx="10515600" cy="3505200"/>
        </p:xfrm>
        <a:graphic>
          <a:graphicData uri="http://schemas.openxmlformats.org/drawingml/2006/table">
            <a:tbl>
              <a:tblPr/>
              <a:tblGrid>
                <a:gridCol w="2686497">
                  <a:extLst>
                    <a:ext uri="{9D8B030D-6E8A-4147-A177-3AD203B41FA5}">
                      <a16:colId xmlns:a16="http://schemas.microsoft.com/office/drawing/2014/main" val="1648361101"/>
                    </a:ext>
                  </a:extLst>
                </a:gridCol>
                <a:gridCol w="7829103">
                  <a:extLst>
                    <a:ext uri="{9D8B030D-6E8A-4147-A177-3AD203B41FA5}">
                      <a16:colId xmlns:a16="http://schemas.microsoft.com/office/drawing/2014/main" val="697547424"/>
                    </a:ext>
                  </a:extLst>
                </a:gridCol>
              </a:tblGrid>
              <a:tr h="0">
                <a:tc>
                  <a:txBody>
                    <a:bodyPr/>
                    <a:lstStyle/>
                    <a:p>
                      <a:pPr>
                        <a:buNone/>
                      </a:pPr>
                      <a:r>
                        <a:rPr lang="en-US" b="1" dirty="0"/>
                        <a:t>Python Function</a:t>
                      </a:r>
                    </a:p>
                  </a:txBody>
                  <a:tcPr anchor="ctr">
                    <a:lnL>
                      <a:noFill/>
                    </a:lnL>
                    <a:lnR>
                      <a:noFill/>
                    </a:lnR>
                    <a:lnT>
                      <a:noFill/>
                    </a:lnT>
                    <a:lnB>
                      <a:noFill/>
                    </a:lnB>
                    <a:noFill/>
                  </a:tcPr>
                </a:tc>
                <a:tc>
                  <a:txBody>
                    <a:bodyPr/>
                    <a:lstStyle/>
                    <a:p>
                      <a:pPr>
                        <a:buNone/>
                      </a:pPr>
                      <a:r>
                        <a:rPr lang="en-US" b="1" dirty="0"/>
                        <a:t>Description</a:t>
                      </a:r>
                    </a:p>
                  </a:txBody>
                  <a:tcPr anchor="ctr">
                    <a:lnL>
                      <a:noFill/>
                    </a:lnL>
                    <a:lnR>
                      <a:noFill/>
                    </a:lnR>
                    <a:lnT>
                      <a:noFill/>
                    </a:lnT>
                    <a:lnB>
                      <a:noFill/>
                    </a:lnB>
                    <a:noFill/>
                  </a:tcPr>
                </a:tc>
                <a:extLst>
                  <a:ext uri="{0D108BD9-81ED-4DB2-BD59-A6C34878D82A}">
                    <a16:rowId xmlns:a16="http://schemas.microsoft.com/office/drawing/2014/main" val="1866904096"/>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os.getcwd</a:t>
                      </a:r>
                      <a:r>
                        <a:rPr lang="en-US" b="1" dirty="0">
                          <a:solidFill>
                            <a:schemeClr val="tx2"/>
                          </a:solidFill>
                          <a:latin typeface="Consolas" panose="020B0609020204030204" pitchFamily="49" charset="0"/>
                          <a:cs typeface="Courier New" panose="02070309020205020404" pitchFamily="49" charset="0"/>
                        </a:rPr>
                        <a:t>()</a:t>
                      </a:r>
                    </a:p>
                  </a:txBody>
                  <a:tcPr anchor="ctr">
                    <a:lnL>
                      <a:noFill/>
                    </a:lnL>
                    <a:lnR>
                      <a:noFill/>
                    </a:lnR>
                    <a:lnT>
                      <a:noFill/>
                    </a:lnT>
                    <a:lnB>
                      <a:noFill/>
                    </a:lnB>
                    <a:noFill/>
                  </a:tcPr>
                </a:tc>
                <a:tc>
                  <a:txBody>
                    <a:bodyPr/>
                    <a:lstStyle/>
                    <a:p>
                      <a:pPr>
                        <a:buNone/>
                      </a:pPr>
                      <a:r>
                        <a:rPr lang="en-US" dirty="0"/>
                        <a:t>Returns the current working directory.</a:t>
                      </a:r>
                    </a:p>
                  </a:txBody>
                  <a:tcPr anchor="ctr">
                    <a:lnL>
                      <a:noFill/>
                    </a:lnL>
                    <a:lnR>
                      <a:noFill/>
                    </a:lnR>
                    <a:lnT>
                      <a:noFill/>
                    </a:lnT>
                    <a:lnB>
                      <a:noFill/>
                    </a:lnB>
                    <a:noFill/>
                  </a:tcPr>
                </a:tc>
                <a:extLst>
                  <a:ext uri="{0D108BD9-81ED-4DB2-BD59-A6C34878D82A}">
                    <a16:rowId xmlns:a16="http://schemas.microsoft.com/office/drawing/2014/main" val="202744842"/>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os.chdir</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Changes the current working directory.</a:t>
                      </a:r>
                    </a:p>
                  </a:txBody>
                  <a:tcPr anchor="ctr">
                    <a:lnL>
                      <a:noFill/>
                    </a:lnL>
                    <a:lnR>
                      <a:noFill/>
                    </a:lnR>
                    <a:lnT>
                      <a:noFill/>
                    </a:lnT>
                    <a:lnB>
                      <a:noFill/>
                    </a:lnB>
                    <a:noFill/>
                  </a:tcPr>
                </a:tc>
                <a:extLst>
                  <a:ext uri="{0D108BD9-81ED-4DB2-BD59-A6C34878D82A}">
                    <a16:rowId xmlns:a16="http://schemas.microsoft.com/office/drawing/2014/main" val="2293408018"/>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os.listdir</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Lists files and directories in the given path.</a:t>
                      </a:r>
                    </a:p>
                  </a:txBody>
                  <a:tcPr anchor="ctr">
                    <a:lnL>
                      <a:noFill/>
                    </a:lnL>
                    <a:lnR>
                      <a:noFill/>
                    </a:lnR>
                    <a:lnT>
                      <a:noFill/>
                    </a:lnT>
                    <a:lnB>
                      <a:noFill/>
                    </a:lnB>
                    <a:noFill/>
                  </a:tcPr>
                </a:tc>
                <a:extLst>
                  <a:ext uri="{0D108BD9-81ED-4DB2-BD59-A6C34878D82A}">
                    <a16:rowId xmlns:a16="http://schemas.microsoft.com/office/drawing/2014/main" val="3167188034"/>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os.mkdir</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Creates a single directory.</a:t>
                      </a:r>
                    </a:p>
                  </a:txBody>
                  <a:tcPr anchor="ctr">
                    <a:lnL>
                      <a:noFill/>
                    </a:lnL>
                    <a:lnR>
                      <a:noFill/>
                    </a:lnR>
                    <a:lnT>
                      <a:noFill/>
                    </a:lnT>
                    <a:lnB>
                      <a:noFill/>
                    </a:lnB>
                    <a:noFill/>
                  </a:tcPr>
                </a:tc>
                <a:extLst>
                  <a:ext uri="{0D108BD9-81ED-4DB2-BD59-A6C34878D82A}">
                    <a16:rowId xmlns:a16="http://schemas.microsoft.com/office/drawing/2014/main" val="1593945515"/>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os.makedirs</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Creates nested directories recursively.</a:t>
                      </a:r>
                    </a:p>
                  </a:txBody>
                  <a:tcPr anchor="ctr">
                    <a:lnL>
                      <a:noFill/>
                    </a:lnL>
                    <a:lnR>
                      <a:noFill/>
                    </a:lnR>
                    <a:lnT>
                      <a:noFill/>
                    </a:lnT>
                    <a:lnB>
                      <a:noFill/>
                    </a:lnB>
                    <a:noFill/>
                  </a:tcPr>
                </a:tc>
                <a:extLst>
                  <a:ext uri="{0D108BD9-81ED-4DB2-BD59-A6C34878D82A}">
                    <a16:rowId xmlns:a16="http://schemas.microsoft.com/office/drawing/2014/main" val="3064447774"/>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os.remove</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Deletes a file.</a:t>
                      </a:r>
                    </a:p>
                  </a:txBody>
                  <a:tcPr anchor="ctr">
                    <a:lnL>
                      <a:noFill/>
                    </a:lnL>
                    <a:lnR>
                      <a:noFill/>
                    </a:lnR>
                    <a:lnT>
                      <a:noFill/>
                    </a:lnT>
                    <a:lnB>
                      <a:noFill/>
                    </a:lnB>
                    <a:noFill/>
                  </a:tcPr>
                </a:tc>
                <a:extLst>
                  <a:ext uri="{0D108BD9-81ED-4DB2-BD59-A6C34878D82A}">
                    <a16:rowId xmlns:a16="http://schemas.microsoft.com/office/drawing/2014/main" val="1856539145"/>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os.rmdir</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Removes a directory (must be empty).</a:t>
                      </a:r>
                    </a:p>
                  </a:txBody>
                  <a:tcPr anchor="ctr">
                    <a:lnL>
                      <a:noFill/>
                    </a:lnL>
                    <a:lnR>
                      <a:noFill/>
                    </a:lnR>
                    <a:lnT>
                      <a:noFill/>
                    </a:lnT>
                    <a:lnB>
                      <a:noFill/>
                    </a:lnB>
                    <a:noFill/>
                  </a:tcPr>
                </a:tc>
                <a:extLst>
                  <a:ext uri="{0D108BD9-81ED-4DB2-BD59-A6C34878D82A}">
                    <a16:rowId xmlns:a16="http://schemas.microsoft.com/office/drawing/2014/main" val="1796673496"/>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os.rename</a:t>
                      </a:r>
                      <a:r>
                        <a:rPr lang="en-US" b="1" dirty="0">
                          <a:solidFill>
                            <a:schemeClr val="tx2"/>
                          </a:solidFill>
                          <a:latin typeface="Consolas" panose="020B0609020204030204" pitchFamily="49" charset="0"/>
                          <a:cs typeface="Courier New" panose="02070309020205020404" pitchFamily="49" charset="0"/>
                        </a:rPr>
                        <a:t>(</a:t>
                      </a:r>
                      <a:r>
                        <a:rPr lang="en-US" b="1" dirty="0" err="1">
                          <a:solidFill>
                            <a:schemeClr val="tx2"/>
                          </a:solidFill>
                          <a:latin typeface="Consolas" panose="020B0609020204030204" pitchFamily="49" charset="0"/>
                          <a:cs typeface="Courier New" panose="02070309020205020404" pitchFamily="49" charset="0"/>
                        </a:rPr>
                        <a:t>src</a:t>
                      </a:r>
                      <a:r>
                        <a:rPr lang="en-US" b="1" dirty="0">
                          <a:solidFill>
                            <a:schemeClr val="tx2"/>
                          </a:solidFill>
                          <a:latin typeface="Consolas" panose="020B0609020204030204" pitchFamily="49" charset="0"/>
                          <a:cs typeface="Courier New" panose="02070309020205020404" pitchFamily="49" charset="0"/>
                        </a:rPr>
                        <a:t>, </a:t>
                      </a:r>
                      <a:r>
                        <a:rPr lang="en-US" b="1" dirty="0" err="1">
                          <a:solidFill>
                            <a:schemeClr val="tx2"/>
                          </a:solidFill>
                          <a:latin typeface="Consolas" panose="020B0609020204030204" pitchFamily="49" charset="0"/>
                          <a:cs typeface="Courier New" panose="02070309020205020404" pitchFamily="49" charset="0"/>
                        </a:rPr>
                        <a:t>dst</a:t>
                      </a:r>
                      <a:r>
                        <a:rPr lang="en-US" b="1" dirty="0">
                          <a:solidFill>
                            <a:schemeClr val="tx2"/>
                          </a:solidFill>
                          <a:latin typeface="Consolas" panose="020B0609020204030204" pitchFamily="49" charset="0"/>
                          <a:cs typeface="Courier New" panose="02070309020205020404" pitchFamily="49" charset="0"/>
                        </a:rPr>
                        <a:t>)</a:t>
                      </a:r>
                    </a:p>
                  </a:txBody>
                  <a:tcPr anchor="ctr">
                    <a:lnL>
                      <a:noFill/>
                    </a:lnL>
                    <a:lnR>
                      <a:noFill/>
                    </a:lnR>
                    <a:lnT>
                      <a:noFill/>
                    </a:lnT>
                    <a:lnB>
                      <a:noFill/>
                    </a:lnB>
                    <a:noFill/>
                  </a:tcPr>
                </a:tc>
                <a:tc>
                  <a:txBody>
                    <a:bodyPr/>
                    <a:lstStyle/>
                    <a:p>
                      <a:pPr>
                        <a:buNone/>
                      </a:pPr>
                      <a:r>
                        <a:rPr lang="en-US"/>
                        <a:t>Renames or moves a file or directory.</a:t>
                      </a:r>
                    </a:p>
                  </a:txBody>
                  <a:tcPr anchor="ctr">
                    <a:lnL>
                      <a:noFill/>
                    </a:lnL>
                    <a:lnR>
                      <a:noFill/>
                    </a:lnR>
                    <a:lnT>
                      <a:noFill/>
                    </a:lnT>
                    <a:lnB>
                      <a:noFill/>
                    </a:lnB>
                    <a:noFill/>
                  </a:tcPr>
                </a:tc>
                <a:extLst>
                  <a:ext uri="{0D108BD9-81ED-4DB2-BD59-A6C34878D82A}">
                    <a16:rowId xmlns:a16="http://schemas.microsoft.com/office/drawing/2014/main" val="3297173758"/>
                  </a:ext>
                </a:extLst>
              </a:tr>
              <a:tr h="0">
                <a:tc>
                  <a:txBody>
                    <a:bodyPr/>
                    <a:lstStyle/>
                    <a:p>
                      <a:pPr>
                        <a:buNone/>
                      </a:pPr>
                      <a:r>
                        <a:rPr lang="en-US" b="1" dirty="0" err="1">
                          <a:solidFill>
                            <a:schemeClr val="tx2"/>
                          </a:solidFill>
                          <a:latin typeface="Consolas" panose="020B0609020204030204" pitchFamily="49" charset="0"/>
                          <a:cs typeface="Courier New" panose="02070309020205020404" pitchFamily="49" charset="0"/>
                        </a:rPr>
                        <a:t>os.stat</a:t>
                      </a:r>
                      <a:r>
                        <a:rPr lang="en-US" b="1" dirty="0">
                          <a:solidFill>
                            <a:schemeClr val="tx2"/>
                          </a:solidFill>
                          <a:latin typeface="Consolas" panose="020B06090202040302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Returns info about a file (like size, modified time).</a:t>
                      </a:r>
                    </a:p>
                  </a:txBody>
                  <a:tcPr anchor="ctr">
                    <a:lnL>
                      <a:noFill/>
                    </a:lnL>
                    <a:lnR>
                      <a:noFill/>
                    </a:lnR>
                    <a:lnT>
                      <a:noFill/>
                    </a:lnT>
                    <a:lnB>
                      <a:noFill/>
                    </a:lnB>
                    <a:noFill/>
                  </a:tcPr>
                </a:tc>
                <a:extLst>
                  <a:ext uri="{0D108BD9-81ED-4DB2-BD59-A6C34878D82A}">
                    <a16:rowId xmlns:a16="http://schemas.microsoft.com/office/drawing/2014/main" val="1106212592"/>
                  </a:ext>
                </a:extLst>
              </a:tr>
            </a:tbl>
          </a:graphicData>
        </a:graphic>
      </p:graphicFrame>
    </p:spTree>
    <p:extLst>
      <p:ext uri="{BB962C8B-B14F-4D97-AF65-F5344CB8AC3E}">
        <p14:creationId xmlns:p14="http://schemas.microsoft.com/office/powerpoint/2010/main" val="772494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72CA-F00B-B9C0-3905-1071A14C1497}"/>
              </a:ext>
            </a:extLst>
          </p:cNvPr>
          <p:cNvSpPr>
            <a:spLocks noGrp="1"/>
          </p:cNvSpPr>
          <p:nvPr>
            <p:ph type="title"/>
          </p:nvPr>
        </p:nvSpPr>
        <p:spPr/>
        <p:txBody>
          <a:bodyPr/>
          <a:lstStyle/>
          <a:p>
            <a:r>
              <a:rPr lang="en-US" dirty="0"/>
              <a:t>Look familiar?</a:t>
            </a:r>
          </a:p>
        </p:txBody>
      </p:sp>
      <p:graphicFrame>
        <p:nvGraphicFramePr>
          <p:cNvPr id="4" name="Content Placeholder 3">
            <a:extLst>
              <a:ext uri="{FF2B5EF4-FFF2-40B4-BE49-F238E27FC236}">
                <a16:creationId xmlns:a16="http://schemas.microsoft.com/office/drawing/2014/main" id="{B96D637A-E869-9722-DE6A-4578A35F3330}"/>
              </a:ext>
            </a:extLst>
          </p:cNvPr>
          <p:cNvGraphicFramePr>
            <a:graphicFrameLocks noGrp="1"/>
          </p:cNvGraphicFramePr>
          <p:nvPr>
            <p:ph idx="4294967295"/>
            <p:extLst>
              <p:ext uri="{D42A27DB-BD31-4B8C-83A1-F6EECF244321}">
                <p14:modId xmlns:p14="http://schemas.microsoft.com/office/powerpoint/2010/main" val="3995929412"/>
              </p:ext>
            </p:extLst>
          </p:nvPr>
        </p:nvGraphicFramePr>
        <p:xfrm>
          <a:off x="1488558" y="2173288"/>
          <a:ext cx="10132826" cy="3505200"/>
        </p:xfrm>
        <a:graphic>
          <a:graphicData uri="http://schemas.openxmlformats.org/drawingml/2006/table">
            <a:tbl>
              <a:tblPr/>
              <a:tblGrid>
                <a:gridCol w="3122426">
                  <a:extLst>
                    <a:ext uri="{9D8B030D-6E8A-4147-A177-3AD203B41FA5}">
                      <a16:colId xmlns:a16="http://schemas.microsoft.com/office/drawing/2014/main" val="3500306056"/>
                    </a:ext>
                  </a:extLst>
                </a:gridCol>
                <a:gridCol w="3505200">
                  <a:extLst>
                    <a:ext uri="{9D8B030D-6E8A-4147-A177-3AD203B41FA5}">
                      <a16:colId xmlns:a16="http://schemas.microsoft.com/office/drawing/2014/main" val="1131658808"/>
                    </a:ext>
                  </a:extLst>
                </a:gridCol>
                <a:gridCol w="3505200">
                  <a:extLst>
                    <a:ext uri="{9D8B030D-6E8A-4147-A177-3AD203B41FA5}">
                      <a16:colId xmlns:a16="http://schemas.microsoft.com/office/drawing/2014/main" val="1721088864"/>
                    </a:ext>
                  </a:extLst>
                </a:gridCol>
              </a:tblGrid>
              <a:tr h="0">
                <a:tc>
                  <a:txBody>
                    <a:bodyPr/>
                    <a:lstStyle/>
                    <a:p>
                      <a:pPr>
                        <a:buNone/>
                      </a:pPr>
                      <a:r>
                        <a:rPr lang="en-US" b="1"/>
                        <a:t>Python Function</a:t>
                      </a:r>
                    </a:p>
                  </a:txBody>
                  <a:tcPr anchor="ctr">
                    <a:lnL>
                      <a:noFill/>
                    </a:lnL>
                    <a:lnR>
                      <a:noFill/>
                    </a:lnR>
                    <a:lnT>
                      <a:noFill/>
                    </a:lnT>
                    <a:lnB>
                      <a:noFill/>
                    </a:lnB>
                    <a:noFill/>
                  </a:tcPr>
                </a:tc>
                <a:tc>
                  <a:txBody>
                    <a:bodyPr/>
                    <a:lstStyle/>
                    <a:p>
                      <a:pPr>
                        <a:buNone/>
                      </a:pPr>
                      <a:r>
                        <a:rPr lang="en-US" b="1"/>
                        <a:t>Description</a:t>
                      </a:r>
                    </a:p>
                  </a:txBody>
                  <a:tcPr anchor="ctr">
                    <a:lnL>
                      <a:noFill/>
                    </a:lnL>
                    <a:lnR>
                      <a:noFill/>
                    </a:lnR>
                    <a:lnT>
                      <a:noFill/>
                    </a:lnT>
                    <a:lnB>
                      <a:noFill/>
                    </a:lnB>
                    <a:noFill/>
                  </a:tcPr>
                </a:tc>
                <a:tc>
                  <a:txBody>
                    <a:bodyPr/>
                    <a:lstStyle/>
                    <a:p>
                      <a:pPr>
                        <a:buNone/>
                      </a:pPr>
                      <a:r>
                        <a:rPr lang="en-US" b="1" dirty="0"/>
                        <a:t>Linux Command Equivalent</a:t>
                      </a:r>
                    </a:p>
                  </a:txBody>
                  <a:tcPr anchor="ctr">
                    <a:lnL>
                      <a:noFill/>
                    </a:lnL>
                    <a:lnR>
                      <a:noFill/>
                    </a:lnR>
                    <a:lnT>
                      <a:noFill/>
                    </a:lnT>
                    <a:lnB>
                      <a:noFill/>
                    </a:lnB>
                    <a:noFill/>
                  </a:tcPr>
                </a:tc>
                <a:extLst>
                  <a:ext uri="{0D108BD9-81ED-4DB2-BD59-A6C34878D82A}">
                    <a16:rowId xmlns:a16="http://schemas.microsoft.com/office/drawing/2014/main" val="995829420"/>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os.getcwd</a:t>
                      </a:r>
                      <a:r>
                        <a:rPr lang="en-US" b="1" dirty="0">
                          <a:solidFill>
                            <a:schemeClr val="tx2"/>
                          </a:solidFill>
                          <a:latin typeface="Courier New" panose="02070309020205020404" pitchFamily="49" charset="0"/>
                          <a:cs typeface="Courier New" panose="02070309020205020404" pitchFamily="49" charset="0"/>
                        </a:rPr>
                        <a:t>()</a:t>
                      </a:r>
                    </a:p>
                  </a:txBody>
                  <a:tcPr anchor="ctr">
                    <a:lnL>
                      <a:noFill/>
                    </a:lnL>
                    <a:lnR>
                      <a:noFill/>
                    </a:lnR>
                    <a:lnT>
                      <a:noFill/>
                    </a:lnT>
                    <a:lnB>
                      <a:noFill/>
                    </a:lnB>
                    <a:noFill/>
                  </a:tcPr>
                </a:tc>
                <a:tc>
                  <a:txBody>
                    <a:bodyPr/>
                    <a:lstStyle/>
                    <a:p>
                      <a:pPr>
                        <a:buNone/>
                      </a:pPr>
                      <a:r>
                        <a:rPr lang="en-US"/>
                        <a:t>Get current working directory</a:t>
                      </a:r>
                    </a:p>
                  </a:txBody>
                  <a:tcPr anchor="ctr">
                    <a:lnL>
                      <a:noFill/>
                    </a:lnL>
                    <a:lnR>
                      <a:noFill/>
                    </a:lnR>
                    <a:lnT>
                      <a:noFill/>
                    </a:lnT>
                    <a:lnB>
                      <a:noFill/>
                    </a:lnB>
                    <a:noFill/>
                  </a:tcPr>
                </a:tc>
                <a:tc>
                  <a:txBody>
                    <a:bodyPr/>
                    <a:lstStyle/>
                    <a:p>
                      <a:pPr>
                        <a:buNone/>
                      </a:pPr>
                      <a:r>
                        <a:rPr lang="en-US" b="1" dirty="0" err="1">
                          <a:solidFill>
                            <a:schemeClr val="tx2"/>
                          </a:solidFill>
                          <a:latin typeface="Consolas" panose="020B0609020204030204" pitchFamily="49" charset="0"/>
                          <a:cs typeface="Courier New" panose="02070309020205020404" pitchFamily="49" charset="0"/>
                        </a:rPr>
                        <a:t>pwd</a:t>
                      </a:r>
                      <a:endParaRPr lang="en-US" b="1" dirty="0">
                        <a:solidFill>
                          <a:schemeClr val="tx2"/>
                        </a:solidFill>
                        <a:latin typeface="Consolas" panose="020B0609020204030204" pitchFamily="49" charset="0"/>
                        <a:cs typeface="Courier New" panose="02070309020205020404" pitchFamily="49" charset="0"/>
                      </a:endParaRPr>
                    </a:p>
                  </a:txBody>
                  <a:tcPr anchor="ctr">
                    <a:lnL>
                      <a:noFill/>
                    </a:lnL>
                    <a:lnR>
                      <a:noFill/>
                    </a:lnR>
                    <a:lnT>
                      <a:noFill/>
                    </a:lnT>
                    <a:lnB>
                      <a:noFill/>
                    </a:lnB>
                    <a:noFill/>
                  </a:tcPr>
                </a:tc>
                <a:extLst>
                  <a:ext uri="{0D108BD9-81ED-4DB2-BD59-A6C34878D82A}">
                    <a16:rowId xmlns:a16="http://schemas.microsoft.com/office/drawing/2014/main" val="3737787394"/>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os.chdir</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Change current directory</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cd path</a:t>
                      </a:r>
                    </a:p>
                  </a:txBody>
                  <a:tcPr anchor="ctr">
                    <a:lnL>
                      <a:noFill/>
                    </a:lnL>
                    <a:lnR>
                      <a:noFill/>
                    </a:lnR>
                    <a:lnT>
                      <a:noFill/>
                    </a:lnT>
                    <a:lnB>
                      <a:noFill/>
                    </a:lnB>
                    <a:noFill/>
                  </a:tcPr>
                </a:tc>
                <a:extLst>
                  <a:ext uri="{0D108BD9-81ED-4DB2-BD59-A6C34878D82A}">
                    <a16:rowId xmlns:a16="http://schemas.microsoft.com/office/drawing/2014/main" val="3789680709"/>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os.listdir</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List files and directories</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ls</a:t>
                      </a:r>
                    </a:p>
                  </a:txBody>
                  <a:tcPr anchor="ctr">
                    <a:lnL>
                      <a:noFill/>
                    </a:lnL>
                    <a:lnR>
                      <a:noFill/>
                    </a:lnR>
                    <a:lnT>
                      <a:noFill/>
                    </a:lnT>
                    <a:lnB>
                      <a:noFill/>
                    </a:lnB>
                    <a:noFill/>
                  </a:tcPr>
                </a:tc>
                <a:extLst>
                  <a:ext uri="{0D108BD9-81ED-4DB2-BD59-A6C34878D82A}">
                    <a16:rowId xmlns:a16="http://schemas.microsoft.com/office/drawing/2014/main" val="1073325759"/>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os.mkdir</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Create a directory</a:t>
                      </a:r>
                    </a:p>
                  </a:txBody>
                  <a:tcPr anchor="ctr">
                    <a:lnL>
                      <a:noFill/>
                    </a:lnL>
                    <a:lnR>
                      <a:noFill/>
                    </a:lnR>
                    <a:lnT>
                      <a:noFill/>
                    </a:lnT>
                    <a:lnB>
                      <a:noFill/>
                    </a:lnB>
                    <a:noFill/>
                  </a:tcPr>
                </a:tc>
                <a:tc>
                  <a:txBody>
                    <a:bodyPr/>
                    <a:lstStyle/>
                    <a:p>
                      <a:pPr>
                        <a:buNone/>
                      </a:pPr>
                      <a:r>
                        <a:rPr lang="en-US" b="1" dirty="0" err="1">
                          <a:solidFill>
                            <a:schemeClr val="tx2"/>
                          </a:solidFill>
                          <a:latin typeface="Consolas" panose="020B0609020204030204" pitchFamily="49" charset="0"/>
                          <a:cs typeface="Courier New" panose="02070309020205020404" pitchFamily="49" charset="0"/>
                        </a:rPr>
                        <a:t>mkdir</a:t>
                      </a:r>
                      <a:r>
                        <a:rPr lang="en-US" b="1" dirty="0">
                          <a:solidFill>
                            <a:schemeClr val="tx2"/>
                          </a:solidFill>
                          <a:latin typeface="Consolas" panose="020B0609020204030204" pitchFamily="49" charset="0"/>
                          <a:cs typeface="Courier New" panose="02070309020205020404" pitchFamily="49" charset="0"/>
                        </a:rPr>
                        <a:t> path</a:t>
                      </a:r>
                    </a:p>
                  </a:txBody>
                  <a:tcPr anchor="ctr">
                    <a:lnL>
                      <a:noFill/>
                    </a:lnL>
                    <a:lnR>
                      <a:noFill/>
                    </a:lnR>
                    <a:lnT>
                      <a:noFill/>
                    </a:lnT>
                    <a:lnB>
                      <a:noFill/>
                    </a:lnB>
                    <a:noFill/>
                  </a:tcPr>
                </a:tc>
                <a:extLst>
                  <a:ext uri="{0D108BD9-81ED-4DB2-BD59-A6C34878D82A}">
                    <a16:rowId xmlns:a16="http://schemas.microsoft.com/office/drawing/2014/main" val="67077852"/>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os.makedirs</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Create nested directories</a:t>
                      </a:r>
                    </a:p>
                  </a:txBody>
                  <a:tcPr anchor="ctr">
                    <a:lnL>
                      <a:noFill/>
                    </a:lnL>
                    <a:lnR>
                      <a:noFill/>
                    </a:lnR>
                    <a:lnT>
                      <a:noFill/>
                    </a:lnT>
                    <a:lnB>
                      <a:noFill/>
                    </a:lnB>
                    <a:noFill/>
                  </a:tcPr>
                </a:tc>
                <a:tc>
                  <a:txBody>
                    <a:bodyPr/>
                    <a:lstStyle/>
                    <a:p>
                      <a:pPr>
                        <a:buNone/>
                      </a:pPr>
                      <a:r>
                        <a:rPr lang="en-US" b="1" dirty="0" err="1">
                          <a:solidFill>
                            <a:schemeClr val="tx2"/>
                          </a:solidFill>
                          <a:latin typeface="Consolas" panose="020B0609020204030204" pitchFamily="49" charset="0"/>
                          <a:cs typeface="Courier New" panose="02070309020205020404" pitchFamily="49" charset="0"/>
                        </a:rPr>
                        <a:t>mkdir</a:t>
                      </a:r>
                      <a:r>
                        <a:rPr lang="en-US" b="1" dirty="0">
                          <a:solidFill>
                            <a:schemeClr val="tx2"/>
                          </a:solidFill>
                          <a:latin typeface="Consolas" panose="020B0609020204030204" pitchFamily="49" charset="0"/>
                          <a:cs typeface="Courier New" panose="02070309020205020404" pitchFamily="49" charset="0"/>
                        </a:rPr>
                        <a:t> -p path</a:t>
                      </a:r>
                    </a:p>
                  </a:txBody>
                  <a:tcPr anchor="ctr">
                    <a:lnL>
                      <a:noFill/>
                    </a:lnL>
                    <a:lnR>
                      <a:noFill/>
                    </a:lnR>
                    <a:lnT>
                      <a:noFill/>
                    </a:lnT>
                    <a:lnB>
                      <a:noFill/>
                    </a:lnB>
                    <a:noFill/>
                  </a:tcPr>
                </a:tc>
                <a:extLst>
                  <a:ext uri="{0D108BD9-81ED-4DB2-BD59-A6C34878D82A}">
                    <a16:rowId xmlns:a16="http://schemas.microsoft.com/office/drawing/2014/main" val="1842813861"/>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os.remove</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a:t>Delete a file</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rm path</a:t>
                      </a:r>
                    </a:p>
                  </a:txBody>
                  <a:tcPr anchor="ctr">
                    <a:lnL>
                      <a:noFill/>
                    </a:lnL>
                    <a:lnR>
                      <a:noFill/>
                    </a:lnR>
                    <a:lnT>
                      <a:noFill/>
                    </a:lnT>
                    <a:lnB>
                      <a:noFill/>
                    </a:lnB>
                    <a:noFill/>
                  </a:tcPr>
                </a:tc>
                <a:extLst>
                  <a:ext uri="{0D108BD9-81ED-4DB2-BD59-A6C34878D82A}">
                    <a16:rowId xmlns:a16="http://schemas.microsoft.com/office/drawing/2014/main" val="299823941"/>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os.rmdir</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Remove empty directory</a:t>
                      </a:r>
                    </a:p>
                  </a:txBody>
                  <a:tcPr anchor="ctr">
                    <a:lnL>
                      <a:noFill/>
                    </a:lnL>
                    <a:lnR>
                      <a:noFill/>
                    </a:lnR>
                    <a:lnT>
                      <a:noFill/>
                    </a:lnT>
                    <a:lnB>
                      <a:noFill/>
                    </a:lnB>
                    <a:noFill/>
                  </a:tcPr>
                </a:tc>
                <a:tc>
                  <a:txBody>
                    <a:bodyPr/>
                    <a:lstStyle/>
                    <a:p>
                      <a:pPr>
                        <a:buNone/>
                      </a:pPr>
                      <a:r>
                        <a:rPr lang="en-US" b="1" dirty="0" err="1">
                          <a:solidFill>
                            <a:schemeClr val="tx2"/>
                          </a:solidFill>
                          <a:latin typeface="Consolas" panose="020B0609020204030204" pitchFamily="49" charset="0"/>
                          <a:cs typeface="Courier New" panose="02070309020205020404" pitchFamily="49" charset="0"/>
                        </a:rPr>
                        <a:t>rmdir</a:t>
                      </a:r>
                      <a:r>
                        <a:rPr lang="en-US" b="1" dirty="0">
                          <a:solidFill>
                            <a:schemeClr val="tx2"/>
                          </a:solidFill>
                          <a:latin typeface="Consolas" panose="020B0609020204030204" pitchFamily="49" charset="0"/>
                          <a:cs typeface="Courier New" panose="02070309020205020404" pitchFamily="49" charset="0"/>
                        </a:rPr>
                        <a:t> path</a:t>
                      </a:r>
                    </a:p>
                  </a:txBody>
                  <a:tcPr anchor="ctr">
                    <a:lnL>
                      <a:noFill/>
                    </a:lnL>
                    <a:lnR>
                      <a:noFill/>
                    </a:lnR>
                    <a:lnT>
                      <a:noFill/>
                    </a:lnT>
                    <a:lnB>
                      <a:noFill/>
                    </a:lnB>
                    <a:noFill/>
                  </a:tcPr>
                </a:tc>
                <a:extLst>
                  <a:ext uri="{0D108BD9-81ED-4DB2-BD59-A6C34878D82A}">
                    <a16:rowId xmlns:a16="http://schemas.microsoft.com/office/drawing/2014/main" val="1345573289"/>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os.rename</a:t>
                      </a: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src</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dst</a:t>
                      </a:r>
                      <a:r>
                        <a:rPr lang="en-US" b="1" dirty="0">
                          <a:solidFill>
                            <a:schemeClr val="tx2"/>
                          </a:solidFill>
                          <a:latin typeface="Courier New" panose="02070309020205020404" pitchFamily="49" charset="0"/>
                          <a:cs typeface="Courier New" panose="02070309020205020404" pitchFamily="49" charset="0"/>
                        </a:rPr>
                        <a:t>)</a:t>
                      </a:r>
                    </a:p>
                  </a:txBody>
                  <a:tcPr anchor="ctr">
                    <a:lnL>
                      <a:noFill/>
                    </a:lnL>
                    <a:lnR>
                      <a:noFill/>
                    </a:lnR>
                    <a:lnT>
                      <a:noFill/>
                    </a:lnT>
                    <a:lnB>
                      <a:noFill/>
                    </a:lnB>
                    <a:noFill/>
                  </a:tcPr>
                </a:tc>
                <a:tc>
                  <a:txBody>
                    <a:bodyPr/>
                    <a:lstStyle/>
                    <a:p>
                      <a:pPr>
                        <a:buNone/>
                      </a:pPr>
                      <a:r>
                        <a:rPr lang="en-US"/>
                        <a:t>Rename or move file/directory</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mv </a:t>
                      </a:r>
                      <a:r>
                        <a:rPr lang="en-US" b="1" dirty="0" err="1">
                          <a:solidFill>
                            <a:schemeClr val="tx2"/>
                          </a:solidFill>
                          <a:latin typeface="Consolas" panose="020B0609020204030204" pitchFamily="49" charset="0"/>
                          <a:cs typeface="Courier New" panose="02070309020205020404" pitchFamily="49" charset="0"/>
                        </a:rPr>
                        <a:t>src</a:t>
                      </a:r>
                      <a:r>
                        <a:rPr lang="en-US" b="1" dirty="0">
                          <a:solidFill>
                            <a:schemeClr val="tx2"/>
                          </a:solidFill>
                          <a:latin typeface="Consolas" panose="020B0609020204030204" pitchFamily="49" charset="0"/>
                          <a:cs typeface="Courier New" panose="02070309020205020404" pitchFamily="49" charset="0"/>
                        </a:rPr>
                        <a:t> </a:t>
                      </a:r>
                      <a:r>
                        <a:rPr lang="en-US" b="1" dirty="0" err="1">
                          <a:solidFill>
                            <a:schemeClr val="tx2"/>
                          </a:solidFill>
                          <a:latin typeface="Consolas" panose="020B0609020204030204" pitchFamily="49" charset="0"/>
                          <a:cs typeface="Courier New" panose="02070309020205020404" pitchFamily="49" charset="0"/>
                        </a:rPr>
                        <a:t>dst</a:t>
                      </a:r>
                      <a:endParaRPr lang="en-US" b="1" dirty="0">
                        <a:solidFill>
                          <a:schemeClr val="tx2"/>
                        </a:solidFill>
                        <a:latin typeface="Consolas" panose="020B0609020204030204" pitchFamily="49" charset="0"/>
                        <a:cs typeface="Courier New" panose="02070309020205020404" pitchFamily="49" charset="0"/>
                      </a:endParaRPr>
                    </a:p>
                  </a:txBody>
                  <a:tcPr anchor="ctr">
                    <a:lnL>
                      <a:noFill/>
                    </a:lnL>
                    <a:lnR>
                      <a:noFill/>
                    </a:lnR>
                    <a:lnT>
                      <a:noFill/>
                    </a:lnT>
                    <a:lnB>
                      <a:noFill/>
                    </a:lnB>
                    <a:noFill/>
                  </a:tcPr>
                </a:tc>
                <a:extLst>
                  <a:ext uri="{0D108BD9-81ED-4DB2-BD59-A6C34878D82A}">
                    <a16:rowId xmlns:a16="http://schemas.microsoft.com/office/drawing/2014/main" val="4213127613"/>
                  </a:ext>
                </a:extLst>
              </a:tr>
              <a:tr h="0">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os.stat</a:t>
                      </a:r>
                      <a:r>
                        <a:rPr lang="en-US" b="1" dirty="0">
                          <a:solidFill>
                            <a:schemeClr val="tx2"/>
                          </a:solidFill>
                          <a:latin typeface="Courier New" panose="02070309020205020404" pitchFamily="49" charset="0"/>
                          <a:cs typeface="Courier New" panose="02070309020205020404" pitchFamily="49" charset="0"/>
                        </a:rPr>
                        <a:t>(path)</a:t>
                      </a:r>
                    </a:p>
                  </a:txBody>
                  <a:tcPr anchor="ctr">
                    <a:lnL>
                      <a:noFill/>
                    </a:lnL>
                    <a:lnR>
                      <a:noFill/>
                    </a:lnR>
                    <a:lnT>
                      <a:noFill/>
                    </a:lnT>
                    <a:lnB>
                      <a:noFill/>
                    </a:lnB>
                    <a:noFill/>
                  </a:tcPr>
                </a:tc>
                <a:tc>
                  <a:txBody>
                    <a:bodyPr/>
                    <a:lstStyle/>
                    <a:p>
                      <a:pPr>
                        <a:buNone/>
                      </a:pPr>
                      <a:r>
                        <a:rPr lang="en-US" dirty="0"/>
                        <a:t>Get file/directory status</a:t>
                      </a:r>
                    </a:p>
                  </a:txBody>
                  <a:tcPr anchor="ctr">
                    <a:lnL>
                      <a:noFill/>
                    </a:lnL>
                    <a:lnR>
                      <a:noFill/>
                    </a:lnR>
                    <a:lnT>
                      <a:noFill/>
                    </a:lnT>
                    <a:lnB>
                      <a:noFill/>
                    </a:lnB>
                    <a:noFill/>
                  </a:tcPr>
                </a:tc>
                <a:tc>
                  <a:txBody>
                    <a:bodyPr/>
                    <a:lstStyle/>
                    <a:p>
                      <a:pPr>
                        <a:buNone/>
                      </a:pPr>
                      <a:r>
                        <a:rPr lang="en-US" b="1" dirty="0">
                          <a:solidFill>
                            <a:schemeClr val="tx2"/>
                          </a:solidFill>
                          <a:latin typeface="Consolas" panose="020B0609020204030204" pitchFamily="49" charset="0"/>
                          <a:cs typeface="Courier New" panose="02070309020205020404" pitchFamily="49" charset="0"/>
                        </a:rPr>
                        <a:t>stat path</a:t>
                      </a:r>
                    </a:p>
                  </a:txBody>
                  <a:tcPr anchor="ctr">
                    <a:lnL>
                      <a:noFill/>
                    </a:lnL>
                    <a:lnR>
                      <a:noFill/>
                    </a:lnR>
                    <a:lnT>
                      <a:noFill/>
                    </a:lnT>
                    <a:lnB>
                      <a:noFill/>
                    </a:lnB>
                    <a:noFill/>
                  </a:tcPr>
                </a:tc>
                <a:extLst>
                  <a:ext uri="{0D108BD9-81ED-4DB2-BD59-A6C34878D82A}">
                    <a16:rowId xmlns:a16="http://schemas.microsoft.com/office/drawing/2014/main" val="2618905141"/>
                  </a:ext>
                </a:extLst>
              </a:tr>
            </a:tbl>
          </a:graphicData>
        </a:graphic>
      </p:graphicFrame>
    </p:spTree>
    <p:extLst>
      <p:ext uri="{BB962C8B-B14F-4D97-AF65-F5344CB8AC3E}">
        <p14:creationId xmlns:p14="http://schemas.microsoft.com/office/powerpoint/2010/main" val="1912030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3C8FF-9D57-C917-5486-9DF6A2A13193}"/>
              </a:ext>
            </a:extLst>
          </p:cNvPr>
          <p:cNvSpPr>
            <a:spLocks noGrp="1"/>
          </p:cNvSpPr>
          <p:nvPr>
            <p:ph type="title"/>
          </p:nvPr>
        </p:nvSpPr>
        <p:spPr/>
        <p:txBody>
          <a:bodyPr/>
          <a:lstStyle/>
          <a:p>
            <a:r>
              <a:rPr lang="en-US" dirty="0" err="1"/>
              <a:t>Pathlib</a:t>
            </a:r>
            <a:r>
              <a:rPr lang="en-US" dirty="0"/>
              <a:t> MODULE</a:t>
            </a:r>
          </a:p>
        </p:txBody>
      </p:sp>
      <p:sp>
        <p:nvSpPr>
          <p:cNvPr id="5" name="TextBox 4">
            <a:extLst>
              <a:ext uri="{FF2B5EF4-FFF2-40B4-BE49-F238E27FC236}">
                <a16:creationId xmlns:a16="http://schemas.microsoft.com/office/drawing/2014/main" id="{0D2F5D29-5829-7D46-48F0-1383B37B0E8D}"/>
              </a:ext>
            </a:extLst>
          </p:cNvPr>
          <p:cNvSpPr txBox="1"/>
          <p:nvPr/>
        </p:nvSpPr>
        <p:spPr>
          <a:xfrm>
            <a:off x="464489" y="867350"/>
            <a:ext cx="7470913" cy="923330"/>
          </a:xfrm>
          <a:prstGeom prst="rect">
            <a:avLst/>
          </a:prstGeom>
          <a:noFill/>
        </p:spPr>
        <p:txBody>
          <a:bodyPr wrap="square" rtlCol="0">
            <a:spAutoFit/>
          </a:bodyPr>
          <a:lstStyle/>
          <a:p>
            <a:r>
              <a:rPr lang="en-US" dirty="0"/>
              <a:t>An object-oriented* focused path library</a:t>
            </a:r>
          </a:p>
          <a:p>
            <a:br>
              <a:rPr lang="en-US" dirty="0">
                <a:solidFill>
                  <a:schemeClr val="tx2"/>
                </a:solidFill>
                <a:latin typeface="Consolas" panose="020B0609020204030204" pitchFamily="49" charset="0"/>
              </a:rPr>
            </a:br>
            <a:endParaRPr lang="en-US" dirty="0">
              <a:solidFill>
                <a:schemeClr val="tx2"/>
              </a:solidFill>
              <a:latin typeface="Consolas" panose="020B06090202040302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4415F2D2-2B20-5D6E-8E5E-C90D04170D39}"/>
              </a:ext>
            </a:extLst>
          </p:cNvPr>
          <p:cNvSpPr txBox="1"/>
          <p:nvPr/>
        </p:nvSpPr>
        <p:spPr>
          <a:xfrm>
            <a:off x="548640" y="1447837"/>
            <a:ext cx="9146406" cy="5078313"/>
          </a:xfrm>
          <a:prstGeom prst="rect">
            <a:avLst/>
          </a:prstGeom>
          <a:noFill/>
        </p:spPr>
        <p:txBody>
          <a:bodyPr wrap="square">
            <a:spAutoFit/>
          </a:bodyPr>
          <a:lstStyle/>
          <a:p>
            <a:pPr>
              <a:buNone/>
            </a:pPr>
            <a:r>
              <a:rPr lang="en-US" dirty="0"/>
              <a:t>The </a:t>
            </a:r>
            <a:r>
              <a:rPr lang="en-US" dirty="0" err="1">
                <a:latin typeface="Courier New" panose="02070309020205020404" pitchFamily="49" charset="0"/>
              </a:rPr>
              <a:t>pathlib</a:t>
            </a:r>
            <a:r>
              <a:rPr lang="en-US" dirty="0"/>
              <a:t> module (introduced in Python 3.4) provides an </a:t>
            </a:r>
            <a:r>
              <a:rPr lang="en-US" b="1" dirty="0"/>
              <a:t>object-oriented approach to filesystem paths</a:t>
            </a:r>
            <a:r>
              <a:rPr lang="en-US" dirty="0"/>
              <a:t>, treating paths as objects rather than plain strings. It's the modern alternative to </a:t>
            </a:r>
            <a:r>
              <a:rPr lang="en-US" dirty="0" err="1">
                <a:latin typeface="Courier New" panose="02070309020205020404" pitchFamily="49" charset="0"/>
              </a:rPr>
              <a:t>os.path</a:t>
            </a:r>
            <a:r>
              <a:rPr lang="en-US" dirty="0"/>
              <a:t>.</a:t>
            </a:r>
          </a:p>
          <a:p>
            <a:pPr>
              <a:buNone/>
            </a:pPr>
            <a:endParaRPr lang="en-US" dirty="0"/>
          </a:p>
          <a:p>
            <a:pPr>
              <a:buNone/>
            </a:pPr>
            <a:r>
              <a:rPr lang="en-US" b="1" dirty="0"/>
              <a:t>Core purposes:</a:t>
            </a:r>
            <a:endParaRPr lang="en-US" dirty="0"/>
          </a:p>
          <a:p>
            <a:pPr>
              <a:buNone/>
            </a:pPr>
            <a:r>
              <a:rPr lang="en-US" b="1" dirty="0"/>
              <a:t>1. Path Creation &amp; Representation</a:t>
            </a:r>
            <a:endParaRPr lang="en-US" dirty="0"/>
          </a:p>
          <a:p>
            <a:pPr>
              <a:buFont typeface="Arial" panose="020B0604020202020204" pitchFamily="34" charset="0"/>
              <a:buChar char="•"/>
            </a:pPr>
            <a:r>
              <a:rPr lang="en-US" dirty="0"/>
              <a:t>Paths are objects, not strings: </a:t>
            </a:r>
            <a:r>
              <a:rPr lang="en-US" dirty="0">
                <a:latin typeface="Courier New" panose="02070309020205020404" pitchFamily="49" charset="0"/>
              </a:rPr>
              <a:t>p = Path("/home/user/file.txt")</a:t>
            </a:r>
            <a:endParaRPr lang="en-US" dirty="0"/>
          </a:p>
          <a:p>
            <a:pPr>
              <a:buFont typeface="Arial" panose="020B0604020202020204" pitchFamily="34" charset="0"/>
              <a:buChar char="•"/>
            </a:pPr>
            <a:r>
              <a:rPr lang="en-US" dirty="0"/>
              <a:t>Automatically handles </a:t>
            </a:r>
            <a:r>
              <a:rPr lang="en-US" dirty="0">
                <a:latin typeface="Courier New" panose="02070309020205020404" pitchFamily="49" charset="0"/>
              </a:rPr>
              <a:t>/</a:t>
            </a:r>
            <a:r>
              <a:rPr lang="en-US" dirty="0"/>
              <a:t> vs </a:t>
            </a:r>
            <a:r>
              <a:rPr lang="en-US" dirty="0">
                <a:latin typeface="Courier New" panose="02070309020205020404" pitchFamily="49" charset="0"/>
              </a:rPr>
              <a:t>\</a:t>
            </a:r>
            <a:r>
              <a:rPr lang="en-US" dirty="0"/>
              <a:t> across platforms</a:t>
            </a:r>
          </a:p>
          <a:p>
            <a:pPr>
              <a:buFont typeface="Arial" panose="020B0604020202020204" pitchFamily="34" charset="0"/>
              <a:buChar char="•"/>
            </a:pPr>
            <a:r>
              <a:rPr lang="en-US" dirty="0"/>
              <a:t>Use </a:t>
            </a:r>
            <a:r>
              <a:rPr lang="en-US" dirty="0">
                <a:latin typeface="Courier New" panose="02070309020205020404" pitchFamily="49" charset="0"/>
              </a:rPr>
              <a:t>/</a:t>
            </a:r>
            <a:r>
              <a:rPr lang="en-US" dirty="0"/>
              <a:t> operator to join paths intuitively: </a:t>
            </a:r>
            <a:r>
              <a:rPr lang="en-US" dirty="0">
                <a:latin typeface="Courier New" panose="02070309020205020404" pitchFamily="49" charset="0"/>
              </a:rPr>
              <a:t>Path("folder") / "sub" / "file.txt“</a:t>
            </a:r>
          </a:p>
          <a:p>
            <a:pPr>
              <a:buFont typeface="Arial" panose="020B0604020202020204" pitchFamily="34" charset="0"/>
              <a:buChar char="•"/>
            </a:pPr>
            <a:endParaRPr lang="en-US" dirty="0"/>
          </a:p>
          <a:p>
            <a:pPr>
              <a:buNone/>
            </a:pPr>
            <a:r>
              <a:rPr lang="en-US" b="1" dirty="0"/>
              <a:t>2. File &amp; Directory Operations</a:t>
            </a:r>
            <a:endParaRPr lang="en-US" dirty="0"/>
          </a:p>
          <a:p>
            <a:pPr>
              <a:buFont typeface="Arial" panose="020B0604020202020204" pitchFamily="34" charset="0"/>
              <a:buChar char="•"/>
            </a:pPr>
            <a:r>
              <a:rPr lang="en-US" dirty="0"/>
              <a:t>Create directories: </a:t>
            </a:r>
            <a:r>
              <a:rPr lang="en-US" dirty="0" err="1">
                <a:latin typeface="Courier New" panose="02070309020205020404" pitchFamily="49" charset="0"/>
              </a:rPr>
              <a:t>p.mkdir</a:t>
            </a:r>
            <a:r>
              <a:rPr lang="en-US" dirty="0">
                <a:latin typeface="Courier New" panose="02070309020205020404" pitchFamily="49" charset="0"/>
              </a:rPr>
              <a:t>(parents=True, </a:t>
            </a:r>
            <a:r>
              <a:rPr lang="en-US" dirty="0" err="1">
                <a:latin typeface="Courier New" panose="02070309020205020404" pitchFamily="49" charset="0"/>
              </a:rPr>
              <a:t>exist_ok</a:t>
            </a:r>
            <a:r>
              <a:rPr lang="en-US" dirty="0">
                <a:latin typeface="Courier New" panose="02070309020205020404" pitchFamily="49" charset="0"/>
              </a:rPr>
              <a:t>=True)</a:t>
            </a:r>
            <a:endParaRPr lang="en-US" dirty="0"/>
          </a:p>
          <a:p>
            <a:pPr>
              <a:buFont typeface="Arial" panose="020B0604020202020204" pitchFamily="34" charset="0"/>
              <a:buChar char="•"/>
            </a:pPr>
            <a:r>
              <a:rPr lang="en-US" dirty="0"/>
              <a:t>Delete files/</a:t>
            </a:r>
            <a:r>
              <a:rPr lang="en-US" dirty="0" err="1"/>
              <a:t>dirs</a:t>
            </a:r>
            <a:r>
              <a:rPr lang="en-US" dirty="0"/>
              <a:t>: </a:t>
            </a:r>
            <a:r>
              <a:rPr lang="en-US" dirty="0" err="1">
                <a:latin typeface="Courier New" panose="02070309020205020404" pitchFamily="49" charset="0"/>
              </a:rPr>
              <a:t>p.unlink</a:t>
            </a:r>
            <a:r>
              <a:rPr lang="en-US" dirty="0">
                <a:latin typeface="Courier New" panose="02070309020205020404" pitchFamily="49" charset="0"/>
              </a:rPr>
              <a:t>()</a:t>
            </a:r>
            <a:r>
              <a:rPr lang="en-US" dirty="0"/>
              <a:t>, </a:t>
            </a:r>
            <a:r>
              <a:rPr lang="en-US" dirty="0" err="1">
                <a:latin typeface="Courier New" panose="02070309020205020404" pitchFamily="49" charset="0"/>
              </a:rPr>
              <a:t>p.rmdir</a:t>
            </a:r>
            <a:r>
              <a:rPr lang="en-US" dirty="0">
                <a:latin typeface="Courier New" panose="02070309020205020404" pitchFamily="49" charset="0"/>
              </a:rPr>
              <a:t>()</a:t>
            </a:r>
            <a:endParaRPr lang="en-US" dirty="0"/>
          </a:p>
          <a:p>
            <a:pPr>
              <a:buFont typeface="Arial" panose="020B0604020202020204" pitchFamily="34" charset="0"/>
              <a:buChar char="•"/>
            </a:pPr>
            <a:r>
              <a:rPr lang="en-US" dirty="0"/>
              <a:t>Rename/move: </a:t>
            </a:r>
            <a:r>
              <a:rPr lang="en-US" dirty="0" err="1">
                <a:latin typeface="Courier New" panose="02070309020205020404" pitchFamily="49" charset="0"/>
              </a:rPr>
              <a:t>p.rename</a:t>
            </a:r>
            <a:r>
              <a:rPr lang="en-US" dirty="0">
                <a:latin typeface="Courier New" panose="02070309020205020404" pitchFamily="49" charset="0"/>
              </a:rPr>
              <a:t>("new_name.txt")</a:t>
            </a:r>
            <a:endParaRPr lang="en-US" dirty="0"/>
          </a:p>
          <a:p>
            <a:pPr>
              <a:buFont typeface="Arial" panose="020B0604020202020204" pitchFamily="34" charset="0"/>
              <a:buChar char="•"/>
            </a:pPr>
            <a:r>
              <a:rPr lang="en-US" dirty="0"/>
              <a:t>Check existence: </a:t>
            </a:r>
            <a:r>
              <a:rPr lang="en-US" dirty="0" err="1">
                <a:latin typeface="Courier New" panose="02070309020205020404" pitchFamily="49" charset="0"/>
              </a:rPr>
              <a:t>p.exists</a:t>
            </a:r>
            <a:r>
              <a:rPr lang="en-US" dirty="0">
                <a:latin typeface="Courier New" panose="02070309020205020404" pitchFamily="49" charset="0"/>
              </a:rPr>
              <a:t>()</a:t>
            </a:r>
            <a:r>
              <a:rPr lang="en-US" dirty="0"/>
              <a:t>, </a:t>
            </a:r>
            <a:r>
              <a:rPr lang="en-US" dirty="0" err="1">
                <a:latin typeface="Courier New" panose="02070309020205020404" pitchFamily="49" charset="0"/>
              </a:rPr>
              <a:t>p.is_file</a:t>
            </a:r>
            <a:r>
              <a:rPr lang="en-US" dirty="0">
                <a:latin typeface="Courier New" panose="02070309020205020404" pitchFamily="49" charset="0"/>
              </a:rPr>
              <a:t>()</a:t>
            </a:r>
            <a:r>
              <a:rPr lang="en-US" dirty="0"/>
              <a:t>, </a:t>
            </a:r>
            <a:r>
              <a:rPr lang="en-US" dirty="0" err="1">
                <a:latin typeface="Courier New" panose="02070309020205020404" pitchFamily="49" charset="0"/>
              </a:rPr>
              <a:t>p.is_dir</a:t>
            </a:r>
            <a:r>
              <a:rPr lang="en-US" dirty="0">
                <a:latin typeface="Courier New" panose="02070309020205020404" pitchFamily="49" charset="0"/>
              </a:rPr>
              <a:t>()</a:t>
            </a:r>
          </a:p>
          <a:p>
            <a:pPr>
              <a:buFont typeface="Arial" panose="020B0604020202020204" pitchFamily="34" charset="0"/>
              <a:buChar char="•"/>
            </a:pPr>
            <a:endParaRPr lang="en-US" dirty="0"/>
          </a:p>
          <a:p>
            <a:pPr>
              <a:buNone/>
            </a:pPr>
            <a:r>
              <a:rPr lang="en-US" b="1" dirty="0"/>
              <a:t>3. Reading &amp; Writing Files</a:t>
            </a:r>
            <a:endParaRPr lang="en-US" dirty="0"/>
          </a:p>
          <a:p>
            <a:pPr>
              <a:buFont typeface="Arial" panose="020B0604020202020204" pitchFamily="34" charset="0"/>
              <a:buChar char="•"/>
            </a:pPr>
            <a:r>
              <a:rPr lang="en-US" dirty="0"/>
              <a:t>Built-in read/write without needing </a:t>
            </a:r>
            <a:r>
              <a:rPr lang="en-US" dirty="0">
                <a:latin typeface="Courier New" panose="02070309020205020404" pitchFamily="49" charset="0"/>
              </a:rPr>
              <a:t>open()</a:t>
            </a:r>
            <a:r>
              <a:rPr lang="en-US" dirty="0"/>
              <a:t>:</a:t>
            </a:r>
          </a:p>
        </p:txBody>
      </p:sp>
    </p:spTree>
    <p:extLst>
      <p:ext uri="{BB962C8B-B14F-4D97-AF65-F5344CB8AC3E}">
        <p14:creationId xmlns:p14="http://schemas.microsoft.com/office/powerpoint/2010/main" val="327235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EF1D-F5B6-86E4-49B4-405224A24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6AC84-B985-1029-ED7C-8E99DFAA3330}"/>
              </a:ext>
            </a:extLst>
          </p:cNvPr>
          <p:cNvSpPr>
            <a:spLocks noGrp="1"/>
          </p:cNvSpPr>
          <p:nvPr>
            <p:ph type="title"/>
          </p:nvPr>
        </p:nvSpPr>
        <p:spPr/>
        <p:txBody>
          <a:bodyPr/>
          <a:lstStyle/>
          <a:p>
            <a:r>
              <a:rPr lang="en-US" dirty="0" err="1"/>
              <a:t>Pathlib</a:t>
            </a:r>
            <a:r>
              <a:rPr lang="en-US" dirty="0"/>
              <a:t> MODULE CHEATSHEET</a:t>
            </a:r>
          </a:p>
        </p:txBody>
      </p:sp>
      <p:graphicFrame>
        <p:nvGraphicFramePr>
          <p:cNvPr id="4" name="Content Placeholder 3">
            <a:extLst>
              <a:ext uri="{FF2B5EF4-FFF2-40B4-BE49-F238E27FC236}">
                <a16:creationId xmlns:a16="http://schemas.microsoft.com/office/drawing/2014/main" id="{043B90EC-F1C0-A604-0EDB-A3A8317A0A30}"/>
              </a:ext>
            </a:extLst>
          </p:cNvPr>
          <p:cNvGraphicFramePr>
            <a:graphicFrameLocks noGrp="1"/>
          </p:cNvGraphicFramePr>
          <p:nvPr>
            <p:ph idx="4294967295"/>
          </p:nvPr>
        </p:nvGraphicFramePr>
        <p:xfrm>
          <a:off x="569843" y="2117311"/>
          <a:ext cx="10515600" cy="3413760"/>
        </p:xfrm>
        <a:graphic>
          <a:graphicData uri="http://schemas.openxmlformats.org/drawingml/2006/table">
            <a:tbl>
              <a:tblPr/>
              <a:tblGrid>
                <a:gridCol w="3213632">
                  <a:extLst>
                    <a:ext uri="{9D8B030D-6E8A-4147-A177-3AD203B41FA5}">
                      <a16:colId xmlns:a16="http://schemas.microsoft.com/office/drawing/2014/main" val="1408973611"/>
                    </a:ext>
                  </a:extLst>
                </a:gridCol>
                <a:gridCol w="7301968">
                  <a:extLst>
                    <a:ext uri="{9D8B030D-6E8A-4147-A177-3AD203B41FA5}">
                      <a16:colId xmlns:a16="http://schemas.microsoft.com/office/drawing/2014/main" val="347485130"/>
                    </a:ext>
                  </a:extLst>
                </a:gridCol>
              </a:tblGrid>
              <a:tr h="0">
                <a:tc>
                  <a:txBody>
                    <a:bodyPr/>
                    <a:lstStyle/>
                    <a:p>
                      <a:pPr>
                        <a:buNone/>
                      </a:pPr>
                      <a:r>
                        <a:rPr lang="en-US" b="1" dirty="0"/>
                        <a:t>Operation</a:t>
                      </a:r>
                    </a:p>
                  </a:txBody>
                  <a:tcPr anchor="ctr">
                    <a:lnL>
                      <a:noFill/>
                    </a:lnL>
                    <a:lnR>
                      <a:noFill/>
                    </a:lnR>
                    <a:lnT>
                      <a:noFill/>
                    </a:lnT>
                    <a:lnB>
                      <a:noFill/>
                    </a:lnB>
                    <a:noFill/>
                  </a:tcPr>
                </a:tc>
                <a:tc>
                  <a:txBody>
                    <a:bodyPr/>
                    <a:lstStyle/>
                    <a:p>
                      <a:pPr>
                        <a:buNone/>
                      </a:pPr>
                      <a:r>
                        <a:rPr lang="en-US" b="1" dirty="0"/>
                        <a:t>Example Code</a:t>
                      </a:r>
                    </a:p>
                  </a:txBody>
                  <a:tcPr anchor="ctr">
                    <a:lnL>
                      <a:noFill/>
                    </a:lnL>
                    <a:lnR>
                      <a:noFill/>
                    </a:lnR>
                    <a:lnT>
                      <a:noFill/>
                    </a:lnT>
                    <a:lnB>
                      <a:noFill/>
                    </a:lnB>
                    <a:noFill/>
                  </a:tcPr>
                </a:tc>
                <a:extLst>
                  <a:ext uri="{0D108BD9-81ED-4DB2-BD59-A6C34878D82A}">
                    <a16:rowId xmlns:a16="http://schemas.microsoft.com/office/drawing/2014/main" val="826799150"/>
                  </a:ext>
                </a:extLst>
              </a:tr>
              <a:tr h="0">
                <a:tc>
                  <a:txBody>
                    <a:bodyPr/>
                    <a:lstStyle/>
                    <a:p>
                      <a:pPr>
                        <a:buNone/>
                      </a:pPr>
                      <a:r>
                        <a:rPr lang="en-US" b="0" dirty="0"/>
                        <a:t>Create / Join Path</a:t>
                      </a:r>
                    </a:p>
                  </a:txBody>
                  <a:tcPr anchor="ctr">
                    <a:lnL>
                      <a:noFill/>
                    </a:lnL>
                    <a:lnR>
                      <a:noFill/>
                    </a:lnR>
                    <a:lnT>
                      <a:noFill/>
                    </a:lnT>
                    <a:lnB>
                      <a:noFill/>
                    </a:lnB>
                    <a:noFill/>
                  </a:tcPr>
                </a:tc>
                <a:tc>
                  <a:txBody>
                    <a:bodyPr/>
                    <a:lstStyle/>
                    <a:p>
                      <a:pPr>
                        <a:buNone/>
                      </a:pPr>
                      <a:r>
                        <a:rPr lang="en-US" b="1" dirty="0">
                          <a:solidFill>
                            <a:schemeClr val="tx2"/>
                          </a:solidFill>
                          <a:latin typeface="Courier New" panose="02070309020205020404" pitchFamily="49" charset="0"/>
                          <a:cs typeface="Courier New" panose="02070309020205020404" pitchFamily="49" charset="0"/>
                        </a:rPr>
                        <a:t>Path('folder') / 'file.txt'</a:t>
                      </a:r>
                    </a:p>
                  </a:txBody>
                  <a:tcPr anchor="ctr">
                    <a:lnL>
                      <a:noFill/>
                    </a:lnL>
                    <a:lnR>
                      <a:noFill/>
                    </a:lnR>
                    <a:lnT>
                      <a:noFill/>
                    </a:lnT>
                    <a:lnB>
                      <a:noFill/>
                    </a:lnB>
                    <a:noFill/>
                  </a:tcPr>
                </a:tc>
                <a:extLst>
                  <a:ext uri="{0D108BD9-81ED-4DB2-BD59-A6C34878D82A}">
                    <a16:rowId xmlns:a16="http://schemas.microsoft.com/office/drawing/2014/main" val="437166011"/>
                  </a:ext>
                </a:extLst>
              </a:tr>
              <a:tr h="0">
                <a:tc>
                  <a:txBody>
                    <a:bodyPr/>
                    <a:lstStyle/>
                    <a:p>
                      <a:pPr>
                        <a:buNone/>
                      </a:pPr>
                      <a:r>
                        <a:rPr lang="en-US" b="0" dirty="0"/>
                        <a:t>Check Existence</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p.exists</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p.is_file</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p.is_dir</a:t>
                      </a:r>
                      <a:r>
                        <a:rPr lang="en-US" b="1" dirty="0">
                          <a:solidFill>
                            <a:schemeClr val="tx2"/>
                          </a:solidFill>
                          <a:latin typeface="Courier New" panose="02070309020205020404" pitchFamily="49" charset="0"/>
                          <a:cs typeface="Courier New" panose="02070309020205020404" pitchFamily="49" charset="0"/>
                        </a:rPr>
                        <a:t>()</a:t>
                      </a:r>
                    </a:p>
                  </a:txBody>
                  <a:tcPr anchor="ctr">
                    <a:lnL>
                      <a:noFill/>
                    </a:lnL>
                    <a:lnR>
                      <a:noFill/>
                    </a:lnR>
                    <a:lnT>
                      <a:noFill/>
                    </a:lnT>
                    <a:lnB>
                      <a:noFill/>
                    </a:lnB>
                    <a:noFill/>
                  </a:tcPr>
                </a:tc>
                <a:extLst>
                  <a:ext uri="{0D108BD9-81ED-4DB2-BD59-A6C34878D82A}">
                    <a16:rowId xmlns:a16="http://schemas.microsoft.com/office/drawing/2014/main" val="963200749"/>
                  </a:ext>
                </a:extLst>
              </a:tr>
              <a:tr h="0">
                <a:tc>
                  <a:txBody>
                    <a:bodyPr/>
                    <a:lstStyle/>
                    <a:p>
                      <a:pPr>
                        <a:buNone/>
                      </a:pPr>
                      <a:r>
                        <a:rPr lang="en-US" b="0"/>
                        <a:t>Read / Write File</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p.read_text</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p.write_text</a:t>
                      </a:r>
                      <a:r>
                        <a:rPr lang="en-US" b="1" dirty="0">
                          <a:solidFill>
                            <a:schemeClr val="tx2"/>
                          </a:solidFill>
                          <a:latin typeface="Courier New" panose="02070309020205020404" pitchFamily="49" charset="0"/>
                          <a:cs typeface="Courier New" panose="02070309020205020404" pitchFamily="49" charset="0"/>
                        </a:rPr>
                        <a:t>('Hello')</a:t>
                      </a:r>
                    </a:p>
                  </a:txBody>
                  <a:tcPr anchor="ctr">
                    <a:lnL>
                      <a:noFill/>
                    </a:lnL>
                    <a:lnR>
                      <a:noFill/>
                    </a:lnR>
                    <a:lnT>
                      <a:noFill/>
                    </a:lnT>
                    <a:lnB>
                      <a:noFill/>
                    </a:lnB>
                    <a:noFill/>
                  </a:tcPr>
                </a:tc>
                <a:extLst>
                  <a:ext uri="{0D108BD9-81ED-4DB2-BD59-A6C34878D82A}">
                    <a16:rowId xmlns:a16="http://schemas.microsoft.com/office/drawing/2014/main" val="2609797804"/>
                  </a:ext>
                </a:extLst>
              </a:tr>
              <a:tr h="0">
                <a:tc>
                  <a:txBody>
                    <a:bodyPr/>
                    <a:lstStyle/>
                    <a:p>
                      <a:pPr>
                        <a:buNone/>
                      </a:pPr>
                      <a:r>
                        <a:rPr lang="en-US" b="0" dirty="0"/>
                        <a:t>Create Directory</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p.mkdir</a:t>
                      </a: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exist_ok</a:t>
                      </a:r>
                      <a:r>
                        <a:rPr lang="en-US" b="1" dirty="0">
                          <a:solidFill>
                            <a:schemeClr val="tx2"/>
                          </a:solidFill>
                          <a:latin typeface="Courier New" panose="02070309020205020404" pitchFamily="49" charset="0"/>
                          <a:cs typeface="Courier New" panose="02070309020205020404" pitchFamily="49" charset="0"/>
                        </a:rPr>
                        <a:t>=True)</a:t>
                      </a:r>
                    </a:p>
                  </a:txBody>
                  <a:tcPr anchor="ctr">
                    <a:lnL>
                      <a:noFill/>
                    </a:lnL>
                    <a:lnR>
                      <a:noFill/>
                    </a:lnR>
                    <a:lnT>
                      <a:noFill/>
                    </a:lnT>
                    <a:lnB>
                      <a:noFill/>
                    </a:lnB>
                    <a:noFill/>
                  </a:tcPr>
                </a:tc>
                <a:extLst>
                  <a:ext uri="{0D108BD9-81ED-4DB2-BD59-A6C34878D82A}">
                    <a16:rowId xmlns:a16="http://schemas.microsoft.com/office/drawing/2014/main" val="3986848441"/>
                  </a:ext>
                </a:extLst>
              </a:tr>
              <a:tr h="0">
                <a:tc>
                  <a:txBody>
                    <a:bodyPr/>
                    <a:lstStyle/>
                    <a:p>
                      <a:pPr>
                        <a:buNone/>
                      </a:pPr>
                      <a:r>
                        <a:rPr lang="en-US" b="0" dirty="0"/>
                        <a:t>List Contents</a:t>
                      </a:r>
                    </a:p>
                  </a:txBody>
                  <a:tcPr anchor="ctr">
                    <a:lnL>
                      <a:noFill/>
                    </a:lnL>
                    <a:lnR>
                      <a:noFill/>
                    </a:lnR>
                    <a:lnT>
                      <a:noFill/>
                    </a:lnT>
                    <a:lnB>
                      <a:noFill/>
                    </a:lnB>
                    <a:noFill/>
                  </a:tcPr>
                </a:tc>
                <a:tc>
                  <a:txBody>
                    <a:bodyPr/>
                    <a:lstStyle/>
                    <a:p>
                      <a:pPr>
                        <a:buNone/>
                      </a:pPr>
                      <a:r>
                        <a:rPr lang="en-US" b="1" dirty="0">
                          <a:solidFill>
                            <a:schemeClr val="tx2"/>
                          </a:solidFill>
                          <a:latin typeface="Courier New" panose="02070309020205020404" pitchFamily="49" charset="0"/>
                          <a:cs typeface="Courier New" panose="02070309020205020404" pitchFamily="49" charset="0"/>
                        </a:rPr>
                        <a:t>for f in Path('.').</a:t>
                      </a:r>
                      <a:r>
                        <a:rPr lang="en-US" b="1" dirty="0" err="1">
                          <a:solidFill>
                            <a:schemeClr val="tx2"/>
                          </a:solidFill>
                          <a:latin typeface="Courier New" panose="02070309020205020404" pitchFamily="49" charset="0"/>
                          <a:cs typeface="Courier New" panose="02070309020205020404" pitchFamily="49" charset="0"/>
                        </a:rPr>
                        <a:t>iterdir</a:t>
                      </a:r>
                      <a:r>
                        <a:rPr lang="en-US" b="1" dirty="0">
                          <a:solidFill>
                            <a:schemeClr val="tx2"/>
                          </a:solidFill>
                          <a:latin typeface="Courier New" panose="02070309020205020404" pitchFamily="49" charset="0"/>
                          <a:cs typeface="Courier New" panose="02070309020205020404" pitchFamily="49" charset="0"/>
                        </a:rPr>
                        <a:t>():</a:t>
                      </a:r>
                      <a:br>
                        <a:rPr lang="en-US" b="1" dirty="0">
                          <a:solidFill>
                            <a:schemeClr val="tx2"/>
                          </a:solidFill>
                          <a:latin typeface="Courier New" panose="02070309020205020404" pitchFamily="49" charset="0"/>
                          <a:cs typeface="Courier New" panose="02070309020205020404" pitchFamily="49" charset="0"/>
                        </a:rPr>
                      </a:br>
                      <a:r>
                        <a:rPr lang="en-US" b="1" dirty="0">
                          <a:solidFill>
                            <a:schemeClr val="tx2"/>
                          </a:solidFill>
                          <a:latin typeface="Courier New" panose="02070309020205020404" pitchFamily="49" charset="0"/>
                          <a:cs typeface="Courier New" panose="02070309020205020404" pitchFamily="49" charset="0"/>
                        </a:rPr>
                        <a:t>  print(f)</a:t>
                      </a:r>
                    </a:p>
                  </a:txBody>
                  <a:tcPr anchor="ctr">
                    <a:lnL>
                      <a:noFill/>
                    </a:lnL>
                    <a:lnR>
                      <a:noFill/>
                    </a:lnR>
                    <a:lnT>
                      <a:noFill/>
                    </a:lnT>
                    <a:lnB>
                      <a:noFill/>
                    </a:lnB>
                    <a:noFill/>
                  </a:tcPr>
                </a:tc>
                <a:extLst>
                  <a:ext uri="{0D108BD9-81ED-4DB2-BD59-A6C34878D82A}">
                    <a16:rowId xmlns:a16="http://schemas.microsoft.com/office/drawing/2014/main" val="3480103114"/>
                  </a:ext>
                </a:extLst>
              </a:tr>
              <a:tr h="0">
                <a:tc>
                  <a:txBody>
                    <a:bodyPr/>
                    <a:lstStyle/>
                    <a:p>
                      <a:pPr>
                        <a:buNone/>
                      </a:pPr>
                      <a:r>
                        <a:rPr lang="en-US" b="0" dirty="0"/>
                        <a:t>Search Files</a:t>
                      </a:r>
                    </a:p>
                  </a:txBody>
                  <a:tcPr anchor="ctr">
                    <a:lnL>
                      <a:noFill/>
                    </a:lnL>
                    <a:lnR>
                      <a:noFill/>
                    </a:lnR>
                    <a:lnT>
                      <a:noFill/>
                    </a:lnT>
                    <a:lnB>
                      <a:noFill/>
                    </a:lnB>
                    <a:noFill/>
                  </a:tcPr>
                </a:tc>
                <a:tc>
                  <a:txBody>
                    <a:bodyPr/>
                    <a:lstStyle/>
                    <a:p>
                      <a:pPr>
                        <a:buNone/>
                      </a:pPr>
                      <a:r>
                        <a:rPr lang="en-US" b="1" dirty="0">
                          <a:solidFill>
                            <a:schemeClr val="tx2"/>
                          </a:solidFill>
                          <a:latin typeface="Courier New" panose="02070309020205020404" pitchFamily="49" charset="0"/>
                          <a:cs typeface="Courier New" panose="02070309020205020404" pitchFamily="49" charset="0"/>
                        </a:rPr>
                        <a:t>Path('logs').glob('*.txt')</a:t>
                      </a:r>
                    </a:p>
                  </a:txBody>
                  <a:tcPr anchor="ctr">
                    <a:lnL>
                      <a:noFill/>
                    </a:lnL>
                    <a:lnR>
                      <a:noFill/>
                    </a:lnR>
                    <a:lnT>
                      <a:noFill/>
                    </a:lnT>
                    <a:lnB>
                      <a:noFill/>
                    </a:lnB>
                    <a:noFill/>
                  </a:tcPr>
                </a:tc>
                <a:extLst>
                  <a:ext uri="{0D108BD9-81ED-4DB2-BD59-A6C34878D82A}">
                    <a16:rowId xmlns:a16="http://schemas.microsoft.com/office/drawing/2014/main" val="2812529604"/>
                  </a:ext>
                </a:extLst>
              </a:tr>
              <a:tr h="0">
                <a:tc>
                  <a:txBody>
                    <a:bodyPr/>
                    <a:lstStyle/>
                    <a:p>
                      <a:pPr>
                        <a:buNone/>
                      </a:pPr>
                      <a:r>
                        <a:rPr lang="en-US" b="0" dirty="0"/>
                        <a:t>Remove File</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p.unlink</a:t>
                      </a:r>
                      <a:r>
                        <a:rPr lang="en-US" b="1" dirty="0">
                          <a:solidFill>
                            <a:schemeClr val="tx2"/>
                          </a:solidFill>
                          <a:latin typeface="Courier New" panose="02070309020205020404" pitchFamily="49" charset="0"/>
                          <a:cs typeface="Courier New" panose="02070309020205020404" pitchFamily="49" charset="0"/>
                        </a:rPr>
                        <a:t>()</a:t>
                      </a:r>
                    </a:p>
                  </a:txBody>
                  <a:tcPr anchor="ctr">
                    <a:lnL>
                      <a:noFill/>
                    </a:lnL>
                    <a:lnR>
                      <a:noFill/>
                    </a:lnR>
                    <a:lnT>
                      <a:noFill/>
                    </a:lnT>
                    <a:lnB>
                      <a:noFill/>
                    </a:lnB>
                    <a:noFill/>
                  </a:tcPr>
                </a:tc>
                <a:extLst>
                  <a:ext uri="{0D108BD9-81ED-4DB2-BD59-A6C34878D82A}">
                    <a16:rowId xmlns:a16="http://schemas.microsoft.com/office/drawing/2014/main" val="2680021797"/>
                  </a:ext>
                </a:extLst>
              </a:tr>
              <a:tr h="0">
                <a:tc>
                  <a:txBody>
                    <a:bodyPr/>
                    <a:lstStyle/>
                    <a:p>
                      <a:pPr>
                        <a:buNone/>
                      </a:pPr>
                      <a:r>
                        <a:rPr lang="en-US" b="0" dirty="0"/>
                        <a:t>Get File Info</a:t>
                      </a:r>
                    </a:p>
                  </a:txBody>
                  <a:tcPr anchor="ctr">
                    <a:lnL>
                      <a:noFill/>
                    </a:lnL>
                    <a:lnR>
                      <a:noFill/>
                    </a:lnR>
                    <a:lnT>
                      <a:noFill/>
                    </a:lnT>
                    <a:lnB>
                      <a:noFill/>
                    </a:lnB>
                    <a:noFill/>
                  </a:tcPr>
                </a:tc>
                <a:tc>
                  <a:txBody>
                    <a:bodyPr/>
                    <a:lstStyle/>
                    <a:p>
                      <a:pPr>
                        <a:buNone/>
                      </a:pPr>
                      <a:r>
                        <a:rPr lang="en-US" b="1" dirty="0" err="1">
                          <a:solidFill>
                            <a:schemeClr val="tx2"/>
                          </a:solidFill>
                          <a:latin typeface="Courier New" panose="02070309020205020404" pitchFamily="49" charset="0"/>
                          <a:cs typeface="Courier New" panose="02070309020205020404" pitchFamily="49" charset="0"/>
                        </a:rPr>
                        <a:t>p.stat</a:t>
                      </a: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st_size</a:t>
                      </a:r>
                      <a:r>
                        <a:rPr lang="en-US" b="1" dirty="0">
                          <a:solidFill>
                            <a:schemeClr val="tx2"/>
                          </a:solidFill>
                          <a:latin typeface="Courier New" panose="02070309020205020404" pitchFamily="49" charset="0"/>
                          <a:cs typeface="Courier New" panose="02070309020205020404" pitchFamily="49" charset="0"/>
                        </a:rPr>
                        <a:t>, </a:t>
                      </a:r>
                      <a:r>
                        <a:rPr lang="en-US" b="1" dirty="0" err="1">
                          <a:solidFill>
                            <a:schemeClr val="tx2"/>
                          </a:solidFill>
                          <a:latin typeface="Courier New" panose="02070309020205020404" pitchFamily="49" charset="0"/>
                          <a:cs typeface="Courier New" panose="02070309020205020404" pitchFamily="49" charset="0"/>
                        </a:rPr>
                        <a:t>p.stat</a:t>
                      </a: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st_mtime</a:t>
                      </a:r>
                      <a:endParaRPr lang="en-US" b="1" dirty="0">
                        <a:solidFill>
                          <a:schemeClr val="tx2"/>
                        </a:solidFill>
                        <a:latin typeface="Courier New" panose="02070309020205020404" pitchFamily="49" charset="0"/>
                        <a:cs typeface="Courier New" panose="02070309020205020404" pitchFamily="49" charset="0"/>
                      </a:endParaRPr>
                    </a:p>
                  </a:txBody>
                  <a:tcPr anchor="ctr">
                    <a:lnL>
                      <a:noFill/>
                    </a:lnL>
                    <a:lnR>
                      <a:noFill/>
                    </a:lnR>
                    <a:lnT>
                      <a:noFill/>
                    </a:lnT>
                    <a:lnB>
                      <a:noFill/>
                    </a:lnB>
                    <a:noFill/>
                  </a:tcPr>
                </a:tc>
                <a:extLst>
                  <a:ext uri="{0D108BD9-81ED-4DB2-BD59-A6C34878D82A}">
                    <a16:rowId xmlns:a16="http://schemas.microsoft.com/office/drawing/2014/main" val="1581360997"/>
                  </a:ext>
                </a:extLst>
              </a:tr>
            </a:tbl>
          </a:graphicData>
        </a:graphic>
      </p:graphicFrame>
      <p:sp>
        <p:nvSpPr>
          <p:cNvPr id="5" name="TextBox 4">
            <a:extLst>
              <a:ext uri="{FF2B5EF4-FFF2-40B4-BE49-F238E27FC236}">
                <a16:creationId xmlns:a16="http://schemas.microsoft.com/office/drawing/2014/main" id="{16EC0023-4749-02D7-5418-81CFC6532CFF}"/>
              </a:ext>
            </a:extLst>
          </p:cNvPr>
          <p:cNvSpPr txBox="1"/>
          <p:nvPr/>
        </p:nvSpPr>
        <p:spPr>
          <a:xfrm>
            <a:off x="464489" y="867350"/>
            <a:ext cx="7470913" cy="923330"/>
          </a:xfrm>
          <a:prstGeom prst="rect">
            <a:avLst/>
          </a:prstGeom>
          <a:noFill/>
        </p:spPr>
        <p:txBody>
          <a:bodyPr wrap="square" rtlCol="0">
            <a:spAutoFit/>
          </a:bodyPr>
          <a:lstStyle/>
          <a:p>
            <a:r>
              <a:rPr lang="en-US" dirty="0"/>
              <a:t>An object-oriented* focused path library</a:t>
            </a:r>
          </a:p>
          <a:p>
            <a:br>
              <a:rPr lang="en-US" dirty="0">
                <a:solidFill>
                  <a:schemeClr val="tx2"/>
                </a:solidFill>
                <a:latin typeface="Consolas" panose="020B0609020204030204" pitchFamily="49" charset="0"/>
              </a:rPr>
            </a:br>
            <a:r>
              <a:rPr lang="en-US" dirty="0">
                <a:solidFill>
                  <a:schemeClr val="tx2"/>
                </a:solidFill>
                <a:latin typeface="Consolas" panose="020B0609020204030204" pitchFamily="49" charset="0"/>
                <a:cs typeface="Courier New" panose="02070309020205020404" pitchFamily="49" charset="0"/>
              </a:rPr>
              <a:t>from </a:t>
            </a:r>
            <a:r>
              <a:rPr lang="en-US" dirty="0" err="1">
                <a:solidFill>
                  <a:schemeClr val="tx2"/>
                </a:solidFill>
                <a:latin typeface="Consolas" panose="020B0609020204030204" pitchFamily="49" charset="0"/>
                <a:cs typeface="Courier New" panose="02070309020205020404" pitchFamily="49" charset="0"/>
              </a:rPr>
              <a:t>pathlib</a:t>
            </a:r>
            <a:r>
              <a:rPr lang="en-US" dirty="0">
                <a:solidFill>
                  <a:schemeClr val="tx2"/>
                </a:solidFill>
                <a:latin typeface="Consolas" panose="020B0609020204030204" pitchFamily="49" charset="0"/>
                <a:cs typeface="Courier New" panose="02070309020205020404" pitchFamily="49" charset="0"/>
              </a:rPr>
              <a:t> import Path</a:t>
            </a:r>
          </a:p>
        </p:txBody>
      </p:sp>
    </p:spTree>
    <p:extLst>
      <p:ext uri="{BB962C8B-B14F-4D97-AF65-F5344CB8AC3E}">
        <p14:creationId xmlns:p14="http://schemas.microsoft.com/office/powerpoint/2010/main" val="3009404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0A79DFE-CA6D-199F-1D8F-0A25E480F345}"/>
              </a:ext>
            </a:extLst>
          </p:cNvPr>
          <p:cNvSpPr>
            <a:spLocks noGrp="1"/>
          </p:cNvSpPr>
          <p:nvPr>
            <p:ph type="title"/>
          </p:nvPr>
        </p:nvSpPr>
        <p:spPr/>
        <p:txBody>
          <a:bodyPr/>
          <a:lstStyle/>
          <a:p>
            <a:r>
              <a:rPr lang="en-US" dirty="0"/>
              <a:t>Hands-On #1</a:t>
            </a:r>
          </a:p>
        </p:txBody>
      </p:sp>
      <p:sp>
        <p:nvSpPr>
          <p:cNvPr id="8" name="Content Placeholder 7">
            <a:extLst>
              <a:ext uri="{FF2B5EF4-FFF2-40B4-BE49-F238E27FC236}">
                <a16:creationId xmlns:a16="http://schemas.microsoft.com/office/drawing/2014/main" id="{0C8DBF7A-ABA5-7245-19D0-84C717D30964}"/>
              </a:ext>
            </a:extLst>
          </p:cNvPr>
          <p:cNvSpPr>
            <a:spLocks noGrp="1"/>
          </p:cNvSpPr>
          <p:nvPr>
            <p:ph type="body" sz="quarter" idx="11"/>
          </p:nvPr>
        </p:nvSpPr>
        <p:spPr/>
        <p:txBody>
          <a:bodyPr/>
          <a:lstStyle/>
          <a:p>
            <a:r>
              <a:rPr lang="en-US" dirty="0"/>
              <a:t>Navigating file structures with python</a:t>
            </a:r>
          </a:p>
          <a:p>
            <a:endParaRPr lang="en-US" dirty="0"/>
          </a:p>
        </p:txBody>
      </p:sp>
    </p:spTree>
    <p:extLst>
      <p:ext uri="{BB962C8B-B14F-4D97-AF65-F5344CB8AC3E}">
        <p14:creationId xmlns:p14="http://schemas.microsoft.com/office/powerpoint/2010/main" val="4018436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9CDD8-6080-6002-43DF-A45AE5E3FD8C}"/>
              </a:ext>
            </a:extLst>
          </p:cNvPr>
          <p:cNvSpPr>
            <a:spLocks noGrp="1"/>
          </p:cNvSpPr>
          <p:nvPr>
            <p:ph type="title"/>
          </p:nvPr>
        </p:nvSpPr>
        <p:spPr/>
        <p:txBody>
          <a:bodyPr/>
          <a:lstStyle/>
          <a:p>
            <a:r>
              <a:rPr lang="en-US" dirty="0"/>
              <a:t>Manipulating files</a:t>
            </a:r>
          </a:p>
        </p:txBody>
      </p:sp>
      <p:sp>
        <p:nvSpPr>
          <p:cNvPr id="3" name="Text Placeholder 2">
            <a:extLst>
              <a:ext uri="{FF2B5EF4-FFF2-40B4-BE49-F238E27FC236}">
                <a16:creationId xmlns:a16="http://schemas.microsoft.com/office/drawing/2014/main" id="{ED48EDCE-F294-B711-19E1-CC0FFC24F34E}"/>
              </a:ext>
            </a:extLst>
          </p:cNvPr>
          <p:cNvSpPr>
            <a:spLocks noGrp="1"/>
          </p:cNvSpPr>
          <p:nvPr>
            <p:ph type="body" sz="quarter" idx="11"/>
          </p:nvPr>
        </p:nvSpPr>
        <p:spPr/>
        <p:txBody>
          <a:bodyPr/>
          <a:lstStyle/>
          <a:p>
            <a:endParaRPr lang="en-US"/>
          </a:p>
        </p:txBody>
      </p:sp>
      <p:pic>
        <p:nvPicPr>
          <p:cNvPr id="6" name="Content Placeholder 5">
            <a:extLst>
              <a:ext uri="{FF2B5EF4-FFF2-40B4-BE49-F238E27FC236}">
                <a16:creationId xmlns:a16="http://schemas.microsoft.com/office/drawing/2014/main" id="{242163BC-A88E-CDCA-639D-5B3C8DC3E870}"/>
              </a:ext>
            </a:extLst>
          </p:cNvPr>
          <p:cNvPicPr>
            <a:picLocks noGrp="1" noChangeAspect="1"/>
          </p:cNvPicPr>
          <p:nvPr>
            <p:ph idx="4294967295"/>
          </p:nvPr>
        </p:nvPicPr>
        <p:blipFill>
          <a:blip r:embed="rId2"/>
          <a:stretch>
            <a:fillRect/>
          </a:stretch>
        </p:blipFill>
        <p:spPr>
          <a:xfrm>
            <a:off x="0" y="1108957"/>
            <a:ext cx="7466275" cy="5058481"/>
          </a:xfrm>
        </p:spPr>
      </p:pic>
    </p:spTree>
    <p:extLst>
      <p:ext uri="{BB962C8B-B14F-4D97-AF65-F5344CB8AC3E}">
        <p14:creationId xmlns:p14="http://schemas.microsoft.com/office/powerpoint/2010/main" val="2862347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909A96-B147-C0B7-6931-24BF30567220}"/>
              </a:ext>
            </a:extLst>
          </p:cNvPr>
          <p:cNvSpPr>
            <a:spLocks noGrp="1"/>
          </p:cNvSpPr>
          <p:nvPr>
            <p:ph type="title"/>
          </p:nvPr>
        </p:nvSpPr>
        <p:spPr/>
        <p:txBody>
          <a:bodyPr/>
          <a:lstStyle/>
          <a:p>
            <a:r>
              <a:rPr lang="en-US" dirty="0"/>
              <a:t>Common Actions</a:t>
            </a:r>
          </a:p>
        </p:txBody>
      </p:sp>
      <p:graphicFrame>
        <p:nvGraphicFramePr>
          <p:cNvPr id="7" name="Content Placeholder 6">
            <a:extLst>
              <a:ext uri="{FF2B5EF4-FFF2-40B4-BE49-F238E27FC236}">
                <a16:creationId xmlns:a16="http://schemas.microsoft.com/office/drawing/2014/main" id="{1388E7BE-1112-2D62-6248-B7586DC811DD}"/>
              </a:ext>
            </a:extLst>
          </p:cNvPr>
          <p:cNvGraphicFramePr>
            <a:graphicFrameLocks noGrp="1"/>
          </p:cNvGraphicFramePr>
          <p:nvPr>
            <p:ph idx="4294967295"/>
            <p:extLst>
              <p:ext uri="{D42A27DB-BD31-4B8C-83A1-F6EECF244321}">
                <p14:modId xmlns:p14="http://schemas.microsoft.com/office/powerpoint/2010/main" val="3099997113"/>
              </p:ext>
            </p:extLst>
          </p:nvPr>
        </p:nvGraphicFramePr>
        <p:xfrm>
          <a:off x="2250219" y="1529317"/>
          <a:ext cx="6762941" cy="4355832"/>
        </p:xfrm>
        <a:graphic>
          <a:graphicData uri="http://schemas.openxmlformats.org/drawingml/2006/table">
            <a:tbl>
              <a:tblPr/>
              <a:tblGrid>
                <a:gridCol w="2631882">
                  <a:extLst>
                    <a:ext uri="{9D8B030D-6E8A-4147-A177-3AD203B41FA5}">
                      <a16:colId xmlns:a16="http://schemas.microsoft.com/office/drawing/2014/main" val="3937651176"/>
                    </a:ext>
                  </a:extLst>
                </a:gridCol>
                <a:gridCol w="4131059">
                  <a:extLst>
                    <a:ext uri="{9D8B030D-6E8A-4147-A177-3AD203B41FA5}">
                      <a16:colId xmlns:a16="http://schemas.microsoft.com/office/drawing/2014/main" val="2019659395"/>
                    </a:ext>
                  </a:extLst>
                </a:gridCol>
              </a:tblGrid>
              <a:tr h="334718">
                <a:tc>
                  <a:txBody>
                    <a:bodyPr/>
                    <a:lstStyle/>
                    <a:p>
                      <a:pPr>
                        <a:buNone/>
                      </a:pPr>
                      <a:r>
                        <a:rPr lang="en-US" sz="1600" b="1" dirty="0"/>
                        <a:t>Operation</a:t>
                      </a:r>
                    </a:p>
                  </a:txBody>
                  <a:tcPr marL="54069" marR="54069" marT="41840" marB="41840" anchor="ctr">
                    <a:lnL>
                      <a:noFill/>
                    </a:lnL>
                    <a:lnR>
                      <a:noFill/>
                    </a:lnR>
                    <a:lnT>
                      <a:noFill/>
                    </a:lnT>
                    <a:lnB>
                      <a:noFill/>
                    </a:lnB>
                    <a:noFill/>
                  </a:tcPr>
                </a:tc>
                <a:tc>
                  <a:txBody>
                    <a:bodyPr/>
                    <a:lstStyle/>
                    <a:p>
                      <a:pPr>
                        <a:buNone/>
                      </a:pPr>
                      <a:r>
                        <a:rPr lang="en-US" sz="1600" b="1" dirty="0"/>
                        <a:t>Description</a:t>
                      </a:r>
                    </a:p>
                  </a:txBody>
                  <a:tcPr marL="54069" marR="54069" marT="41840" marB="41840" anchor="ctr">
                    <a:lnL>
                      <a:noFill/>
                    </a:lnL>
                    <a:lnR>
                      <a:noFill/>
                    </a:lnR>
                    <a:lnT>
                      <a:noFill/>
                    </a:lnT>
                    <a:lnB>
                      <a:noFill/>
                    </a:lnB>
                    <a:noFill/>
                  </a:tcPr>
                </a:tc>
                <a:extLst>
                  <a:ext uri="{0D108BD9-81ED-4DB2-BD59-A6C34878D82A}">
                    <a16:rowId xmlns:a16="http://schemas.microsoft.com/office/drawing/2014/main" val="2888546582"/>
                  </a:ext>
                </a:extLst>
              </a:tr>
              <a:tr h="585757">
                <a:tc>
                  <a:txBody>
                    <a:bodyPr/>
                    <a:lstStyle/>
                    <a:p>
                      <a:pPr>
                        <a:buNone/>
                      </a:pPr>
                      <a:r>
                        <a:rPr lang="en-US" sz="1600" dirty="0">
                          <a:solidFill>
                            <a:schemeClr val="tx2"/>
                          </a:solidFill>
                          <a:latin typeface="Consolas" panose="020B0609020204030204" pitchFamily="49" charset="0"/>
                          <a:cs typeface="Courier New" panose="02070309020205020404" pitchFamily="49" charset="0"/>
                        </a:rPr>
                        <a:t>with open('file.txt', 'r') as f:</a:t>
                      </a:r>
                      <a:br>
                        <a:rPr lang="en-US" sz="1600" dirty="0">
                          <a:solidFill>
                            <a:schemeClr val="tx2"/>
                          </a:solidFill>
                          <a:latin typeface="Consolas" panose="020B0609020204030204" pitchFamily="49" charset="0"/>
                          <a:cs typeface="Courier New" panose="02070309020205020404" pitchFamily="49" charset="0"/>
                        </a:rPr>
                      </a:br>
                      <a:r>
                        <a:rPr lang="en-US" sz="1600" dirty="0">
                          <a:solidFill>
                            <a:schemeClr val="tx2"/>
                          </a:solidFill>
                          <a:latin typeface="Consolas" panose="020B0609020204030204" pitchFamily="49" charset="0"/>
                          <a:cs typeface="Courier New" panose="02070309020205020404" pitchFamily="49" charset="0"/>
                        </a:rPr>
                        <a:t>  pass</a:t>
                      </a:r>
                    </a:p>
                  </a:txBody>
                  <a:tcPr marL="54069" marR="54069" marT="41840" marB="41840" anchor="ctr">
                    <a:lnL>
                      <a:noFill/>
                    </a:lnL>
                    <a:lnR>
                      <a:noFill/>
                    </a:lnR>
                    <a:lnT>
                      <a:noFill/>
                    </a:lnT>
                    <a:lnB>
                      <a:noFill/>
                    </a:lnB>
                    <a:noFill/>
                  </a:tcPr>
                </a:tc>
                <a:tc>
                  <a:txBody>
                    <a:bodyPr/>
                    <a:lstStyle/>
                    <a:p>
                      <a:pPr>
                        <a:buNone/>
                      </a:pPr>
                      <a:r>
                        <a:rPr lang="en-US" sz="1600" dirty="0"/>
                        <a:t>Prepare a file for reading</a:t>
                      </a:r>
                    </a:p>
                  </a:txBody>
                  <a:tcPr marL="54069" marR="54069" marT="41840" marB="41840" anchor="ctr">
                    <a:lnL>
                      <a:noFill/>
                    </a:lnL>
                    <a:lnR>
                      <a:noFill/>
                    </a:lnR>
                    <a:lnT>
                      <a:noFill/>
                    </a:lnT>
                    <a:lnB>
                      <a:noFill/>
                    </a:lnB>
                    <a:noFill/>
                  </a:tcPr>
                </a:tc>
                <a:extLst>
                  <a:ext uri="{0D108BD9-81ED-4DB2-BD59-A6C34878D82A}">
                    <a16:rowId xmlns:a16="http://schemas.microsoft.com/office/drawing/2014/main" val="2516975046"/>
                  </a:ext>
                </a:extLst>
              </a:tr>
              <a:tr h="334718">
                <a:tc>
                  <a:txBody>
                    <a:bodyPr/>
                    <a:lstStyle/>
                    <a:p>
                      <a:pPr>
                        <a:buNone/>
                      </a:pPr>
                      <a:r>
                        <a:rPr lang="en-US" sz="1600" dirty="0" err="1">
                          <a:solidFill>
                            <a:schemeClr val="tx2"/>
                          </a:solidFill>
                          <a:latin typeface="Consolas" panose="020B0609020204030204" pitchFamily="49" charset="0"/>
                          <a:cs typeface="Courier New" panose="02070309020205020404" pitchFamily="49" charset="0"/>
                        </a:rPr>
                        <a:t>f.read</a:t>
                      </a:r>
                      <a:r>
                        <a:rPr lang="en-US" sz="1600" dirty="0">
                          <a:solidFill>
                            <a:schemeClr val="tx2"/>
                          </a:solidFill>
                          <a:latin typeface="Consolas" panose="020B0609020204030204" pitchFamily="49" charset="0"/>
                          <a:cs typeface="Courier New" panose="02070309020205020404" pitchFamily="49" charset="0"/>
                        </a:rPr>
                        <a:t>()</a:t>
                      </a:r>
                    </a:p>
                  </a:txBody>
                  <a:tcPr marL="54069" marR="54069" marT="41840" marB="41840" anchor="ctr">
                    <a:lnL>
                      <a:noFill/>
                    </a:lnL>
                    <a:lnR>
                      <a:noFill/>
                    </a:lnR>
                    <a:lnT>
                      <a:noFill/>
                    </a:lnT>
                    <a:lnB>
                      <a:noFill/>
                    </a:lnB>
                    <a:noFill/>
                  </a:tcPr>
                </a:tc>
                <a:tc>
                  <a:txBody>
                    <a:bodyPr/>
                    <a:lstStyle/>
                    <a:p>
                      <a:pPr>
                        <a:buNone/>
                      </a:pPr>
                      <a:r>
                        <a:rPr lang="en-US" sz="1600"/>
                        <a:t>Read entire file as a string</a:t>
                      </a:r>
                    </a:p>
                  </a:txBody>
                  <a:tcPr marL="54069" marR="54069" marT="41840" marB="41840" anchor="ctr">
                    <a:lnL>
                      <a:noFill/>
                    </a:lnL>
                    <a:lnR>
                      <a:noFill/>
                    </a:lnR>
                    <a:lnT>
                      <a:noFill/>
                    </a:lnT>
                    <a:lnB>
                      <a:noFill/>
                    </a:lnB>
                    <a:noFill/>
                  </a:tcPr>
                </a:tc>
                <a:extLst>
                  <a:ext uri="{0D108BD9-81ED-4DB2-BD59-A6C34878D82A}">
                    <a16:rowId xmlns:a16="http://schemas.microsoft.com/office/drawing/2014/main" val="1359915918"/>
                  </a:ext>
                </a:extLst>
              </a:tr>
              <a:tr h="334718">
                <a:tc>
                  <a:txBody>
                    <a:bodyPr/>
                    <a:lstStyle/>
                    <a:p>
                      <a:pPr>
                        <a:buNone/>
                      </a:pPr>
                      <a:r>
                        <a:rPr lang="en-US" sz="1600" dirty="0" err="1">
                          <a:solidFill>
                            <a:schemeClr val="tx2"/>
                          </a:solidFill>
                          <a:latin typeface="Consolas" panose="020B0609020204030204" pitchFamily="49" charset="0"/>
                          <a:cs typeface="Courier New" panose="02070309020205020404" pitchFamily="49" charset="0"/>
                        </a:rPr>
                        <a:t>f.readlines</a:t>
                      </a:r>
                      <a:r>
                        <a:rPr lang="en-US" sz="1600" dirty="0">
                          <a:solidFill>
                            <a:schemeClr val="tx2"/>
                          </a:solidFill>
                          <a:latin typeface="Consolas" panose="020B0609020204030204" pitchFamily="49" charset="0"/>
                          <a:cs typeface="Courier New" panose="02070309020205020404" pitchFamily="49" charset="0"/>
                        </a:rPr>
                        <a:t>()</a:t>
                      </a:r>
                    </a:p>
                  </a:txBody>
                  <a:tcPr marL="54069" marR="54069" marT="41840" marB="41840" anchor="ctr">
                    <a:lnL>
                      <a:noFill/>
                    </a:lnL>
                    <a:lnR>
                      <a:noFill/>
                    </a:lnR>
                    <a:lnT>
                      <a:noFill/>
                    </a:lnT>
                    <a:lnB>
                      <a:noFill/>
                    </a:lnB>
                    <a:noFill/>
                  </a:tcPr>
                </a:tc>
                <a:tc>
                  <a:txBody>
                    <a:bodyPr/>
                    <a:lstStyle/>
                    <a:p>
                      <a:pPr>
                        <a:buNone/>
                      </a:pPr>
                      <a:r>
                        <a:rPr lang="en-US" sz="1600"/>
                        <a:t>Read file line by line into a list</a:t>
                      </a:r>
                    </a:p>
                  </a:txBody>
                  <a:tcPr marL="54069" marR="54069" marT="41840" marB="41840" anchor="ctr">
                    <a:lnL>
                      <a:noFill/>
                    </a:lnL>
                    <a:lnR>
                      <a:noFill/>
                    </a:lnR>
                    <a:lnT>
                      <a:noFill/>
                    </a:lnT>
                    <a:lnB>
                      <a:noFill/>
                    </a:lnB>
                    <a:noFill/>
                  </a:tcPr>
                </a:tc>
                <a:extLst>
                  <a:ext uri="{0D108BD9-81ED-4DB2-BD59-A6C34878D82A}">
                    <a16:rowId xmlns:a16="http://schemas.microsoft.com/office/drawing/2014/main" val="1233964758"/>
                  </a:ext>
                </a:extLst>
              </a:tr>
              <a:tr h="334718">
                <a:tc>
                  <a:txBody>
                    <a:bodyPr/>
                    <a:lstStyle/>
                    <a:p>
                      <a:pPr>
                        <a:buNone/>
                      </a:pPr>
                      <a:r>
                        <a:rPr lang="en-US" sz="1600" dirty="0">
                          <a:solidFill>
                            <a:schemeClr val="tx2"/>
                          </a:solidFill>
                          <a:latin typeface="Consolas" panose="020B0609020204030204" pitchFamily="49" charset="0"/>
                          <a:cs typeface="Courier New" panose="02070309020205020404" pitchFamily="49" charset="0"/>
                        </a:rPr>
                        <a:t>for line in f:</a:t>
                      </a:r>
                    </a:p>
                    <a:p>
                      <a:pPr>
                        <a:buNone/>
                      </a:pPr>
                      <a:r>
                        <a:rPr lang="en-US" sz="1600" dirty="0">
                          <a:solidFill>
                            <a:schemeClr val="tx2"/>
                          </a:solidFill>
                          <a:latin typeface="Consolas" panose="020B0609020204030204" pitchFamily="49" charset="0"/>
                          <a:cs typeface="Courier New" panose="02070309020205020404" pitchFamily="49" charset="0"/>
                        </a:rPr>
                        <a:t>  pass</a:t>
                      </a:r>
                    </a:p>
                  </a:txBody>
                  <a:tcPr marL="54069" marR="54069" marT="41840" marB="41840" anchor="ctr">
                    <a:lnL>
                      <a:noFill/>
                    </a:lnL>
                    <a:lnR>
                      <a:noFill/>
                    </a:lnR>
                    <a:lnT>
                      <a:noFill/>
                    </a:lnT>
                    <a:lnB>
                      <a:noFill/>
                    </a:lnB>
                    <a:noFill/>
                  </a:tcPr>
                </a:tc>
                <a:tc>
                  <a:txBody>
                    <a:bodyPr/>
                    <a:lstStyle/>
                    <a:p>
                      <a:pPr>
                        <a:buNone/>
                      </a:pPr>
                      <a:r>
                        <a:rPr lang="en-US" sz="1600" dirty="0"/>
                        <a:t>Loop through file line by line</a:t>
                      </a:r>
                    </a:p>
                  </a:txBody>
                  <a:tcPr marL="54069" marR="54069" marT="41840" marB="41840" anchor="ctr">
                    <a:lnL>
                      <a:noFill/>
                    </a:lnL>
                    <a:lnR>
                      <a:noFill/>
                    </a:lnR>
                    <a:lnT>
                      <a:noFill/>
                    </a:lnT>
                    <a:lnB>
                      <a:noFill/>
                    </a:lnB>
                    <a:noFill/>
                  </a:tcPr>
                </a:tc>
                <a:extLst>
                  <a:ext uri="{0D108BD9-81ED-4DB2-BD59-A6C34878D82A}">
                    <a16:rowId xmlns:a16="http://schemas.microsoft.com/office/drawing/2014/main" val="4106517580"/>
                  </a:ext>
                </a:extLst>
              </a:tr>
              <a:tr h="585757">
                <a:tc>
                  <a:txBody>
                    <a:bodyPr/>
                    <a:lstStyle/>
                    <a:p>
                      <a:pPr>
                        <a:buNone/>
                      </a:pPr>
                      <a:r>
                        <a:rPr lang="en-US" sz="1600" dirty="0">
                          <a:solidFill>
                            <a:schemeClr val="tx2"/>
                          </a:solidFill>
                          <a:latin typeface="Consolas" panose="020B0609020204030204" pitchFamily="49" charset="0"/>
                          <a:cs typeface="Courier New" panose="02070309020205020404" pitchFamily="49" charset="0"/>
                        </a:rPr>
                        <a:t>with open('file.txt', 'w') as f:</a:t>
                      </a:r>
                      <a:br>
                        <a:rPr lang="en-US" sz="1600" dirty="0">
                          <a:solidFill>
                            <a:schemeClr val="tx2"/>
                          </a:solidFill>
                          <a:latin typeface="Consolas" panose="020B0609020204030204" pitchFamily="49" charset="0"/>
                          <a:cs typeface="Courier New" panose="02070309020205020404" pitchFamily="49" charset="0"/>
                        </a:rPr>
                      </a:br>
                      <a:r>
                        <a:rPr lang="en-US" sz="1600" dirty="0">
                          <a:solidFill>
                            <a:schemeClr val="tx2"/>
                          </a:solidFill>
                          <a:latin typeface="Consolas" panose="020B0609020204030204" pitchFamily="49" charset="0"/>
                          <a:cs typeface="Courier New" panose="02070309020205020404" pitchFamily="49" charset="0"/>
                        </a:rPr>
                        <a:t>  </a:t>
                      </a:r>
                      <a:r>
                        <a:rPr lang="en-US" sz="1600" dirty="0" err="1">
                          <a:solidFill>
                            <a:schemeClr val="tx2"/>
                          </a:solidFill>
                          <a:latin typeface="Consolas" panose="020B0609020204030204" pitchFamily="49" charset="0"/>
                          <a:cs typeface="Courier New" panose="02070309020205020404" pitchFamily="49" charset="0"/>
                        </a:rPr>
                        <a:t>f.write</a:t>
                      </a:r>
                      <a:r>
                        <a:rPr lang="en-US" sz="1600" dirty="0">
                          <a:solidFill>
                            <a:schemeClr val="tx2"/>
                          </a:solidFill>
                          <a:latin typeface="Consolas" panose="020B0609020204030204" pitchFamily="49" charset="0"/>
                          <a:cs typeface="Courier New" panose="02070309020205020404" pitchFamily="49" charset="0"/>
                        </a:rPr>
                        <a:t>()</a:t>
                      </a:r>
                    </a:p>
                  </a:txBody>
                  <a:tcPr marL="54069" marR="54069" marT="41840" marB="41840" anchor="ctr">
                    <a:lnL>
                      <a:noFill/>
                    </a:lnL>
                    <a:lnR>
                      <a:noFill/>
                    </a:lnR>
                    <a:lnT>
                      <a:noFill/>
                    </a:lnT>
                    <a:lnB>
                      <a:noFill/>
                    </a:lnB>
                    <a:noFill/>
                  </a:tcPr>
                </a:tc>
                <a:tc>
                  <a:txBody>
                    <a:bodyPr/>
                    <a:lstStyle/>
                    <a:p>
                      <a:pPr>
                        <a:buNone/>
                      </a:pPr>
                      <a:r>
                        <a:rPr lang="en-US" sz="1600"/>
                        <a:t>Overwrite with new content</a:t>
                      </a:r>
                    </a:p>
                  </a:txBody>
                  <a:tcPr marL="54069" marR="54069" marT="41840" marB="41840" anchor="ctr">
                    <a:lnL>
                      <a:noFill/>
                    </a:lnL>
                    <a:lnR>
                      <a:noFill/>
                    </a:lnR>
                    <a:lnT>
                      <a:noFill/>
                    </a:lnT>
                    <a:lnB>
                      <a:noFill/>
                    </a:lnB>
                    <a:noFill/>
                  </a:tcPr>
                </a:tc>
                <a:extLst>
                  <a:ext uri="{0D108BD9-81ED-4DB2-BD59-A6C34878D82A}">
                    <a16:rowId xmlns:a16="http://schemas.microsoft.com/office/drawing/2014/main" val="1274082115"/>
                  </a:ext>
                </a:extLst>
              </a:tr>
              <a:tr h="585757">
                <a:tc>
                  <a:txBody>
                    <a:bodyPr/>
                    <a:lstStyle/>
                    <a:p>
                      <a:pPr>
                        <a:buNone/>
                      </a:pPr>
                      <a:r>
                        <a:rPr lang="en-US" sz="1600" dirty="0">
                          <a:solidFill>
                            <a:schemeClr val="tx2"/>
                          </a:solidFill>
                          <a:latin typeface="Consolas" panose="020B0609020204030204" pitchFamily="49" charset="0"/>
                          <a:cs typeface="Courier New" panose="02070309020205020404" pitchFamily="49" charset="0"/>
                        </a:rPr>
                        <a:t>with open('file.txt', 'a') as f:</a:t>
                      </a:r>
                      <a:br>
                        <a:rPr lang="en-US" sz="1600" dirty="0">
                          <a:solidFill>
                            <a:schemeClr val="tx2"/>
                          </a:solidFill>
                          <a:latin typeface="Consolas" panose="020B0609020204030204" pitchFamily="49" charset="0"/>
                          <a:cs typeface="Courier New" panose="02070309020205020404" pitchFamily="49" charset="0"/>
                        </a:rPr>
                      </a:br>
                      <a:r>
                        <a:rPr lang="en-US" sz="1600" dirty="0">
                          <a:solidFill>
                            <a:schemeClr val="tx2"/>
                          </a:solidFill>
                          <a:latin typeface="Consolas" panose="020B0609020204030204" pitchFamily="49" charset="0"/>
                          <a:cs typeface="Courier New" panose="02070309020205020404" pitchFamily="49" charset="0"/>
                        </a:rPr>
                        <a:t>  pass</a:t>
                      </a:r>
                    </a:p>
                  </a:txBody>
                  <a:tcPr marL="54069" marR="54069" marT="41840" marB="41840" anchor="ctr">
                    <a:lnL>
                      <a:noFill/>
                    </a:lnL>
                    <a:lnR>
                      <a:noFill/>
                    </a:lnR>
                    <a:lnT>
                      <a:noFill/>
                    </a:lnT>
                    <a:lnB>
                      <a:noFill/>
                    </a:lnB>
                    <a:noFill/>
                  </a:tcPr>
                </a:tc>
                <a:tc>
                  <a:txBody>
                    <a:bodyPr/>
                    <a:lstStyle/>
                    <a:p>
                      <a:pPr>
                        <a:buNone/>
                      </a:pPr>
                      <a:r>
                        <a:rPr lang="en-US" sz="1600" dirty="0"/>
                        <a:t>Add content to end without erasing existing</a:t>
                      </a:r>
                    </a:p>
                  </a:txBody>
                  <a:tcPr marL="54069" marR="54069" marT="41840" marB="41840" anchor="ctr">
                    <a:lnL>
                      <a:noFill/>
                    </a:lnL>
                    <a:lnR>
                      <a:noFill/>
                    </a:lnR>
                    <a:lnT>
                      <a:noFill/>
                    </a:lnT>
                    <a:lnB>
                      <a:noFill/>
                    </a:lnB>
                    <a:noFill/>
                  </a:tcPr>
                </a:tc>
                <a:extLst>
                  <a:ext uri="{0D108BD9-81ED-4DB2-BD59-A6C34878D82A}">
                    <a16:rowId xmlns:a16="http://schemas.microsoft.com/office/drawing/2014/main" val="590201874"/>
                  </a:ext>
                </a:extLst>
              </a:tr>
              <a:tr h="334718">
                <a:tc>
                  <a:txBody>
                    <a:bodyPr/>
                    <a:lstStyle/>
                    <a:p>
                      <a:pPr>
                        <a:buNone/>
                      </a:pPr>
                      <a:r>
                        <a:rPr lang="en-US" sz="1600" dirty="0" err="1">
                          <a:solidFill>
                            <a:schemeClr val="tx2"/>
                          </a:solidFill>
                          <a:latin typeface="Consolas" panose="020B0609020204030204" pitchFamily="49" charset="0"/>
                          <a:cs typeface="Courier New" panose="02070309020205020404" pitchFamily="49" charset="0"/>
                        </a:rPr>
                        <a:t>f.writelines</a:t>
                      </a:r>
                      <a:r>
                        <a:rPr lang="en-US" sz="1600" dirty="0">
                          <a:solidFill>
                            <a:schemeClr val="tx2"/>
                          </a:solidFill>
                          <a:latin typeface="Consolas" panose="020B0609020204030204" pitchFamily="49" charset="0"/>
                          <a:cs typeface="Courier New" panose="02070309020205020404" pitchFamily="49" charset="0"/>
                        </a:rPr>
                        <a:t>(lines)</a:t>
                      </a:r>
                    </a:p>
                  </a:txBody>
                  <a:tcPr marL="54069" marR="54069" marT="41840" marB="41840" anchor="ctr">
                    <a:lnL>
                      <a:noFill/>
                    </a:lnL>
                    <a:lnR>
                      <a:noFill/>
                    </a:lnR>
                    <a:lnT>
                      <a:noFill/>
                    </a:lnT>
                    <a:lnB>
                      <a:noFill/>
                    </a:lnB>
                    <a:noFill/>
                  </a:tcPr>
                </a:tc>
                <a:tc>
                  <a:txBody>
                    <a:bodyPr/>
                    <a:lstStyle/>
                    <a:p>
                      <a:pPr>
                        <a:buNone/>
                      </a:pPr>
                      <a:r>
                        <a:rPr lang="en-US" sz="1600" dirty="0"/>
                        <a:t>Write a list of strings</a:t>
                      </a:r>
                    </a:p>
                  </a:txBody>
                  <a:tcPr marL="54069" marR="54069" marT="41840" marB="41840" anchor="ctr">
                    <a:lnL>
                      <a:noFill/>
                    </a:lnL>
                    <a:lnR>
                      <a:noFill/>
                    </a:lnR>
                    <a:lnT>
                      <a:noFill/>
                    </a:lnT>
                    <a:lnB>
                      <a:noFill/>
                    </a:lnB>
                    <a:noFill/>
                  </a:tcPr>
                </a:tc>
                <a:extLst>
                  <a:ext uri="{0D108BD9-81ED-4DB2-BD59-A6C34878D82A}">
                    <a16:rowId xmlns:a16="http://schemas.microsoft.com/office/drawing/2014/main" val="4183087875"/>
                  </a:ext>
                </a:extLst>
              </a:tr>
            </a:tbl>
          </a:graphicData>
        </a:graphic>
      </p:graphicFrame>
    </p:spTree>
    <p:extLst>
      <p:ext uri="{BB962C8B-B14F-4D97-AF65-F5344CB8AC3E}">
        <p14:creationId xmlns:p14="http://schemas.microsoft.com/office/powerpoint/2010/main" val="2222337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C732B-C0CE-A8CC-4FEF-491CF35AB684}"/>
              </a:ext>
            </a:extLst>
          </p:cNvPr>
          <p:cNvSpPr>
            <a:spLocks noGrp="1"/>
          </p:cNvSpPr>
          <p:nvPr>
            <p:ph type="title"/>
          </p:nvPr>
        </p:nvSpPr>
        <p:spPr/>
        <p:txBody>
          <a:bodyPr/>
          <a:lstStyle/>
          <a:p>
            <a:r>
              <a:rPr lang="en-US" dirty="0"/>
              <a:t>A word about context managers</a:t>
            </a:r>
          </a:p>
        </p:txBody>
      </p:sp>
      <p:pic>
        <p:nvPicPr>
          <p:cNvPr id="7" name="Content Placeholder 6">
            <a:extLst>
              <a:ext uri="{FF2B5EF4-FFF2-40B4-BE49-F238E27FC236}">
                <a16:creationId xmlns:a16="http://schemas.microsoft.com/office/drawing/2014/main" id="{60CE308F-920C-D8CC-CD6B-88212B274861}"/>
              </a:ext>
            </a:extLst>
          </p:cNvPr>
          <p:cNvPicPr>
            <a:picLocks noGrp="1" noChangeAspect="1"/>
          </p:cNvPicPr>
          <p:nvPr>
            <p:ph sz="half" idx="4294967295"/>
          </p:nvPr>
        </p:nvPicPr>
        <p:blipFill>
          <a:blip r:embed="rId3"/>
          <a:stretch>
            <a:fillRect/>
          </a:stretch>
        </p:blipFill>
        <p:spPr>
          <a:xfrm>
            <a:off x="191386" y="1600518"/>
            <a:ext cx="7738252" cy="1401135"/>
          </a:xfrm>
        </p:spPr>
      </p:pic>
      <p:pic>
        <p:nvPicPr>
          <p:cNvPr id="9" name="Content Placeholder 8">
            <a:extLst>
              <a:ext uri="{FF2B5EF4-FFF2-40B4-BE49-F238E27FC236}">
                <a16:creationId xmlns:a16="http://schemas.microsoft.com/office/drawing/2014/main" id="{AE1785C3-B737-6AE0-022D-86EB020BB4A4}"/>
              </a:ext>
            </a:extLst>
          </p:cNvPr>
          <p:cNvPicPr>
            <a:picLocks noGrp="1" noChangeAspect="1"/>
          </p:cNvPicPr>
          <p:nvPr>
            <p:ph sz="half" idx="4294967295"/>
          </p:nvPr>
        </p:nvPicPr>
        <p:blipFill>
          <a:blip r:embed="rId4"/>
          <a:stretch>
            <a:fillRect/>
          </a:stretch>
        </p:blipFill>
        <p:spPr>
          <a:xfrm>
            <a:off x="191386" y="3910530"/>
            <a:ext cx="8406804" cy="1401134"/>
          </a:xfrm>
        </p:spPr>
      </p:pic>
    </p:spTree>
    <p:extLst>
      <p:ext uri="{BB962C8B-B14F-4D97-AF65-F5344CB8AC3E}">
        <p14:creationId xmlns:p14="http://schemas.microsoft.com/office/powerpoint/2010/main" val="2612667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48DEDE-6A36-9908-9DD1-7ACF621226A8}"/>
              </a:ext>
            </a:extLst>
          </p:cNvPr>
          <p:cNvSpPr>
            <a:spLocks noGrp="1"/>
          </p:cNvSpPr>
          <p:nvPr>
            <p:ph type="title"/>
          </p:nvPr>
        </p:nvSpPr>
        <p:spPr/>
        <p:txBody>
          <a:bodyPr/>
          <a:lstStyle/>
          <a:p>
            <a:r>
              <a:rPr lang="en-US" dirty="0"/>
              <a:t>Another word…</a:t>
            </a:r>
          </a:p>
        </p:txBody>
      </p:sp>
      <p:pic>
        <p:nvPicPr>
          <p:cNvPr id="8" name="Content Placeholder 7">
            <a:extLst>
              <a:ext uri="{FF2B5EF4-FFF2-40B4-BE49-F238E27FC236}">
                <a16:creationId xmlns:a16="http://schemas.microsoft.com/office/drawing/2014/main" id="{E9459C75-8E15-77A8-710F-D2EEC8AB06C9}"/>
              </a:ext>
            </a:extLst>
          </p:cNvPr>
          <p:cNvPicPr>
            <a:picLocks noGrp="1" noChangeAspect="1"/>
          </p:cNvPicPr>
          <p:nvPr>
            <p:ph idx="4294967295"/>
          </p:nvPr>
        </p:nvPicPr>
        <p:blipFill>
          <a:blip r:embed="rId2"/>
          <a:stretch>
            <a:fillRect/>
          </a:stretch>
        </p:blipFill>
        <p:spPr>
          <a:xfrm>
            <a:off x="333153" y="1383933"/>
            <a:ext cx="11015321" cy="1189037"/>
          </a:xfrm>
        </p:spPr>
      </p:pic>
    </p:spTree>
    <p:extLst>
      <p:ext uri="{BB962C8B-B14F-4D97-AF65-F5344CB8AC3E}">
        <p14:creationId xmlns:p14="http://schemas.microsoft.com/office/powerpoint/2010/main" val="3021022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703F05-852F-AE03-891C-5F619074CC0A}"/>
              </a:ext>
            </a:extLst>
          </p:cNvPr>
          <p:cNvSpPr>
            <a:spLocks noGrp="1"/>
          </p:cNvSpPr>
          <p:nvPr>
            <p:ph type="title"/>
          </p:nvPr>
        </p:nvSpPr>
        <p:spPr/>
        <p:txBody>
          <a:bodyPr/>
          <a:lstStyle/>
          <a:p>
            <a:r>
              <a:rPr lang="en-US" dirty="0"/>
              <a:t>Hands-On #2</a:t>
            </a:r>
          </a:p>
        </p:txBody>
      </p:sp>
      <p:sp>
        <p:nvSpPr>
          <p:cNvPr id="6" name="Content Placeholder 5">
            <a:extLst>
              <a:ext uri="{FF2B5EF4-FFF2-40B4-BE49-F238E27FC236}">
                <a16:creationId xmlns:a16="http://schemas.microsoft.com/office/drawing/2014/main" id="{7CC8BCFF-F88D-9947-8910-B16FF4E68C8D}"/>
              </a:ext>
            </a:extLst>
          </p:cNvPr>
          <p:cNvSpPr>
            <a:spLocks noGrp="1"/>
          </p:cNvSpPr>
          <p:nvPr>
            <p:ph type="body" sz="quarter" idx="11"/>
          </p:nvPr>
        </p:nvSpPr>
        <p:spPr/>
        <p:txBody>
          <a:bodyPr/>
          <a:lstStyle/>
          <a:p>
            <a:r>
              <a:rPr lang="en-US" dirty="0"/>
              <a:t>Manipulate files in python</a:t>
            </a:r>
          </a:p>
        </p:txBody>
      </p:sp>
    </p:spTree>
    <p:extLst>
      <p:ext uri="{BB962C8B-B14F-4D97-AF65-F5344CB8AC3E}">
        <p14:creationId xmlns:p14="http://schemas.microsoft.com/office/powerpoint/2010/main" val="863485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D62AE3-67D3-4386-F1B7-88A1EB58BB8F}"/>
              </a:ext>
            </a:extLst>
          </p:cNvPr>
          <p:cNvSpPr>
            <a:spLocks noGrp="1"/>
          </p:cNvSpPr>
          <p:nvPr>
            <p:ph type="title"/>
          </p:nvPr>
        </p:nvSpPr>
        <p:spPr>
          <a:xfrm>
            <a:off x="513199" y="1133475"/>
            <a:ext cx="8231293" cy="1189037"/>
          </a:xfrm>
        </p:spPr>
        <p:txBody>
          <a:bodyPr/>
          <a:lstStyle/>
          <a:p>
            <a:r>
              <a:rPr lang="en-US" dirty="0"/>
              <a:t>Questions?</a:t>
            </a:r>
          </a:p>
        </p:txBody>
      </p:sp>
      <p:pic>
        <p:nvPicPr>
          <p:cNvPr id="8" name="Content Placeholder 7" descr="A cartoon of a turtle and a snake&#10;&#10;AI-generated content may be incorrect.">
            <a:extLst>
              <a:ext uri="{FF2B5EF4-FFF2-40B4-BE49-F238E27FC236}">
                <a16:creationId xmlns:a16="http://schemas.microsoft.com/office/drawing/2014/main" id="{067D074E-099E-A880-8E75-CCE1FF1A5B70}"/>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3984110" y="1123950"/>
            <a:ext cx="4514850" cy="4600575"/>
          </a:xfrm>
        </p:spPr>
      </p:pic>
    </p:spTree>
    <p:extLst>
      <p:ext uri="{BB962C8B-B14F-4D97-AF65-F5344CB8AC3E}">
        <p14:creationId xmlns:p14="http://schemas.microsoft.com/office/powerpoint/2010/main" val="161098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1_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AI2C Slide Template</Template>
  <TotalTime>713</TotalTime>
  <Words>1761</Words>
  <Application>Microsoft Office PowerPoint</Application>
  <PresentationFormat>Widescreen</PresentationFormat>
  <Paragraphs>248</Paragraphs>
  <Slides>27</Slides>
  <Notes>12</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Aptos</vt:lpstr>
      <vt:lpstr>Arial</vt:lpstr>
      <vt:lpstr>Arial Bold</vt:lpstr>
      <vt:lpstr>Consolas</vt:lpstr>
      <vt:lpstr>Courier New</vt:lpstr>
      <vt:lpstr>US Army 2023 AFC DEVCOM Logo</vt:lpstr>
      <vt:lpstr>1_US Army 2023 AFC DEVCOM Logo</vt:lpstr>
      <vt:lpstr>FILE IO</vt:lpstr>
      <vt:lpstr> Motivation</vt:lpstr>
      <vt:lpstr> Course Schedule</vt:lpstr>
      <vt:lpstr>Review</vt:lpstr>
      <vt:lpstr>What is the purpose of user defined functions?</vt:lpstr>
      <vt:lpstr>How do you define a function, and how do you use it?</vt:lpstr>
      <vt:lpstr>PowerPoint Presentation</vt:lpstr>
      <vt:lpstr>PowerPoint Presentation</vt:lpstr>
      <vt:lpstr>PowerPoint Presentation</vt:lpstr>
      <vt:lpstr>PowerPoint Presentation</vt:lpstr>
      <vt:lpstr>Let’s make this a function:</vt:lpstr>
      <vt:lpstr>Today’s Lesson Objectives</vt:lpstr>
      <vt:lpstr>OS module</vt:lpstr>
      <vt:lpstr>OS module</vt:lpstr>
      <vt:lpstr>OS module</vt:lpstr>
      <vt:lpstr>OS module EXAMPLE</vt:lpstr>
      <vt:lpstr>OS module CHEATSHEET</vt:lpstr>
      <vt:lpstr>Look familiar?</vt:lpstr>
      <vt:lpstr>Pathlib MODULE</vt:lpstr>
      <vt:lpstr>Pathlib MODULE CHEATSHEET</vt:lpstr>
      <vt:lpstr>Hands-On #1</vt:lpstr>
      <vt:lpstr>Manipulating files</vt:lpstr>
      <vt:lpstr>Common Actions</vt:lpstr>
      <vt:lpstr>A word about context managers</vt:lpstr>
      <vt:lpstr>Another word…</vt:lpstr>
      <vt:lpstr>Hands-On #2</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Ryan Neville</cp:lastModifiedBy>
  <cp:revision>136</cp:revision>
  <dcterms:created xsi:type="dcterms:W3CDTF">2025-07-09T23:54:51Z</dcterms:created>
  <dcterms:modified xsi:type="dcterms:W3CDTF">2026-06-23T00:07:12Z</dcterms:modified>
</cp:coreProperties>
</file>