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71" r:id="rId4"/>
    <p:sldId id="270" r:id="rId5"/>
    <p:sldId id="283" r:id="rId6"/>
    <p:sldId id="285" r:id="rId7"/>
    <p:sldId id="272" r:id="rId8"/>
    <p:sldId id="273" r:id="rId9"/>
    <p:sldId id="274" r:id="rId10"/>
    <p:sldId id="268" r:id="rId11"/>
    <p:sldId id="275" r:id="rId12"/>
    <p:sldId id="276" r:id="rId13"/>
    <p:sldId id="286" r:id="rId14"/>
    <p:sldId id="287" r:id="rId15"/>
    <p:sldId id="277" r:id="rId16"/>
    <p:sldId id="279" r:id="rId17"/>
    <p:sldId id="278" r:id="rId18"/>
    <p:sldId id="280" r:id="rId19"/>
    <p:sldId id="281" r:id="rId20"/>
    <p:sldId id="282" r:id="rId21"/>
    <p:sldId id="28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954" autoAdjust="0"/>
  </p:normalViewPr>
  <p:slideViewPr>
    <p:cSldViewPr snapToGrid="0">
      <p:cViewPr varScale="1">
        <p:scale>
          <a:sx n="121" d="100"/>
          <a:sy n="121" d="100"/>
        </p:scale>
        <p:origin x="68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F5B96-EC90-4B10-91AC-E32DA21E81E1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57D5F-ED05-449E-97D0-205DAB987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1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57D5F-ED05-449E-97D0-205DAB98724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19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57D5F-ED05-449E-97D0-205DAB98724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84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837655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680672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618940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73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2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55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50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22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834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57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085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34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4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18670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96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8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11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73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48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6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16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776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46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95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11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806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0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342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350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12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81423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706311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841127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CE23-DF7C-6906-24C3-CF1C66F0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F6F46-A4F4-9212-D5AE-2A768FC52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5690C-1D12-A35F-F15A-E42B5D4C1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C3D2B-FE52-0014-B507-BF942CF6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45E52-0AAB-5533-9208-A90B4714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0B08A-6C74-4624-354A-9E8A77A7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81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8C2E-661D-51E2-ED90-348CF28A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99564-2BF9-8DCD-A28E-9381CAF6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3C069-210D-286C-4C3D-4A1E6D37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C136A-C674-A923-5AF9-6FA91140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792A-A4FA-3A54-7252-A8321589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7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87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FD7BBC-A068-356F-608B-DA791E57383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F48C53-384E-1807-092A-C8B7BAB1C55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49EAA2-B88A-49EB-6ACF-E4915FACF84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C6BE2E2-F929-3C70-36EC-C5937B7B5C3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6A79C2-9F9E-A408-9BAC-9FF43E183FE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15EA5F7-FCD4-5FC1-2A3D-517E159326D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903E3B-DC2F-F80D-6B14-1B3DA02A607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29181C-EF5B-E5A2-D26C-ACDEB8A563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857A39-F07F-CAE5-2A2B-E264F0FB340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129D9A2-2CDF-B247-7C5B-B32214C8D12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F81ACD-6120-D6F0-670E-BB0ECB337F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3A6A7-B911-5528-D8B0-F857E71575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AI2C Techs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BC25E-BFA9-1976-FF46-752E7B8C89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28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DFC45-7600-BC6C-5698-7B23B8ACF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recursion?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BB8F3-D0C1-D6E3-02C8-6E341B3464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understand recursion, you must understand recursion</a:t>
            </a:r>
          </a:p>
          <a:p>
            <a:endParaRPr lang="en-US" dirty="0"/>
          </a:p>
          <a:p>
            <a:r>
              <a:rPr lang="en-US" dirty="0"/>
              <a:t>An algorithm that uses itself in its definition</a:t>
            </a:r>
          </a:p>
          <a:p>
            <a:r>
              <a:rPr lang="en-US" dirty="0"/>
              <a:t>“pip installs packages”</a:t>
            </a:r>
          </a:p>
          <a:p>
            <a:endParaRPr lang="en-US" dirty="0"/>
          </a:p>
          <a:p>
            <a:r>
              <a:rPr lang="en-US" dirty="0"/>
              <a:t>Two requirements:</a:t>
            </a:r>
          </a:p>
          <a:p>
            <a:pPr lvl="1"/>
            <a:r>
              <a:rPr lang="en-US" dirty="0"/>
              <a:t>A base case</a:t>
            </a:r>
          </a:p>
          <a:p>
            <a:pPr lvl="1"/>
            <a:r>
              <a:rPr lang="en-US" dirty="0"/>
              <a:t>A recursive step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A313579-90F0-8DC5-6BC0-75C0024191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265985"/>
            <a:ext cx="5181600" cy="347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2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9A1E-1967-48BA-3B76-2BE5F54F7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EA562-4292-CB14-DDA7-AE7B3B3528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Base case:</a:t>
            </a:r>
          </a:p>
          <a:p>
            <a:pPr lvl="1"/>
            <a:r>
              <a:rPr lang="en-US" dirty="0"/>
              <a:t>The “terminating step”</a:t>
            </a:r>
          </a:p>
          <a:p>
            <a:pPr lvl="1"/>
            <a:r>
              <a:rPr lang="en-US" dirty="0"/>
              <a:t>How does the recursion stop?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A9258-212B-F855-0CC2-B2A2CF25E9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Recursive step</a:t>
            </a:r>
          </a:p>
          <a:p>
            <a:pPr lvl="1"/>
            <a:r>
              <a:rPr lang="en-US" dirty="0"/>
              <a:t>Decreases the size of the input</a:t>
            </a:r>
          </a:p>
          <a:p>
            <a:pPr lvl="1"/>
            <a:r>
              <a:rPr lang="en-US" dirty="0"/>
              <a:t>Passes smaller input to a new instance of itself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08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E89AB-30C8-2350-11F1-C923539C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1BD86-5732-5F67-F689-33B94F159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99284" cy="4351338"/>
          </a:xfrm>
        </p:spPr>
        <p:txBody>
          <a:bodyPr>
            <a:normAutofit/>
          </a:bodyPr>
          <a:lstStyle/>
          <a:p>
            <a:r>
              <a:rPr lang="en-US" dirty="0"/>
              <a:t>What is(are) the base case(s)?</a:t>
            </a:r>
          </a:p>
          <a:p>
            <a:endParaRPr lang="en-US" dirty="0"/>
          </a:p>
          <a:p>
            <a:r>
              <a:rPr lang="en-US" dirty="0"/>
              <a:t>What is(are) the recursive step(s)?</a:t>
            </a:r>
          </a:p>
          <a:p>
            <a:endParaRPr lang="en-US" dirty="0"/>
          </a:p>
          <a:p>
            <a:r>
              <a:rPr lang="en-US" dirty="0"/>
              <a:t>The input datatype doesn’t change</a:t>
            </a:r>
          </a:p>
          <a:p>
            <a:r>
              <a:rPr lang="en-US" dirty="0"/>
              <a:t>Small demo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1B63C-374F-517B-C55B-F82A209FA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70884" y="2035832"/>
            <a:ext cx="6653463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int):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3BB373-BF1B-53C3-737E-0C82DCCD5BA7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083269" y="1949669"/>
            <a:ext cx="1956585" cy="7819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FC557D8-258A-C949-B209-BC04A1B7A79E}"/>
              </a:ext>
            </a:extLst>
          </p:cNvPr>
          <p:cNvSpPr/>
          <p:nvPr/>
        </p:nvSpPr>
        <p:spPr>
          <a:xfrm>
            <a:off x="6039854" y="2394284"/>
            <a:ext cx="2594394" cy="6747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DAE432-D17D-E92F-B1C9-560B92E49FD0}"/>
              </a:ext>
            </a:extLst>
          </p:cNvPr>
          <p:cNvCxnSpPr>
            <a:cxnSpLocks/>
          </p:cNvCxnSpPr>
          <p:nvPr/>
        </p:nvCxnSpPr>
        <p:spPr>
          <a:xfrm>
            <a:off x="4414345" y="2731653"/>
            <a:ext cx="1625509" cy="610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F951129-8AE4-CE91-5264-25473EC09FB5}"/>
              </a:ext>
            </a:extLst>
          </p:cNvPr>
          <p:cNvSpPr/>
          <p:nvPr/>
        </p:nvSpPr>
        <p:spPr>
          <a:xfrm>
            <a:off x="6039854" y="3125890"/>
            <a:ext cx="3382670" cy="433722"/>
          </a:xfrm>
          <a:prstGeom prst="rect">
            <a:avLst/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8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5CD553-040D-9F14-2F3D-52F73A2A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Execution / Return Values</a:t>
            </a:r>
          </a:p>
        </p:txBody>
      </p:sp>
      <p:pic>
        <p:nvPicPr>
          <p:cNvPr id="8" name="Content Placeholder 7" descr="A diagram of a number of numbers&#10;&#10;AI-generated content may be incorrect.">
            <a:extLst>
              <a:ext uri="{FF2B5EF4-FFF2-40B4-BE49-F238E27FC236}">
                <a16:creationId xmlns:a16="http://schemas.microsoft.com/office/drawing/2014/main" id="{91757A98-2C06-540B-A634-715076D98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85" y="1951379"/>
            <a:ext cx="5307100" cy="4222487"/>
          </a:xfrm>
        </p:spPr>
      </p:pic>
    </p:spTree>
    <p:extLst>
      <p:ext uri="{BB962C8B-B14F-4D97-AF65-F5344CB8AC3E}">
        <p14:creationId xmlns:p14="http://schemas.microsoft.com/office/powerpoint/2010/main" val="176071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3C5CD-BD80-93C0-EB2E-BBD108F99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76E1E-DA6E-691F-23BC-7CE768151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Palindrome checker</a:t>
            </a:r>
          </a:p>
          <a:p>
            <a:r>
              <a:rPr lang="en-US" dirty="0"/>
              <a:t>String to int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A4816-A169-EFA2-5DFA-F8EB1B6A6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5CB58-51A0-EA8A-6BCB-6B5B0AF89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00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2495F-D8C7-CC19-259A-4CCCE948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Your 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BB317-A89C-B0FE-5638-26E279BEF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sum of a list of numbers using recursion</a:t>
            </a:r>
          </a:p>
          <a:p>
            <a:endParaRPr lang="en-US" dirty="0"/>
          </a:p>
          <a:p>
            <a:r>
              <a:rPr lang="en-US" dirty="0"/>
              <a:t>What is(are) the base case(s)?</a:t>
            </a:r>
          </a:p>
          <a:p>
            <a:endParaRPr lang="en-US" dirty="0"/>
          </a:p>
          <a:p>
            <a:r>
              <a:rPr lang="en-US" dirty="0"/>
              <a:t>What is(are) the recursive step(s)?</a:t>
            </a:r>
          </a:p>
          <a:p>
            <a:endParaRPr lang="en-US" dirty="0"/>
          </a:p>
          <a:p>
            <a:r>
              <a:rPr lang="en-US" dirty="0"/>
              <a:t>(be careful about passing lists around)</a:t>
            </a:r>
          </a:p>
        </p:txBody>
      </p:sp>
    </p:spTree>
    <p:extLst>
      <p:ext uri="{BB962C8B-B14F-4D97-AF65-F5344CB8AC3E}">
        <p14:creationId xmlns:p14="http://schemas.microsoft.com/office/powerpoint/2010/main" val="2647271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7566-A71C-E436-6714-83507A3C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2B297-ABF0-EB75-FC46-EE206B1BB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38447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re_sum_one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-&gt;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0000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"Calculating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re_sum_one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[:]) +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255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0749C-1CD2-234B-BDBE-A98C07682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stacks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C18C4B-A84C-D76D-3DEA-E699019EAE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23" y="1825625"/>
            <a:ext cx="5547277" cy="4154606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A5FB17-B867-D8BA-464F-2FBE71B197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bad things can happen here?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Don’t forget the base case!</a:t>
            </a:r>
          </a:p>
          <a:p>
            <a:r>
              <a:rPr lang="en-US" dirty="0"/>
              <a:t>Small demo</a:t>
            </a:r>
          </a:p>
        </p:txBody>
      </p:sp>
    </p:spTree>
    <p:extLst>
      <p:ext uri="{BB962C8B-B14F-4D97-AF65-F5344CB8AC3E}">
        <p14:creationId xmlns:p14="http://schemas.microsoft.com/office/powerpoint/2010/main" val="166606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D940C8-04DC-F0F4-7ADA-2AFE9ADEC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Recursion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3E69D4-E667-FE19-4190-0EE4A93AC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60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2B6E5-D07F-3480-2DB6-C545223C0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5A5F1-38F3-CA7A-E827-BFB5A7935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0499B-70E0-68FF-9FC7-CBD1136EB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99284" cy="4351338"/>
          </a:xfrm>
        </p:spPr>
        <p:txBody>
          <a:bodyPr>
            <a:normAutofit/>
          </a:bodyPr>
          <a:lstStyle/>
          <a:p>
            <a:r>
              <a:rPr lang="en-US" dirty="0"/>
              <a:t>A function that calls itself multiple times</a:t>
            </a:r>
          </a:p>
          <a:p>
            <a:endParaRPr lang="en-US" dirty="0"/>
          </a:p>
          <a:p>
            <a:r>
              <a:rPr lang="en-US" dirty="0"/>
              <a:t>What is(are) the base case(s)?</a:t>
            </a:r>
          </a:p>
          <a:p>
            <a:r>
              <a:rPr lang="en-US" dirty="0"/>
              <a:t>What is(are) the recursive step(s)?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E684F-BCF8-FE64-CECC-B3598596B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3895" y="1825625"/>
            <a:ext cx="6653463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444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1F0EC-E1E5-3DF7-D4D5-68192C2B6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B360D4-69E9-AC97-A39C-EBE9DAEF8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re_sum_half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-&gt;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20000"/>
              </a:lnSpc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//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re_sum_half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+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re_sum_half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:])</a:t>
            </a:r>
          </a:p>
          <a:p>
            <a:pPr>
              <a:lnSpc>
                <a:spcPct val="12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63793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3518-E799-6DC4-F421-15BCC1120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0235A-614B-EB50-84C3-91EF8D3FF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 value of array</a:t>
            </a:r>
          </a:p>
          <a:p>
            <a:r>
              <a:rPr lang="en-US" dirty="0"/>
              <a:t>Grid path counter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F5ED5-8255-0C7C-3AF7-9809D77F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43E45-DB40-4E43-6F59-6E33B9765F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57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9A055-CFD3-370E-1731-EFDB11BEE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CBD78-ABFC-222D-7AC2-332F09CF7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Your 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3E415-651E-B9EC-3E2D-7E83F0148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sum of a list of numbers using recursion</a:t>
            </a:r>
          </a:p>
          <a:p>
            <a:endParaRPr lang="en-US" dirty="0"/>
          </a:p>
          <a:p>
            <a:r>
              <a:rPr lang="en-US" dirty="0"/>
              <a:t>What is(are) the base case(s)?</a:t>
            </a:r>
          </a:p>
          <a:p>
            <a:endParaRPr lang="en-US" dirty="0"/>
          </a:p>
          <a:p>
            <a:r>
              <a:rPr lang="en-US" dirty="0"/>
              <a:t>What is(are) the recursive step(s)?</a:t>
            </a:r>
          </a:p>
          <a:p>
            <a:endParaRPr lang="en-US" dirty="0"/>
          </a:p>
          <a:p>
            <a:r>
              <a:rPr lang="en-US" dirty="0"/>
              <a:t>(be careful about passing lists around)</a:t>
            </a:r>
          </a:p>
        </p:txBody>
      </p:sp>
    </p:spTree>
    <p:extLst>
      <p:ext uri="{BB962C8B-B14F-4D97-AF65-F5344CB8AC3E}">
        <p14:creationId xmlns:p14="http://schemas.microsoft.com/office/powerpoint/2010/main" val="980273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7B6978-ADF3-C3AF-3BC0-5F28750CF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Common Problems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5980E-D37D-7432-BC67-D8DA2DFAC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37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85BEB-36FF-347A-1757-8DE2F21A5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pic>
        <p:nvPicPr>
          <p:cNvPr id="5" name="Content Placeholder 4" descr="A table with numbers and a few digits&#10;&#10;AI-generated content may be incorrect.">
            <a:extLst>
              <a:ext uri="{FF2B5EF4-FFF2-40B4-BE49-F238E27FC236}">
                <a16:creationId xmlns:a16="http://schemas.microsoft.com/office/drawing/2014/main" id="{ED2FEACF-AF94-E20E-5C2E-D378A0AAC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965" y="1600200"/>
            <a:ext cx="6392219" cy="4572000"/>
          </a:xfrm>
        </p:spPr>
      </p:pic>
    </p:spTree>
    <p:extLst>
      <p:ext uri="{BB962C8B-B14F-4D97-AF65-F5344CB8AC3E}">
        <p14:creationId xmlns:p14="http://schemas.microsoft.com/office/powerpoint/2010/main" val="1517513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1E6A33B-47D9-7E50-0B88-CCCDF368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7E982D-4949-9795-29F4-1B804ABC2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binary_search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"""assumes array is already sorted"""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//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binary_search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binary_search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976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155A-1B24-CFB0-34C7-7ACB8C953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Traversal</a:t>
            </a:r>
          </a:p>
        </p:txBody>
      </p:sp>
      <p:pic>
        <p:nvPicPr>
          <p:cNvPr id="5" name="Content Placeholder 4" descr="A diagram of a test&#10;&#10;AI-generated content may be incorrect.">
            <a:extLst>
              <a:ext uri="{FF2B5EF4-FFF2-40B4-BE49-F238E27FC236}">
                <a16:creationId xmlns:a16="http://schemas.microsoft.com/office/drawing/2014/main" id="{78081DB7-B377-B26A-0B90-3A3DDC391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587" y="1600200"/>
            <a:ext cx="7430976" cy="4572000"/>
          </a:xfrm>
        </p:spPr>
      </p:pic>
    </p:spTree>
    <p:extLst>
      <p:ext uri="{BB962C8B-B14F-4D97-AF65-F5344CB8AC3E}">
        <p14:creationId xmlns:p14="http://schemas.microsoft.com/office/powerpoint/2010/main" val="2875204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6396-D58E-1D0D-31B8-9C3136C64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84DCB-607E-46B9-8CFF-C5C0A9EDC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list_dir_recursive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directory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directory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directory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list_dir_recursive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359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F4026-93BF-987E-98F0-BB82FBB36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</a:t>
            </a:r>
            <a:r>
              <a:rPr lang="en-US"/>
              <a:t>Thoughts / On Your Own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FCEF3-1E28-89B3-DB07-3C3D9BB913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Order of Execution </a:t>
            </a:r>
            <a:br>
              <a:rPr lang="en-US" dirty="0"/>
            </a:br>
            <a:r>
              <a:rPr lang="en-US" dirty="0"/>
              <a:t>(depth vs breadth)</a:t>
            </a:r>
          </a:p>
          <a:p>
            <a:endParaRPr lang="en-US" dirty="0"/>
          </a:p>
          <a:p>
            <a:r>
              <a:rPr lang="en-US" dirty="0"/>
              <a:t>Recursive </a:t>
            </a:r>
            <a:r>
              <a:rPr lang="en-US"/>
              <a:t>vs Iterative</a:t>
            </a:r>
            <a:endParaRPr lang="en-US" dirty="0"/>
          </a:p>
          <a:p>
            <a:endParaRPr lang="en-US" dirty="0"/>
          </a:p>
        </p:txBody>
      </p:sp>
      <p:pic>
        <p:nvPicPr>
          <p:cNvPr id="5" name="Content Placeholder 4" descr="A diagram of a test&#10;&#10;AI-generated content may be incorrect.">
            <a:extLst>
              <a:ext uri="{FF2B5EF4-FFF2-40B4-BE49-F238E27FC236}">
                <a16:creationId xmlns:a16="http://schemas.microsoft.com/office/drawing/2014/main" id="{93B1897A-AD2A-F4A0-A318-5D02C09FE2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07272"/>
            <a:ext cx="5181600" cy="3188043"/>
          </a:xfrm>
        </p:spPr>
      </p:pic>
    </p:spTree>
    <p:extLst>
      <p:ext uri="{BB962C8B-B14F-4D97-AF65-F5344CB8AC3E}">
        <p14:creationId xmlns:p14="http://schemas.microsoft.com/office/powerpoint/2010/main" val="2956705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4CC769-791B-48CC-8DD8-3E436EE0B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AE1514-E6D9-E467-C267-0175F48AB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79044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</TotalTime>
  <Words>693</Words>
  <Application>Microsoft Office PowerPoint</Application>
  <PresentationFormat>Widescreen</PresentationFormat>
  <Paragraphs>126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Arial Bold</vt:lpstr>
      <vt:lpstr>Consolas</vt:lpstr>
      <vt:lpstr>Play</vt:lpstr>
      <vt:lpstr>US Army 2023 AFC DEVCOM Logo</vt:lpstr>
      <vt:lpstr>Recursion</vt:lpstr>
      <vt:lpstr>What is recursion?</vt:lpstr>
      <vt:lpstr>Terms</vt:lpstr>
      <vt:lpstr>An example</vt:lpstr>
      <vt:lpstr>Order of Execution / Return Values</vt:lpstr>
      <vt:lpstr>More Examples</vt:lpstr>
      <vt:lpstr>On Your Own</vt:lpstr>
      <vt:lpstr>A solution</vt:lpstr>
      <vt:lpstr>More about stacks</vt:lpstr>
      <vt:lpstr>Multiple Recursion</vt:lpstr>
      <vt:lpstr>Multiple Recursion</vt:lpstr>
      <vt:lpstr>Another Example</vt:lpstr>
      <vt:lpstr>More Examples</vt:lpstr>
      <vt:lpstr>On Your Own</vt:lpstr>
      <vt:lpstr>Other Common Problems</vt:lpstr>
      <vt:lpstr>Binary Search</vt:lpstr>
      <vt:lpstr>Binary Search</vt:lpstr>
      <vt:lpstr>Directory Traversal</vt:lpstr>
      <vt:lpstr>Directory Traversal</vt:lpstr>
      <vt:lpstr>Other Thoughts / On Your Own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126</cp:revision>
  <dcterms:created xsi:type="dcterms:W3CDTF">2025-09-17T14:29:17Z</dcterms:created>
  <dcterms:modified xsi:type="dcterms:W3CDTF">2026-06-02T17:00:07Z</dcterms:modified>
</cp:coreProperties>
</file>