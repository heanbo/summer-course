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7" r:id="rId6"/>
    <p:sldId id="268" r:id="rId7"/>
    <p:sldId id="477" r:id="rId8"/>
    <p:sldId id="502" r:id="rId9"/>
    <p:sldId id="503" r:id="rId10"/>
    <p:sldId id="504" r:id="rId11"/>
    <p:sldId id="505" r:id="rId1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063A8-BC75-44AB-A561-BE0A82F3F6A3}">
  <a:tblStyle styleId="{5B9063A8-BC75-44AB-A561-BE0A82F3F6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38" autoAdjust="0"/>
  </p:normalViewPr>
  <p:slideViewPr>
    <p:cSldViewPr snapToGrid="0">
      <p:cViewPr varScale="1">
        <p:scale>
          <a:sx n="129" d="100"/>
          <a:sy n="129" d="100"/>
        </p:scale>
        <p:origin x="46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Sous </a:t>
            </a:r>
            <a:r>
              <a:rPr lang="en-US"/>
              <a:t>Chef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21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35673-0793-1473-0EA1-CD4CB936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EE368-AA1D-B984-B84E-0631B0335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31B74-7FB9-0113-7CD5-66B641609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2BFBD-15BB-D615-DB04-14DDDFB65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11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27FD-3B20-DB1F-BE5C-F6A25367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7057D-A299-4EDF-0BF1-2369F110E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183F1-553F-77ED-0B5A-DB27EA86B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3C9C1-A30C-B131-1CFF-385174D15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03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A336-2673-18DF-F0EB-D8C8F82F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06276-ACA6-F41D-46EC-0024228D1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30E27-A383-1CF8-3DA9-CD699D0EB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0302B-05C7-1FF7-3340-8BC35B729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36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64410-6631-905C-CDEA-417AE8173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8FD5C-EB41-E8EC-264C-3E4773488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58AA7-27D5-B12E-327F-B01C45037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4D265-216C-4F19-3933-42098819D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570D5-C374-43AE-876B-55C2A22166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88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221F2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pic>
        <p:nvPicPr>
          <p:cNvPr id="31" name="Google Shape;31;p3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34" name="Google Shape;34;p3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White">
  <p:cSld name="Title Slide - White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4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668" y="78731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57" name="Google Shape;57;p4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4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4"/>
            <p:cNvCxnSpPr/>
            <p:nvPr/>
          </p:nvCxnSpPr>
          <p:spPr>
            <a:xfrm>
              <a:off x="4272796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" name="Google Shape;60;p4"/>
          <p:cNvSpPr txBox="1"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subTitle" idx="14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Image">
  <p:cSld name="Title Slide -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5" descr="U.S. Ar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78" name="Google Shape;78;p5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5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3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4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">
  <p:cSld name="4 Ico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>
            <a:spLocks noGrp="1"/>
          </p:cNvSpPr>
          <p:nvPr>
            <p:ph type="pic" idx="2"/>
          </p:nvPr>
        </p:nvSpPr>
        <p:spPr>
          <a:xfrm>
            <a:off x="411480" y="1200150"/>
            <a:ext cx="418338" cy="416624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>
            <a:spLocks noGrp="1"/>
          </p:cNvSpPr>
          <p:nvPr>
            <p:ph type="body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7" name="Google Shape;117;p10"/>
          <p:cNvSpPr>
            <a:spLocks noGrp="1"/>
          </p:cNvSpPr>
          <p:nvPr>
            <p:ph type="pic" idx="3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0"/>
          <p:cNvSpPr txBox="1">
            <a:spLocks noGrp="1"/>
          </p:cNvSpPr>
          <p:nvPr>
            <p:ph type="body" idx="4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9" name="Google Shape;119;p10"/>
          <p:cNvSpPr>
            <a:spLocks noGrp="1"/>
          </p:cNvSpPr>
          <p:nvPr>
            <p:ph type="pic" idx="5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 txBox="1">
            <a:spLocks noGrp="1"/>
          </p:cNvSpPr>
          <p:nvPr>
            <p:ph type="body" idx="6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1" name="Google Shape;121;p10"/>
          <p:cNvSpPr>
            <a:spLocks noGrp="1"/>
          </p:cNvSpPr>
          <p:nvPr>
            <p:ph type="pic" idx="7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>
            <a:spLocks noGrp="1"/>
          </p:cNvSpPr>
          <p:nvPr>
            <p:ph type="body" idx="8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Numbers">
  <p:cSld name="4 Numbers">
    <p:bg>
      <p:bgPr>
        <a:solidFill>
          <a:srgbClr val="221F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7" name="Google Shape;127;p11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" name="Google Shape;128;p11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0" name="Google Shape;130;p11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11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3" name="Google Shape;133;p11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6" name="Google Shape;136;p11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11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umbers - White">
  <p:cSld name="4 Numbers - Whit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p12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12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49" name="Google Shape;149;p12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2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2" name="Google Shape;152;p12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3" name="Google Shape;153;p12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5" name="Google Shape;155;p12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" name="Google Shape;156;p12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 Numbers">
  <p:cSld name="8 Numbers">
    <p:bg>
      <p:bgPr>
        <a:solidFill>
          <a:srgbClr val="221F2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3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3" name="Google Shape;163;p13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5" name="Google Shape;165;p13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6" name="Google Shape;166;p13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8" name="Google Shape;168;p13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13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1" name="Google Shape;171;p13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4" name="Google Shape;174;p13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5" name="Google Shape;175;p13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7" name="Google Shape;177;p13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" name="Google Shape;178;p13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0" name="Google Shape;180;p13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1" name="Google Shape;181;p13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3" name="Google Shape;183;p13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4" name="Google Shape;184;p13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Numbers - White">
  <p:cSld name="8 Numbers -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3" name="Google Shape;193;p14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4" name="Google Shape;194;p14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6" name="Google Shape;196;p14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7" name="Google Shape;197;p14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0" name="Google Shape;200;p14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2" name="Google Shape;202;p14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3" name="Google Shape;203;p14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5" name="Google Shape;205;p14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6" name="Google Shape;206;p14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8" name="Google Shape;208;p14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9" name="Google Shape;209;p14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1" name="Google Shape;211;p14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2" name="Google Shape;212;p14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4" name="Google Shape;214;p14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5" name="Google Shape;215;p14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1">
  <p:cSld name="Content and Image 0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1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2">
  <p:cSld name="Content and Image 0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>
            <a:spLocks noGrp="1"/>
          </p:cNvSpPr>
          <p:nvPr>
            <p:ph type="pic" idx="2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411480" y="284607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Images">
  <p:cSld name="Content and 2 Image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8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3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2" name="Google Shape;242;p18"/>
          <p:cNvSpPr>
            <a:spLocks noGrp="1"/>
          </p:cNvSpPr>
          <p:nvPr>
            <p:ph type="pic" idx="4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3" name="Google Shape;243;p18"/>
          <p:cNvSpPr txBox="1">
            <a:spLocks noGrp="1"/>
          </p:cNvSpPr>
          <p:nvPr>
            <p:ph type="body" idx="5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6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3 Images">
  <p:cSld name="Content and 3 Images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3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2" name="Google Shape;252;p19"/>
          <p:cNvSpPr>
            <a:spLocks noGrp="1"/>
          </p:cNvSpPr>
          <p:nvPr>
            <p:ph type="pic" idx="4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3" name="Google Shape;253;p19"/>
          <p:cNvSpPr txBox="1">
            <a:spLocks noGrp="1"/>
          </p:cNvSpPr>
          <p:nvPr>
            <p:ph type="body" idx="5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6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5" name="Google Shape;255;p19"/>
          <p:cNvSpPr>
            <a:spLocks noGrp="1"/>
          </p:cNvSpPr>
          <p:nvPr>
            <p:ph type="pic" idx="7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6" name="Google Shape;256;p19"/>
          <p:cNvSpPr txBox="1">
            <a:spLocks noGrp="1"/>
          </p:cNvSpPr>
          <p:nvPr>
            <p:ph type="body" idx="8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body" idx="9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4 Images">
  <p:cSld name="Content and 4 Image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>
            <a:spLocks noGrp="1"/>
          </p:cNvSpPr>
          <p:nvPr>
            <p:ph type="pic" idx="2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3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5" name="Google Shape;265;p20"/>
          <p:cNvSpPr>
            <a:spLocks noGrp="1"/>
          </p:cNvSpPr>
          <p:nvPr>
            <p:ph type="pic" idx="4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6" name="Google Shape;266;p20"/>
          <p:cNvSpPr txBox="1">
            <a:spLocks noGrp="1"/>
          </p:cNvSpPr>
          <p:nvPr>
            <p:ph type="body" idx="5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body" idx="6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8" name="Google Shape;268;p20"/>
          <p:cNvSpPr>
            <a:spLocks noGrp="1"/>
          </p:cNvSpPr>
          <p:nvPr>
            <p:ph type="pic" idx="7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9" name="Google Shape;269;p20"/>
          <p:cNvSpPr txBox="1">
            <a:spLocks noGrp="1"/>
          </p:cNvSpPr>
          <p:nvPr>
            <p:ph type="body" idx="8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9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1" name="Google Shape;271;p20"/>
          <p:cNvSpPr>
            <a:spLocks noGrp="1"/>
          </p:cNvSpPr>
          <p:nvPr>
            <p:ph type="pic" idx="13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72" name="Google Shape;272;p20"/>
          <p:cNvSpPr txBox="1">
            <a:spLocks noGrp="1"/>
          </p:cNvSpPr>
          <p:nvPr>
            <p:ph type="body" idx="14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body" idx="15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Image">
  <p:cSld name="Section Header - Image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  <a:ln>
            <a:noFill/>
          </a:ln>
        </p:spPr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1">
  <p:cSld name="Section Header - White 01"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2">
  <p:cSld name="Section Header - White 02"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>
            <a:spLocks noGrp="1"/>
          </p:cNvSpPr>
          <p:nvPr>
            <p:ph type="title"/>
          </p:nvPr>
        </p:nvSpPr>
        <p:spPr>
          <a:xfrm>
            <a:off x="411481" y="308610"/>
            <a:ext cx="402399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body" idx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- Half Image">
  <p:cSld name="Section Header - Half Image">
    <p:bg>
      <p:bgPr>
        <a:solidFill>
          <a:srgbClr val="221F2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5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07" name="Google Shape;307;p2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Half Image - White">
  <p:cSld name="Section Header - Half Image - White"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14" name="Google Shape;314;p2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Black">
  <p:cSld name="Title Only - Black">
    <p:bg>
      <p:bgPr>
        <a:solidFill>
          <a:srgbClr val="221F2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Black">
  <p:cSld name="Blank - Black">
    <p:bg>
      <p:bgPr>
        <a:solidFill>
          <a:srgbClr val="221F2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35" name="Google Shape;33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221F20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CC0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>
  <p:cSld name="Logo">
    <p:bg>
      <p:bgPr>
        <a:solidFill>
          <a:srgbClr val="221F2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2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20265" y="1645920"/>
            <a:ext cx="4903470" cy="185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820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57250"/>
            <a:ext cx="8382000" cy="3771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F840045-53C2-449D-82F0-164420CD5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-21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48AF087-BD35-42CD-BDE1-5464FFCAA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0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4">
            <a:alphaModFix/>
          </a:blip>
          <a:srcRect l="26274" t="67"/>
          <a:stretch/>
        </p:blipFill>
        <p:spPr>
          <a:xfrm>
            <a:off x="7821386" y="308611"/>
            <a:ext cx="911133" cy="3582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9562" algn="l" rtl="0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" descr="A picture containing icon&#10;&#10;AI-generated content may be incorrect.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444515" y="318065"/>
            <a:ext cx="376871" cy="3582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5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5" pos="1018">
          <p15:clr>
            <a:srgbClr val="A4A3A4"/>
          </p15:clr>
        </p15:guide>
        <p15:guide id="6" pos="1248">
          <p15:clr>
            <a:srgbClr val="A4A3A4"/>
          </p15:clr>
        </p15:guide>
        <p15:guide id="7" pos="2148">
          <p15:clr>
            <a:srgbClr val="A4A3A4"/>
          </p15:clr>
        </p15:guide>
        <p15:guide id="8" pos="3052">
          <p15:clr>
            <a:srgbClr val="A4A3A4"/>
          </p15:clr>
        </p15:guide>
        <p15:guide id="9" pos="3954">
          <p15:clr>
            <a:srgbClr val="A4A3A4"/>
          </p15:clr>
        </p15:guide>
        <p15:guide id="10" pos="3724">
          <p15:clr>
            <a:srgbClr val="A4A3A4"/>
          </p15:clr>
        </p15:guide>
        <p15:guide id="11" pos="4858">
          <p15:clr>
            <a:srgbClr val="A4A3A4"/>
          </p15:clr>
        </p15:guide>
        <p15:guide id="12" pos="5784">
          <p15:clr>
            <a:srgbClr val="A4A3A4"/>
          </p15:clr>
        </p15:guide>
        <p15:guide id="13" pos="6660">
          <p15:clr>
            <a:srgbClr val="A4A3A4"/>
          </p15:clr>
        </p15:guide>
        <p15:guide id="14" pos="1920">
          <p15:clr>
            <a:srgbClr val="A4A3A4"/>
          </p15:clr>
        </p15:guide>
        <p15:guide id="15" pos="2822">
          <p15:clr>
            <a:srgbClr val="A4A3A4"/>
          </p15:clr>
        </p15:guide>
        <p15:guide id="16" pos="4626">
          <p15:clr>
            <a:srgbClr val="A4A3A4"/>
          </p15:clr>
        </p15:guide>
        <p15:guide id="17" pos="5530">
          <p15:clr>
            <a:srgbClr val="A4A3A4"/>
          </p15:clr>
        </p15:guide>
        <p15:guide id="18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0E2C-C69B-CF2A-4AFC-23A14A6A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D8E2E-8543-A688-763B-E884BB318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0D199-3936-A1F3-B0EB-089330973D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6C0D10-A9D9-A711-D381-3D00C47E0FB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0B74B-73C2-B2A1-57AF-63998F4A4F4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03D50-9478-61DD-97EF-868FFEC1A203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195E4-F595-93CB-A46C-7430AD0680AD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9FF5-1EE2-7B58-60C8-30418EF2E62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EDCAF-FCD3-27B6-7A7D-482980E30A3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0A370C-AC35-54DB-180E-CF84A6DE97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" name="Google Shape;377;p39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Optional Review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375DF464-1047-E0FE-E481-3664C51B5C5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1E60D9-3A05-7A61-72B6-7F9C21F9F6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"IF" STATEMENT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7699175" cy="34290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US" sz="2400" dirty="0"/>
              <a:t>Executes a block of code only if a given condition evaluates to True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# code</a:t>
            </a:r>
          </a:p>
          <a:p>
            <a:pPr lvl="1"/>
            <a:endParaRPr lang="en-US" sz="2400" dirty="0">
              <a:sym typeface="Consolas"/>
            </a:endParaRPr>
          </a:p>
          <a:p>
            <a:pPr lvl="0"/>
            <a:r>
              <a:rPr lang="en-US" sz="2400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age = 20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age &gt;= 18: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print(“You are eligible to vote.”)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“ELSE” STATEMENT</a:t>
            </a:r>
          </a:p>
        </p:txBody>
      </p:sp>
      <p:sp>
        <p:nvSpPr>
          <p:cNvPr id="400" name="Google Shape;400;p43"/>
          <p:cNvSpPr txBox="1">
            <a:spLocks noGrp="1"/>
          </p:cNvSpPr>
          <p:nvPr>
            <p:ph type="body" idx="1"/>
          </p:nvPr>
        </p:nvSpPr>
        <p:spPr>
          <a:xfrm>
            <a:off x="411479" y="864524"/>
            <a:ext cx="8591271" cy="376462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/>
            <a:r>
              <a:rPr lang="en-US" dirty="0"/>
              <a:t>“Else” is used in conjunction with “if” </a:t>
            </a:r>
          </a:p>
          <a:p>
            <a:pPr lvl="0"/>
            <a:r>
              <a:rPr lang="en-US" dirty="0"/>
              <a:t>Provides an alternate block of code to execute if the “if” condition evaluates to false</a:t>
            </a:r>
          </a:p>
          <a:p>
            <a:pPr lvl="0"/>
            <a:endParaRPr lang="en-US" dirty="0"/>
          </a:p>
          <a:p>
            <a:pPr lvl="0"/>
            <a:r>
              <a:rPr lang="en-US" sz="1800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/>
            <a:endParaRPr lang="en-US" sz="1800" dirty="0">
              <a:sym typeface="Consolas"/>
            </a:endParaRPr>
          </a:p>
          <a:p>
            <a:pPr lvl="0"/>
            <a:r>
              <a:rPr lang="en-US" sz="1800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temperature = 78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temperature &gt; 85: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print(“It’s hot out today!”)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print(“It’s not too hot.”)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“ELIF” STATEMENT</a:t>
            </a:r>
          </a:p>
        </p:txBody>
      </p:sp>
      <p:sp>
        <p:nvSpPr>
          <p:cNvPr id="406" name="Google Shape;406;p44"/>
          <p:cNvSpPr txBox="1">
            <a:spLocks noGrp="1"/>
          </p:cNvSpPr>
          <p:nvPr>
            <p:ph type="body" idx="1"/>
          </p:nvPr>
        </p:nvSpPr>
        <p:spPr>
          <a:xfrm>
            <a:off x="411480" y="931025"/>
            <a:ext cx="5096352" cy="3903864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“</a:t>
            </a:r>
            <a:r>
              <a:rPr lang="en-US" dirty="0" err="1"/>
              <a:t>elif</a:t>
            </a:r>
            <a:r>
              <a:rPr lang="en-US" dirty="0"/>
              <a:t>” is short for else-if</a:t>
            </a:r>
          </a:p>
          <a:p>
            <a:pPr lvl="0"/>
            <a:r>
              <a:rPr lang="en-US" dirty="0"/>
              <a:t>It allows for checking multiple conditions sequentially</a:t>
            </a:r>
          </a:p>
          <a:p>
            <a:pPr lvl="0"/>
            <a:r>
              <a:rPr lang="en-US" dirty="0"/>
              <a:t>If the “if” condition evaluates to false, the “</a:t>
            </a:r>
            <a:r>
              <a:rPr lang="en-US" dirty="0" err="1"/>
              <a:t>elif</a:t>
            </a:r>
            <a:r>
              <a:rPr lang="en-US" dirty="0"/>
              <a:t>” statements are evaluated in order until one evaluates to True</a:t>
            </a:r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“FOR” LOOP</a:t>
            </a:r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For loops iterate over a sequence, such as a list, tuple, string, or range, or other </a:t>
            </a:r>
            <a:r>
              <a:rPr lang="en-US" dirty="0" err="1"/>
              <a:t>iterable</a:t>
            </a:r>
            <a:r>
              <a:rPr lang="en-US" dirty="0"/>
              <a:t> objects</a:t>
            </a:r>
          </a:p>
          <a:p>
            <a:pPr lvl="0"/>
            <a:r>
              <a:rPr lang="en-US" dirty="0"/>
              <a:t>A block of code is executed once for each item in the sequence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marL="571500" lvl="1" indent="0">
              <a:lnSpc>
                <a:spcPct val="75000"/>
              </a:lnSpc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for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loop_variable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in sequence:</a:t>
            </a:r>
          </a:p>
          <a:p>
            <a:pPr marL="571500" lvl="1" indent="0">
              <a:lnSpc>
                <a:spcPct val="75000"/>
              </a:lnSpc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marL="571500" lvl="1" indent="0">
              <a:lnSpc>
                <a:spcPct val="85000"/>
              </a:lnSpc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fruits = ["apple", "banana", "cherry"]</a:t>
            </a:r>
          </a:p>
          <a:p>
            <a:pPr marL="571500" lvl="1" indent="0">
              <a:lnSpc>
                <a:spcPct val="85000"/>
              </a:lnSpc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for fruit in fruits:</a:t>
            </a:r>
          </a:p>
          <a:p>
            <a:pPr marL="571500" lvl="1" indent="0">
              <a:lnSpc>
                <a:spcPct val="85000"/>
              </a:lnSpc>
              <a:buSzPct val="100000"/>
              <a:buNone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print(fruit)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“WHILE” LOOP</a:t>
            </a:r>
          </a:p>
        </p:txBody>
      </p:sp>
      <p:sp>
        <p:nvSpPr>
          <p:cNvPr id="448" name="Google Shape;448;p51"/>
          <p:cNvSpPr txBox="1">
            <a:spLocks noGrp="1"/>
          </p:cNvSpPr>
          <p:nvPr>
            <p:ph type="body" idx="1"/>
          </p:nvPr>
        </p:nvSpPr>
        <p:spPr>
          <a:xfrm>
            <a:off x="411480" y="1200149"/>
            <a:ext cx="8338510" cy="34290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/>
            <a:r>
              <a:rPr lang="en-US" dirty="0"/>
              <a:t>While loops execute a block of statements repeatedly as long as a given condition is True</a:t>
            </a:r>
          </a:p>
          <a:p>
            <a:pPr lvl="0"/>
            <a:r>
              <a:rPr lang="en-US" dirty="0"/>
              <a:t>The loop continues to execute until the condition becomes false</a:t>
            </a:r>
          </a:p>
          <a:p>
            <a:pPr lvl="0"/>
            <a:r>
              <a:rPr lang="en-US" dirty="0"/>
              <a:t>What if we never update the variable that is being checked by our condition inside the body of our while loop?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while condition: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block of code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count = 0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while count &lt; 5: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print(count)</a:t>
            </a:r>
          </a:p>
          <a:p>
            <a:pPr lvl="1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count += 1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FFBF-64D9-49B2-877B-51A6A3E8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27219"/>
            <a:ext cx="8382000" cy="857250"/>
          </a:xfrm>
        </p:spPr>
        <p:txBody>
          <a:bodyPr/>
          <a:lstStyle/>
          <a:p>
            <a:r>
              <a:rPr lang="en-US" dirty="0"/>
              <a:t>How do we create our own functions?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3860C-B292-8590-D005-CE973C1D7E88}"/>
              </a:ext>
            </a:extLst>
          </p:cNvPr>
          <p:cNvSpPr txBox="1"/>
          <p:nvPr/>
        </p:nvSpPr>
        <p:spPr>
          <a:xfrm>
            <a:off x="381000" y="1189463"/>
            <a:ext cx="2124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Define the function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lvl="2"/>
            <a:r>
              <a:rPr lang="en-US" dirty="0"/>
              <a:t>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E6F6D-DB09-92DD-52C8-EC3975264529}"/>
              </a:ext>
            </a:extLst>
          </p:cNvPr>
          <p:cNvSpPr txBox="1"/>
          <p:nvPr/>
        </p:nvSpPr>
        <p:spPr>
          <a:xfrm>
            <a:off x="303273" y="1699296"/>
            <a:ext cx="479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EC86A-3DDD-BAB3-6BC6-68549B696384}"/>
              </a:ext>
            </a:extLst>
          </p:cNvPr>
          <p:cNvSpPr txBox="1"/>
          <p:nvPr/>
        </p:nvSpPr>
        <p:spPr>
          <a:xfrm>
            <a:off x="688601" y="1699295"/>
            <a:ext cx="14248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function_name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58AEE-C947-C8C9-971C-0DFBDAE5F3AF}"/>
              </a:ext>
            </a:extLst>
          </p:cNvPr>
          <p:cNvSpPr txBox="1"/>
          <p:nvPr/>
        </p:nvSpPr>
        <p:spPr>
          <a:xfrm>
            <a:off x="1918976" y="1699294"/>
            <a:ext cx="2811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(parameter1, parameter2…):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93740-06F4-6A93-9359-2798370DD977}"/>
              </a:ext>
            </a:extLst>
          </p:cNvPr>
          <p:cNvSpPr txBox="1"/>
          <p:nvPr/>
        </p:nvSpPr>
        <p:spPr>
          <a:xfrm>
            <a:off x="746839" y="2007071"/>
            <a:ext cx="2811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BODY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81E237-AF64-458F-8AE5-1F8362761333}"/>
              </a:ext>
            </a:extLst>
          </p:cNvPr>
          <p:cNvSpPr txBox="1"/>
          <p:nvPr/>
        </p:nvSpPr>
        <p:spPr>
          <a:xfrm>
            <a:off x="746839" y="2325528"/>
            <a:ext cx="2811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return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52B335-40BA-2E1A-A940-85EDCDE0C291}"/>
              </a:ext>
            </a:extLst>
          </p:cNvPr>
          <p:cNvSpPr txBox="1"/>
          <p:nvPr/>
        </p:nvSpPr>
        <p:spPr>
          <a:xfrm>
            <a:off x="4730307" y="1189463"/>
            <a:ext cx="2124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2)  Call the function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lvl="2"/>
            <a:r>
              <a:rPr lang="en-US" dirty="0"/>
              <a:t>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C816D8-821E-D079-4CDA-F60D7837F69A}"/>
              </a:ext>
            </a:extLst>
          </p:cNvPr>
          <p:cNvSpPr txBox="1"/>
          <p:nvPr/>
        </p:nvSpPr>
        <p:spPr>
          <a:xfrm>
            <a:off x="4788545" y="1699294"/>
            <a:ext cx="2811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function_name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3956BB-E43A-CC57-283E-B09AC726B62F}"/>
              </a:ext>
            </a:extLst>
          </p:cNvPr>
          <p:cNvSpPr txBox="1"/>
          <p:nvPr/>
        </p:nvSpPr>
        <p:spPr>
          <a:xfrm>
            <a:off x="5983584" y="1689484"/>
            <a:ext cx="2811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(argument1, argument2…)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A5F5A-A85D-B64A-ED5C-A4D26830EB75}"/>
              </a:ext>
            </a:extLst>
          </p:cNvPr>
          <p:cNvSpPr txBox="1"/>
          <p:nvPr/>
        </p:nvSpPr>
        <p:spPr>
          <a:xfrm>
            <a:off x="303273" y="2931385"/>
            <a:ext cx="479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E91B79-F9AE-DD3B-349B-57CF7F742C6F}"/>
              </a:ext>
            </a:extLst>
          </p:cNvPr>
          <p:cNvSpPr txBox="1"/>
          <p:nvPr/>
        </p:nvSpPr>
        <p:spPr>
          <a:xfrm>
            <a:off x="727618" y="2931383"/>
            <a:ext cx="3442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add_together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5D96E4-4FEA-4F29-7F87-BFE40ECCE9BD}"/>
              </a:ext>
            </a:extLst>
          </p:cNvPr>
          <p:cNvSpPr txBox="1"/>
          <p:nvPr/>
        </p:nvSpPr>
        <p:spPr>
          <a:xfrm>
            <a:off x="1795347" y="293138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(number1, number2):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4757C2-59BD-7198-CDEA-3902BE512F65}"/>
              </a:ext>
            </a:extLst>
          </p:cNvPr>
          <p:cNvSpPr txBox="1"/>
          <p:nvPr/>
        </p:nvSpPr>
        <p:spPr>
          <a:xfrm>
            <a:off x="688601" y="323915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sum = number1 + number2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E7A6F6-730A-FB1C-78FB-8B05EE46B4E2}"/>
              </a:ext>
            </a:extLst>
          </p:cNvPr>
          <p:cNvSpPr txBox="1"/>
          <p:nvPr/>
        </p:nvSpPr>
        <p:spPr>
          <a:xfrm>
            <a:off x="727618" y="3514063"/>
            <a:ext cx="2811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return sum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1A6EF-10C3-59EC-C311-1B21B81E86D9}"/>
              </a:ext>
            </a:extLst>
          </p:cNvPr>
          <p:cNvSpPr txBox="1"/>
          <p:nvPr/>
        </p:nvSpPr>
        <p:spPr>
          <a:xfrm>
            <a:off x="4841819" y="2908210"/>
            <a:ext cx="3442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result1 = </a:t>
            </a:r>
            <a:r>
              <a:rPr lang="en-US" dirty="0" err="1"/>
              <a:t>add_together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CA314-1F19-EF08-50C1-F1D61F4853D4}"/>
              </a:ext>
            </a:extLst>
          </p:cNvPr>
          <p:cNvSpPr txBox="1"/>
          <p:nvPr/>
        </p:nvSpPr>
        <p:spPr>
          <a:xfrm>
            <a:off x="6620427" y="289898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(10, 20)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F3142D-23A4-D7CF-F9C2-BF549BD76B6A}"/>
              </a:ext>
            </a:extLst>
          </p:cNvPr>
          <p:cNvSpPr txBox="1"/>
          <p:nvPr/>
        </p:nvSpPr>
        <p:spPr>
          <a:xfrm>
            <a:off x="4841819" y="3214342"/>
            <a:ext cx="3442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result2 = </a:t>
            </a:r>
            <a:r>
              <a:rPr lang="en-US" dirty="0" err="1"/>
              <a:t>add_together</a:t>
            </a:r>
            <a:r>
              <a:rPr lang="en-US" dirty="0"/>
              <a:t>(5, 7)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1113CB-D694-2CDC-C1D1-E06EAAF3AD64}"/>
              </a:ext>
            </a:extLst>
          </p:cNvPr>
          <p:cNvSpPr txBox="1"/>
          <p:nvPr/>
        </p:nvSpPr>
        <p:spPr>
          <a:xfrm>
            <a:off x="4841819" y="3501915"/>
            <a:ext cx="3442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result3 = </a:t>
            </a:r>
            <a:r>
              <a:rPr lang="en-US" dirty="0" err="1"/>
              <a:t>add_together</a:t>
            </a:r>
            <a:r>
              <a:rPr lang="en-US" dirty="0"/>
              <a:t>(100, 10)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4E1A0E-7435-530F-1B74-12CCE07EC9CF}"/>
              </a:ext>
            </a:extLst>
          </p:cNvPr>
          <p:cNvSpPr txBox="1"/>
          <p:nvPr/>
        </p:nvSpPr>
        <p:spPr>
          <a:xfrm>
            <a:off x="3838808" y="3884852"/>
            <a:ext cx="5057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would be printed out if we ran these three lines of code?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41B926-C803-7DDF-DCA2-8EB4D818CC24}"/>
              </a:ext>
            </a:extLst>
          </p:cNvPr>
          <p:cNvSpPr txBox="1"/>
          <p:nvPr/>
        </p:nvSpPr>
        <p:spPr>
          <a:xfrm>
            <a:off x="4841819" y="4192975"/>
            <a:ext cx="34429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print(result1)</a:t>
            </a:r>
          </a:p>
          <a:p>
            <a:r>
              <a:rPr lang="en-US" dirty="0"/>
              <a:t>print(result2)</a:t>
            </a:r>
          </a:p>
          <a:p>
            <a:r>
              <a:rPr lang="en-US" dirty="0"/>
              <a:t>print(result3)</a:t>
            </a:r>
          </a:p>
        </p:txBody>
      </p:sp>
    </p:spTree>
    <p:extLst>
      <p:ext uri="{BB962C8B-B14F-4D97-AF65-F5344CB8AC3E}">
        <p14:creationId xmlns:p14="http://schemas.microsoft.com/office/powerpoint/2010/main" val="365285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30DC-F6C8-22C9-2A12-713C4E1E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3AAA-D656-4F94-34E8-AB595658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Problem 1 – Temperature Advisor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14417-23DA-C546-6700-FBE2B4651B4A}"/>
              </a:ext>
            </a:extLst>
          </p:cNvPr>
          <p:cNvSpPr txBox="1"/>
          <p:nvPr/>
        </p:nvSpPr>
        <p:spPr>
          <a:xfrm>
            <a:off x="527823" y="1091086"/>
            <a:ext cx="77761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Ask the user for the current temperature. Print "Wear a coat" if it's below 40, "Bring a jacket" if it's 40–65, and "Enjoy the weather!" if it's above 65.</a:t>
            </a:r>
          </a:p>
          <a:p>
            <a:endParaRPr lang="en-US" sz="2000" dirty="0"/>
          </a:p>
          <a:p>
            <a:br>
              <a:rPr lang="en-US" sz="2000" dirty="0"/>
            </a:br>
            <a:r>
              <a:rPr lang="en-US" sz="2000" i="1" dirty="0"/>
              <a:t>Stretch goal:</a:t>
            </a:r>
            <a:r>
              <a:rPr lang="en-US" sz="2000" dirty="0"/>
              <a:t> Also ask whether it's raining (yes/no) and adjust the advice accordingly — e.g., "Bring an umbrella" gets appended to any message when it's raining.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0338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5C09-60A3-090C-AF57-A4691291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6A038-2058-3C8A-E4FE-6E977C99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Problem 2 – </a:t>
            </a:r>
            <a:r>
              <a:rPr lang="en-US" dirty="0" err="1"/>
              <a:t>FizzBuzz</a:t>
            </a:r>
            <a:r>
              <a:rPr lang="en-US" dirty="0"/>
              <a:t> with a Twist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CE3502-167E-A6C4-585B-7A28D991A0CA}"/>
              </a:ext>
            </a:extLst>
          </p:cNvPr>
          <p:cNvSpPr txBox="1"/>
          <p:nvPr/>
        </p:nvSpPr>
        <p:spPr>
          <a:xfrm>
            <a:off x="381000" y="1007915"/>
            <a:ext cx="82128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Loop through the numbers 1 to 30. Print "Fizz" for multiples of 3, "Buzz" for multiples of 5, "</a:t>
            </a:r>
            <a:r>
              <a:rPr lang="en-US" sz="2000" dirty="0" err="1"/>
              <a:t>FizzBuzz</a:t>
            </a:r>
            <a:r>
              <a:rPr lang="en-US" sz="2000" dirty="0"/>
              <a:t>" for multiples of both, and the number itself otherwise.</a:t>
            </a:r>
          </a:p>
          <a:p>
            <a:endParaRPr lang="en-US" sz="2000" dirty="0"/>
          </a:p>
          <a:p>
            <a:endParaRPr lang="en-US" sz="2000" dirty="0"/>
          </a:p>
          <a:p>
            <a:br>
              <a:rPr lang="en-US" sz="2000" dirty="0"/>
            </a:br>
            <a:r>
              <a:rPr lang="en-US" sz="2000" i="1" dirty="0"/>
              <a:t>Stretch goal:</a:t>
            </a:r>
            <a:r>
              <a:rPr lang="en-US" sz="2000" dirty="0"/>
              <a:t> Wrap the logic in a function </a:t>
            </a:r>
            <a:r>
              <a:rPr lang="en-US" sz="1400" dirty="0" err="1"/>
              <a:t>fizzbuzz</a:t>
            </a:r>
            <a:r>
              <a:rPr lang="en-US" sz="1400" dirty="0"/>
              <a:t>(start, end)</a:t>
            </a:r>
            <a:r>
              <a:rPr lang="en-US" sz="2000" dirty="0"/>
              <a:t> so the user can choose the range, and count how many "</a:t>
            </a:r>
            <a:r>
              <a:rPr lang="en-US" sz="2000" dirty="0" err="1"/>
              <a:t>FizzBuzz</a:t>
            </a:r>
            <a:r>
              <a:rPr lang="en-US" sz="2000" dirty="0"/>
              <a:t>" lines were printed, reporting the total at the end.</a:t>
            </a:r>
          </a:p>
        </p:txBody>
      </p:sp>
    </p:spTree>
    <p:extLst>
      <p:ext uri="{BB962C8B-B14F-4D97-AF65-F5344CB8AC3E}">
        <p14:creationId xmlns:p14="http://schemas.microsoft.com/office/powerpoint/2010/main" val="75486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0AB0-1DE8-010A-AD4B-EFCDC1EA2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BD02-5FF5-22D4-2929-49081F19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Problem 3 – Password Checker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DF0B5-D6EF-DFEC-42F9-844AA0BE453D}"/>
              </a:ext>
            </a:extLst>
          </p:cNvPr>
          <p:cNvSpPr txBox="1"/>
          <p:nvPr/>
        </p:nvSpPr>
        <p:spPr>
          <a:xfrm>
            <a:off x="381000" y="1007915"/>
            <a:ext cx="82128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Write a function </a:t>
            </a:r>
            <a:r>
              <a:rPr lang="en-US" sz="2000" dirty="0" err="1"/>
              <a:t>check_password</a:t>
            </a:r>
            <a:r>
              <a:rPr lang="en-US" sz="2000" dirty="0"/>
              <a:t>(password) that returns "Weak" if the password is shorter than 8 characters, "Medium" if it's 8+ characters, and "Strong" if it's 8+ characters </a:t>
            </a:r>
            <a:r>
              <a:rPr lang="en-US" sz="2000" i="1" dirty="0"/>
              <a:t>and</a:t>
            </a:r>
            <a:r>
              <a:rPr lang="en-US" sz="2000" dirty="0"/>
              <a:t> contains at least one digit. (Looping through the characters to check for a digit is a nice loop exercise.)</a:t>
            </a:r>
          </a:p>
          <a:p>
            <a:endParaRPr lang="en-US" sz="2000" dirty="0"/>
          </a:p>
          <a:p>
            <a:br>
              <a:rPr lang="en-US" sz="2000" dirty="0"/>
            </a:br>
            <a:r>
              <a:rPr lang="en-US" sz="2000" i="1" dirty="0"/>
              <a:t>Stretch goal:</a:t>
            </a:r>
            <a:r>
              <a:rPr lang="en-US" sz="2000" dirty="0"/>
              <a:t> Add a requirement for at least one uppercase letter for "Strong", and keep prompting the user in a </a:t>
            </a:r>
            <a:r>
              <a:rPr lang="en-US" dirty="0"/>
              <a:t>while</a:t>
            </a:r>
            <a:r>
              <a:rPr lang="en-US" sz="2000" dirty="0"/>
              <a:t> loop until they enter a strong password.</a:t>
            </a:r>
          </a:p>
        </p:txBody>
      </p:sp>
    </p:spTree>
    <p:extLst>
      <p:ext uri="{BB962C8B-B14F-4D97-AF65-F5344CB8AC3E}">
        <p14:creationId xmlns:p14="http://schemas.microsoft.com/office/powerpoint/2010/main" val="238742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F244-C54B-B931-2D45-5F665637E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799B-C441-DF36-586B-479BB304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Problem 4 – Grade Calculator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0F9B2-B92D-A487-02E6-8AFBD64F4662}"/>
              </a:ext>
            </a:extLst>
          </p:cNvPr>
          <p:cNvSpPr txBox="1"/>
          <p:nvPr/>
        </p:nvSpPr>
        <p:spPr>
          <a:xfrm>
            <a:off x="381000" y="1007915"/>
            <a:ext cx="82128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Write a function </a:t>
            </a:r>
            <a:r>
              <a:rPr lang="en-US" dirty="0" err="1"/>
              <a:t>letter_grade</a:t>
            </a:r>
            <a:r>
              <a:rPr lang="en-US" dirty="0"/>
              <a:t>(score)</a:t>
            </a:r>
            <a:r>
              <a:rPr lang="en-US" sz="2000" dirty="0"/>
              <a:t> that converts a numeric score to a letter grade (A/B/C/D/F). Then ask the user how many test scores they want to enter, loop that many times collecting scores, and print each score with its letter grade.</a:t>
            </a:r>
          </a:p>
          <a:p>
            <a:endParaRPr lang="en-US" sz="2000" dirty="0"/>
          </a:p>
          <a:p>
            <a:br>
              <a:rPr lang="en-US" sz="2000" dirty="0"/>
            </a:br>
            <a:r>
              <a:rPr lang="en-US" sz="2000" i="1" dirty="0"/>
              <a:t>Stretch goal:</a:t>
            </a:r>
            <a:r>
              <a:rPr lang="en-US" sz="2000" dirty="0"/>
              <a:t> Compute and display the class average and its letter grade, and report the highest and lowest scores — without using </a:t>
            </a:r>
            <a:r>
              <a:rPr lang="en-US" dirty="0"/>
              <a:t>max()</a:t>
            </a:r>
            <a:r>
              <a:rPr lang="en-US" sz="2000" dirty="0"/>
              <a:t> or </a:t>
            </a:r>
            <a:r>
              <a:rPr lang="en-US" dirty="0"/>
              <a:t>min()</a:t>
            </a:r>
            <a:r>
              <a:rPr lang="en-US" sz="2000" dirty="0"/>
              <a:t>, so students practice tracking values inside a loop.</a:t>
            </a:r>
          </a:p>
        </p:txBody>
      </p:sp>
    </p:spTree>
    <p:extLst>
      <p:ext uri="{BB962C8B-B14F-4D97-AF65-F5344CB8AC3E}">
        <p14:creationId xmlns:p14="http://schemas.microsoft.com/office/powerpoint/2010/main" val="214938998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1754</TotalTime>
  <Words>837</Words>
  <Application>Microsoft Office PowerPoint</Application>
  <PresentationFormat>On-screen Show (16:9)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Consolas</vt:lpstr>
      <vt:lpstr>Roboto</vt:lpstr>
      <vt:lpstr>US Army 2023 AFC DEVCOM Logo</vt:lpstr>
      <vt:lpstr>Optional Review</vt:lpstr>
      <vt:lpstr>THE "IF" STATEMENT</vt:lpstr>
      <vt:lpstr>THE “ELSE” STATEMENT</vt:lpstr>
      <vt:lpstr>THE “ELIF” STATEMENT</vt:lpstr>
      <vt:lpstr>“FOR” LOOP</vt:lpstr>
      <vt:lpstr>“WHILE” LOOP</vt:lpstr>
      <vt:lpstr>How do we create our own functions?</vt:lpstr>
      <vt:lpstr> Problem 1 – Temperature Advisor</vt:lpstr>
      <vt:lpstr> Problem 2 – FizzBuzz with a Twist </vt:lpstr>
      <vt:lpstr> Problem 3 – Password Checker</vt:lpstr>
      <vt:lpstr> Problem 4 – Grade Calculator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ryan.neville</dc:creator>
  <cp:lastModifiedBy>Ryan Neville</cp:lastModifiedBy>
  <cp:revision>17</cp:revision>
  <dcterms:modified xsi:type="dcterms:W3CDTF">2026-07-16T01:33:59Z</dcterms:modified>
</cp:coreProperties>
</file>