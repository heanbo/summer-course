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512" r:id="rId5"/>
    <p:sldId id="259" r:id="rId6"/>
    <p:sldId id="260" r:id="rId7"/>
    <p:sldId id="262" r:id="rId8"/>
    <p:sldId id="265" r:id="rId9"/>
    <p:sldId id="513" r:id="rId10"/>
    <p:sldId id="511" r:id="rId11"/>
    <p:sldId id="264" r:id="rId12"/>
    <p:sldId id="263" r:id="rId13"/>
    <p:sldId id="266" r:id="rId14"/>
    <p:sldId id="509" r:id="rId15"/>
    <p:sldId id="268" r:id="rId16"/>
    <p:sldId id="510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48" autoAdjust="0"/>
  </p:normalViewPr>
  <p:slideViewPr>
    <p:cSldViewPr snapToGrid="0">
      <p:cViewPr varScale="1">
        <p:scale>
          <a:sx n="100" d="100"/>
          <a:sy n="100" d="100"/>
        </p:scale>
        <p:origin x="84" y="7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6" d="100"/>
          <a:sy n="106" d="100"/>
        </p:scale>
        <p:origin x="3052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7F72F2-71FF-6672-05EC-DE878780EC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5DFE4-B08E-269E-94F8-374594F13F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4C5E95-A39E-4E95-BC60-F0764558D4FD}" type="datetimeFigureOut">
              <a:rPr lang="en-US" smtClean="0"/>
              <a:t>29-May-26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D76F9E-68AD-CE3B-2E3C-DC44048CD1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9C576-537B-D7CE-4266-6C580ED271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0768F5-4EA2-448B-B05C-FEB9AF3DD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889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E2CED0-0053-4CA5-BBA9-1B4221C85B40}" type="datetimeFigureOut">
              <a:rPr lang="en-US" smtClean="0"/>
              <a:t>29-May-26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10795-42AE-41C2-B777-14342A771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849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Defining the class is different than </a:t>
            </a:r>
            <a:r>
              <a:rPr lang="en-US" i="1" dirty="0"/>
              <a:t>instantiating</a:t>
            </a:r>
            <a:r>
              <a:rPr lang="en-US" i="0" dirty="0"/>
              <a:t> the class</a:t>
            </a:r>
          </a:p>
          <a:p>
            <a:endParaRPr lang="en-US" i="0" dirty="0"/>
          </a:p>
          <a:p>
            <a:r>
              <a:rPr lang="en-US" i="0" dirty="0"/>
              <a:t>Line 7 instantiates </a:t>
            </a:r>
            <a:r>
              <a:rPr lang="en-US" i="0"/>
              <a:t>the class, </a:t>
            </a:r>
            <a:r>
              <a:rPr lang="en-US" i="0" dirty="0"/>
              <a:t>lines 1-5 define the class.</a:t>
            </a:r>
          </a:p>
          <a:p>
            <a:endParaRPr lang="en-US" i="0" dirty="0"/>
          </a:p>
          <a:p>
            <a:r>
              <a:rPr lang="en-US" i="0" dirty="0"/>
              <a:t>Just like defining a function and calling the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10795-42AE-41C2-B777-14342A77114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78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10795-42AE-41C2-B777-14342A77114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656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10795-42AE-41C2-B777-14342A77114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981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30000" dirty="0"/>
              <a:t>1 </a:t>
            </a:r>
            <a:r>
              <a:rPr lang="en-US" dirty="0"/>
              <a:t>https://docs.python.org/3/reference/datamodel.html#basic-customization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10795-42AE-41C2-B777-14342A77114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580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DFE7D-F7DB-A08D-6069-3C8592C2A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36F55C-2FB1-D876-429B-93331F9F3B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C6E452-4B50-54A6-CCB5-AC4FE1607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FECCB-8479-2F89-9338-278D085DEF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10795-42AE-41C2-B777-14342A77114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807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29 May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9530614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29 May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5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3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7385985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29 May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417501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29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495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29 May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175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29 May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270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29 May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918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9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29 May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881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29 May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964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29 May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701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29 May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7428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29 May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194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29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3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29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62096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29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324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29 May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22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29 May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13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6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6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6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29 May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564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29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300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29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266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29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967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29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480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29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31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29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3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29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38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29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923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29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53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29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5977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9" y="4819415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29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096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98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139631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958309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 preserve="1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113608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4156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64432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94289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rcRect l="26274" t="67"/>
          <a:stretch>
            <a:fillRect/>
          </a:stretch>
        </p:blipFill>
        <p:spPr>
          <a:xfrm>
            <a:off x="10428515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9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29 May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7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9926021" y="424087"/>
            <a:ext cx="502495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690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  <p:sldLayoutId id="2147483722" r:id="rId29"/>
    <p:sldLayoutId id="2147483723" r:id="rId30"/>
    <p:sldLayoutId id="2147483724" r:id="rId31"/>
    <p:sldLayoutId id="2147483725" r:id="rId32"/>
    <p:sldLayoutId id="2147483726" r:id="rId33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1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6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02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28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0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879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6DE269-629A-1B6E-37E7-6E0D3BC7FB6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38FA8B4-F062-BF06-9AC7-73021101B35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ADF9E21-F83A-6017-17BF-A7324C287AB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43FD432-FDC9-4A31-684E-18129804A11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7E62859-8321-52DB-8D96-72E18A0F6C5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D9F7E01-123F-CCAA-67E5-44CDAE9FAB5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7404B0A-C130-0475-1BAB-E51129F7F61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1AC7D2D-77F8-9C66-ECAB-817FEA29432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4D67DB-8667-B8B2-8891-74AED0BCCCD4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8EC1091-FF6A-2C93-3296-31F06C9BE218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3FB89E-D437-DDEE-EF60-D8FEAACA94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2202820"/>
            <a:ext cx="6429375" cy="1325880"/>
          </a:xfrm>
        </p:spPr>
        <p:txBody>
          <a:bodyPr/>
          <a:lstStyle/>
          <a:p>
            <a:r>
              <a:rPr lang="en-US" dirty="0"/>
              <a:t>Classes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16B13B-C7A6-E7BA-F0D6-EB060527E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2" y="3784732"/>
            <a:ext cx="3565524" cy="457200"/>
          </a:xfrm>
        </p:spPr>
        <p:txBody>
          <a:bodyPr/>
          <a:lstStyle/>
          <a:p>
            <a:r>
              <a:rPr lang="en-US" dirty="0"/>
              <a:t>AI2C </a:t>
            </a:r>
            <a:r>
              <a:rPr lang="en-US"/>
              <a:t>Tech Intro 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A4B9A71-34A8-A9DE-09AE-4A8FBD1675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16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F13C-EF4C-AC2D-69C5-D96E2312A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0F9A6-D074-B4DD-AA37-66A632B0C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 classes in a python program to encapsulate functionality</a:t>
            </a:r>
          </a:p>
          <a:p>
            <a:r>
              <a:rPr lang="en-US" dirty="0"/>
              <a:t>Discuss uses of classes and their interactions in python</a:t>
            </a:r>
          </a:p>
        </p:txBody>
      </p:sp>
    </p:spTree>
    <p:extLst>
      <p:ext uri="{BB962C8B-B14F-4D97-AF65-F5344CB8AC3E}">
        <p14:creationId xmlns:p14="http://schemas.microsoft.com/office/powerpoint/2010/main" val="1445210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F3358-02A1-9D11-085E-A784D4000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Oriented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9600E-78B1-F8B2-7357-53D3DF694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Things in the real world are objects</a:t>
            </a:r>
          </a:p>
          <a:p>
            <a:r>
              <a:rPr lang="en-US" dirty="0"/>
              <a:t>Objects interact with each other</a:t>
            </a:r>
          </a:p>
          <a:p>
            <a:r>
              <a:rPr lang="en-US" dirty="0"/>
              <a:t>Similar types of objects operate in the same manner</a:t>
            </a:r>
          </a:p>
          <a:p>
            <a:r>
              <a:rPr lang="en-US" dirty="0"/>
              <a:t>Seems like a good way to model software</a:t>
            </a:r>
          </a:p>
          <a:p>
            <a:endParaRPr lang="en-US" dirty="0"/>
          </a:p>
          <a:p>
            <a:r>
              <a:rPr lang="en-US" dirty="0"/>
              <a:t>Encapsulation – hiding complexity behind an interface</a:t>
            </a:r>
          </a:p>
          <a:p>
            <a:pPr lvl="1"/>
            <a:r>
              <a:rPr lang="en-US" dirty="0"/>
              <a:t>Your car encapsulates forward motion behind a gas pedal</a:t>
            </a:r>
          </a:p>
          <a:p>
            <a:pPr lvl="1"/>
            <a:r>
              <a:rPr lang="en-US" dirty="0"/>
              <a:t>Your computer encapsulates transistors behind a monitor </a:t>
            </a:r>
            <a:r>
              <a:rPr lang="en-US"/>
              <a:t>/ keyboard / mouse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09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D8565-A38F-1BBF-B2FE-EE4B48370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Objects 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FA5DFF-478B-B5BF-B9CB-F9CB8B1C6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764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C2289-3677-E7D2-3D3D-8007E8A47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013C24B-B9DC-51FD-5409-08DEFAB75D6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07776" y="1325880"/>
            <a:ext cx="5653861" cy="2899755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BD0A8-4284-9C05-3D99-2A1EA69D06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Attributes – stored data / properties of the class</a:t>
            </a:r>
          </a:p>
          <a:p>
            <a:endParaRPr lang="en-US" dirty="0"/>
          </a:p>
          <a:p>
            <a:r>
              <a:rPr lang="en-US" dirty="0"/>
              <a:t>Methods – what the class can do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Objects are instantiations of classes</a:t>
            </a:r>
          </a:p>
        </p:txBody>
      </p:sp>
    </p:spTree>
    <p:extLst>
      <p:ext uri="{BB962C8B-B14F-4D97-AF65-F5344CB8AC3E}">
        <p14:creationId xmlns:p14="http://schemas.microsoft.com/office/powerpoint/2010/main" val="3948538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275D0-67EA-0F85-3A2B-058FB5AAC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class ideas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3D2B051-B504-71E5-C185-C4BBC1D1CB5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9410" y="1518458"/>
            <a:ext cx="5680779" cy="3469178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027B11-191B-7D75-C6DB-945FEFA967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Objects are constructed from classes</a:t>
            </a:r>
          </a:p>
          <a:p>
            <a:r>
              <a:rPr lang="en-US" dirty="0"/>
              <a:t>The constructor defines that behavior</a:t>
            </a:r>
          </a:p>
          <a:p>
            <a:r>
              <a:rPr lang="en-US" dirty="0"/>
              <a:t>We can set attributes during the constructor</a:t>
            </a:r>
          </a:p>
          <a:p>
            <a:r>
              <a:rPr lang="en-US" dirty="0"/>
              <a:t>The self keyword references an instantiated object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420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7A3C6-E251-3490-C61A-40103F43D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attributes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9CD6C81-E9DA-071D-E4CA-11B1BA7E26E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49906" y="2066671"/>
            <a:ext cx="3762900" cy="3639058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A4C1A-2351-36C1-5C4B-9633F141A9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Classes can have their own attributes and methods</a:t>
            </a:r>
          </a:p>
          <a:p>
            <a:r>
              <a:rPr lang="en-US" dirty="0"/>
              <a:t>Instances can have their own properties and methods</a:t>
            </a:r>
          </a:p>
          <a:p>
            <a:endParaRPr lang="en-US" dirty="0"/>
          </a:p>
          <a:p>
            <a:r>
              <a:rPr lang="en-US" dirty="0"/>
              <a:t>Pay special attention to the example on the left</a:t>
            </a:r>
          </a:p>
        </p:txBody>
      </p:sp>
    </p:spTree>
    <p:extLst>
      <p:ext uri="{BB962C8B-B14F-4D97-AF65-F5344CB8AC3E}">
        <p14:creationId xmlns:p14="http://schemas.microsoft.com/office/powerpoint/2010/main" val="1095448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38945-85EB-E3BF-A59F-DAF782566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</a:t>
            </a:r>
            <a:r>
              <a:rPr lang="en-US" dirty="0" err="1"/>
              <a:t>other</a:t>
            </a:r>
            <a:r>
              <a:rPr lang="en-US" dirty="0"/>
              <a:t> class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1BBE0-AC32-50E8-7E8A-3D053049F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type of a class is `</a:t>
            </a:r>
            <a:r>
              <a:rPr lang="en-US" dirty="0" err="1"/>
              <a:t>class`</a:t>
            </a:r>
            <a:endParaRPr lang="en-US" dirty="0"/>
          </a:p>
          <a:p>
            <a:r>
              <a:rPr lang="en-US" dirty="0"/>
              <a:t>The type of an object is the class name</a:t>
            </a:r>
          </a:p>
          <a:p>
            <a:endParaRPr lang="en-US" dirty="0"/>
          </a:p>
          <a:p>
            <a:r>
              <a:rPr lang="en-US" dirty="0"/>
              <a:t>See object’s options using </a:t>
            </a:r>
            <a:r>
              <a:rPr lang="en-US" dirty="0" err="1"/>
              <a:t>dir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By convention, things with ‘__’ or ‘_’ are not to be used outside the class</a:t>
            </a:r>
          </a:p>
        </p:txBody>
      </p:sp>
    </p:spTree>
    <p:extLst>
      <p:ext uri="{BB962C8B-B14F-4D97-AF65-F5344CB8AC3E}">
        <p14:creationId xmlns:p14="http://schemas.microsoft.com/office/powerpoint/2010/main" val="4271478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F644D-3071-C1C1-DDFB-B3C3F4CBD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2CB53-B20A-60F2-C5C7-4F007B8AF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 a type of animate object in the world</a:t>
            </a:r>
          </a:p>
          <a:p>
            <a:pPr lvl="1"/>
            <a:r>
              <a:rPr lang="en-US" dirty="0"/>
              <a:t>What attributes does that object have?</a:t>
            </a:r>
          </a:p>
          <a:p>
            <a:pPr lvl="1"/>
            <a:r>
              <a:rPr lang="en-US" dirty="0"/>
              <a:t>What things can it do?</a:t>
            </a:r>
          </a:p>
          <a:p>
            <a:pPr lvl="1"/>
            <a:r>
              <a:rPr lang="en-US" dirty="0"/>
              <a:t>How might it interact with other objects?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D5F7A-27B6-6B3B-0574-893EB2A86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29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775036-7118-8525-34AB-06DBE023BC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51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41F67-2A90-22AB-D79B-CF73D5BB0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RPS 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0B8B30-8093-BCB6-7E94-7FEA5F40F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99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B1057-464D-13F5-77D2-14C4F30AA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F2B45-D8F3-3403-1AF3-F1CB45707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Spacecraft class</a:t>
            </a:r>
          </a:p>
        </p:txBody>
      </p:sp>
    </p:spTree>
    <p:extLst>
      <p:ext uri="{BB962C8B-B14F-4D97-AF65-F5344CB8AC3E}">
        <p14:creationId xmlns:p14="http://schemas.microsoft.com/office/powerpoint/2010/main" val="184941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F0A89-F435-3162-5AE0-0FFC9FF39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C6585DD-F807-7469-9CEA-AB6CF5012C3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3804" y="1668607"/>
            <a:ext cx="3581963" cy="137015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606F72C-155B-F79D-D573-8E4C488294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One interface that accepts multiple types</a:t>
            </a:r>
          </a:p>
          <a:p>
            <a:r>
              <a:rPr lang="en-US" dirty="0"/>
              <a:t>Can you think of any that we’ve used?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09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7FC6D-A8D9-3E3D-4D63-D0653896D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Magic Methods and Overloads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65ECEE-A22F-0F3C-7589-841C4AA7B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These methods are called by python to do many operations like sorting or printing</a:t>
            </a:r>
          </a:p>
          <a:p>
            <a:r>
              <a:rPr lang="en-US" dirty="0"/>
              <a:t>You can “overload” or override these methods by defining your own method in a class.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3DCE-CF7B-51A6-3C41-F1FB28955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459498"/>
            <a:ext cx="4833257" cy="3437446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CB58465-1E35-305D-945D-1539C4CCD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971897"/>
              </p:ext>
            </p:extLst>
          </p:nvPr>
        </p:nvGraphicFramePr>
        <p:xfrm>
          <a:off x="548640" y="2513169"/>
          <a:ext cx="5307495" cy="36590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1708">
                  <a:extLst>
                    <a:ext uri="{9D8B030D-6E8A-4147-A177-3AD203B41FA5}">
                      <a16:colId xmlns:a16="http://schemas.microsoft.com/office/drawing/2014/main" val="2290486697"/>
                    </a:ext>
                  </a:extLst>
                </a:gridCol>
                <a:gridCol w="2995787">
                  <a:extLst>
                    <a:ext uri="{9D8B030D-6E8A-4147-A177-3AD203B41FA5}">
                      <a16:colId xmlns:a16="http://schemas.microsoft.com/office/drawing/2014/main" val="1269860263"/>
                    </a:ext>
                  </a:extLst>
                </a:gridCol>
              </a:tblGrid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'__bool__’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init_subclass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351229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'__class__’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'__le__’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040209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delattr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lt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257225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dir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'__ne__’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60545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'__doc__’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'__new__’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988457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'__eq__’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'__reduce__’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137107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'__format__’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reduce_ex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42403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ge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repr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306416"/>
                  </a:ext>
                </a:extLst>
              </a:tr>
              <a:tr h="51702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getattribute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setattr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013428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getstate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665662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gt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'__str__’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718954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'__hash__’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'__subclasshook__'</a:t>
                      </a:r>
                      <a:endParaRPr lang="en-US" sz="1600" b="0" i="0" u="none" strike="noStrike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007560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init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498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699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01EF8-21DC-82AA-DD06-75DA1D64C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Magic Methods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680F7C-6060-97C4-9F72-B375F95C9E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Arithmetic</a:t>
            </a:r>
          </a:p>
          <a:p>
            <a:pPr marL="182880" lvl="1" indent="0">
              <a:buNone/>
            </a:pPr>
            <a:r>
              <a:rPr lang="en-US" b="1" dirty="0">
                <a:solidFill>
                  <a:schemeClr val="tx2"/>
                </a:solidFill>
              </a:rPr>
              <a:t>__add__ </a:t>
            </a:r>
            <a:r>
              <a:rPr lang="en-US" dirty="0"/>
              <a:t>(+)</a:t>
            </a:r>
          </a:p>
          <a:p>
            <a:pPr marL="182880" lvl="1" indent="0">
              <a:buNone/>
            </a:pPr>
            <a:r>
              <a:rPr lang="en-US" b="1" dirty="0">
                <a:solidFill>
                  <a:schemeClr val="tx2"/>
                </a:solidFill>
              </a:rPr>
              <a:t>__sub__ </a:t>
            </a:r>
            <a:r>
              <a:rPr lang="en-US" dirty="0"/>
              <a:t>(-)</a:t>
            </a:r>
          </a:p>
          <a:p>
            <a:pPr marL="182880" lvl="1" indent="0">
              <a:buNone/>
            </a:pPr>
            <a:r>
              <a:rPr lang="en-US" b="1" dirty="0">
                <a:solidFill>
                  <a:schemeClr val="tx2"/>
                </a:solidFill>
              </a:rPr>
              <a:t>__</a:t>
            </a:r>
            <a:r>
              <a:rPr lang="en-US" b="1" dirty="0" err="1">
                <a:solidFill>
                  <a:schemeClr val="tx2"/>
                </a:solidFill>
              </a:rPr>
              <a:t>mul</a:t>
            </a:r>
            <a:r>
              <a:rPr lang="en-US" b="1" dirty="0">
                <a:solidFill>
                  <a:schemeClr val="tx2"/>
                </a:solidFill>
              </a:rPr>
              <a:t>__ </a:t>
            </a:r>
            <a:r>
              <a:rPr lang="en-US" dirty="0"/>
              <a:t>(*)</a:t>
            </a:r>
          </a:p>
          <a:p>
            <a:pPr marL="182880" lvl="1" indent="0">
              <a:buNone/>
            </a:pPr>
            <a:r>
              <a:rPr lang="en-US" b="1" dirty="0">
                <a:solidFill>
                  <a:schemeClr val="tx2"/>
                </a:solidFill>
              </a:rPr>
              <a:t>__</a:t>
            </a:r>
            <a:r>
              <a:rPr lang="en-US" b="1" dirty="0" err="1">
                <a:solidFill>
                  <a:schemeClr val="tx2"/>
                </a:solidFill>
              </a:rPr>
              <a:t>truediv</a:t>
            </a:r>
            <a:r>
              <a:rPr lang="en-US" b="1" dirty="0">
                <a:solidFill>
                  <a:schemeClr val="tx2"/>
                </a:solidFill>
              </a:rPr>
              <a:t>__ </a:t>
            </a:r>
            <a:r>
              <a:rPr lang="en-US" dirty="0"/>
              <a:t>(/)</a:t>
            </a:r>
          </a:p>
          <a:p>
            <a:pPr marL="182880" lvl="1" indent="0">
              <a:buNone/>
            </a:pPr>
            <a:r>
              <a:rPr lang="en-US" b="1" dirty="0">
                <a:solidFill>
                  <a:schemeClr val="tx2"/>
                </a:solidFill>
              </a:rPr>
              <a:t>__</a:t>
            </a:r>
            <a:r>
              <a:rPr lang="en-US" b="1" dirty="0" err="1">
                <a:solidFill>
                  <a:schemeClr val="tx2"/>
                </a:solidFill>
              </a:rPr>
              <a:t>floordiv</a:t>
            </a:r>
            <a:r>
              <a:rPr lang="en-US" b="1" dirty="0">
                <a:solidFill>
                  <a:schemeClr val="tx2"/>
                </a:solidFill>
              </a:rPr>
              <a:t>__ </a:t>
            </a:r>
            <a:r>
              <a:rPr lang="en-US" dirty="0"/>
              <a:t>(//)</a:t>
            </a:r>
          </a:p>
          <a:p>
            <a:pPr marL="182880" lvl="1" indent="0">
              <a:buNone/>
            </a:pPr>
            <a:r>
              <a:rPr lang="en-US" b="1" dirty="0">
                <a:solidFill>
                  <a:schemeClr val="tx2"/>
                </a:solidFill>
              </a:rPr>
              <a:t>__mod__ </a:t>
            </a:r>
            <a:r>
              <a:rPr lang="en-US" dirty="0"/>
              <a:t>(%)</a:t>
            </a:r>
          </a:p>
          <a:p>
            <a:pPr marL="182880" lvl="1" indent="0">
              <a:buNone/>
            </a:pPr>
            <a:r>
              <a:rPr lang="en-US" b="1" dirty="0">
                <a:solidFill>
                  <a:schemeClr val="tx2"/>
                </a:solidFill>
              </a:rPr>
              <a:t>__pow__ </a:t>
            </a:r>
            <a:r>
              <a:rPr lang="en-US" dirty="0"/>
              <a:t>(**)</a:t>
            </a:r>
          </a:p>
          <a:p>
            <a:r>
              <a:rPr lang="en-US" dirty="0"/>
              <a:t>Container</a:t>
            </a:r>
          </a:p>
          <a:p>
            <a:pPr marL="182880" lvl="1" indent="0">
              <a:buNone/>
            </a:pPr>
            <a:r>
              <a:rPr lang="en-US" b="1" dirty="0">
                <a:solidFill>
                  <a:schemeClr val="tx2"/>
                </a:solidFill>
              </a:rPr>
              <a:t>__</a:t>
            </a:r>
            <a:r>
              <a:rPr lang="en-US" b="1" dirty="0" err="1">
                <a:solidFill>
                  <a:schemeClr val="tx2"/>
                </a:solidFill>
              </a:rPr>
              <a:t>len</a:t>
            </a:r>
            <a:r>
              <a:rPr lang="en-US" b="1" dirty="0">
                <a:solidFill>
                  <a:schemeClr val="tx2"/>
                </a:solidFill>
              </a:rPr>
              <a:t>__</a:t>
            </a:r>
          </a:p>
          <a:p>
            <a:r>
              <a:rPr lang="en-US" dirty="0"/>
              <a:t>And many more!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A4682-84FB-59AA-9013-2AB0962421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Initialization &amp; Representation</a:t>
            </a:r>
          </a:p>
          <a:p>
            <a:pPr lvl="1"/>
            <a:r>
              <a:rPr lang="en-US" dirty="0"/>
              <a:t>__</a:t>
            </a:r>
            <a:r>
              <a:rPr lang="en-US" dirty="0" err="1"/>
              <a:t>init</a:t>
            </a:r>
            <a:r>
              <a:rPr lang="en-US" dirty="0"/>
              <a:t>__ (the constructor)</a:t>
            </a:r>
          </a:p>
          <a:p>
            <a:pPr lvl="1"/>
            <a:r>
              <a:rPr lang="en-US" dirty="0"/>
              <a:t>__str__  (used by print)</a:t>
            </a:r>
          </a:p>
          <a:p>
            <a:pPr lvl="1"/>
            <a:r>
              <a:rPr lang="en-US" dirty="0"/>
              <a:t>__</a:t>
            </a:r>
            <a:r>
              <a:rPr lang="en-US" dirty="0" err="1"/>
              <a:t>repr</a:t>
            </a:r>
            <a:r>
              <a:rPr lang="en-US" dirty="0"/>
              <a:t>__ (official representation)</a:t>
            </a:r>
          </a:p>
          <a:p>
            <a:r>
              <a:rPr lang="en-US" dirty="0"/>
              <a:t>Comparison</a:t>
            </a:r>
          </a:p>
          <a:p>
            <a:pPr lvl="1"/>
            <a:r>
              <a:rPr lang="en-US" dirty="0"/>
              <a:t>__eq__ (==)</a:t>
            </a:r>
          </a:p>
          <a:p>
            <a:pPr lvl="1"/>
            <a:r>
              <a:rPr lang="en-US" dirty="0"/>
              <a:t>__ne__ (!=)</a:t>
            </a:r>
          </a:p>
          <a:p>
            <a:pPr lvl="1"/>
            <a:r>
              <a:rPr lang="en-US" dirty="0"/>
              <a:t>__</a:t>
            </a:r>
            <a:r>
              <a:rPr lang="en-US" dirty="0" err="1"/>
              <a:t>lt</a:t>
            </a:r>
            <a:r>
              <a:rPr lang="en-US" dirty="0"/>
              <a:t>__ (&lt;)</a:t>
            </a:r>
          </a:p>
          <a:p>
            <a:pPr lvl="1"/>
            <a:r>
              <a:rPr lang="en-US" dirty="0"/>
              <a:t>__le__ (&lt;=)</a:t>
            </a:r>
          </a:p>
          <a:p>
            <a:pPr lvl="1"/>
            <a:r>
              <a:rPr lang="en-US" dirty="0"/>
              <a:t>__</a:t>
            </a:r>
            <a:r>
              <a:rPr lang="en-US" dirty="0" err="1"/>
              <a:t>gt</a:t>
            </a:r>
            <a:r>
              <a:rPr lang="en-US" dirty="0"/>
              <a:t>__ (&gt;)</a:t>
            </a:r>
          </a:p>
          <a:p>
            <a:pPr lvl="1"/>
            <a:r>
              <a:rPr lang="en-US" dirty="0"/>
              <a:t>__</a:t>
            </a:r>
            <a:r>
              <a:rPr lang="en-US" dirty="0" err="1"/>
              <a:t>ge</a:t>
            </a:r>
            <a:r>
              <a:rPr lang="en-US" dirty="0"/>
              <a:t>__ (&gt;=)</a:t>
            </a:r>
          </a:p>
        </p:txBody>
      </p:sp>
    </p:spTree>
    <p:extLst>
      <p:ext uri="{BB962C8B-B14F-4D97-AF65-F5344CB8AC3E}">
        <p14:creationId xmlns:p14="http://schemas.microsoft.com/office/powerpoint/2010/main" val="205351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67245-B9ED-F8C8-796D-18FED3A36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F311B-654A-9038-72A8-653A37CDA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your own Planet class</a:t>
            </a:r>
          </a:p>
        </p:txBody>
      </p:sp>
    </p:spTree>
    <p:extLst>
      <p:ext uri="{BB962C8B-B14F-4D97-AF65-F5344CB8AC3E}">
        <p14:creationId xmlns:p14="http://schemas.microsoft.com/office/powerpoint/2010/main" val="2920448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3FF80-2958-3B41-1B0E-0B01E4A0A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91278-9DB9-4C3A-C328-B97AC5ADD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Player class</a:t>
            </a:r>
          </a:p>
          <a:p>
            <a:r>
              <a:rPr lang="en-US" dirty="0"/>
              <a:t>Build the terminal instructions for the game!</a:t>
            </a:r>
          </a:p>
        </p:txBody>
      </p:sp>
    </p:spTree>
    <p:extLst>
      <p:ext uri="{BB962C8B-B14F-4D97-AF65-F5344CB8AC3E}">
        <p14:creationId xmlns:p14="http://schemas.microsoft.com/office/powerpoint/2010/main" val="1699781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8E125A5-5436-DD96-1370-73C379896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F3B77-E794-2112-3E9C-59A7C596B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022EF7F-1B87-E82A-ECFC-13AE0B39FC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00325" y="2085203"/>
            <a:ext cx="3458058" cy="3134162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16AA4-23DE-E654-F8E9-463AD749CE3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74921" y="2050983"/>
            <a:ext cx="6794500" cy="4022725"/>
          </a:xfrm>
        </p:spPr>
        <p:txBody>
          <a:bodyPr/>
          <a:lstStyle/>
          <a:p>
            <a:r>
              <a:rPr lang="en-US" dirty="0"/>
              <a:t>Classes can inherit from other classes</a:t>
            </a:r>
          </a:p>
          <a:p>
            <a:r>
              <a:rPr lang="en-US" dirty="0"/>
              <a:t>Receives all those classes properties and methods</a:t>
            </a:r>
          </a:p>
          <a:p>
            <a:r>
              <a:rPr lang="en-US" dirty="0"/>
              <a:t>Can overwrite properties / methods with your own</a:t>
            </a:r>
          </a:p>
          <a:p>
            <a:r>
              <a:rPr lang="en-US" dirty="0"/>
              <a:t>All classes inherit from object</a:t>
            </a:r>
          </a:p>
        </p:txBody>
      </p:sp>
    </p:spTree>
    <p:extLst>
      <p:ext uri="{BB962C8B-B14F-4D97-AF65-F5344CB8AC3E}">
        <p14:creationId xmlns:p14="http://schemas.microsoft.com/office/powerpoint/2010/main" val="2541685285"/>
      </p:ext>
    </p:extLst>
  </p:cSld>
  <p:clrMapOvr>
    <a:masterClrMapping/>
  </p:clrMapOvr>
</p:sld>
</file>

<file path=ppt/theme/theme1.xml><?xml version="1.0" encoding="utf-8"?>
<a:theme xmlns:a="http://schemas.openxmlformats.org/drawingml/2006/main" name="1_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AI2C Slide Template</Template>
  <TotalTime>700</TotalTime>
  <Words>570</Words>
  <Application>Microsoft Office PowerPoint</Application>
  <PresentationFormat>Widescreen</PresentationFormat>
  <Paragraphs>126</Paragraphs>
  <Slides>17</Slides>
  <Notes>5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Arial Bold</vt:lpstr>
      <vt:lpstr>Calibri</vt:lpstr>
      <vt:lpstr>Consolas</vt:lpstr>
      <vt:lpstr>Play</vt:lpstr>
      <vt:lpstr>1_US Army 2023 AFC DEVCOM Logo</vt:lpstr>
      <vt:lpstr>Classes</vt:lpstr>
      <vt:lpstr>Objectives</vt:lpstr>
      <vt:lpstr>Object Oriented Programming</vt:lpstr>
      <vt:lpstr>Objects Example</vt:lpstr>
      <vt:lpstr>Objects</vt:lpstr>
      <vt:lpstr>Other class ideas</vt:lpstr>
      <vt:lpstr>Class attributes</vt:lpstr>
      <vt:lpstr>Other other class ideas</vt:lpstr>
      <vt:lpstr>Class Demo</vt:lpstr>
      <vt:lpstr>RPS Example</vt:lpstr>
      <vt:lpstr>Hands-On #1</vt:lpstr>
      <vt:lpstr>Polymorphism</vt:lpstr>
      <vt:lpstr>Magic Methods and Overloads</vt:lpstr>
      <vt:lpstr>Other Magic Methods</vt:lpstr>
      <vt:lpstr>Hands-On #2</vt:lpstr>
      <vt:lpstr>Final</vt:lpstr>
      <vt:lpstr>Inheritance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Ethan Shafer</cp:lastModifiedBy>
  <cp:revision>77</cp:revision>
  <dcterms:created xsi:type="dcterms:W3CDTF">2025-07-21T13:16:33Z</dcterms:created>
  <dcterms:modified xsi:type="dcterms:W3CDTF">2026-05-29T15:39:52Z</dcterms:modified>
</cp:coreProperties>
</file>