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1"/>
  </p:notesMasterIdLst>
  <p:sldIdLst>
    <p:sldId id="336" r:id="rId5"/>
    <p:sldId id="4004" r:id="rId6"/>
    <p:sldId id="4021" r:id="rId7"/>
    <p:sldId id="4022" r:id="rId8"/>
    <p:sldId id="4035" r:id="rId9"/>
    <p:sldId id="4034" r:id="rId10"/>
    <p:sldId id="4033" r:id="rId11"/>
    <p:sldId id="4023" r:id="rId12"/>
    <p:sldId id="4039" r:id="rId13"/>
    <p:sldId id="4036" r:id="rId14"/>
    <p:sldId id="4038" r:id="rId15"/>
    <p:sldId id="4024" r:id="rId16"/>
    <p:sldId id="4040" r:id="rId17"/>
    <p:sldId id="4041" r:id="rId18"/>
    <p:sldId id="4025" r:id="rId19"/>
    <p:sldId id="4013" r:id="rId20"/>
    <p:sldId id="4032" r:id="rId21"/>
    <p:sldId id="4044" r:id="rId22"/>
    <p:sldId id="4042" r:id="rId23"/>
    <p:sldId id="4028" r:id="rId24"/>
    <p:sldId id="4029" r:id="rId25"/>
    <p:sldId id="4030" r:id="rId26"/>
    <p:sldId id="4026" r:id="rId27"/>
    <p:sldId id="4045" r:id="rId28"/>
    <p:sldId id="4027" r:id="rId29"/>
    <p:sldId id="403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7D342EE-664F-43F4-917B-5A92AA9490D3}">
          <p14:sldIdLst>
            <p14:sldId id="336"/>
            <p14:sldId id="4004"/>
            <p14:sldId id="4021"/>
            <p14:sldId id="4022"/>
            <p14:sldId id="4035"/>
            <p14:sldId id="4034"/>
            <p14:sldId id="4033"/>
            <p14:sldId id="4023"/>
            <p14:sldId id="4039"/>
            <p14:sldId id="4036"/>
            <p14:sldId id="4038"/>
            <p14:sldId id="4024"/>
            <p14:sldId id="4040"/>
            <p14:sldId id="4041"/>
            <p14:sldId id="4025"/>
            <p14:sldId id="4013"/>
            <p14:sldId id="4032"/>
            <p14:sldId id="4044"/>
            <p14:sldId id="4042"/>
            <p14:sldId id="4028"/>
            <p14:sldId id="4029"/>
            <p14:sldId id="4030"/>
            <p14:sldId id="4026"/>
            <p14:sldId id="4045"/>
            <p14:sldId id="4027"/>
            <p14:sldId id="40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8C4EFF-AD15-2649-E55B-FDE28306CB09}" v="1" dt="2025-12-31T12:07:30.8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81" autoAdjust="0"/>
    <p:restoredTop sz="78695" autoAdjust="0"/>
  </p:normalViewPr>
  <p:slideViewPr>
    <p:cSldViewPr snapToGrid="0">
      <p:cViewPr varScale="1">
        <p:scale>
          <a:sx n="85" d="100"/>
          <a:sy n="85"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CB8C4EFF-AD15-2649-E55B-FDE28306CB09}"/>
    <pc:docChg chg="sldOrd">
      <pc:chgData name="" userId="" providerId="" clId="Web-{CB8C4EFF-AD15-2649-E55B-FDE28306CB09}" dt="2025-12-31T12:07:30.801" v="0"/>
      <pc:docMkLst>
        <pc:docMk/>
      </pc:docMkLst>
      <pc:sldChg chg="ord">
        <pc:chgData name="" userId="" providerId="" clId="Web-{CB8C4EFF-AD15-2649-E55B-FDE28306CB09}" dt="2025-12-31T12:07:30.801" v="0"/>
        <pc:sldMkLst>
          <pc:docMk/>
          <pc:sldMk cId="3639490754" sldId="400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dirty="0"/>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a:solidFill>
          <a:srgbClr val="00B0F0"/>
        </a:solidFill>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a:solidFill>
          <a:srgbClr val="00B0F0"/>
        </a:solidFill>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a:noFill/>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dgm:t>
        <a:bodyPr/>
        <a:lstStyle/>
        <a:p>
          <a:r>
            <a:rPr lang="en-US" dirty="0"/>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dgm:t>
        <a:bodyPr/>
        <a:lstStyle/>
        <a:p>
          <a:r>
            <a:rPr lang="en-US"/>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dgm:t>
        <a:bodyPr/>
        <a:lstStyle/>
        <a:p>
          <a:r>
            <a:rPr lang="en-US"/>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dgm:t>
        <a:bodyPr/>
        <a:lstStyle/>
        <a:p>
          <a:r>
            <a:rPr lang="en-US"/>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dgm:t>
        <a:bodyPr/>
        <a:lstStyle/>
        <a:p>
          <a:r>
            <a:rPr lang="en-US"/>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dgm:t>
        <a:bodyPr/>
        <a:lstStyle/>
        <a:p>
          <a:r>
            <a:rPr lang="en-US"/>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a:solidFill>
          <a:srgbClr val="00B0F0"/>
        </a:solidFill>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dgm:t>
        <a:bodyPr/>
        <a:lstStyle/>
        <a:p>
          <a:r>
            <a:rPr lang="en-US"/>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a:solidFill>
          <a:srgbClr val="00B0F0"/>
        </a:solidFill>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dgm:t>
        <a:bodyPr/>
        <a:lstStyle/>
        <a:p>
          <a:r>
            <a:rPr lang="en-US"/>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a:solidFill>
          <a:srgbClr val="00B0F0"/>
        </a:solidFill>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dirty="0"/>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a:solidFill>
          <a:srgbClr val="00B0F0"/>
        </a:solidFill>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a:solidFill>
          <a:srgbClr val="00B0F0"/>
        </a:solidFill>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a:noFill/>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dirty="0"/>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a:solidFill>
          <a:srgbClr val="00B0F0"/>
        </a:solidFill>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a:solidFill>
          <a:srgbClr val="00B0F0"/>
        </a:solidFill>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a:noFill/>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dirty="0"/>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a:solidFill>
          <a:srgbClr val="00B0F0"/>
        </a:solidFill>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a:solidFill>
          <a:srgbClr val="00B0F0"/>
        </a:solidFill>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a:noFill/>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dirty="0"/>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a:solidFill>
          <a:srgbClr val="00B0F0"/>
        </a:solidFill>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a:solidFill>
          <a:srgbClr val="00B0F0"/>
        </a:solidFill>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a:noFill/>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D6C9F52-DB3D-4AA4-B0C8-8761D6FB7657}"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US"/>
        </a:p>
      </dgm:t>
    </dgm:pt>
    <dgm:pt modelId="{3DEA9449-6EC0-4D17-9432-17D7B0117372}">
      <dgm:prSet phldrT="[Text]"/>
      <dgm:spPr>
        <a:solidFill>
          <a:srgbClr val="00B0F0"/>
        </a:solidFill>
      </dgm:spPr>
      <dgm:t>
        <a:bodyPr/>
        <a:lstStyle/>
        <a:p>
          <a:r>
            <a:rPr lang="en-US" dirty="0"/>
            <a:t>Toyota Production System</a:t>
          </a:r>
        </a:p>
      </dgm:t>
    </dgm:pt>
    <dgm:pt modelId="{5B42E3BA-0E8B-4BFC-945F-78144FA243C9}" type="parTrans" cxnId="{0804FCBE-93FE-4979-8E71-E32BC16FC196}">
      <dgm:prSet/>
      <dgm:spPr/>
      <dgm:t>
        <a:bodyPr/>
        <a:lstStyle/>
        <a:p>
          <a:endParaRPr lang="en-US"/>
        </a:p>
      </dgm:t>
    </dgm:pt>
    <dgm:pt modelId="{AD432117-519D-4357-93A6-DA815C363F19}" type="sibTrans" cxnId="{0804FCBE-93FE-4979-8E71-E32BC16FC196}">
      <dgm:prSet/>
      <dgm:spPr/>
      <dgm:t>
        <a:bodyPr/>
        <a:lstStyle/>
        <a:p>
          <a:endParaRPr lang="en-US"/>
        </a:p>
      </dgm:t>
    </dgm:pt>
    <dgm:pt modelId="{A52D868B-AD9B-4393-8B46-B10244566587}">
      <dgm:prSet phldrT="[Text]"/>
      <dgm:spPr>
        <a:solidFill>
          <a:srgbClr val="00B0F0"/>
        </a:solidFill>
      </dgm:spPr>
      <dgm:t>
        <a:bodyPr/>
        <a:lstStyle/>
        <a:p>
          <a:r>
            <a:rPr lang="en-US" dirty="0"/>
            <a:t>Agile</a:t>
          </a:r>
        </a:p>
      </dgm:t>
    </dgm:pt>
    <dgm:pt modelId="{4FEBB3A7-2CBE-413D-977E-C97C1A124261}" type="parTrans" cxnId="{DB0395B8-CE63-4391-BFBB-1BA34C1F9CE1}">
      <dgm:prSet/>
      <dgm:spPr/>
      <dgm:t>
        <a:bodyPr/>
        <a:lstStyle/>
        <a:p>
          <a:endParaRPr lang="en-US"/>
        </a:p>
      </dgm:t>
    </dgm:pt>
    <dgm:pt modelId="{1D5987AD-C293-4B87-A48C-B453D8EF67F0}" type="sibTrans" cxnId="{DB0395B8-CE63-4391-BFBB-1BA34C1F9CE1}">
      <dgm:prSet/>
      <dgm:spPr/>
      <dgm:t>
        <a:bodyPr/>
        <a:lstStyle/>
        <a:p>
          <a:endParaRPr lang="en-US"/>
        </a:p>
      </dgm:t>
    </dgm:pt>
    <dgm:pt modelId="{A89E2831-95CD-47F5-A20F-5E4407F04DFE}">
      <dgm:prSet phldrT="[Text]"/>
      <dgm:spPr>
        <a:solidFill>
          <a:srgbClr val="00B0F0"/>
        </a:solidFill>
      </dgm:spPr>
      <dgm:t>
        <a:bodyPr/>
        <a:lstStyle/>
        <a:p>
          <a:r>
            <a:rPr lang="en-US" dirty="0"/>
            <a:t>Lean</a:t>
          </a:r>
        </a:p>
      </dgm:t>
    </dgm:pt>
    <dgm:pt modelId="{C1C0BFB9-9CC3-46A2-B0DE-2A029AC5F5B7}" type="parTrans" cxnId="{BB6B1352-6F79-4518-991B-FAAAB1EC901D}">
      <dgm:prSet/>
      <dgm:spPr/>
      <dgm:t>
        <a:bodyPr/>
        <a:lstStyle/>
        <a:p>
          <a:endParaRPr lang="en-US"/>
        </a:p>
      </dgm:t>
    </dgm:pt>
    <dgm:pt modelId="{BE12A5D8-DCC1-4854-86FA-C1DC28CB99CF}" type="sibTrans" cxnId="{BB6B1352-6F79-4518-991B-FAAAB1EC901D}">
      <dgm:prSet/>
      <dgm:spPr/>
      <dgm:t>
        <a:bodyPr/>
        <a:lstStyle/>
        <a:p>
          <a:endParaRPr lang="en-US"/>
        </a:p>
      </dgm:t>
    </dgm:pt>
    <dgm:pt modelId="{1ECF7DCA-F171-4551-82CD-614DD11C9C8E}">
      <dgm:prSet phldrT="[Text]"/>
      <dgm:spPr>
        <a:noFill/>
      </dgm:spPr>
      <dgm:t>
        <a:bodyPr/>
        <a:lstStyle/>
        <a:p>
          <a:r>
            <a:rPr lang="en-US" dirty="0"/>
            <a:t> </a:t>
          </a:r>
        </a:p>
      </dgm:t>
    </dgm:pt>
    <dgm:pt modelId="{BDAC1124-5D5A-48BC-A5C1-A3AB538E7C6D}" type="sibTrans" cxnId="{710768DE-340F-4827-8A4E-A261E39FDE1E}">
      <dgm:prSet/>
      <dgm:spPr/>
      <dgm:t>
        <a:bodyPr/>
        <a:lstStyle/>
        <a:p>
          <a:endParaRPr lang="en-US"/>
        </a:p>
      </dgm:t>
    </dgm:pt>
    <dgm:pt modelId="{BAC6CD44-9086-43EB-91AF-AA475D008CFA}" type="parTrans" cxnId="{710768DE-340F-4827-8A4E-A261E39FDE1E}">
      <dgm:prSet/>
      <dgm:spPr/>
      <dgm:t>
        <a:bodyPr/>
        <a:lstStyle/>
        <a:p>
          <a:endParaRPr lang="en-US"/>
        </a:p>
      </dgm:t>
    </dgm:pt>
    <dgm:pt modelId="{41411D04-FC34-4CC5-9802-2167415CF23E}" type="pres">
      <dgm:prSet presAssocID="{8D6C9F52-DB3D-4AA4-B0C8-8761D6FB7657}" presName="Name0" presStyleCnt="0">
        <dgm:presLayoutVars>
          <dgm:chMax val="4"/>
          <dgm:resizeHandles val="exact"/>
        </dgm:presLayoutVars>
      </dgm:prSet>
      <dgm:spPr/>
    </dgm:pt>
    <dgm:pt modelId="{3E24DCEF-3C0F-403F-BB52-C2597186F712}" type="pres">
      <dgm:prSet presAssocID="{8D6C9F52-DB3D-4AA4-B0C8-8761D6FB7657}" presName="ellipse" presStyleLbl="trBgShp" presStyleIdx="0" presStyleCnt="1"/>
      <dgm:spPr/>
    </dgm:pt>
    <dgm:pt modelId="{FA4A6E1A-97B2-4C7F-B0E6-F0F3D0149849}" type="pres">
      <dgm:prSet presAssocID="{8D6C9F52-DB3D-4AA4-B0C8-8761D6FB7657}" presName="arrow1" presStyleLbl="fgShp" presStyleIdx="0" presStyleCnt="1"/>
      <dgm:spPr/>
    </dgm:pt>
    <dgm:pt modelId="{D3AFF89C-00E7-4EC5-A62B-7087F7A39A69}" type="pres">
      <dgm:prSet presAssocID="{8D6C9F52-DB3D-4AA4-B0C8-8761D6FB7657}" presName="rectangle" presStyleLbl="revTx" presStyleIdx="0" presStyleCnt="1">
        <dgm:presLayoutVars>
          <dgm:bulletEnabled val="1"/>
        </dgm:presLayoutVars>
      </dgm:prSet>
      <dgm:spPr/>
    </dgm:pt>
    <dgm:pt modelId="{98B62E2A-D09D-40B9-B534-960A13078E02}" type="pres">
      <dgm:prSet presAssocID="{A89E2831-95CD-47F5-A20F-5E4407F04DFE}" presName="item1" presStyleLbl="node1" presStyleIdx="0" presStyleCnt="3">
        <dgm:presLayoutVars>
          <dgm:bulletEnabled val="1"/>
        </dgm:presLayoutVars>
      </dgm:prSet>
      <dgm:spPr/>
    </dgm:pt>
    <dgm:pt modelId="{DC4FBDA7-2D70-4068-9B64-045F309AA3F2}" type="pres">
      <dgm:prSet presAssocID="{A52D868B-AD9B-4393-8B46-B10244566587}" presName="item2" presStyleLbl="node1" presStyleIdx="1" presStyleCnt="3">
        <dgm:presLayoutVars>
          <dgm:bulletEnabled val="1"/>
        </dgm:presLayoutVars>
      </dgm:prSet>
      <dgm:spPr/>
    </dgm:pt>
    <dgm:pt modelId="{F9FDAFA9-B4CD-486B-827E-AE9B2F7EFA36}" type="pres">
      <dgm:prSet presAssocID="{1ECF7DCA-F171-4551-82CD-614DD11C9C8E}" presName="item3" presStyleLbl="node1" presStyleIdx="2" presStyleCnt="3">
        <dgm:presLayoutVars>
          <dgm:bulletEnabled val="1"/>
        </dgm:presLayoutVars>
      </dgm:prSet>
      <dgm:spPr/>
    </dgm:pt>
    <dgm:pt modelId="{99CC87D9-F589-4C93-84B7-48B52AD738B7}" type="pres">
      <dgm:prSet presAssocID="{8D6C9F52-DB3D-4AA4-B0C8-8761D6FB7657}" presName="funnel" presStyleLbl="trAlignAcc1" presStyleIdx="0" presStyleCnt="1"/>
      <dgm:spPr/>
    </dgm:pt>
  </dgm:ptLst>
  <dgm:cxnLst>
    <dgm:cxn modelId="{C1761F0D-58F8-4783-862F-D83E7E766DD1}" type="presOf" srcId="{1ECF7DCA-F171-4551-82CD-614DD11C9C8E}" destId="{D3AFF89C-00E7-4EC5-A62B-7087F7A39A69}" srcOrd="0" destOrd="0" presId="urn:microsoft.com/office/officeart/2005/8/layout/funnel1"/>
    <dgm:cxn modelId="{D984EA32-3B23-457D-9A37-65F4EDD0D0D9}" type="presOf" srcId="{A52D868B-AD9B-4393-8B46-B10244566587}" destId="{98B62E2A-D09D-40B9-B534-960A13078E02}" srcOrd="0" destOrd="0" presId="urn:microsoft.com/office/officeart/2005/8/layout/funnel1"/>
    <dgm:cxn modelId="{099F554D-9215-4597-80A6-6C73F775037E}" type="presOf" srcId="{3DEA9449-6EC0-4D17-9432-17D7B0117372}" destId="{F9FDAFA9-B4CD-486B-827E-AE9B2F7EFA36}" srcOrd="0" destOrd="0" presId="urn:microsoft.com/office/officeart/2005/8/layout/funnel1"/>
    <dgm:cxn modelId="{BB6B1352-6F79-4518-991B-FAAAB1EC901D}" srcId="{8D6C9F52-DB3D-4AA4-B0C8-8761D6FB7657}" destId="{A89E2831-95CD-47F5-A20F-5E4407F04DFE}" srcOrd="1" destOrd="0" parTransId="{C1C0BFB9-9CC3-46A2-B0DE-2A029AC5F5B7}" sibTransId="{BE12A5D8-DCC1-4854-86FA-C1DC28CB99CF}"/>
    <dgm:cxn modelId="{4E8FB477-750A-43F0-A7BE-8DFCA9ACE50C}" type="presOf" srcId="{8D6C9F52-DB3D-4AA4-B0C8-8761D6FB7657}" destId="{41411D04-FC34-4CC5-9802-2167415CF23E}" srcOrd="0" destOrd="0" presId="urn:microsoft.com/office/officeart/2005/8/layout/funnel1"/>
    <dgm:cxn modelId="{E20CCAB6-7928-4F80-93A5-C7FD06BC8C03}" type="presOf" srcId="{A89E2831-95CD-47F5-A20F-5E4407F04DFE}" destId="{DC4FBDA7-2D70-4068-9B64-045F309AA3F2}" srcOrd="0" destOrd="0" presId="urn:microsoft.com/office/officeart/2005/8/layout/funnel1"/>
    <dgm:cxn modelId="{DB0395B8-CE63-4391-BFBB-1BA34C1F9CE1}" srcId="{8D6C9F52-DB3D-4AA4-B0C8-8761D6FB7657}" destId="{A52D868B-AD9B-4393-8B46-B10244566587}" srcOrd="2" destOrd="0" parTransId="{4FEBB3A7-2CBE-413D-977E-C97C1A124261}" sibTransId="{1D5987AD-C293-4B87-A48C-B453D8EF67F0}"/>
    <dgm:cxn modelId="{0804FCBE-93FE-4979-8E71-E32BC16FC196}" srcId="{8D6C9F52-DB3D-4AA4-B0C8-8761D6FB7657}" destId="{3DEA9449-6EC0-4D17-9432-17D7B0117372}" srcOrd="0" destOrd="0" parTransId="{5B42E3BA-0E8B-4BFC-945F-78144FA243C9}" sibTransId="{AD432117-519D-4357-93A6-DA815C363F19}"/>
    <dgm:cxn modelId="{710768DE-340F-4827-8A4E-A261E39FDE1E}" srcId="{8D6C9F52-DB3D-4AA4-B0C8-8761D6FB7657}" destId="{1ECF7DCA-F171-4551-82CD-614DD11C9C8E}" srcOrd="3" destOrd="0" parTransId="{BAC6CD44-9086-43EB-91AF-AA475D008CFA}" sibTransId="{BDAC1124-5D5A-48BC-A5C1-A3AB538E7C6D}"/>
    <dgm:cxn modelId="{08CA0BEF-C6B2-470B-8185-B0FD23ECDF10}" type="presParOf" srcId="{41411D04-FC34-4CC5-9802-2167415CF23E}" destId="{3E24DCEF-3C0F-403F-BB52-C2597186F712}" srcOrd="0" destOrd="0" presId="urn:microsoft.com/office/officeart/2005/8/layout/funnel1"/>
    <dgm:cxn modelId="{5787196E-5D36-4C76-B16B-38917C9CECBC}" type="presParOf" srcId="{41411D04-FC34-4CC5-9802-2167415CF23E}" destId="{FA4A6E1A-97B2-4C7F-B0E6-F0F3D0149849}" srcOrd="1" destOrd="0" presId="urn:microsoft.com/office/officeart/2005/8/layout/funnel1"/>
    <dgm:cxn modelId="{FE8582BD-503D-4DAB-A5A4-E3B3550CD529}" type="presParOf" srcId="{41411D04-FC34-4CC5-9802-2167415CF23E}" destId="{D3AFF89C-00E7-4EC5-A62B-7087F7A39A69}" srcOrd="2" destOrd="0" presId="urn:microsoft.com/office/officeart/2005/8/layout/funnel1"/>
    <dgm:cxn modelId="{AEAF5371-9571-4903-B521-14EDB08525A3}" type="presParOf" srcId="{41411D04-FC34-4CC5-9802-2167415CF23E}" destId="{98B62E2A-D09D-40B9-B534-960A13078E02}" srcOrd="3" destOrd="0" presId="urn:microsoft.com/office/officeart/2005/8/layout/funnel1"/>
    <dgm:cxn modelId="{764CA05F-0079-458D-8039-A6427A164711}" type="presParOf" srcId="{41411D04-FC34-4CC5-9802-2167415CF23E}" destId="{DC4FBDA7-2D70-4068-9B64-045F309AA3F2}" srcOrd="4" destOrd="0" presId="urn:microsoft.com/office/officeart/2005/8/layout/funnel1"/>
    <dgm:cxn modelId="{E7F0E94D-4C5F-4975-AEE5-2E63A006F137}" type="presParOf" srcId="{41411D04-FC34-4CC5-9802-2167415CF23E}" destId="{F9FDAFA9-B4CD-486B-827E-AE9B2F7EFA36}" srcOrd="5" destOrd="0" presId="urn:microsoft.com/office/officeart/2005/8/layout/funnel1"/>
    <dgm:cxn modelId="{D5AE1A0C-E2A1-4A2D-AD8B-DE86ED9D4B83}" type="presParOf" srcId="{41411D04-FC34-4CC5-9802-2167415CF23E}" destId="{99CC87D9-F589-4C93-84B7-48B52AD738B7}" srcOrd="6" destOrd="0" presId="urn:microsoft.com/office/officeart/2005/8/layout/funne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DCEF-3C0F-403F-BB52-C2597186F712}">
      <dsp:nvSpPr>
        <dsp:cNvPr id="0" name=""/>
        <dsp:cNvSpPr/>
      </dsp:nvSpPr>
      <dsp:spPr>
        <a:xfrm>
          <a:off x="969668" y="149028"/>
          <a:ext cx="2957642" cy="1027150"/>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A6E1A-97B2-4C7F-B0E6-F0F3D0149849}">
      <dsp:nvSpPr>
        <dsp:cNvPr id="0" name=""/>
        <dsp:cNvSpPr/>
      </dsp:nvSpPr>
      <dsp:spPr>
        <a:xfrm>
          <a:off x="2166481" y="2664171"/>
          <a:ext cx="573186" cy="366839"/>
        </a:xfrm>
        <a:prstGeom prst="down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FF89C-00E7-4EC5-A62B-7087F7A39A69}">
      <dsp:nvSpPr>
        <dsp:cNvPr id="0" name=""/>
        <dsp:cNvSpPr/>
      </dsp:nvSpPr>
      <dsp:spPr>
        <a:xfrm>
          <a:off x="1077427" y="2957642"/>
          <a:ext cx="2751295" cy="687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 </a:t>
          </a:r>
        </a:p>
      </dsp:txBody>
      <dsp:txXfrm>
        <a:off x="1077427" y="2957642"/>
        <a:ext cx="2751295" cy="687823"/>
      </dsp:txXfrm>
    </dsp:sp>
    <dsp:sp modelId="{98B62E2A-D09D-40B9-B534-960A13078E02}">
      <dsp:nvSpPr>
        <dsp:cNvPr id="0" name=""/>
        <dsp:cNvSpPr/>
      </dsp:nvSpPr>
      <dsp:spPr>
        <a:xfrm>
          <a:off x="2044966" y="1255507"/>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Agile</a:t>
          </a:r>
        </a:p>
      </dsp:txBody>
      <dsp:txXfrm>
        <a:off x="2196060" y="1406601"/>
        <a:ext cx="729547" cy="729547"/>
      </dsp:txXfrm>
    </dsp:sp>
    <dsp:sp modelId="{DC4FBDA7-2D70-4068-9B64-045F309AA3F2}">
      <dsp:nvSpPr>
        <dsp:cNvPr id="0" name=""/>
        <dsp:cNvSpPr/>
      </dsp:nvSpPr>
      <dsp:spPr>
        <a:xfrm>
          <a:off x="1306701" y="481476"/>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Lean</a:t>
          </a:r>
        </a:p>
      </dsp:txBody>
      <dsp:txXfrm>
        <a:off x="1457795" y="632570"/>
        <a:ext cx="729547" cy="729547"/>
      </dsp:txXfrm>
    </dsp:sp>
    <dsp:sp modelId="{F9FDAFA9-B4CD-486B-827E-AE9B2F7EFA36}">
      <dsp:nvSpPr>
        <dsp:cNvPr id="0" name=""/>
        <dsp:cNvSpPr/>
      </dsp:nvSpPr>
      <dsp:spPr>
        <a:xfrm>
          <a:off x="2361365" y="232025"/>
          <a:ext cx="1031735" cy="1031735"/>
        </a:xfrm>
        <a:prstGeom prst="ellipse">
          <a:avLst/>
        </a:prstGeom>
        <a:solidFill>
          <a:srgbClr val="00B0F0"/>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Toyota Production System</a:t>
          </a:r>
        </a:p>
      </dsp:txBody>
      <dsp:txXfrm>
        <a:off x="2512459" y="383119"/>
        <a:ext cx="729547" cy="729547"/>
      </dsp:txXfrm>
    </dsp:sp>
    <dsp:sp modelId="{99CC87D9-F589-4C93-84B7-48B52AD738B7}">
      <dsp:nvSpPr>
        <dsp:cNvPr id="0" name=""/>
        <dsp:cNvSpPr/>
      </dsp:nvSpPr>
      <dsp:spPr>
        <a:xfrm>
          <a:off x="848152" y="22927"/>
          <a:ext cx="3209844" cy="2567875"/>
        </a:xfrm>
        <a:prstGeom prst="funnel">
          <a:avLst/>
        </a:prstGeom>
        <a:solidFill>
          <a:schemeClr val="dk1">
            <a:alpha val="4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4.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5.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6.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7.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8.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9.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10.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1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12.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1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14.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E4690A-CE9C-4CB3-8799-FFA855E8E402}" type="datetimeFigureOut">
              <a:t>12/31/2025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FDCAEC-6ECC-42B8-AC96-8E61B0306323}" type="slidenum">
              <a:t>‹#›</a:t>
            </a:fld>
            <a:endParaRPr lang="en-US"/>
          </a:p>
        </p:txBody>
      </p:sp>
    </p:spTree>
    <p:extLst>
      <p:ext uri="{BB962C8B-B14F-4D97-AF65-F5344CB8AC3E}">
        <p14:creationId xmlns:p14="http://schemas.microsoft.com/office/powerpoint/2010/main" val="373258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AFDCAEC-6ECC-42B8-AC96-8E61B0306323}" type="slidenum">
              <a:rPr lang="en-US" smtClean="0"/>
              <a:t>1</a:t>
            </a:fld>
            <a:endParaRPr lang="en-US"/>
          </a:p>
        </p:txBody>
      </p:sp>
    </p:spTree>
    <p:extLst>
      <p:ext uri="{BB962C8B-B14F-4D97-AF65-F5344CB8AC3E}">
        <p14:creationId xmlns:p14="http://schemas.microsoft.com/office/powerpoint/2010/main" val="4033503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0EA38-F13A-E889-A29E-0DD0474DE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1D102-62E1-3A21-AE24-D36AB3F39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0EB33-A29A-1054-FC9A-8B37EF2EE4E0}"/>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0496B5D-00D1-B9F5-8422-E530CBCAC47B}"/>
              </a:ext>
            </a:extLst>
          </p:cNvPr>
          <p:cNvSpPr>
            <a:spLocks noGrp="1"/>
          </p:cNvSpPr>
          <p:nvPr>
            <p:ph type="sldNum" sz="quarter" idx="5"/>
          </p:nvPr>
        </p:nvSpPr>
        <p:spPr/>
        <p:txBody>
          <a:bodyPr/>
          <a:lstStyle/>
          <a:p>
            <a:fld id="{030AB16C-82C9-439F-BD0A-4D240554FB00}" type="slidenum">
              <a:rPr lang="en-US" smtClean="0"/>
              <a:t>2</a:t>
            </a:fld>
            <a:endParaRPr lang="en-US"/>
          </a:p>
        </p:txBody>
      </p:sp>
    </p:spTree>
    <p:extLst>
      <p:ext uri="{BB962C8B-B14F-4D97-AF65-F5344CB8AC3E}">
        <p14:creationId xmlns:p14="http://schemas.microsoft.com/office/powerpoint/2010/main" val="3522453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884B7-9B92-6A3A-560E-88C9EEDCB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758F0-C013-545D-5BCB-67367191D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38268E-A5F0-8E18-16BA-CB6A2DB438F7}"/>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F1EC9C7-C871-1E43-8461-5FBDE7B303EF}"/>
              </a:ext>
            </a:extLst>
          </p:cNvPr>
          <p:cNvSpPr>
            <a:spLocks noGrp="1"/>
          </p:cNvSpPr>
          <p:nvPr>
            <p:ph type="sldNum" sz="quarter" idx="5"/>
          </p:nvPr>
        </p:nvSpPr>
        <p:spPr/>
        <p:txBody>
          <a:bodyPr/>
          <a:lstStyle/>
          <a:p>
            <a:fld id="{030AB16C-82C9-439F-BD0A-4D240554FB00}" type="slidenum">
              <a:rPr lang="en-US" smtClean="0"/>
              <a:t>3</a:t>
            </a:fld>
            <a:endParaRPr lang="en-US"/>
          </a:p>
        </p:txBody>
      </p:sp>
    </p:spTree>
    <p:extLst>
      <p:ext uri="{BB962C8B-B14F-4D97-AF65-F5344CB8AC3E}">
        <p14:creationId xmlns:p14="http://schemas.microsoft.com/office/powerpoint/2010/main" val="841683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BB184-3EA5-F8EC-F9AD-1BC085554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3075D-BE1F-3AEE-69B6-B0E5F6FB2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0C50B-C81D-3705-E943-3BB829344C4A}"/>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The Toyota Production System (TPS) originated from a man named Sakichi Toyoda in the 1920s.</a:t>
            </a:r>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Sakichi had a strong sense of public service and “doing things for others.”</a:t>
            </a:r>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One of the first people he wanted to help was his mom, who would sew all night using manual loom. </a:t>
            </a:r>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To help her, he invented an automatic loom. </a:t>
            </a:r>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What made it unique was it would stop if a sewing needle broke. </a:t>
            </a:r>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With a manual loom, the loom continues even if the needle is broken.  </a:t>
            </a:r>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When this occurred, the downstream process would produce runs in the fabric stitches of the final product. </a:t>
            </a:r>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By eliminating both defective products and the associated wasteful practices, Sakichi succeeded in rapidly improving both productivity and work efficiency. </a:t>
            </a:r>
          </a:p>
          <a:p>
            <a:pPr marL="342900" indent="-342900">
              <a:buFont typeface="Arial" panose="020B0604020202020204" pitchFamily="34" charset="0"/>
              <a:buChar char="•"/>
            </a:pPr>
            <a:r>
              <a:rPr lang="en-US" sz="1200" b="0" i="0" kern="1200" dirty="0">
                <a:solidFill>
                  <a:schemeClr val="tx1"/>
                </a:solidFill>
                <a:effectLst/>
                <a:latin typeface="+mn-lt"/>
                <a:ea typeface="+mn-ea"/>
                <a:cs typeface="+mn-cs"/>
              </a:rPr>
              <a:t>This is where the concept of </a:t>
            </a:r>
            <a:r>
              <a:rPr lang="en-US" sz="1200" b="0" i="0" kern="1200" dirty="0" err="1">
                <a:solidFill>
                  <a:schemeClr val="tx1"/>
                </a:solidFill>
                <a:effectLst/>
                <a:latin typeface="+mn-lt"/>
                <a:ea typeface="+mn-ea"/>
                <a:cs typeface="+mn-cs"/>
              </a:rPr>
              <a:t>jidoka</a:t>
            </a:r>
            <a:r>
              <a:rPr lang="en-US" sz="1200" b="0" i="0" kern="1200" dirty="0">
                <a:solidFill>
                  <a:schemeClr val="tx1"/>
                </a:solidFill>
                <a:effectLst/>
                <a:latin typeface="+mn-lt"/>
                <a:ea typeface="+mn-ea"/>
                <a:cs typeface="+mn-cs"/>
              </a:rPr>
              <a:t> was born.</a:t>
            </a:r>
            <a:endParaRPr lang="en-US" dirty="0"/>
          </a:p>
          <a:p>
            <a:pPr marL="342900" indent="-34290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11B6F89-2C5C-F857-EDF9-9FCAD19B3B41}"/>
              </a:ext>
            </a:extLst>
          </p:cNvPr>
          <p:cNvSpPr>
            <a:spLocks noGrp="1"/>
          </p:cNvSpPr>
          <p:nvPr>
            <p:ph type="sldNum" sz="quarter" idx="5"/>
          </p:nvPr>
        </p:nvSpPr>
        <p:spPr/>
        <p:txBody>
          <a:bodyPr/>
          <a:lstStyle/>
          <a:p>
            <a:fld id="{030AB16C-82C9-439F-BD0A-4D240554FB00}" type="slidenum">
              <a:rPr lang="en-US" smtClean="0"/>
              <a:t>4</a:t>
            </a:fld>
            <a:endParaRPr lang="en-US"/>
          </a:p>
        </p:txBody>
      </p:sp>
    </p:spTree>
    <p:extLst>
      <p:ext uri="{BB962C8B-B14F-4D97-AF65-F5344CB8AC3E}">
        <p14:creationId xmlns:p14="http://schemas.microsoft.com/office/powerpoint/2010/main" val="2637015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E2673-8324-2933-86A8-E6BC6625A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3BD83-9AB0-1574-A43E-7D1CAA105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CDB23-68CB-6788-E281-5BCF1D835190}"/>
              </a:ext>
            </a:extLst>
          </p:cNvPr>
          <p:cNvSpPr>
            <a:spLocks noGrp="1"/>
          </p:cNvSpPr>
          <p:nvPr>
            <p:ph type="body" idx="1"/>
          </p:nvPr>
        </p:nvSpPr>
        <p:spPr/>
        <p:txBody>
          <a:bodyPr/>
          <a:lstStyle/>
          <a:p>
            <a:pPr marL="457200" lvl="1" indent="0">
              <a:buFont typeface="Arial" panose="020B0604020202020204" pitchFamily="34" charset="0"/>
              <a:buNone/>
            </a:pPr>
            <a:r>
              <a:rPr lang="en-US" dirty="0"/>
              <a:t>Human is always in the loop</a:t>
            </a:r>
          </a:p>
        </p:txBody>
      </p:sp>
      <p:sp>
        <p:nvSpPr>
          <p:cNvPr id="4" name="Slide Number Placeholder 3">
            <a:extLst>
              <a:ext uri="{FF2B5EF4-FFF2-40B4-BE49-F238E27FC236}">
                <a16:creationId xmlns:a16="http://schemas.microsoft.com/office/drawing/2014/main" id="{97BF810E-2679-30D4-16B4-C044BEC779FB}"/>
              </a:ext>
            </a:extLst>
          </p:cNvPr>
          <p:cNvSpPr>
            <a:spLocks noGrp="1"/>
          </p:cNvSpPr>
          <p:nvPr>
            <p:ph type="sldNum" sz="quarter" idx="5"/>
          </p:nvPr>
        </p:nvSpPr>
        <p:spPr/>
        <p:txBody>
          <a:bodyPr/>
          <a:lstStyle/>
          <a:p>
            <a:fld id="{030AB16C-82C9-439F-BD0A-4D240554FB00}" type="slidenum">
              <a:rPr lang="en-US" smtClean="0"/>
              <a:t>5</a:t>
            </a:fld>
            <a:endParaRPr lang="en-US"/>
          </a:p>
        </p:txBody>
      </p:sp>
    </p:spTree>
    <p:extLst>
      <p:ext uri="{BB962C8B-B14F-4D97-AF65-F5344CB8AC3E}">
        <p14:creationId xmlns:p14="http://schemas.microsoft.com/office/powerpoint/2010/main" val="2343402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2FAE8-98CF-C7EC-2122-A2563EF56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9BB26-9AD4-C8DA-85B3-76765DED2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D6EC12-EB4E-3863-E953-AB0557CED78C}"/>
              </a:ext>
            </a:extLst>
          </p:cNvPr>
          <p:cNvSpPr>
            <a:spLocks noGrp="1"/>
          </p:cNvSpPr>
          <p:nvPr>
            <p:ph type="body" idx="1"/>
          </p:nvPr>
        </p:nvSpPr>
        <p:spPr/>
        <p:txBody>
          <a:bodyPr/>
          <a:lstStyle/>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The idea behind </a:t>
            </a:r>
            <a:r>
              <a:rPr lang="en-US" sz="1200" b="0" i="0" kern="1200" dirty="0" err="1">
                <a:solidFill>
                  <a:schemeClr val="tx1"/>
                </a:solidFill>
                <a:effectLst/>
                <a:latin typeface="+mn-lt"/>
                <a:ea typeface="+mn-ea"/>
                <a:cs typeface="+mn-cs"/>
              </a:rPr>
              <a:t>Jidoka</a:t>
            </a:r>
            <a:r>
              <a:rPr lang="en-US" sz="1200" b="0" i="0" kern="1200" dirty="0">
                <a:solidFill>
                  <a:schemeClr val="tx1"/>
                </a:solidFill>
                <a:effectLst/>
                <a:latin typeface="+mn-lt"/>
                <a:ea typeface="+mn-ea"/>
                <a:cs typeface="+mn-cs"/>
              </a:rPr>
              <a:t> is that by stopping the system you get an immediate opportunity for improvement</a:t>
            </a:r>
            <a:endParaRPr lang="en-US" dirty="0"/>
          </a:p>
        </p:txBody>
      </p:sp>
      <p:sp>
        <p:nvSpPr>
          <p:cNvPr id="4" name="Slide Number Placeholder 3">
            <a:extLst>
              <a:ext uri="{FF2B5EF4-FFF2-40B4-BE49-F238E27FC236}">
                <a16:creationId xmlns:a16="http://schemas.microsoft.com/office/drawing/2014/main" id="{0226845C-4DDE-2B33-7A51-B5C837497898}"/>
              </a:ext>
            </a:extLst>
          </p:cNvPr>
          <p:cNvSpPr>
            <a:spLocks noGrp="1"/>
          </p:cNvSpPr>
          <p:nvPr>
            <p:ph type="sldNum" sz="quarter" idx="5"/>
          </p:nvPr>
        </p:nvSpPr>
        <p:spPr/>
        <p:txBody>
          <a:bodyPr/>
          <a:lstStyle/>
          <a:p>
            <a:fld id="{030AB16C-82C9-439F-BD0A-4D240554FB00}" type="slidenum">
              <a:rPr lang="en-US" smtClean="0"/>
              <a:t>6</a:t>
            </a:fld>
            <a:endParaRPr lang="en-US"/>
          </a:p>
        </p:txBody>
      </p:sp>
    </p:spTree>
    <p:extLst>
      <p:ext uri="{BB962C8B-B14F-4D97-AF65-F5344CB8AC3E}">
        <p14:creationId xmlns:p14="http://schemas.microsoft.com/office/powerpoint/2010/main" val="2857570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F2B1D-34ED-1D36-ACC1-54C31D25B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80585-B972-587F-2499-9C1D159E2B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B26FFF-859E-05B5-ECC3-B8D2FF82BCF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The idea behind </a:t>
            </a:r>
            <a:r>
              <a:rPr lang="en-US" sz="1200" b="0" i="0" kern="1200" dirty="0" err="1">
                <a:solidFill>
                  <a:schemeClr val="tx1"/>
                </a:solidFill>
                <a:effectLst/>
                <a:latin typeface="+mn-lt"/>
                <a:ea typeface="+mn-ea"/>
                <a:cs typeface="+mn-cs"/>
              </a:rPr>
              <a:t>Jidoka</a:t>
            </a:r>
            <a:r>
              <a:rPr lang="en-US" sz="1200" b="0" i="0" kern="1200" dirty="0">
                <a:solidFill>
                  <a:schemeClr val="tx1"/>
                </a:solidFill>
                <a:effectLst/>
                <a:latin typeface="+mn-lt"/>
                <a:ea typeface="+mn-ea"/>
                <a:cs typeface="+mn-cs"/>
              </a:rPr>
              <a:t> is that by stopping the system you get an immediate opportunity for improvement</a:t>
            </a:r>
            <a:endParaRPr lang="en-US" dirty="0"/>
          </a:p>
          <a:p>
            <a:pPr marL="171450" lvl="0" indent="-171450">
              <a:buFont typeface="Arial" panose="020B0604020202020204" pitchFamily="34" charset="0"/>
              <a:buChar char="•"/>
            </a:pPr>
            <a:r>
              <a:rPr lang="en-US" dirty="0"/>
              <a:t>Another key take way is to “make work visible” so others can help surge on the problem (Lean introduces kanban boards)</a:t>
            </a:r>
          </a:p>
          <a:p>
            <a:pPr marL="171450" lvl="0" indent="-171450">
              <a:buFont typeface="Arial" panose="020B0604020202020204" pitchFamily="34" charset="0"/>
              <a:buChar char="•"/>
            </a:pPr>
            <a:r>
              <a:rPr lang="en-US" dirty="0"/>
              <a:t>Everyone should be working towards global goals</a:t>
            </a:r>
          </a:p>
        </p:txBody>
      </p:sp>
      <p:sp>
        <p:nvSpPr>
          <p:cNvPr id="4" name="Slide Number Placeholder 3">
            <a:extLst>
              <a:ext uri="{FF2B5EF4-FFF2-40B4-BE49-F238E27FC236}">
                <a16:creationId xmlns:a16="http://schemas.microsoft.com/office/drawing/2014/main" id="{CF6FEDAA-D550-4B02-2E64-F35CFE66B2E7}"/>
              </a:ext>
            </a:extLst>
          </p:cNvPr>
          <p:cNvSpPr>
            <a:spLocks noGrp="1"/>
          </p:cNvSpPr>
          <p:nvPr>
            <p:ph type="sldNum" sz="quarter" idx="5"/>
          </p:nvPr>
        </p:nvSpPr>
        <p:spPr/>
        <p:txBody>
          <a:bodyPr/>
          <a:lstStyle/>
          <a:p>
            <a:fld id="{030AB16C-82C9-439F-BD0A-4D240554FB00}" type="slidenum">
              <a:rPr lang="en-US" smtClean="0"/>
              <a:t>7</a:t>
            </a:fld>
            <a:endParaRPr lang="en-US"/>
          </a:p>
        </p:txBody>
      </p:sp>
    </p:spTree>
    <p:extLst>
      <p:ext uri="{BB962C8B-B14F-4D97-AF65-F5344CB8AC3E}">
        <p14:creationId xmlns:p14="http://schemas.microsoft.com/office/powerpoint/2010/main" val="3789630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71279-A4E1-1A6B-6C7F-075402D2FE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08009-C626-5703-5FE7-274AA2D96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30C22-EED1-DE75-600E-D5505DD88FA0}"/>
              </a:ext>
            </a:extLst>
          </p:cNvPr>
          <p:cNvSpPr>
            <a:spLocks noGrp="1"/>
          </p:cNvSpPr>
          <p:nvPr>
            <p:ph type="body" idx="1"/>
          </p:nvPr>
        </p:nvSpPr>
        <p:spPr/>
        <p:txBody>
          <a:bodyPr/>
          <a:lstStyle/>
          <a:p>
            <a:pPr marL="171450" lvl="0" indent="-171450">
              <a:buFont typeface="Arial" panose="020B0604020202020204" pitchFamily="34" charset="0"/>
              <a:buChar char="•"/>
            </a:pPr>
            <a:r>
              <a:rPr lang="en-US" dirty="0"/>
              <a:t>1</a:t>
            </a:r>
            <a:r>
              <a:rPr lang="en-US" baseline="30000" dirty="0"/>
              <a:t>st</a:t>
            </a:r>
            <a:r>
              <a:rPr lang="en-US" dirty="0"/>
              <a:t> Waste: Partial work</a:t>
            </a:r>
          </a:p>
          <a:p>
            <a:pPr marL="628650" lvl="1" indent="-171450">
              <a:buFont typeface="Arial" panose="020B0604020202020204" pitchFamily="34" charset="0"/>
              <a:buChar char="•"/>
            </a:pPr>
            <a:r>
              <a:rPr lang="en-US" dirty="0"/>
              <a:t>Problem</a:t>
            </a:r>
          </a:p>
          <a:p>
            <a:pPr marL="1085850" lvl="2" indent="-171450">
              <a:buFont typeface="Arial" panose="020B0604020202020204" pitchFamily="34" charset="0"/>
              <a:buChar char="•"/>
            </a:pPr>
            <a:r>
              <a:rPr lang="en-US" dirty="0"/>
              <a:t>Sign up to do something</a:t>
            </a:r>
          </a:p>
          <a:p>
            <a:pPr marL="1085850" lvl="2" indent="-171450">
              <a:buFont typeface="Arial" panose="020B0604020202020204" pitchFamily="34" charset="0"/>
              <a:buChar char="•"/>
            </a:pPr>
            <a:r>
              <a:rPr lang="en-US" dirty="0"/>
              <a:t>Waiting around to finish that something</a:t>
            </a:r>
          </a:p>
          <a:p>
            <a:pPr marL="1085850" lvl="2" indent="-171450">
              <a:buFont typeface="Arial" panose="020B0604020202020204" pitchFamily="34" charset="0"/>
              <a:buChar char="•"/>
            </a:pPr>
            <a:r>
              <a:rPr lang="en-US" dirty="0"/>
              <a:t>There comes a point where you’re spending more time managing projects than making progress on them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Identify what your “buckets” and how much they can handle and then enforce that </a:t>
            </a:r>
          </a:p>
          <a:p>
            <a:pPr marL="171450" lvl="0" indent="-171450">
              <a:buFont typeface="Arial" panose="020B0604020202020204" pitchFamily="34" charset="0"/>
              <a:buChar char="•"/>
            </a:pPr>
            <a:r>
              <a:rPr lang="en-US" dirty="0"/>
              <a:t>2</a:t>
            </a:r>
            <a:r>
              <a:rPr lang="en-US" baseline="30000" dirty="0"/>
              <a:t>nd</a:t>
            </a:r>
            <a:r>
              <a:rPr lang="en-US" dirty="0"/>
              <a:t> Waste: Transportation</a:t>
            </a:r>
          </a:p>
          <a:p>
            <a:pPr marL="628650" lvl="1" indent="-171450">
              <a:buFont typeface="Arial" panose="020B0604020202020204" pitchFamily="34" charset="0"/>
              <a:buChar char="•"/>
            </a:pPr>
            <a:r>
              <a:rPr lang="en-US" dirty="0"/>
              <a:t>Problem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Be diligent in your communication</a:t>
            </a:r>
          </a:p>
          <a:p>
            <a:pPr marL="1085850" lvl="2" indent="-171450">
              <a:buFont typeface="Arial" panose="020B0604020202020204" pitchFamily="34" charset="0"/>
              <a:buChar char="•"/>
            </a:pPr>
            <a:r>
              <a:rPr lang="en-US" dirty="0"/>
              <a:t>Follow a protocol that improves quality and reduces quantity of DMs</a:t>
            </a:r>
          </a:p>
          <a:p>
            <a:pPr marL="628650" lvl="1" indent="-171450">
              <a:buFont typeface="Arial" panose="020B0604020202020204" pitchFamily="34" charset="0"/>
              <a:buChar char="•"/>
            </a:pPr>
            <a:r>
              <a:rPr lang="en-US" dirty="0"/>
              <a:t>Reference: Hamster Revolution</a:t>
            </a:r>
          </a:p>
          <a:p>
            <a:pPr marL="171450" lvl="0" indent="-171450">
              <a:buFont typeface="Arial" panose="020B0604020202020204" pitchFamily="34" charset="0"/>
              <a:buChar char="•"/>
            </a:pPr>
            <a:r>
              <a:rPr lang="en-US" dirty="0"/>
              <a:t>3</a:t>
            </a:r>
            <a:r>
              <a:rPr lang="en-US" baseline="30000" dirty="0"/>
              <a:t>rd</a:t>
            </a:r>
            <a:r>
              <a:rPr lang="en-US" dirty="0"/>
              <a:t> Waste: Movement (looking for stuff)</a:t>
            </a:r>
          </a:p>
          <a:p>
            <a:pPr marL="628650" lvl="1" indent="-171450">
              <a:buFont typeface="Arial" panose="020B0604020202020204" pitchFamily="34" charset="0"/>
              <a:buChar char="•"/>
            </a:pPr>
            <a:r>
              <a:rPr lang="en-US" dirty="0"/>
              <a:t>Problem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Sort by COTA (Customers, Outputs, Teams, Admin)</a:t>
            </a:r>
          </a:p>
          <a:p>
            <a:pPr marL="171450" lvl="0" indent="-171450">
              <a:buFont typeface="Arial" panose="020B0604020202020204" pitchFamily="34" charset="0"/>
              <a:buChar char="•"/>
            </a:pPr>
            <a:r>
              <a:rPr lang="en-US" dirty="0"/>
              <a:t>4</a:t>
            </a:r>
            <a:r>
              <a:rPr lang="en-US" baseline="30000" dirty="0"/>
              <a:t>th</a:t>
            </a:r>
            <a:r>
              <a:rPr lang="en-US" dirty="0"/>
              <a:t> Waste: Waiting</a:t>
            </a:r>
          </a:p>
          <a:p>
            <a:pPr marL="628650" lvl="1" indent="-171450">
              <a:buFont typeface="Arial" panose="020B0604020202020204" pitchFamily="34" charset="0"/>
              <a:buChar char="•"/>
            </a:pPr>
            <a:r>
              <a:rPr lang="en-US" dirty="0"/>
              <a:t>Problem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Spend that time thinking</a:t>
            </a:r>
          </a:p>
          <a:p>
            <a:pPr marL="1085850" lvl="2" indent="-171450">
              <a:buFont typeface="Arial" panose="020B0604020202020204" pitchFamily="34" charset="0"/>
              <a:buChar char="•"/>
            </a:pPr>
            <a:r>
              <a:rPr lang="en-US" dirty="0"/>
              <a:t>Reorganize</a:t>
            </a:r>
          </a:p>
          <a:p>
            <a:pPr marL="1085850" lvl="2" indent="-171450">
              <a:buFont typeface="Arial" panose="020B0604020202020204" pitchFamily="34" charset="0"/>
              <a:buChar char="•"/>
            </a:pPr>
            <a:r>
              <a:rPr lang="en-US" dirty="0"/>
              <a:t>Surge</a:t>
            </a:r>
          </a:p>
          <a:p>
            <a:pPr marL="171450" lvl="0" indent="-171450">
              <a:buFont typeface="Arial" panose="020B0604020202020204" pitchFamily="34" charset="0"/>
              <a:buChar char="•"/>
            </a:pPr>
            <a:r>
              <a:rPr lang="en-US" dirty="0"/>
              <a:t>5</a:t>
            </a:r>
            <a:r>
              <a:rPr lang="en-US" baseline="30000" dirty="0"/>
              <a:t>th</a:t>
            </a:r>
            <a:r>
              <a:rPr lang="en-US" dirty="0"/>
              <a:t> Waste: Defects</a:t>
            </a:r>
          </a:p>
          <a:p>
            <a:pPr marL="628650" lvl="1" indent="-171450">
              <a:buFont typeface="Arial" panose="020B0604020202020204" pitchFamily="34" charset="0"/>
              <a:buChar char="•"/>
            </a:pPr>
            <a:r>
              <a:rPr lang="en-US" dirty="0"/>
              <a:t>Problem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Use checklists</a:t>
            </a:r>
          </a:p>
          <a:p>
            <a:pPr marL="171450" lvl="0" indent="-171450">
              <a:buFont typeface="Arial" panose="020B0604020202020204" pitchFamily="34" charset="0"/>
              <a:buChar char="•"/>
            </a:pPr>
            <a:r>
              <a:rPr lang="en-US" dirty="0"/>
              <a:t>6</a:t>
            </a:r>
            <a:r>
              <a:rPr lang="en-US" baseline="30000" dirty="0"/>
              <a:t>th</a:t>
            </a:r>
            <a:r>
              <a:rPr lang="en-US" dirty="0"/>
              <a:t> Waste: Overprocessing</a:t>
            </a:r>
          </a:p>
          <a:p>
            <a:pPr marL="628650" lvl="1" indent="-171450">
              <a:buFont typeface="Arial" panose="020B0604020202020204" pitchFamily="34" charset="0"/>
              <a:buChar char="•"/>
            </a:pPr>
            <a:r>
              <a:rPr lang="en-US" dirty="0"/>
              <a:t>Problem</a:t>
            </a:r>
          </a:p>
          <a:p>
            <a:pPr marL="1085850" lvl="2" indent="-171450">
              <a:buFont typeface="Arial" panose="020B0604020202020204" pitchFamily="34" charset="0"/>
              <a:buChar char="•"/>
            </a:pPr>
            <a:r>
              <a:rPr lang="en-US" dirty="0"/>
              <a:t>Doing more than what the customer wants</a:t>
            </a:r>
          </a:p>
          <a:p>
            <a:pPr marL="1085850" lvl="2" indent="-171450">
              <a:buFont typeface="Arial" panose="020B0604020202020204" pitchFamily="34" charset="0"/>
              <a:buChar char="•"/>
            </a:pPr>
            <a:r>
              <a:rPr lang="en-US" dirty="0"/>
              <a:t>Multi-tasking (maker vs manager schedule)</a:t>
            </a:r>
          </a:p>
          <a:p>
            <a:pPr marL="628650" lvl="1" indent="-171450">
              <a:buFont typeface="Arial" panose="020B0604020202020204" pitchFamily="34" charset="0"/>
              <a:buChar char="•"/>
            </a:pPr>
            <a:r>
              <a:rPr lang="en-US" dirty="0"/>
              <a:t>Solution: </a:t>
            </a:r>
          </a:p>
          <a:p>
            <a:pPr marL="171450" lvl="0" indent="-171450">
              <a:buFont typeface="Arial" panose="020B0604020202020204" pitchFamily="34" charset="0"/>
              <a:buChar char="•"/>
            </a:pPr>
            <a:r>
              <a:rPr lang="en-US" dirty="0"/>
              <a:t>7</a:t>
            </a:r>
            <a:r>
              <a:rPr lang="en-US" baseline="30000" dirty="0"/>
              <a:t>th</a:t>
            </a:r>
            <a:r>
              <a:rPr lang="en-US" dirty="0"/>
              <a:t> Waste: Overproduction</a:t>
            </a:r>
          </a:p>
          <a:p>
            <a:pPr marL="628650" lvl="1" indent="-171450">
              <a:buFont typeface="Arial" panose="020B0604020202020204" pitchFamily="34" charset="0"/>
              <a:buChar char="•"/>
            </a:pPr>
            <a:r>
              <a:rPr lang="en-US" dirty="0"/>
              <a:t>Problem</a:t>
            </a:r>
          </a:p>
          <a:p>
            <a:pPr marL="1085850" lvl="2" indent="-171450">
              <a:buFont typeface="Arial" panose="020B0604020202020204" pitchFamily="34" charset="0"/>
              <a:buChar char="•"/>
            </a:pPr>
            <a:r>
              <a:rPr lang="en-US" dirty="0"/>
              <a:t>Knowledge too early (it expires before it can be applied)</a:t>
            </a:r>
          </a:p>
          <a:p>
            <a:pPr marL="628650" lvl="1" indent="-171450">
              <a:buFont typeface="Arial" panose="020B0604020202020204" pitchFamily="34" charset="0"/>
              <a:buChar char="•"/>
            </a:pPr>
            <a:r>
              <a:rPr lang="en-US" dirty="0"/>
              <a:t>Solution:</a:t>
            </a:r>
          </a:p>
          <a:p>
            <a:pPr marL="628650" lvl="1" indent="-171450">
              <a:buFont typeface="Arial" panose="020B0604020202020204" pitchFamily="34" charset="0"/>
              <a:buChar char="•"/>
            </a:pPr>
            <a:endParaRPr lang="en-US" dirty="0"/>
          </a:p>
          <a:p>
            <a:pPr marL="1085850" lvl="2"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AA1EBE8-CDF2-82B4-9336-04681A0117C8}"/>
              </a:ext>
            </a:extLst>
          </p:cNvPr>
          <p:cNvSpPr>
            <a:spLocks noGrp="1"/>
          </p:cNvSpPr>
          <p:nvPr>
            <p:ph type="sldNum" sz="quarter" idx="5"/>
          </p:nvPr>
        </p:nvSpPr>
        <p:spPr/>
        <p:txBody>
          <a:bodyPr/>
          <a:lstStyle/>
          <a:p>
            <a:fld id="{030AB16C-82C9-439F-BD0A-4D240554FB00}" type="slidenum">
              <a:rPr lang="en-US" smtClean="0"/>
              <a:t>8</a:t>
            </a:fld>
            <a:endParaRPr lang="en-US"/>
          </a:p>
        </p:txBody>
      </p:sp>
    </p:spTree>
    <p:extLst>
      <p:ext uri="{BB962C8B-B14F-4D97-AF65-F5344CB8AC3E}">
        <p14:creationId xmlns:p14="http://schemas.microsoft.com/office/powerpoint/2010/main" val="3030592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ED881-BF1A-FBA9-015E-AC85E57E2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B3A60-71B3-BC95-5A23-5ABBB6A02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915D45-4C65-E85C-2FD2-A8BB2DE587C9}"/>
              </a:ext>
            </a:extLst>
          </p:cNvPr>
          <p:cNvSpPr>
            <a:spLocks noGrp="1"/>
          </p:cNvSpPr>
          <p:nvPr>
            <p:ph type="body" idx="1"/>
          </p:nvPr>
        </p:nvSpPr>
        <p:spPr/>
        <p:txBody>
          <a:bodyPr/>
          <a:lstStyle/>
          <a:p>
            <a:pPr marL="171450" lvl="0" indent="-171450">
              <a:buFont typeface="Arial" panose="020B0604020202020204" pitchFamily="34" charset="0"/>
              <a:buChar char="•"/>
            </a:pPr>
            <a:r>
              <a:rPr lang="en-US" dirty="0"/>
              <a:t>1</a:t>
            </a:r>
            <a:r>
              <a:rPr lang="en-US" baseline="30000" dirty="0"/>
              <a:t>st</a:t>
            </a:r>
            <a:r>
              <a:rPr lang="en-US" dirty="0"/>
              <a:t> Waste: Partial work</a:t>
            </a:r>
          </a:p>
          <a:p>
            <a:pPr marL="628650" lvl="1" indent="-171450">
              <a:buFont typeface="Arial" panose="020B0604020202020204" pitchFamily="34" charset="0"/>
              <a:buChar char="•"/>
            </a:pPr>
            <a:r>
              <a:rPr lang="en-US" dirty="0"/>
              <a:t>Problem</a:t>
            </a:r>
          </a:p>
          <a:p>
            <a:pPr marL="1085850" lvl="2" indent="-171450">
              <a:buFont typeface="Arial" panose="020B0604020202020204" pitchFamily="34" charset="0"/>
              <a:buChar char="•"/>
            </a:pPr>
            <a:r>
              <a:rPr lang="en-US" dirty="0"/>
              <a:t>Sign up to do something</a:t>
            </a:r>
          </a:p>
          <a:p>
            <a:pPr marL="1085850" lvl="2" indent="-171450">
              <a:buFont typeface="Arial" panose="020B0604020202020204" pitchFamily="34" charset="0"/>
              <a:buChar char="•"/>
            </a:pPr>
            <a:r>
              <a:rPr lang="en-US" dirty="0"/>
              <a:t>Waiting around to finish that something</a:t>
            </a:r>
          </a:p>
          <a:p>
            <a:pPr marL="1085850" lvl="2" indent="-171450">
              <a:buFont typeface="Arial" panose="020B0604020202020204" pitchFamily="34" charset="0"/>
              <a:buChar char="•"/>
            </a:pPr>
            <a:r>
              <a:rPr lang="en-US" dirty="0"/>
              <a:t>There comes a point where you’re spending more time managing projects than making progress on them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Identify what your “buckets” and how much they can handle and then enforce that </a:t>
            </a:r>
          </a:p>
          <a:p>
            <a:pPr marL="171450" lvl="0" indent="-171450">
              <a:buFont typeface="Arial" panose="020B0604020202020204" pitchFamily="34" charset="0"/>
              <a:buChar char="•"/>
            </a:pPr>
            <a:r>
              <a:rPr lang="en-US" dirty="0"/>
              <a:t>2</a:t>
            </a:r>
            <a:r>
              <a:rPr lang="en-US" baseline="30000" dirty="0"/>
              <a:t>nd</a:t>
            </a:r>
            <a:r>
              <a:rPr lang="en-US" dirty="0"/>
              <a:t> Waste: Transportation</a:t>
            </a:r>
          </a:p>
          <a:p>
            <a:pPr marL="628650" lvl="1" indent="-171450">
              <a:buFont typeface="Arial" panose="020B0604020202020204" pitchFamily="34" charset="0"/>
              <a:buChar char="•"/>
            </a:pPr>
            <a:r>
              <a:rPr lang="en-US" dirty="0"/>
              <a:t>Problem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Be diligent in your communication</a:t>
            </a:r>
          </a:p>
          <a:p>
            <a:pPr marL="1085850" lvl="2" indent="-171450">
              <a:buFont typeface="Arial" panose="020B0604020202020204" pitchFamily="34" charset="0"/>
              <a:buChar char="•"/>
            </a:pPr>
            <a:r>
              <a:rPr lang="en-US" dirty="0"/>
              <a:t>Follow a protocol that improves quality and reduces quantity of DMs</a:t>
            </a:r>
          </a:p>
          <a:p>
            <a:pPr marL="628650" lvl="1" indent="-171450">
              <a:buFont typeface="Arial" panose="020B0604020202020204" pitchFamily="34" charset="0"/>
              <a:buChar char="•"/>
            </a:pPr>
            <a:r>
              <a:rPr lang="en-US" dirty="0"/>
              <a:t>Reference: Hamster Revolution</a:t>
            </a:r>
          </a:p>
          <a:p>
            <a:pPr marL="171450" lvl="0" indent="-171450">
              <a:buFont typeface="Arial" panose="020B0604020202020204" pitchFamily="34" charset="0"/>
              <a:buChar char="•"/>
            </a:pPr>
            <a:r>
              <a:rPr lang="en-US" dirty="0"/>
              <a:t>3</a:t>
            </a:r>
            <a:r>
              <a:rPr lang="en-US" baseline="30000" dirty="0"/>
              <a:t>rd</a:t>
            </a:r>
            <a:r>
              <a:rPr lang="en-US" dirty="0"/>
              <a:t> Waste: Movement (looking for stuff)</a:t>
            </a:r>
          </a:p>
          <a:p>
            <a:pPr marL="628650" lvl="1" indent="-171450">
              <a:buFont typeface="Arial" panose="020B0604020202020204" pitchFamily="34" charset="0"/>
              <a:buChar char="•"/>
            </a:pPr>
            <a:r>
              <a:rPr lang="en-US" dirty="0"/>
              <a:t>Problem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Sort by COTA (Customers, Outputs, Teams, Admin)</a:t>
            </a:r>
          </a:p>
          <a:p>
            <a:pPr marL="171450" lvl="0" indent="-171450">
              <a:buFont typeface="Arial" panose="020B0604020202020204" pitchFamily="34" charset="0"/>
              <a:buChar char="•"/>
            </a:pPr>
            <a:r>
              <a:rPr lang="en-US" dirty="0"/>
              <a:t>4</a:t>
            </a:r>
            <a:r>
              <a:rPr lang="en-US" baseline="30000" dirty="0"/>
              <a:t>th</a:t>
            </a:r>
            <a:r>
              <a:rPr lang="en-US" dirty="0"/>
              <a:t> Waste: Waiting</a:t>
            </a:r>
          </a:p>
          <a:p>
            <a:pPr marL="628650" lvl="1" indent="-171450">
              <a:buFont typeface="Arial" panose="020B0604020202020204" pitchFamily="34" charset="0"/>
              <a:buChar char="•"/>
            </a:pPr>
            <a:r>
              <a:rPr lang="en-US" dirty="0"/>
              <a:t>Problem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Spend that time thinking</a:t>
            </a:r>
          </a:p>
          <a:p>
            <a:pPr marL="1085850" lvl="2" indent="-171450">
              <a:buFont typeface="Arial" panose="020B0604020202020204" pitchFamily="34" charset="0"/>
              <a:buChar char="•"/>
            </a:pPr>
            <a:r>
              <a:rPr lang="en-US" dirty="0"/>
              <a:t>Reorganize</a:t>
            </a:r>
          </a:p>
          <a:p>
            <a:pPr marL="1085850" lvl="2" indent="-171450">
              <a:buFont typeface="Arial" panose="020B0604020202020204" pitchFamily="34" charset="0"/>
              <a:buChar char="•"/>
            </a:pPr>
            <a:r>
              <a:rPr lang="en-US" dirty="0"/>
              <a:t>Surge</a:t>
            </a:r>
          </a:p>
          <a:p>
            <a:pPr marL="171450" lvl="0" indent="-171450">
              <a:buFont typeface="Arial" panose="020B0604020202020204" pitchFamily="34" charset="0"/>
              <a:buChar char="•"/>
            </a:pPr>
            <a:r>
              <a:rPr lang="en-US" dirty="0"/>
              <a:t>5</a:t>
            </a:r>
            <a:r>
              <a:rPr lang="en-US" baseline="30000" dirty="0"/>
              <a:t>th</a:t>
            </a:r>
            <a:r>
              <a:rPr lang="en-US" dirty="0"/>
              <a:t> Waste: Defects</a:t>
            </a:r>
          </a:p>
          <a:p>
            <a:pPr marL="628650" lvl="1" indent="-171450">
              <a:buFont typeface="Arial" panose="020B0604020202020204" pitchFamily="34" charset="0"/>
              <a:buChar char="•"/>
            </a:pPr>
            <a:r>
              <a:rPr lang="en-US" dirty="0"/>
              <a:t>Problem</a:t>
            </a:r>
          </a:p>
          <a:p>
            <a:pPr marL="628650" lvl="1" indent="-171450">
              <a:buFont typeface="Arial" panose="020B0604020202020204" pitchFamily="34" charset="0"/>
              <a:buChar char="•"/>
            </a:pPr>
            <a:r>
              <a:rPr lang="en-US" dirty="0"/>
              <a:t>Solution</a:t>
            </a:r>
          </a:p>
          <a:p>
            <a:pPr marL="1085850" lvl="2" indent="-171450">
              <a:buFont typeface="Arial" panose="020B0604020202020204" pitchFamily="34" charset="0"/>
              <a:buChar char="•"/>
            </a:pPr>
            <a:r>
              <a:rPr lang="en-US" dirty="0"/>
              <a:t>Use checklists</a:t>
            </a:r>
          </a:p>
          <a:p>
            <a:pPr marL="171450" lvl="0" indent="-171450">
              <a:buFont typeface="Arial" panose="020B0604020202020204" pitchFamily="34" charset="0"/>
              <a:buChar char="•"/>
            </a:pPr>
            <a:r>
              <a:rPr lang="en-US" dirty="0"/>
              <a:t>6</a:t>
            </a:r>
            <a:r>
              <a:rPr lang="en-US" baseline="30000" dirty="0"/>
              <a:t>th</a:t>
            </a:r>
            <a:r>
              <a:rPr lang="en-US" dirty="0"/>
              <a:t> Waste: Overprocessing</a:t>
            </a:r>
          </a:p>
          <a:p>
            <a:pPr marL="628650" lvl="1" indent="-171450">
              <a:buFont typeface="Arial" panose="020B0604020202020204" pitchFamily="34" charset="0"/>
              <a:buChar char="•"/>
            </a:pPr>
            <a:r>
              <a:rPr lang="en-US" dirty="0"/>
              <a:t>Problem</a:t>
            </a:r>
          </a:p>
          <a:p>
            <a:pPr marL="1085850" lvl="2" indent="-171450">
              <a:buFont typeface="Arial" panose="020B0604020202020204" pitchFamily="34" charset="0"/>
              <a:buChar char="•"/>
            </a:pPr>
            <a:r>
              <a:rPr lang="en-US" dirty="0"/>
              <a:t>Doing more than what the customer wants</a:t>
            </a:r>
          </a:p>
          <a:p>
            <a:pPr marL="1085850" lvl="2" indent="-171450">
              <a:buFont typeface="Arial" panose="020B0604020202020204" pitchFamily="34" charset="0"/>
              <a:buChar char="•"/>
            </a:pPr>
            <a:r>
              <a:rPr lang="en-US" dirty="0"/>
              <a:t>Multi-tasking (maker vs manager schedule)</a:t>
            </a:r>
          </a:p>
          <a:p>
            <a:pPr marL="628650" lvl="1" indent="-171450">
              <a:buFont typeface="Arial" panose="020B0604020202020204" pitchFamily="34" charset="0"/>
              <a:buChar char="•"/>
            </a:pPr>
            <a:r>
              <a:rPr lang="en-US" dirty="0"/>
              <a:t>Solution: </a:t>
            </a:r>
          </a:p>
          <a:p>
            <a:pPr marL="171450" lvl="0" indent="-171450">
              <a:buFont typeface="Arial" panose="020B0604020202020204" pitchFamily="34" charset="0"/>
              <a:buChar char="•"/>
            </a:pPr>
            <a:r>
              <a:rPr lang="en-US" dirty="0"/>
              <a:t>7</a:t>
            </a:r>
            <a:r>
              <a:rPr lang="en-US" baseline="30000" dirty="0"/>
              <a:t>th</a:t>
            </a:r>
            <a:r>
              <a:rPr lang="en-US" dirty="0"/>
              <a:t> Waste: Overproduction</a:t>
            </a:r>
          </a:p>
          <a:p>
            <a:pPr marL="628650" lvl="1" indent="-171450">
              <a:buFont typeface="Arial" panose="020B0604020202020204" pitchFamily="34" charset="0"/>
              <a:buChar char="•"/>
            </a:pPr>
            <a:r>
              <a:rPr lang="en-US" dirty="0"/>
              <a:t>Problem</a:t>
            </a:r>
          </a:p>
          <a:p>
            <a:pPr marL="1085850" lvl="2" indent="-171450">
              <a:buFont typeface="Arial" panose="020B0604020202020204" pitchFamily="34" charset="0"/>
              <a:buChar char="•"/>
            </a:pPr>
            <a:r>
              <a:rPr lang="en-US" dirty="0"/>
              <a:t>Knowledge too early (it expires before it can be applied)</a:t>
            </a:r>
          </a:p>
          <a:p>
            <a:pPr marL="628650" lvl="1" indent="-171450">
              <a:buFont typeface="Arial" panose="020B0604020202020204" pitchFamily="34" charset="0"/>
              <a:buChar char="•"/>
            </a:pPr>
            <a:r>
              <a:rPr lang="en-US" dirty="0"/>
              <a:t>Solution:</a:t>
            </a:r>
          </a:p>
          <a:p>
            <a:pPr marL="628650" lvl="1" indent="-171450">
              <a:buFont typeface="Arial" panose="020B0604020202020204" pitchFamily="34" charset="0"/>
              <a:buChar char="•"/>
            </a:pPr>
            <a:endParaRPr lang="en-US" dirty="0"/>
          </a:p>
          <a:p>
            <a:pPr marL="1085850" lvl="2"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FAC14E3-3EAC-6225-E70C-C2BAFE70111F}"/>
              </a:ext>
            </a:extLst>
          </p:cNvPr>
          <p:cNvSpPr>
            <a:spLocks noGrp="1"/>
          </p:cNvSpPr>
          <p:nvPr>
            <p:ph type="sldNum" sz="quarter" idx="5"/>
          </p:nvPr>
        </p:nvSpPr>
        <p:spPr/>
        <p:txBody>
          <a:bodyPr/>
          <a:lstStyle/>
          <a:p>
            <a:fld id="{030AB16C-82C9-439F-BD0A-4D240554FB00}" type="slidenum">
              <a:rPr lang="en-US" smtClean="0"/>
              <a:t>9</a:t>
            </a:fld>
            <a:endParaRPr lang="en-US"/>
          </a:p>
        </p:txBody>
      </p:sp>
    </p:spTree>
    <p:extLst>
      <p:ext uri="{BB962C8B-B14F-4D97-AF65-F5344CB8AC3E}">
        <p14:creationId xmlns:p14="http://schemas.microsoft.com/office/powerpoint/2010/main" val="2066197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B9317-E15E-D5DD-986B-A72B8FB66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A8656-07C7-D031-0E47-23BC99D4A5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FB954-5012-4C7D-A172-91398BA7F286}"/>
              </a:ext>
            </a:extLst>
          </p:cNvPr>
          <p:cNvSpPr>
            <a:spLocks noGrp="1"/>
          </p:cNvSpPr>
          <p:nvPr>
            <p:ph type="body" idx="1"/>
          </p:nvPr>
        </p:nvSpPr>
        <p:spPr/>
        <p:txBody>
          <a:bodyPr/>
          <a:lstStyle/>
          <a:p>
            <a:pPr marL="914400" lvl="2"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EE799D85-3ECA-0B43-9B30-0E3670960388}"/>
              </a:ext>
            </a:extLst>
          </p:cNvPr>
          <p:cNvSpPr>
            <a:spLocks noGrp="1"/>
          </p:cNvSpPr>
          <p:nvPr>
            <p:ph type="sldNum" sz="quarter" idx="5"/>
          </p:nvPr>
        </p:nvSpPr>
        <p:spPr/>
        <p:txBody>
          <a:bodyPr/>
          <a:lstStyle/>
          <a:p>
            <a:fld id="{030AB16C-82C9-439F-BD0A-4D240554FB00}" type="slidenum">
              <a:rPr lang="en-US" smtClean="0"/>
              <a:t>10</a:t>
            </a:fld>
            <a:endParaRPr lang="en-US"/>
          </a:p>
        </p:txBody>
      </p:sp>
    </p:spTree>
    <p:extLst>
      <p:ext uri="{BB962C8B-B14F-4D97-AF65-F5344CB8AC3E}">
        <p14:creationId xmlns:p14="http://schemas.microsoft.com/office/powerpoint/2010/main" val="2274217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61336-157E-C7C6-496C-CD32E5460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20613-0D53-A095-E9CC-31F82FC93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29477-A0A8-F961-C78B-6A713498B800}"/>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07E2EBE-9C6D-AF61-4A19-36422A030CA6}"/>
              </a:ext>
            </a:extLst>
          </p:cNvPr>
          <p:cNvSpPr>
            <a:spLocks noGrp="1"/>
          </p:cNvSpPr>
          <p:nvPr>
            <p:ph type="sldNum" sz="quarter" idx="5"/>
          </p:nvPr>
        </p:nvSpPr>
        <p:spPr/>
        <p:txBody>
          <a:bodyPr/>
          <a:lstStyle/>
          <a:p>
            <a:fld id="{030AB16C-82C9-439F-BD0A-4D240554FB00}" type="slidenum">
              <a:rPr lang="en-US" smtClean="0"/>
              <a:t>11</a:t>
            </a:fld>
            <a:endParaRPr lang="en-US"/>
          </a:p>
        </p:txBody>
      </p:sp>
    </p:spTree>
    <p:extLst>
      <p:ext uri="{BB962C8B-B14F-4D97-AF65-F5344CB8AC3E}">
        <p14:creationId xmlns:p14="http://schemas.microsoft.com/office/powerpoint/2010/main" val="944651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F8F6-BD97-309B-F567-82DF6074E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03306-C122-4D3B-84B5-50F6F4EAC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34896-3756-3D6B-1C25-1D80E0DEE414}"/>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6B588A1-1C5A-B2C5-EBF5-ACE792B84616}"/>
              </a:ext>
            </a:extLst>
          </p:cNvPr>
          <p:cNvSpPr>
            <a:spLocks noGrp="1"/>
          </p:cNvSpPr>
          <p:nvPr>
            <p:ph type="sldNum" sz="quarter" idx="5"/>
          </p:nvPr>
        </p:nvSpPr>
        <p:spPr/>
        <p:txBody>
          <a:bodyPr/>
          <a:lstStyle/>
          <a:p>
            <a:fld id="{030AB16C-82C9-439F-BD0A-4D240554FB00}" type="slidenum">
              <a:rPr lang="en-US" smtClean="0"/>
              <a:t>12</a:t>
            </a:fld>
            <a:endParaRPr lang="en-US"/>
          </a:p>
        </p:txBody>
      </p:sp>
    </p:spTree>
    <p:extLst>
      <p:ext uri="{BB962C8B-B14F-4D97-AF65-F5344CB8AC3E}">
        <p14:creationId xmlns:p14="http://schemas.microsoft.com/office/powerpoint/2010/main" val="946259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19C70-DE2C-3C1D-1B95-E16ED4FFF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A451C-1DA7-DBDD-79BB-2990AEA850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1B5CA7-EFA8-54C6-AFF3-068F0AD84F8A}"/>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6FDA8B6-6184-8B9E-9B9B-FEDA89BED7BF}"/>
              </a:ext>
            </a:extLst>
          </p:cNvPr>
          <p:cNvSpPr>
            <a:spLocks noGrp="1"/>
          </p:cNvSpPr>
          <p:nvPr>
            <p:ph type="sldNum" sz="quarter" idx="5"/>
          </p:nvPr>
        </p:nvSpPr>
        <p:spPr/>
        <p:txBody>
          <a:bodyPr/>
          <a:lstStyle/>
          <a:p>
            <a:fld id="{030AB16C-82C9-439F-BD0A-4D240554FB00}" type="slidenum">
              <a:rPr lang="en-US" smtClean="0"/>
              <a:t>13</a:t>
            </a:fld>
            <a:endParaRPr lang="en-US"/>
          </a:p>
        </p:txBody>
      </p:sp>
    </p:spTree>
    <p:extLst>
      <p:ext uri="{BB962C8B-B14F-4D97-AF65-F5344CB8AC3E}">
        <p14:creationId xmlns:p14="http://schemas.microsoft.com/office/powerpoint/2010/main" val="4018441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2A324-67AD-E3EB-7821-7519FAED1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6A9E9-0347-4490-FE47-CFA8D13A1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B3D4C-7D91-2F80-19B6-3BC469ACDBE8}"/>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AE0C893-E66F-8812-156B-2F893CDF256A}"/>
              </a:ext>
            </a:extLst>
          </p:cNvPr>
          <p:cNvSpPr>
            <a:spLocks noGrp="1"/>
          </p:cNvSpPr>
          <p:nvPr>
            <p:ph type="sldNum" sz="quarter" idx="5"/>
          </p:nvPr>
        </p:nvSpPr>
        <p:spPr/>
        <p:txBody>
          <a:bodyPr/>
          <a:lstStyle/>
          <a:p>
            <a:fld id="{030AB16C-82C9-439F-BD0A-4D240554FB00}" type="slidenum">
              <a:rPr lang="en-US" smtClean="0"/>
              <a:t>14</a:t>
            </a:fld>
            <a:endParaRPr lang="en-US"/>
          </a:p>
        </p:txBody>
      </p:sp>
    </p:spTree>
    <p:extLst>
      <p:ext uri="{BB962C8B-B14F-4D97-AF65-F5344CB8AC3E}">
        <p14:creationId xmlns:p14="http://schemas.microsoft.com/office/powerpoint/2010/main" val="1030400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200CC-2127-870F-1951-7ABF9AEBA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C8884-098A-93FD-45D9-D790D201F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6F702-B67C-C041-F326-C72D4356F9BD}"/>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B9DD546-B052-8037-A143-1084AF97B728}"/>
              </a:ext>
            </a:extLst>
          </p:cNvPr>
          <p:cNvSpPr>
            <a:spLocks noGrp="1"/>
          </p:cNvSpPr>
          <p:nvPr>
            <p:ph type="sldNum" sz="quarter" idx="5"/>
          </p:nvPr>
        </p:nvSpPr>
        <p:spPr/>
        <p:txBody>
          <a:bodyPr/>
          <a:lstStyle/>
          <a:p>
            <a:fld id="{030AB16C-82C9-439F-BD0A-4D240554FB00}" type="slidenum">
              <a:rPr lang="en-US" smtClean="0"/>
              <a:t>15</a:t>
            </a:fld>
            <a:endParaRPr lang="en-US"/>
          </a:p>
        </p:txBody>
      </p:sp>
    </p:spTree>
    <p:extLst>
      <p:ext uri="{BB962C8B-B14F-4D97-AF65-F5344CB8AC3E}">
        <p14:creationId xmlns:p14="http://schemas.microsoft.com/office/powerpoint/2010/main" val="2348315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70627-B212-1075-829B-3AC55F024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C5C9B-3FEC-CCE8-5FA0-D9D2AC3495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5CA25-5949-8A2E-C308-79E9B51CC6E1}"/>
              </a:ext>
            </a:extLst>
          </p:cNvPr>
          <p:cNvSpPr>
            <a:spLocks noGrp="1"/>
          </p:cNvSpPr>
          <p:nvPr>
            <p:ph type="body" idx="1"/>
          </p:nvPr>
        </p:nvSpPr>
        <p:spPr/>
        <p:txBody>
          <a:bodyPr/>
          <a:lstStyle/>
          <a:p>
            <a:pPr marL="0" lvl="0" indent="0">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013519EC-EAF5-D710-05A6-9ED829AF6757}"/>
              </a:ext>
            </a:extLst>
          </p:cNvPr>
          <p:cNvSpPr>
            <a:spLocks noGrp="1"/>
          </p:cNvSpPr>
          <p:nvPr>
            <p:ph type="sldNum" sz="quarter" idx="5"/>
          </p:nvPr>
        </p:nvSpPr>
        <p:spPr/>
        <p:txBody>
          <a:bodyPr/>
          <a:lstStyle/>
          <a:p>
            <a:fld id="{030AB16C-82C9-439F-BD0A-4D240554FB00}" type="slidenum">
              <a:rPr lang="en-US" smtClean="0"/>
              <a:t>16</a:t>
            </a:fld>
            <a:endParaRPr lang="en-US"/>
          </a:p>
        </p:txBody>
      </p:sp>
    </p:spTree>
    <p:extLst>
      <p:ext uri="{BB962C8B-B14F-4D97-AF65-F5344CB8AC3E}">
        <p14:creationId xmlns:p14="http://schemas.microsoft.com/office/powerpoint/2010/main" val="301001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1C9F6-A37B-CA44-F120-3EE1A0AE2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4C5E6-AE6F-EAA0-AE7F-6C378089B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9355CA-B6F4-5390-C387-55A00745557C}"/>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7EAEC33-15B9-D9FD-AF74-E02AFFF29A7D}"/>
              </a:ext>
            </a:extLst>
          </p:cNvPr>
          <p:cNvSpPr>
            <a:spLocks noGrp="1"/>
          </p:cNvSpPr>
          <p:nvPr>
            <p:ph type="sldNum" sz="quarter" idx="5"/>
          </p:nvPr>
        </p:nvSpPr>
        <p:spPr/>
        <p:txBody>
          <a:bodyPr/>
          <a:lstStyle/>
          <a:p>
            <a:fld id="{030AB16C-82C9-439F-BD0A-4D240554FB00}" type="slidenum">
              <a:rPr lang="en-US" smtClean="0"/>
              <a:t>19</a:t>
            </a:fld>
            <a:endParaRPr lang="en-US"/>
          </a:p>
        </p:txBody>
      </p:sp>
    </p:spTree>
    <p:extLst>
      <p:ext uri="{BB962C8B-B14F-4D97-AF65-F5344CB8AC3E}">
        <p14:creationId xmlns:p14="http://schemas.microsoft.com/office/powerpoint/2010/main" val="3086229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334B2-B678-733F-E5B5-EEBC84E0C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1341E-C663-DC94-B922-6FA5E2940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4418B-F551-80AD-9A48-E4B8AEEBB18A}"/>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740F439-90A4-F423-AD7C-72906896108D}"/>
              </a:ext>
            </a:extLst>
          </p:cNvPr>
          <p:cNvSpPr>
            <a:spLocks noGrp="1"/>
          </p:cNvSpPr>
          <p:nvPr>
            <p:ph type="sldNum" sz="quarter" idx="5"/>
          </p:nvPr>
        </p:nvSpPr>
        <p:spPr/>
        <p:txBody>
          <a:bodyPr/>
          <a:lstStyle/>
          <a:p>
            <a:fld id="{030AB16C-82C9-439F-BD0A-4D240554FB00}" type="slidenum">
              <a:rPr lang="en-US" smtClean="0"/>
              <a:t>20</a:t>
            </a:fld>
            <a:endParaRPr lang="en-US"/>
          </a:p>
        </p:txBody>
      </p:sp>
    </p:spTree>
    <p:extLst>
      <p:ext uri="{BB962C8B-B14F-4D97-AF65-F5344CB8AC3E}">
        <p14:creationId xmlns:p14="http://schemas.microsoft.com/office/powerpoint/2010/main" val="1883695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2C04B-3495-6F87-CB43-17F35317B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3B3AA-98F6-EAC5-E8BF-8A7234DA8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C38DCC-A8F3-4162-7B25-DA0B3E274902}"/>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34ACD4C-4F23-35C0-D9B0-9799BC165FF2}"/>
              </a:ext>
            </a:extLst>
          </p:cNvPr>
          <p:cNvSpPr>
            <a:spLocks noGrp="1"/>
          </p:cNvSpPr>
          <p:nvPr>
            <p:ph type="sldNum" sz="quarter" idx="5"/>
          </p:nvPr>
        </p:nvSpPr>
        <p:spPr/>
        <p:txBody>
          <a:bodyPr/>
          <a:lstStyle/>
          <a:p>
            <a:fld id="{030AB16C-82C9-439F-BD0A-4D240554FB00}" type="slidenum">
              <a:rPr lang="en-US" smtClean="0"/>
              <a:t>21</a:t>
            </a:fld>
            <a:endParaRPr lang="en-US"/>
          </a:p>
        </p:txBody>
      </p:sp>
    </p:spTree>
    <p:extLst>
      <p:ext uri="{BB962C8B-B14F-4D97-AF65-F5344CB8AC3E}">
        <p14:creationId xmlns:p14="http://schemas.microsoft.com/office/powerpoint/2010/main" val="12417737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42B8-AE11-6031-18B3-7337AFA8D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2B399-231F-C95E-C5C4-F7B356745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3C955-784B-1A2E-5CCF-3369541F1F6A}"/>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ED8AF7D9-D02A-57CB-E062-4D02C0F8AA17}"/>
              </a:ext>
            </a:extLst>
          </p:cNvPr>
          <p:cNvSpPr>
            <a:spLocks noGrp="1"/>
          </p:cNvSpPr>
          <p:nvPr>
            <p:ph type="sldNum" sz="quarter" idx="5"/>
          </p:nvPr>
        </p:nvSpPr>
        <p:spPr/>
        <p:txBody>
          <a:bodyPr/>
          <a:lstStyle/>
          <a:p>
            <a:fld id="{030AB16C-82C9-439F-BD0A-4D240554FB00}" type="slidenum">
              <a:rPr lang="en-US" smtClean="0"/>
              <a:t>22</a:t>
            </a:fld>
            <a:endParaRPr lang="en-US"/>
          </a:p>
        </p:txBody>
      </p:sp>
    </p:spTree>
    <p:extLst>
      <p:ext uri="{BB962C8B-B14F-4D97-AF65-F5344CB8AC3E}">
        <p14:creationId xmlns:p14="http://schemas.microsoft.com/office/powerpoint/2010/main" val="1504597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F421E-ADB6-1AD1-541C-DEE625397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0F15C-3F99-F01B-BA8F-CE6FEC0045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8C684-63CE-F3AD-6C29-CC212FBB7941}"/>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376CA6A-59FA-F976-1A0F-987C5636427D}"/>
              </a:ext>
            </a:extLst>
          </p:cNvPr>
          <p:cNvSpPr>
            <a:spLocks noGrp="1"/>
          </p:cNvSpPr>
          <p:nvPr>
            <p:ph type="sldNum" sz="quarter" idx="5"/>
          </p:nvPr>
        </p:nvSpPr>
        <p:spPr/>
        <p:txBody>
          <a:bodyPr/>
          <a:lstStyle/>
          <a:p>
            <a:fld id="{030AB16C-82C9-439F-BD0A-4D240554FB00}" type="slidenum">
              <a:rPr lang="en-US" smtClean="0"/>
              <a:t>23</a:t>
            </a:fld>
            <a:endParaRPr lang="en-US"/>
          </a:p>
        </p:txBody>
      </p:sp>
    </p:spTree>
    <p:extLst>
      <p:ext uri="{BB962C8B-B14F-4D97-AF65-F5344CB8AC3E}">
        <p14:creationId xmlns:p14="http://schemas.microsoft.com/office/powerpoint/2010/main" val="18774159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09C78-1B1F-ECF0-7B38-0CB3D6AEA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B77A4-057F-593B-87DC-2AE1D61D98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4FD32-A4F7-8745-3BC6-889164554847}"/>
              </a:ext>
            </a:extLst>
          </p:cNvPr>
          <p:cNvSpPr>
            <a:spLocks noGrp="1"/>
          </p:cNvSpPr>
          <p:nvPr>
            <p:ph type="body" idx="1"/>
          </p:nvPr>
        </p:nvSpPr>
        <p:spPr/>
        <p:txBody>
          <a:bodyPr/>
          <a:lstStyle/>
          <a:p>
            <a:pPr marL="1085850" lvl="2"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67A9DDE-433A-6DBB-14DE-2BC0E5CFEAB3}"/>
              </a:ext>
            </a:extLst>
          </p:cNvPr>
          <p:cNvSpPr>
            <a:spLocks noGrp="1"/>
          </p:cNvSpPr>
          <p:nvPr>
            <p:ph type="sldNum" sz="quarter" idx="5"/>
          </p:nvPr>
        </p:nvSpPr>
        <p:spPr/>
        <p:txBody>
          <a:bodyPr/>
          <a:lstStyle/>
          <a:p>
            <a:fld id="{030AB16C-82C9-439F-BD0A-4D240554FB00}" type="slidenum">
              <a:rPr lang="en-US" smtClean="0"/>
              <a:t>25</a:t>
            </a:fld>
            <a:endParaRPr lang="en-US"/>
          </a:p>
        </p:txBody>
      </p:sp>
    </p:spTree>
    <p:extLst>
      <p:ext uri="{BB962C8B-B14F-4D97-AF65-F5344CB8AC3E}">
        <p14:creationId xmlns:p14="http://schemas.microsoft.com/office/powerpoint/2010/main" val="2190091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60DC4-E10E-4171-9AAD-EDBF74882DFC}"/>
              </a:ext>
            </a:extLst>
          </p:cNvPr>
          <p:cNvSpPr/>
          <p:nvPr userDrawn="1"/>
        </p:nvSpPr>
        <p:spPr>
          <a:xfrm>
            <a:off x="377372" y="310243"/>
            <a:ext cx="11437257" cy="6237514"/>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3" name="Picture 2" descr="Logo&#10;&#10;Description automatically generated">
            <a:extLst>
              <a:ext uri="{FF2B5EF4-FFF2-40B4-BE49-F238E27FC236}">
                <a16:creationId xmlns:a16="http://schemas.microsoft.com/office/drawing/2014/main" id="{504553A3-E789-44A7-1B39-AC278E0B80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9000" y="5982359"/>
            <a:ext cx="553255" cy="718886"/>
          </a:xfrm>
          <a:prstGeom prst="rect">
            <a:avLst/>
          </a:prstGeom>
        </p:spPr>
      </p:pic>
      <p:pic>
        <p:nvPicPr>
          <p:cNvPr id="4" name="Picture 3">
            <a:extLst>
              <a:ext uri="{FF2B5EF4-FFF2-40B4-BE49-F238E27FC236}">
                <a16:creationId xmlns:a16="http://schemas.microsoft.com/office/drawing/2014/main" id="{BE282E0E-0DDB-2EA1-807D-46232EBFAFE9}"/>
              </a:ext>
            </a:extLst>
          </p:cNvPr>
          <p:cNvPicPr>
            <a:picLocks noChangeAspect="1"/>
          </p:cNvPicPr>
          <p:nvPr userDrawn="1"/>
        </p:nvPicPr>
        <p:blipFill>
          <a:blip r:embed="rId3"/>
          <a:srcRect/>
          <a:stretch/>
        </p:blipFill>
        <p:spPr>
          <a:xfrm>
            <a:off x="85864" y="46953"/>
            <a:ext cx="755617" cy="718886"/>
          </a:xfrm>
          <a:prstGeom prst="rect">
            <a:avLst/>
          </a:prstGeom>
          <a:noFill/>
        </p:spPr>
      </p:pic>
    </p:spTree>
    <p:extLst>
      <p:ext uri="{BB962C8B-B14F-4D97-AF65-F5344CB8AC3E}">
        <p14:creationId xmlns:p14="http://schemas.microsoft.com/office/powerpoint/2010/main" val="153819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0_Title Slide">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C231BA45-897E-6944-6087-6240165B50E5}"/>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3" name="Picture 32" descr="Background pattern&#10;&#10;Description automatically generated">
            <a:extLst>
              <a:ext uri="{FF2B5EF4-FFF2-40B4-BE49-F238E27FC236}">
                <a16:creationId xmlns:a16="http://schemas.microsoft.com/office/drawing/2014/main" id="{EFA9AB53-35E7-C986-455E-730DAE713E21}"/>
              </a:ext>
            </a:extLst>
          </p:cNvPr>
          <p:cNvPicPr>
            <a:picLocks noChangeAspect="1"/>
          </p:cNvPicPr>
          <p:nvPr userDrawn="1"/>
        </p:nvPicPr>
        <p:blipFill>
          <a:blip r:embed="rId2">
            <a:alphaModFix amt="5000"/>
          </a:blip>
          <a:stretch>
            <a:fillRect/>
          </a:stretch>
        </p:blipFill>
        <p:spPr>
          <a:xfrm>
            <a:off x="-115556" y="-483657"/>
            <a:ext cx="12423112" cy="7825313"/>
          </a:xfrm>
          <a:prstGeom prst="rect">
            <a:avLst/>
          </a:prstGeom>
        </p:spPr>
      </p:pic>
      <p:sp>
        <p:nvSpPr>
          <p:cNvPr id="21" name="Title 8">
            <a:extLst>
              <a:ext uri="{FF2B5EF4-FFF2-40B4-BE49-F238E27FC236}">
                <a16:creationId xmlns:a16="http://schemas.microsoft.com/office/drawing/2014/main" id="{26398B79-7AE7-E707-3549-4CD4F080706B}"/>
              </a:ext>
            </a:extLst>
          </p:cNvPr>
          <p:cNvSpPr>
            <a:spLocks noGrp="1"/>
          </p:cNvSpPr>
          <p:nvPr>
            <p:ph type="title"/>
          </p:nvPr>
        </p:nvSpPr>
        <p:spPr>
          <a:xfrm>
            <a:off x="2435538" y="3680024"/>
            <a:ext cx="7320923" cy="1074430"/>
          </a:xfrm>
        </p:spPr>
        <p:txBody>
          <a:bodyPr>
            <a:normAutofit/>
          </a:bodyPr>
          <a:lstStyle>
            <a:lvl1pPr algn="ctr">
              <a:defRPr sz="3200">
                <a:solidFill>
                  <a:schemeClr val="bg1"/>
                </a:solidFill>
                <a:latin typeface="US Army" panose="020B0506030202020204" pitchFamily="34" charset="0"/>
              </a:defRPr>
            </a:lvl1pPr>
          </a:lstStyle>
          <a:p>
            <a:r>
              <a:rPr lang="en-US"/>
              <a:t>Click to edit Master title style</a:t>
            </a:r>
          </a:p>
        </p:txBody>
      </p:sp>
      <p:pic>
        <p:nvPicPr>
          <p:cNvPr id="16" name="Picture 15">
            <a:extLst>
              <a:ext uri="{FF2B5EF4-FFF2-40B4-BE49-F238E27FC236}">
                <a16:creationId xmlns:a16="http://schemas.microsoft.com/office/drawing/2014/main" id="{072A7EB2-87FC-606E-828A-422F1E7B2EED}"/>
              </a:ext>
            </a:extLst>
          </p:cNvPr>
          <p:cNvPicPr>
            <a:picLocks noChangeAspect="1"/>
          </p:cNvPicPr>
          <p:nvPr userDrawn="1"/>
        </p:nvPicPr>
        <p:blipFill>
          <a:blip r:embed="rId3"/>
          <a:srcRect/>
          <a:stretch/>
        </p:blipFill>
        <p:spPr>
          <a:xfrm>
            <a:off x="4615445" y="770531"/>
            <a:ext cx="2961105" cy="2817167"/>
          </a:xfrm>
          <a:prstGeom prst="rect">
            <a:avLst/>
          </a:prstGeom>
        </p:spPr>
      </p:pic>
      <p:sp>
        <p:nvSpPr>
          <p:cNvPr id="35" name="Rectangle 34">
            <a:extLst>
              <a:ext uri="{FF2B5EF4-FFF2-40B4-BE49-F238E27FC236}">
                <a16:creationId xmlns:a16="http://schemas.microsoft.com/office/drawing/2014/main" id="{7AFC274F-F310-77BE-AF72-9B8AFFBA6466}"/>
              </a:ext>
            </a:extLst>
          </p:cNvPr>
          <p:cNvSpPr/>
          <p:nvPr userDrawn="1"/>
        </p:nvSpPr>
        <p:spPr>
          <a:xfrm rot="16200000" flipH="1">
            <a:off x="6073139" y="2424835"/>
            <a:ext cx="45719" cy="4891178"/>
          </a:xfrm>
          <a:prstGeom prst="rect">
            <a:avLst/>
          </a:prstGeom>
          <a:solidFill>
            <a:srgbClr val="FFD5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Logo&#10;&#10;Description automatically generated">
            <a:extLst>
              <a:ext uri="{FF2B5EF4-FFF2-40B4-BE49-F238E27FC236}">
                <a16:creationId xmlns:a16="http://schemas.microsoft.com/office/drawing/2014/main" id="{C89D08A9-8B50-72E9-13EC-906E3B0970C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89027" y="5982359"/>
            <a:ext cx="557144" cy="718886"/>
          </a:xfrm>
          <a:prstGeom prst="rect">
            <a:avLst/>
          </a:prstGeom>
        </p:spPr>
      </p:pic>
    </p:spTree>
    <p:extLst>
      <p:ext uri="{BB962C8B-B14F-4D97-AF65-F5344CB8AC3E}">
        <p14:creationId xmlns:p14="http://schemas.microsoft.com/office/powerpoint/2010/main" val="852444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microsoft.com/office/2007/relationships/hdphoto" Target="../media/hdphoto2.wdp"/><Relationship Id="rId5" Type="http://schemas.openxmlformats.org/officeDocument/2006/relationships/diagramQuickStyle" Target="../diagrams/quickStyle1.xml"/><Relationship Id="rId10" Type="http://schemas.openxmlformats.org/officeDocument/2006/relationships/image" Target="../media/image6.png"/><Relationship Id="rId4" Type="http://schemas.openxmlformats.org/officeDocument/2006/relationships/diagramLayout" Target="../diagrams/layout1.xml"/><Relationship Id="rId9"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2.xml"/><Relationship Id="rId11" Type="http://schemas.microsoft.com/office/2007/relationships/hdphoto" Target="../media/hdphoto2.wdp"/><Relationship Id="rId5" Type="http://schemas.openxmlformats.org/officeDocument/2006/relationships/diagramQuickStyle" Target="../diagrams/quickStyle2.xml"/><Relationship Id="rId10" Type="http://schemas.openxmlformats.org/officeDocument/2006/relationships/image" Target="../media/image6.png"/><Relationship Id="rId4" Type="http://schemas.openxmlformats.org/officeDocument/2006/relationships/diagramLayout" Target="../diagrams/layout2.xml"/><Relationship Id="rId9"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jpe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3.xml"/><Relationship Id="rId11" Type="http://schemas.microsoft.com/office/2007/relationships/hdphoto" Target="../media/hdphoto2.wdp"/><Relationship Id="rId5" Type="http://schemas.openxmlformats.org/officeDocument/2006/relationships/diagramQuickStyle" Target="../diagrams/quickStyle3.xml"/><Relationship Id="rId10" Type="http://schemas.openxmlformats.org/officeDocument/2006/relationships/image" Target="../media/image6.png"/><Relationship Id="rId4" Type="http://schemas.openxmlformats.org/officeDocument/2006/relationships/diagramLayout" Target="../diagrams/layout3.xml"/><Relationship Id="rId9" Type="http://schemas.microsoft.com/office/2007/relationships/hdphoto" Target="../media/hdphoto1.wdp"/><Relationship Id="rId14" Type="http://schemas.openxmlformats.org/officeDocument/2006/relationships/image" Target="../media/image9.jpe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4.xml"/><Relationship Id="rId11" Type="http://schemas.microsoft.com/office/2007/relationships/hdphoto" Target="../media/hdphoto2.wdp"/><Relationship Id="rId5" Type="http://schemas.openxmlformats.org/officeDocument/2006/relationships/diagramQuickStyle" Target="../diagrams/quickStyle4.xml"/><Relationship Id="rId10" Type="http://schemas.openxmlformats.org/officeDocument/2006/relationships/image" Target="../media/image6.png"/><Relationship Id="rId4" Type="http://schemas.openxmlformats.org/officeDocument/2006/relationships/diagramLayout" Target="../diagrams/layout4.xml"/><Relationship Id="rId9"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5.xml"/><Relationship Id="rId11" Type="http://schemas.microsoft.com/office/2007/relationships/hdphoto" Target="../media/hdphoto2.wdp"/><Relationship Id="rId5" Type="http://schemas.openxmlformats.org/officeDocument/2006/relationships/diagramQuickStyle" Target="../diagrams/quickStyle5.xml"/><Relationship Id="rId10" Type="http://schemas.openxmlformats.org/officeDocument/2006/relationships/image" Target="../media/image6.png"/><Relationship Id="rId4" Type="http://schemas.openxmlformats.org/officeDocument/2006/relationships/diagramLayout" Target="../diagrams/layout5.xml"/><Relationship Id="rId9" Type="http://schemas.microsoft.com/office/2007/relationships/hdphoto" Target="../media/hdphoto1.wdp"/><Relationship Id="rId1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diagramData" Target="../diagrams/data6.xml"/><Relationship Id="rId7" Type="http://schemas.microsoft.com/office/2007/relationships/diagramDrawing" Target="../diagrams/drawing6.xml"/><Relationship Id="rId12"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6.xml"/><Relationship Id="rId11" Type="http://schemas.microsoft.com/office/2007/relationships/hdphoto" Target="../media/hdphoto2.wdp"/><Relationship Id="rId5" Type="http://schemas.openxmlformats.org/officeDocument/2006/relationships/diagramQuickStyle" Target="../diagrams/quickStyle6.xml"/><Relationship Id="rId10" Type="http://schemas.openxmlformats.org/officeDocument/2006/relationships/image" Target="../media/image6.png"/><Relationship Id="rId4" Type="http://schemas.openxmlformats.org/officeDocument/2006/relationships/diagramLayout" Target="../diagrams/layout6.xml"/><Relationship Id="rId9" Type="http://schemas.microsoft.com/office/2007/relationships/hdphoto" Target="../media/hdphoto1.wdp"/></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2.jpeg"/><Relationship Id="rId3" Type="http://schemas.openxmlformats.org/officeDocument/2006/relationships/diagramData" Target="../diagrams/data7.xml"/><Relationship Id="rId7" Type="http://schemas.microsoft.com/office/2007/relationships/diagramDrawing" Target="../diagrams/drawing7.xml"/><Relationship Id="rId12"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7.xml"/><Relationship Id="rId11" Type="http://schemas.microsoft.com/office/2007/relationships/hdphoto" Target="../media/hdphoto2.wdp"/><Relationship Id="rId5" Type="http://schemas.openxmlformats.org/officeDocument/2006/relationships/diagramQuickStyle" Target="../diagrams/quickStyle7.xml"/><Relationship Id="rId10" Type="http://schemas.openxmlformats.org/officeDocument/2006/relationships/image" Target="../media/image6.png"/><Relationship Id="rId4" Type="http://schemas.openxmlformats.org/officeDocument/2006/relationships/diagramLayout" Target="../diagrams/layout7.xml"/><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8.xml"/><Relationship Id="rId7" Type="http://schemas.microsoft.com/office/2007/relationships/diagramDrawing" Target="../diagrams/drawing8.xml"/><Relationship Id="rId12"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8.xml"/><Relationship Id="rId11" Type="http://schemas.microsoft.com/office/2007/relationships/hdphoto" Target="../media/hdphoto2.wdp"/><Relationship Id="rId5" Type="http://schemas.openxmlformats.org/officeDocument/2006/relationships/diagramQuickStyle" Target="../diagrams/quickStyle8.xml"/><Relationship Id="rId10" Type="http://schemas.openxmlformats.org/officeDocument/2006/relationships/image" Target="../media/image6.png"/><Relationship Id="rId4" Type="http://schemas.openxmlformats.org/officeDocument/2006/relationships/diagramLayout" Target="../diagrams/layout8.xml"/><Relationship Id="rId9"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9.xml"/><Relationship Id="rId7" Type="http://schemas.microsoft.com/office/2007/relationships/diagramDrawing" Target="../diagrams/drawing9.xml"/><Relationship Id="rId12"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9.xml"/><Relationship Id="rId11" Type="http://schemas.microsoft.com/office/2007/relationships/hdphoto" Target="../media/hdphoto2.wdp"/><Relationship Id="rId5" Type="http://schemas.openxmlformats.org/officeDocument/2006/relationships/diagramQuickStyle" Target="../diagrams/quickStyle9.xml"/><Relationship Id="rId10" Type="http://schemas.openxmlformats.org/officeDocument/2006/relationships/image" Target="../media/image6.png"/><Relationship Id="rId4" Type="http://schemas.openxmlformats.org/officeDocument/2006/relationships/diagramLayout" Target="../diagrams/layout9.xml"/><Relationship Id="rId9"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0.xml"/><Relationship Id="rId7" Type="http://schemas.microsoft.com/office/2007/relationships/diagramDrawing" Target="../diagrams/drawing10.xml"/><Relationship Id="rId12"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diagramColors" Target="../diagrams/colors10.xml"/><Relationship Id="rId11" Type="http://schemas.microsoft.com/office/2007/relationships/hdphoto" Target="../media/hdphoto2.wdp"/><Relationship Id="rId5" Type="http://schemas.openxmlformats.org/officeDocument/2006/relationships/diagramQuickStyle" Target="../diagrams/quickStyle10.xml"/><Relationship Id="rId10" Type="http://schemas.openxmlformats.org/officeDocument/2006/relationships/image" Target="../media/image6.png"/><Relationship Id="rId4" Type="http://schemas.openxmlformats.org/officeDocument/2006/relationships/diagramLayout" Target="../diagrams/layout10.xml"/><Relationship Id="rId9" Type="http://schemas.microsoft.com/office/2007/relationships/hdphoto" Target="../media/hdphoto1.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youtu.be/tfQiGDUBdD0?si=rPpgv_lnBAJB0LKt" TargetMode="External"/><Relationship Id="rId2" Type="http://schemas.openxmlformats.org/officeDocument/2006/relationships/hyperlink" Target="https://global.toyota/en/company/vision-and-philosophy/production-system/" TargetMode="External"/><Relationship Id="rId1" Type="http://schemas.openxmlformats.org/officeDocument/2006/relationships/slideLayout" Target="../slideLayouts/slideLayout12.xml"/><Relationship Id="rId5" Type="http://schemas.openxmlformats.org/officeDocument/2006/relationships/hyperlink" Target="https://itrevolution.com/product/the-devops-handbook-second-edition/" TargetMode="External"/><Relationship Id="rId4" Type="http://schemas.openxmlformats.org/officeDocument/2006/relationships/hyperlink" Target="https://agilemanifesto.or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image" Target="../media/image5.png"/><Relationship Id="rId7" Type="http://schemas.openxmlformats.org/officeDocument/2006/relationships/image" Target="../media/image7.png"/><Relationship Id="rId12" Type="http://schemas.microsoft.com/office/2007/relationships/diagramDrawing" Target="../diagrams/drawing11.xml"/><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microsoft.com/office/2007/relationships/hdphoto" Target="../media/hdphoto2.wdp"/><Relationship Id="rId11" Type="http://schemas.openxmlformats.org/officeDocument/2006/relationships/diagramColors" Target="../diagrams/colors11.xml"/><Relationship Id="rId5" Type="http://schemas.openxmlformats.org/officeDocument/2006/relationships/image" Target="../media/image6.png"/><Relationship Id="rId10" Type="http://schemas.openxmlformats.org/officeDocument/2006/relationships/diagramQuickStyle" Target="../diagrams/quickStyle11.xml"/><Relationship Id="rId4" Type="http://schemas.microsoft.com/office/2007/relationships/hdphoto" Target="../media/hdphoto1.wdp"/><Relationship Id="rId9" Type="http://schemas.openxmlformats.org/officeDocument/2006/relationships/diagramLayout" Target="../diagrams/layout11.xml"/></Relationships>
</file>

<file path=ppt/slides/_rels/slide20.xml.rels><?xml version="1.0" encoding="UTF-8" standalone="yes"?>
<Relationships xmlns="http://schemas.openxmlformats.org/package/2006/relationships"><Relationship Id="rId8" Type="http://schemas.openxmlformats.org/officeDocument/2006/relationships/diagramData" Target="../diagrams/data12.xml"/><Relationship Id="rId3" Type="http://schemas.openxmlformats.org/officeDocument/2006/relationships/image" Target="../media/image5.png"/><Relationship Id="rId7" Type="http://schemas.openxmlformats.org/officeDocument/2006/relationships/image" Target="../media/image7.png"/><Relationship Id="rId12" Type="http://schemas.microsoft.com/office/2007/relationships/diagramDrawing" Target="../diagrams/drawing12.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microsoft.com/office/2007/relationships/hdphoto" Target="../media/hdphoto2.wdp"/><Relationship Id="rId11" Type="http://schemas.openxmlformats.org/officeDocument/2006/relationships/diagramColors" Target="../diagrams/colors12.xml"/><Relationship Id="rId5" Type="http://schemas.openxmlformats.org/officeDocument/2006/relationships/image" Target="../media/image6.png"/><Relationship Id="rId10" Type="http://schemas.openxmlformats.org/officeDocument/2006/relationships/diagramQuickStyle" Target="../diagrams/quickStyle12.xml"/><Relationship Id="rId4" Type="http://schemas.microsoft.com/office/2007/relationships/hdphoto" Target="../media/hdphoto1.wdp"/><Relationship Id="rId9" Type="http://schemas.openxmlformats.org/officeDocument/2006/relationships/diagramLayout" Target="../diagrams/layout12.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13.xml"/><Relationship Id="rId3" Type="http://schemas.openxmlformats.org/officeDocument/2006/relationships/image" Target="../media/image5.png"/><Relationship Id="rId7" Type="http://schemas.openxmlformats.org/officeDocument/2006/relationships/image" Target="../media/image7.png"/><Relationship Id="rId12" Type="http://schemas.microsoft.com/office/2007/relationships/diagramDrawing" Target="../diagrams/drawing13.xm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microsoft.com/office/2007/relationships/hdphoto" Target="../media/hdphoto2.wdp"/><Relationship Id="rId11" Type="http://schemas.openxmlformats.org/officeDocument/2006/relationships/diagramColors" Target="../diagrams/colors13.xml"/><Relationship Id="rId5" Type="http://schemas.openxmlformats.org/officeDocument/2006/relationships/image" Target="../media/image6.png"/><Relationship Id="rId10" Type="http://schemas.openxmlformats.org/officeDocument/2006/relationships/diagramQuickStyle" Target="../diagrams/quickStyle13.xml"/><Relationship Id="rId4" Type="http://schemas.microsoft.com/office/2007/relationships/hdphoto" Target="../media/hdphoto1.wdp"/><Relationship Id="rId9" Type="http://schemas.openxmlformats.org/officeDocument/2006/relationships/diagramLayout" Target="../diagrams/layout13.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14.xml"/><Relationship Id="rId3" Type="http://schemas.openxmlformats.org/officeDocument/2006/relationships/image" Target="../media/image5.png"/><Relationship Id="rId7" Type="http://schemas.openxmlformats.org/officeDocument/2006/relationships/image" Target="../media/image7.png"/><Relationship Id="rId12" Type="http://schemas.microsoft.com/office/2007/relationships/diagramDrawing" Target="../diagrams/drawing14.xm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microsoft.com/office/2007/relationships/hdphoto" Target="../media/hdphoto2.wdp"/><Relationship Id="rId11" Type="http://schemas.openxmlformats.org/officeDocument/2006/relationships/diagramColors" Target="../diagrams/colors14.xml"/><Relationship Id="rId5" Type="http://schemas.openxmlformats.org/officeDocument/2006/relationships/image" Target="../media/image6.png"/><Relationship Id="rId10" Type="http://schemas.openxmlformats.org/officeDocument/2006/relationships/diagramQuickStyle" Target="../diagrams/quickStyle14.xml"/><Relationship Id="rId4" Type="http://schemas.microsoft.com/office/2007/relationships/hdphoto" Target="../media/hdphoto1.wdp"/><Relationship Id="rId9" Type="http://schemas.openxmlformats.org/officeDocument/2006/relationships/diagramLayout" Target="../diagrams/layout14.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afc-ai2c/coding-katas/"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orem ipsum sit lom dolor sit amet, Lorem ipsum sit lom dolor sit amet, consectetur sit amet adipiscing. Lorem ipsum sit.">
            <a:extLst>
              <a:ext uri="{FF2B5EF4-FFF2-40B4-BE49-F238E27FC236}">
                <a16:creationId xmlns:a16="http://schemas.microsoft.com/office/drawing/2014/main" id="{285F4066-3D3C-729B-553D-55EF9164E829}"/>
              </a:ext>
            </a:extLst>
          </p:cNvPr>
          <p:cNvSpPr txBox="1"/>
          <p:nvPr/>
        </p:nvSpPr>
        <p:spPr>
          <a:xfrm>
            <a:off x="3647552" y="5021345"/>
            <a:ext cx="4893548"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t">
            <a:spAutoFit/>
          </a:bodyPr>
          <a:lstStyle/>
          <a:p>
            <a:pPr marL="0" indent="0" algn="ctr">
              <a:buFont typeface="Arial" panose="020B0604020202020204" pitchFamily="34" charset="0"/>
              <a:buNone/>
              <a:defRPr/>
            </a:pPr>
            <a:r>
              <a:rPr lang="en-US" sz="3200" b="1" dirty="0">
                <a:solidFill>
                  <a:srgbClr val="FFD52F"/>
                </a:solidFill>
                <a:latin typeface="US Army"/>
              </a:rPr>
              <a:t>DevSecOps</a:t>
            </a:r>
          </a:p>
        </p:txBody>
      </p:sp>
      <p:sp>
        <p:nvSpPr>
          <p:cNvPr id="4" name="Title 3">
            <a:extLst>
              <a:ext uri="{FF2B5EF4-FFF2-40B4-BE49-F238E27FC236}">
                <a16:creationId xmlns:a16="http://schemas.microsoft.com/office/drawing/2014/main" id="{211E5390-A359-3C8A-0BD6-57A9000CAECD}"/>
              </a:ext>
            </a:extLst>
          </p:cNvPr>
          <p:cNvSpPr>
            <a:spLocks noGrp="1"/>
          </p:cNvSpPr>
          <p:nvPr>
            <p:ph type="title"/>
          </p:nvPr>
        </p:nvSpPr>
        <p:spPr>
          <a:xfrm>
            <a:off x="2741259" y="3717890"/>
            <a:ext cx="6709482" cy="1034979"/>
          </a:xfrm>
        </p:spPr>
        <p:txBody>
          <a:bodyPr anchor="ctr">
            <a:normAutofit/>
          </a:bodyPr>
          <a:lstStyle/>
          <a:p>
            <a:r>
              <a:rPr lang="en-US" b="1">
                <a:solidFill>
                  <a:schemeClr val="bg1"/>
                </a:solidFill>
                <a:latin typeface="US Army" panose="020B0506030202020204" pitchFamily="34" charset="0"/>
              </a:rPr>
              <a:t>ARTIFICIAL INTELLIGENCE INTEGRATION CENTER</a:t>
            </a:r>
            <a:endParaRPr lang="en-US"/>
          </a:p>
        </p:txBody>
      </p:sp>
      <p:sp>
        <p:nvSpPr>
          <p:cNvPr id="3" name="TextBox 2">
            <a:extLst>
              <a:ext uri="{FF2B5EF4-FFF2-40B4-BE49-F238E27FC236}">
                <a16:creationId xmlns:a16="http://schemas.microsoft.com/office/drawing/2014/main" id="{D20F5E80-014B-69C5-4D23-558642E22836}"/>
              </a:ext>
            </a:extLst>
          </p:cNvPr>
          <p:cNvSpPr txBox="1"/>
          <p:nvPr/>
        </p:nvSpPr>
        <p:spPr>
          <a:xfrm>
            <a:off x="0" y="0"/>
            <a:ext cx="9033468" cy="646331"/>
          </a:xfrm>
          <a:prstGeom prst="rect">
            <a:avLst/>
          </a:prstGeom>
          <a:noFill/>
        </p:spPr>
        <p:txBody>
          <a:bodyPr wrap="square" lIns="91440" tIns="45720" rIns="91440" bIns="45720" rtlCol="0" anchor="t">
            <a:spAutoFit/>
          </a:bodyPr>
          <a:lstStyle/>
          <a:p>
            <a:r>
              <a:rPr lang="en-US" b="1" dirty="0">
                <a:solidFill>
                  <a:schemeClr val="bg1"/>
                </a:solidFill>
                <a:latin typeface="US Army" panose="020B0506030202020204"/>
              </a:rPr>
              <a:t>CW3 Vic Fernandez III</a:t>
            </a:r>
          </a:p>
          <a:p>
            <a:r>
              <a:rPr lang="en-US" dirty="0">
                <a:solidFill>
                  <a:schemeClr val="bg1"/>
                </a:solidFill>
                <a:latin typeface="US Army" panose="020B0506030202020204"/>
              </a:rPr>
              <a:t>victor.fernandez19.mil@army.mil</a:t>
            </a:r>
          </a:p>
        </p:txBody>
      </p:sp>
    </p:spTree>
    <p:extLst>
      <p:ext uri="{BB962C8B-B14F-4D97-AF65-F5344CB8AC3E}">
        <p14:creationId xmlns:p14="http://schemas.microsoft.com/office/powerpoint/2010/main" val="3421678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838B2-0E16-F014-A75C-A43E17DCC7E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A71A25A-A634-DCEC-0A4C-694C84D2D23D}"/>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Agenda</a:t>
            </a:r>
            <a:endParaRPr lang="en-US" dirty="0"/>
          </a:p>
        </p:txBody>
      </p:sp>
      <p:sp>
        <p:nvSpPr>
          <p:cNvPr id="3" name="TextBox 2">
            <a:extLst>
              <a:ext uri="{FF2B5EF4-FFF2-40B4-BE49-F238E27FC236}">
                <a16:creationId xmlns:a16="http://schemas.microsoft.com/office/drawing/2014/main" id="{FA9B3828-C142-4247-8F0D-C23A8D141B9A}"/>
              </a:ext>
            </a:extLst>
          </p:cNvPr>
          <p:cNvSpPr txBox="1"/>
          <p:nvPr/>
        </p:nvSpPr>
        <p:spPr>
          <a:xfrm>
            <a:off x="838200" y="1577263"/>
            <a:ext cx="4506214" cy="4893647"/>
          </a:xfrm>
          <a:prstGeom prst="rect">
            <a:avLst/>
          </a:prstGeom>
          <a:noFill/>
        </p:spPr>
        <p:txBody>
          <a:bodyPr wrap="square" rtlCol="0">
            <a:spAutoFit/>
          </a:bodyPr>
          <a:lstStyle/>
          <a:p>
            <a:r>
              <a:rPr lang="en-US" sz="2400" b="1" dirty="0">
                <a:latin typeface="US Army" panose="020B0506030202020204"/>
              </a:rPr>
              <a:t>0900</a:t>
            </a:r>
          </a:p>
          <a:p>
            <a:pPr marL="342900" indent="-342900">
              <a:buFont typeface="Arial" panose="020B0604020202020204" pitchFamily="34" charset="0"/>
              <a:buChar char="•"/>
            </a:pPr>
            <a:r>
              <a:rPr lang="en-US" sz="2400" dirty="0">
                <a:latin typeface="US Army" panose="020B0506030202020204"/>
              </a:rPr>
              <a:t>Value Streams</a:t>
            </a:r>
          </a:p>
          <a:p>
            <a:pPr marL="342900" indent="-342900">
              <a:buFont typeface="Arial" panose="020B0604020202020204" pitchFamily="34" charset="0"/>
              <a:buChar char="•"/>
            </a:pPr>
            <a:r>
              <a:rPr lang="en-US" sz="2400" dirty="0">
                <a:latin typeface="US Army" panose="020B0506030202020204"/>
              </a:rPr>
              <a:t>The Toyota Production System</a:t>
            </a:r>
          </a:p>
          <a:p>
            <a:pPr marL="342900" indent="-342900">
              <a:buFont typeface="Arial" panose="020B0604020202020204" pitchFamily="34" charset="0"/>
              <a:buChar char="•"/>
            </a:pPr>
            <a:r>
              <a:rPr lang="en-US" sz="2400" dirty="0">
                <a:latin typeface="US Army" panose="020B0506030202020204"/>
              </a:rPr>
              <a:t>Lean</a:t>
            </a:r>
          </a:p>
          <a:p>
            <a:pPr marL="342900" indent="-342900">
              <a:buFont typeface="Arial" panose="020B0604020202020204" pitchFamily="34" charset="0"/>
              <a:buChar char="•"/>
            </a:pPr>
            <a:r>
              <a:rPr lang="en-US" sz="2400" dirty="0">
                <a:latin typeface="US Army" panose="020B0506030202020204"/>
              </a:rPr>
              <a:t>Agile</a:t>
            </a:r>
          </a:p>
          <a:p>
            <a:pPr marL="342900" indent="-342900">
              <a:buFont typeface="Arial" panose="020B0604020202020204" pitchFamily="34" charset="0"/>
              <a:buChar char="•"/>
            </a:pPr>
            <a:r>
              <a:rPr lang="en-US" sz="2400" dirty="0">
                <a:latin typeface="US Army" panose="020B0506030202020204"/>
              </a:rPr>
              <a:t>DevSecOps</a:t>
            </a:r>
          </a:p>
          <a:p>
            <a:pPr marL="342900" indent="-342900">
              <a:buFont typeface="Arial" panose="020B0604020202020204" pitchFamily="34" charset="0"/>
              <a:buChar char="•"/>
            </a:pPr>
            <a:r>
              <a:rPr lang="en-US" sz="2400" dirty="0">
                <a:latin typeface="US Army" panose="020B0506030202020204"/>
              </a:rPr>
              <a:t>Break</a:t>
            </a:r>
          </a:p>
          <a:p>
            <a:endParaRPr lang="en-US" sz="1200" dirty="0">
              <a:latin typeface="US Army" panose="020B0506030202020204"/>
            </a:endParaRPr>
          </a:p>
          <a:p>
            <a:r>
              <a:rPr lang="en-US" sz="2400" b="1" dirty="0">
                <a:latin typeface="US Army" panose="020B0506030202020204"/>
              </a:rPr>
              <a:t>1000</a:t>
            </a:r>
          </a:p>
          <a:p>
            <a:pPr marL="342900" indent="-342900">
              <a:buFont typeface="Arial" panose="020B0604020202020204" pitchFamily="34" charset="0"/>
              <a:buChar char="•"/>
            </a:pPr>
            <a:r>
              <a:rPr lang="en-US" sz="2400" dirty="0">
                <a:latin typeface="US Army" panose="020B0506030202020204"/>
              </a:rPr>
              <a:t>Practical Exercise</a:t>
            </a:r>
          </a:p>
          <a:p>
            <a:pPr marL="342900" indent="-342900">
              <a:buFont typeface="Arial" panose="020B0604020202020204" pitchFamily="34" charset="0"/>
              <a:buChar char="•"/>
            </a:pPr>
            <a:r>
              <a:rPr lang="en-US" sz="2400" dirty="0">
                <a:latin typeface="US Army" panose="020B0506030202020204"/>
              </a:rPr>
              <a:t>Break</a:t>
            </a:r>
          </a:p>
          <a:p>
            <a:endParaRPr lang="en-US" sz="1200" dirty="0">
              <a:latin typeface="US Army" panose="020B0506030202020204"/>
            </a:endParaRPr>
          </a:p>
          <a:p>
            <a:r>
              <a:rPr lang="en-US" sz="2400" b="1" dirty="0">
                <a:latin typeface="US Army" panose="020B0506030202020204"/>
              </a:rPr>
              <a:t>1100</a:t>
            </a:r>
          </a:p>
          <a:p>
            <a:pPr marL="342900" indent="-342900">
              <a:buFont typeface="Arial" panose="020B0604020202020204" pitchFamily="34" charset="0"/>
              <a:buChar char="•"/>
            </a:pPr>
            <a:r>
              <a:rPr lang="en-US" sz="2400" dirty="0">
                <a:latin typeface="US Army" panose="020B0506030202020204"/>
              </a:rPr>
              <a:t>Quiz</a:t>
            </a:r>
          </a:p>
        </p:txBody>
      </p:sp>
      <p:graphicFrame>
        <p:nvGraphicFramePr>
          <p:cNvPr id="4" name="Diagram 3">
            <a:extLst>
              <a:ext uri="{FF2B5EF4-FFF2-40B4-BE49-F238E27FC236}">
                <a16:creationId xmlns:a16="http://schemas.microsoft.com/office/drawing/2014/main" id="{39D1C42B-7720-71E0-ACF6-47FC6E2D218E}"/>
              </a:ext>
            </a:extLst>
          </p:cNvPr>
          <p:cNvGraphicFramePr/>
          <p:nvPr>
            <p:extLst>
              <p:ext uri="{D42A27DB-BD31-4B8C-83A1-F6EECF244321}">
                <p14:modId xmlns:p14="http://schemas.microsoft.com/office/powerpoint/2010/main" val="2728496669"/>
              </p:ext>
            </p:extLst>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8" descr="41,400+ Isometric People Computer Stock Photos, Pictures &amp; Royalty-Free  Images - iStock | Computer illustration">
            <a:extLst>
              <a:ext uri="{FF2B5EF4-FFF2-40B4-BE49-F238E27FC236}">
                <a16:creationId xmlns:a16="http://schemas.microsoft.com/office/drawing/2014/main" id="{1D471886-EE79-94D0-4337-50F2B895A473}"/>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1,248 River Isometric View Stock Vectors and Vector Art | Shutterstock">
            <a:extLst>
              <a:ext uri="{FF2B5EF4-FFF2-40B4-BE49-F238E27FC236}">
                <a16:creationId xmlns:a16="http://schemas.microsoft.com/office/drawing/2014/main" id="{618EBED8-3D27-609B-FB78-036930F9BB4B}"/>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41,400+ Isometric People Computer Stock Photos, Pictures &amp; Royalty-Free  Images - iStock | Computer illustration">
            <a:extLst>
              <a:ext uri="{FF2B5EF4-FFF2-40B4-BE49-F238E27FC236}">
                <a16:creationId xmlns:a16="http://schemas.microsoft.com/office/drawing/2014/main" id="{4E4AF34A-3927-3DF3-7592-6C7194BDEBB0}"/>
              </a:ext>
            </a:extLst>
          </p:cNvPr>
          <p:cNvPicPr>
            <a:picLocks noChangeAspect="1" noChangeArrowheads="1"/>
          </p:cNvPicPr>
          <p:nvPr/>
        </p:nvPicPr>
        <p:blipFill rotWithShape="1">
          <a:blip r:embed="rId12">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B9B5D0D0-7272-9822-5F09-8294FEA0643B}"/>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spTree>
    <p:extLst>
      <p:ext uri="{BB962C8B-B14F-4D97-AF65-F5344CB8AC3E}">
        <p14:creationId xmlns:p14="http://schemas.microsoft.com/office/powerpoint/2010/main" val="3639490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60B2D-C5E8-4585-5A6E-AA34BBA4961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A7C2AC4-F1F5-FBDB-F369-B7743984B547}"/>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Value Streams</a:t>
            </a:r>
            <a:endParaRPr lang="en-US" dirty="0"/>
          </a:p>
        </p:txBody>
      </p:sp>
      <p:sp>
        <p:nvSpPr>
          <p:cNvPr id="3" name="TextBox 2">
            <a:extLst>
              <a:ext uri="{FF2B5EF4-FFF2-40B4-BE49-F238E27FC236}">
                <a16:creationId xmlns:a16="http://schemas.microsoft.com/office/drawing/2014/main" id="{322D3E47-7C9C-D42A-8A0E-58A4C98C60E8}"/>
              </a:ext>
            </a:extLst>
          </p:cNvPr>
          <p:cNvSpPr txBox="1"/>
          <p:nvPr/>
        </p:nvSpPr>
        <p:spPr>
          <a:xfrm>
            <a:off x="838200" y="1577263"/>
            <a:ext cx="5257800"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US Army" panose="020B0506030202020204"/>
              </a:rPr>
              <a:t>A value stream is the process required to convert a business hypothesis into a service or feature for a customer.</a:t>
            </a:r>
          </a:p>
          <a:p>
            <a:pPr marL="342900" indent="-342900">
              <a:buFont typeface="Arial" panose="020B0604020202020204" pitchFamily="34" charset="0"/>
              <a:buChar char="•"/>
            </a:pPr>
            <a:r>
              <a:rPr lang="en-US" sz="2400" dirty="0">
                <a:latin typeface="US Army" panose="020B0506030202020204"/>
              </a:rPr>
              <a:t>Examples</a:t>
            </a:r>
          </a:p>
          <a:p>
            <a:pPr marL="800100" lvl="1" indent="-342900">
              <a:buFont typeface="Arial" panose="020B0604020202020204" pitchFamily="34" charset="0"/>
              <a:buChar char="•"/>
            </a:pPr>
            <a:r>
              <a:rPr lang="en-US" sz="2400" dirty="0">
                <a:latin typeface="US Army" panose="020B0506030202020204"/>
              </a:rPr>
              <a:t>Power, gas, and water utilities</a:t>
            </a:r>
          </a:p>
          <a:p>
            <a:pPr marL="800100" lvl="1" indent="-342900">
              <a:buFont typeface="Arial" panose="020B0604020202020204" pitchFamily="34" charset="0"/>
              <a:buChar char="•"/>
            </a:pPr>
            <a:r>
              <a:rPr lang="en-US" sz="2400" dirty="0">
                <a:latin typeface="US Army" panose="020B0506030202020204"/>
              </a:rPr>
              <a:t>Internet access</a:t>
            </a:r>
          </a:p>
          <a:p>
            <a:pPr marL="800100" lvl="1" indent="-342900">
              <a:buFont typeface="Arial" panose="020B0604020202020204" pitchFamily="34" charset="0"/>
              <a:buChar char="•"/>
            </a:pPr>
            <a:r>
              <a:rPr lang="en-US" sz="2400" dirty="0">
                <a:latin typeface="US Army" panose="020B0506030202020204"/>
              </a:rPr>
              <a:t>Laundry</a:t>
            </a:r>
          </a:p>
          <a:p>
            <a:pPr marL="800100" lvl="1" indent="-342900">
              <a:buFont typeface="Arial" panose="020B0604020202020204" pitchFamily="34" charset="0"/>
              <a:buChar char="•"/>
            </a:pPr>
            <a:r>
              <a:rPr lang="en-US" sz="2400" dirty="0">
                <a:latin typeface="US Army" panose="020B0506030202020204"/>
              </a:rPr>
              <a:t>Food delivery</a:t>
            </a:r>
          </a:p>
          <a:p>
            <a:pPr marL="800100" lvl="1" indent="-342900">
              <a:buFont typeface="Arial" panose="020B0604020202020204" pitchFamily="34" charset="0"/>
              <a:buChar char="•"/>
            </a:pPr>
            <a:r>
              <a:rPr lang="en-US" sz="2400" dirty="0">
                <a:latin typeface="US Army" panose="020B0506030202020204"/>
              </a:rPr>
              <a:t>3D printing</a:t>
            </a:r>
          </a:p>
          <a:p>
            <a:pPr marL="800100" lvl="1" indent="-342900">
              <a:buFont typeface="Arial" panose="020B0604020202020204" pitchFamily="34" charset="0"/>
              <a:buChar char="•"/>
            </a:pPr>
            <a:r>
              <a:rPr lang="en-US" sz="2400" dirty="0">
                <a:latin typeface="US Army" panose="020B0506030202020204"/>
              </a:rPr>
              <a:t>Social media content </a:t>
            </a:r>
          </a:p>
        </p:txBody>
      </p:sp>
      <p:graphicFrame>
        <p:nvGraphicFramePr>
          <p:cNvPr id="4" name="Diagram 3">
            <a:extLst>
              <a:ext uri="{FF2B5EF4-FFF2-40B4-BE49-F238E27FC236}">
                <a16:creationId xmlns:a16="http://schemas.microsoft.com/office/drawing/2014/main" id="{69DF7429-018A-567E-221F-AF6C1C648B7C}"/>
              </a:ext>
            </a:extLst>
          </p:cNvPr>
          <p:cNvGraphicFramePr/>
          <p:nvPr>
            <p:extLst>
              <p:ext uri="{D42A27DB-BD31-4B8C-83A1-F6EECF244321}">
                <p14:modId xmlns:p14="http://schemas.microsoft.com/office/powerpoint/2010/main" val="1155872125"/>
              </p:ext>
            </p:extLst>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8" descr="41,400+ Isometric People Computer Stock Photos, Pictures &amp; Royalty-Free  Images - iStock | Computer illustration">
            <a:extLst>
              <a:ext uri="{FF2B5EF4-FFF2-40B4-BE49-F238E27FC236}">
                <a16:creationId xmlns:a16="http://schemas.microsoft.com/office/drawing/2014/main" id="{1D71784E-CD2D-5948-0D9C-46ACAE1997EB}"/>
              </a:ext>
            </a:extLst>
          </p:cNvPr>
          <p:cNvPicPr>
            <a:picLocks noChangeAspect="1" noChangeArrowheads="1"/>
          </p:cNvPicPr>
          <p:nvPr/>
        </p:nvPicPr>
        <p:blipFill rotWithShape="1">
          <a:blip r:embed="rId8">
            <a:grayscl/>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4DC3A1C7-549B-7F0A-E6B7-B25F90F335A7}"/>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386DC7A2-0685-2F59-4EB6-9ECF475C7097}"/>
              </a:ext>
            </a:extLst>
          </p:cNvPr>
          <p:cNvPicPr>
            <a:picLocks noChangeAspect="1" noChangeArrowheads="1"/>
          </p:cNvPicPr>
          <p:nvPr/>
        </p:nvPicPr>
        <p:blipFill rotWithShape="1">
          <a:blip r:embed="rId12">
            <a:grayscl/>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909E749-8787-1965-4515-0A7C501B53A2}"/>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spTree>
    <p:extLst>
      <p:ext uri="{BB962C8B-B14F-4D97-AF65-F5344CB8AC3E}">
        <p14:creationId xmlns:p14="http://schemas.microsoft.com/office/powerpoint/2010/main" val="4272070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063F4-6800-83F6-27E8-C12F6CFCF1A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191317-2CB3-16FF-8329-2F255F3B5343}"/>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Toyota Production System</a:t>
            </a:r>
            <a:endParaRPr lang="en-US" dirty="0"/>
          </a:p>
        </p:txBody>
      </p:sp>
      <p:sp>
        <p:nvSpPr>
          <p:cNvPr id="3" name="TextBox 2">
            <a:extLst>
              <a:ext uri="{FF2B5EF4-FFF2-40B4-BE49-F238E27FC236}">
                <a16:creationId xmlns:a16="http://schemas.microsoft.com/office/drawing/2014/main" id="{3DBD0B84-9F02-BE4F-51EC-4F1F6FD03DF5}"/>
              </a:ext>
            </a:extLst>
          </p:cNvPr>
          <p:cNvSpPr txBox="1"/>
          <p:nvPr/>
        </p:nvSpPr>
        <p:spPr>
          <a:xfrm>
            <a:off x="838200" y="1577263"/>
            <a:ext cx="5280476"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US Army" panose="020B0506030202020204"/>
              </a:rPr>
              <a:t>A production system based on the philosophy of achieving the complete elimination of waste in pursuit of the most efficient methods.</a:t>
            </a:r>
          </a:p>
          <a:p>
            <a:pPr marL="342900" indent="-342900">
              <a:buFont typeface="Arial" panose="020B0604020202020204" pitchFamily="34" charset="0"/>
              <a:buChar char="•"/>
            </a:pPr>
            <a:r>
              <a:rPr lang="en-US" sz="2400" dirty="0">
                <a:solidFill>
                  <a:srgbClr val="FF0000"/>
                </a:solidFill>
                <a:latin typeface="US Army" panose="020B0506030202020204"/>
              </a:rPr>
              <a:t>Making work easier for workers.</a:t>
            </a:r>
          </a:p>
        </p:txBody>
      </p:sp>
      <p:graphicFrame>
        <p:nvGraphicFramePr>
          <p:cNvPr id="4" name="Diagram 3">
            <a:extLst>
              <a:ext uri="{FF2B5EF4-FFF2-40B4-BE49-F238E27FC236}">
                <a16:creationId xmlns:a16="http://schemas.microsoft.com/office/drawing/2014/main" id="{B9142737-DD7A-EC46-4CF9-F317B33D2018}"/>
              </a:ext>
            </a:extLst>
          </p:cNvPr>
          <p:cNvGraphicFramePr/>
          <p:nvPr>
            <p:extLst>
              <p:ext uri="{D42A27DB-BD31-4B8C-83A1-F6EECF244321}">
                <p14:modId xmlns:p14="http://schemas.microsoft.com/office/powerpoint/2010/main" val="2581893813"/>
              </p:ext>
            </p:extLst>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8" descr="41,400+ Isometric People Computer Stock Photos, Pictures &amp; Royalty-Free  Images - iStock | Computer illustration">
            <a:extLst>
              <a:ext uri="{FF2B5EF4-FFF2-40B4-BE49-F238E27FC236}">
                <a16:creationId xmlns:a16="http://schemas.microsoft.com/office/drawing/2014/main" id="{AC02916E-9B29-C5DF-A218-9CD2885600D1}"/>
              </a:ext>
            </a:extLst>
          </p:cNvPr>
          <p:cNvPicPr>
            <a:picLocks noChangeAspect="1" noChangeArrowheads="1"/>
          </p:cNvPicPr>
          <p:nvPr/>
        </p:nvPicPr>
        <p:blipFill rotWithShape="1">
          <a:blip r:embed="rId8">
            <a:grayscl/>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5DF9CD8F-DCC2-740D-66A8-FAEB9803070B}"/>
              </a:ext>
            </a:extLst>
          </p:cNvPr>
          <p:cNvPicPr>
            <a:picLocks noChangeAspect="1" noChangeArrowheads="1"/>
          </p:cNvPicPr>
          <p:nvPr/>
        </p:nvPicPr>
        <p:blipFill rotWithShape="1">
          <a:blip r:embed="rId10">
            <a:grayscl/>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7CB01DFB-549D-89F5-CF37-91D70657F72E}"/>
              </a:ext>
            </a:extLst>
          </p:cNvPr>
          <p:cNvPicPr>
            <a:picLocks noChangeAspect="1" noChangeArrowheads="1"/>
          </p:cNvPicPr>
          <p:nvPr/>
        </p:nvPicPr>
        <p:blipFill rotWithShape="1">
          <a:blip r:embed="rId12">
            <a:grayscl/>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50487B3-5096-D81F-0EED-DFAB5E5ACB7A}"/>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pic>
        <p:nvPicPr>
          <p:cNvPr id="1026" name="Picture 2">
            <a:extLst>
              <a:ext uri="{FF2B5EF4-FFF2-40B4-BE49-F238E27FC236}">
                <a16:creationId xmlns:a16="http://schemas.microsoft.com/office/drawing/2014/main" id="{51F7B185-AF28-A6D4-0273-F835795E7D3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67174" y="3670551"/>
            <a:ext cx="1804013" cy="25616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wer loom | Science Museum Group Collection">
            <a:extLst>
              <a:ext uri="{FF2B5EF4-FFF2-40B4-BE49-F238E27FC236}">
                <a16:creationId xmlns:a16="http://schemas.microsoft.com/office/drawing/2014/main" id="{A4515E0D-D410-0EE8-CB3A-FC639EDFA1A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65132" y="3680924"/>
            <a:ext cx="2854631" cy="255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486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079CD-39F0-28C7-E94F-D4246259281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95A50AC-CF04-4228-8BF7-22AE86544A90}"/>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Toyota Production System</a:t>
            </a:r>
            <a:endParaRPr lang="en-US" dirty="0"/>
          </a:p>
        </p:txBody>
      </p:sp>
      <p:sp>
        <p:nvSpPr>
          <p:cNvPr id="3" name="TextBox 2">
            <a:extLst>
              <a:ext uri="{FF2B5EF4-FFF2-40B4-BE49-F238E27FC236}">
                <a16:creationId xmlns:a16="http://schemas.microsoft.com/office/drawing/2014/main" id="{D92A3EA3-F820-EF66-9B6A-29D943D43310}"/>
              </a:ext>
            </a:extLst>
          </p:cNvPr>
          <p:cNvSpPr txBox="1"/>
          <p:nvPr/>
        </p:nvSpPr>
        <p:spPr>
          <a:xfrm>
            <a:off x="838200" y="1577263"/>
            <a:ext cx="5280476" cy="3046988"/>
          </a:xfrm>
          <a:prstGeom prst="rect">
            <a:avLst/>
          </a:prstGeom>
          <a:noFill/>
        </p:spPr>
        <p:txBody>
          <a:bodyPr wrap="square" rtlCol="0">
            <a:spAutoFit/>
          </a:bodyPr>
          <a:lstStyle/>
          <a:p>
            <a:r>
              <a:rPr lang="en-US" sz="2400" b="1" dirty="0" err="1">
                <a:latin typeface="US Army" panose="020B0506030202020204"/>
              </a:rPr>
              <a:t>Jidoka</a:t>
            </a:r>
            <a:endParaRPr lang="en-US" sz="2400" b="1" dirty="0">
              <a:latin typeface="US Army" panose="020B0506030202020204"/>
            </a:endParaRPr>
          </a:p>
          <a:p>
            <a:pPr marL="342900" indent="-342900">
              <a:buFont typeface="Arial" panose="020B0604020202020204" pitchFamily="34" charset="0"/>
              <a:buChar char="•"/>
            </a:pPr>
            <a:r>
              <a:rPr lang="en-US" sz="2400" dirty="0">
                <a:latin typeface="US Army" panose="020B0506030202020204"/>
              </a:rPr>
              <a:t>Automation with a human touch</a:t>
            </a:r>
          </a:p>
          <a:p>
            <a:endParaRPr lang="en-US" sz="2400" b="1" dirty="0">
              <a:latin typeface="US Army" panose="020B0506030202020204"/>
            </a:endParaRPr>
          </a:p>
          <a:p>
            <a:r>
              <a:rPr lang="en-US" sz="2400" b="1" dirty="0">
                <a:latin typeface="US Army" panose="020B0506030202020204"/>
              </a:rPr>
              <a:t>Just-In-Time</a:t>
            </a:r>
          </a:p>
          <a:p>
            <a:pPr marL="342900" indent="-342900">
              <a:buFont typeface="Arial" panose="020B0604020202020204" pitchFamily="34" charset="0"/>
              <a:buChar char="•"/>
            </a:pPr>
            <a:r>
              <a:rPr lang="en-US" sz="2400" dirty="0">
                <a:latin typeface="US Army" panose="020B0506030202020204"/>
              </a:rPr>
              <a:t>Making only what is needed, when it is needed, and in the amount needed</a:t>
            </a:r>
          </a:p>
          <a:p>
            <a:pPr marL="342900" indent="-342900">
              <a:buFont typeface="Arial" panose="020B0604020202020204" pitchFamily="34" charset="0"/>
              <a:buChar char="•"/>
            </a:pPr>
            <a:r>
              <a:rPr lang="en-US" sz="2400" dirty="0">
                <a:latin typeface="US Army" panose="020B0506030202020204"/>
              </a:rPr>
              <a:t>Fulfilling orders from customers as quickly as possible</a:t>
            </a:r>
          </a:p>
        </p:txBody>
      </p:sp>
      <p:graphicFrame>
        <p:nvGraphicFramePr>
          <p:cNvPr id="4" name="Diagram 3">
            <a:extLst>
              <a:ext uri="{FF2B5EF4-FFF2-40B4-BE49-F238E27FC236}">
                <a16:creationId xmlns:a16="http://schemas.microsoft.com/office/drawing/2014/main" id="{2D634B51-C897-4FD0-6C75-40726C27192C}"/>
              </a:ext>
            </a:extLst>
          </p:cNvPr>
          <p:cNvGraphicFramePr/>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8" descr="41,400+ Isometric People Computer Stock Photos, Pictures &amp; Royalty-Free  Images - iStock | Computer illustration">
            <a:extLst>
              <a:ext uri="{FF2B5EF4-FFF2-40B4-BE49-F238E27FC236}">
                <a16:creationId xmlns:a16="http://schemas.microsoft.com/office/drawing/2014/main" id="{291ED23A-2460-3601-E218-EFCBF4E97D1F}"/>
              </a:ext>
            </a:extLst>
          </p:cNvPr>
          <p:cNvPicPr>
            <a:picLocks noChangeAspect="1" noChangeArrowheads="1"/>
          </p:cNvPicPr>
          <p:nvPr/>
        </p:nvPicPr>
        <p:blipFill rotWithShape="1">
          <a:blip r:embed="rId8">
            <a:grayscl/>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AA010F70-08F3-64EE-97AE-7BD69D64CB50}"/>
              </a:ext>
            </a:extLst>
          </p:cNvPr>
          <p:cNvPicPr>
            <a:picLocks noChangeAspect="1" noChangeArrowheads="1"/>
          </p:cNvPicPr>
          <p:nvPr/>
        </p:nvPicPr>
        <p:blipFill rotWithShape="1">
          <a:blip r:embed="rId10">
            <a:grayscl/>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0CA581AB-AD19-54F3-1863-D8861DCD07C5}"/>
              </a:ext>
            </a:extLst>
          </p:cNvPr>
          <p:cNvPicPr>
            <a:picLocks noChangeAspect="1" noChangeArrowheads="1"/>
          </p:cNvPicPr>
          <p:nvPr/>
        </p:nvPicPr>
        <p:blipFill rotWithShape="1">
          <a:blip r:embed="rId12">
            <a:grayscl/>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05A90D-F003-637C-6ADD-F5BC9B006A64}"/>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spTree>
    <p:extLst>
      <p:ext uri="{BB962C8B-B14F-4D97-AF65-F5344CB8AC3E}">
        <p14:creationId xmlns:p14="http://schemas.microsoft.com/office/powerpoint/2010/main" val="526845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8DEA4-1550-ECD0-32E2-AB0EF090659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71CB98C-1268-32C7-C639-8247626F0554}"/>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Toyota Production System</a:t>
            </a:r>
            <a:endParaRPr lang="en-US" dirty="0"/>
          </a:p>
        </p:txBody>
      </p:sp>
      <p:graphicFrame>
        <p:nvGraphicFramePr>
          <p:cNvPr id="4" name="Diagram 3">
            <a:extLst>
              <a:ext uri="{FF2B5EF4-FFF2-40B4-BE49-F238E27FC236}">
                <a16:creationId xmlns:a16="http://schemas.microsoft.com/office/drawing/2014/main" id="{4CB5BACB-F4CE-D8E5-4F19-A882F709E3F7}"/>
              </a:ext>
            </a:extLst>
          </p:cNvPr>
          <p:cNvGraphicFramePr/>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8" descr="41,400+ Isometric People Computer Stock Photos, Pictures &amp; Royalty-Free  Images - iStock | Computer illustration">
            <a:extLst>
              <a:ext uri="{FF2B5EF4-FFF2-40B4-BE49-F238E27FC236}">
                <a16:creationId xmlns:a16="http://schemas.microsoft.com/office/drawing/2014/main" id="{007B3AC5-1287-7848-6905-9D7BB1994FC5}"/>
              </a:ext>
            </a:extLst>
          </p:cNvPr>
          <p:cNvPicPr>
            <a:picLocks noChangeAspect="1" noChangeArrowheads="1"/>
          </p:cNvPicPr>
          <p:nvPr/>
        </p:nvPicPr>
        <p:blipFill rotWithShape="1">
          <a:blip r:embed="rId8">
            <a:grayscl/>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6BAC91BF-80E9-0A86-C20E-223EFDC2E200}"/>
              </a:ext>
            </a:extLst>
          </p:cNvPr>
          <p:cNvPicPr>
            <a:picLocks noChangeAspect="1" noChangeArrowheads="1"/>
          </p:cNvPicPr>
          <p:nvPr/>
        </p:nvPicPr>
        <p:blipFill rotWithShape="1">
          <a:blip r:embed="rId10">
            <a:grayscl/>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B6FA6015-B98D-8CCA-E053-09E519AE2240}"/>
              </a:ext>
            </a:extLst>
          </p:cNvPr>
          <p:cNvPicPr>
            <a:picLocks noChangeAspect="1" noChangeArrowheads="1"/>
          </p:cNvPicPr>
          <p:nvPr/>
        </p:nvPicPr>
        <p:blipFill rotWithShape="1">
          <a:blip r:embed="rId12">
            <a:grayscl/>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6C3C690-841B-46EA-C688-ABAAD9303FDA}"/>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pic>
        <p:nvPicPr>
          <p:cNvPr id="10" name="Picture 9">
            <a:extLst>
              <a:ext uri="{FF2B5EF4-FFF2-40B4-BE49-F238E27FC236}">
                <a16:creationId xmlns:a16="http://schemas.microsoft.com/office/drawing/2014/main" id="{B6291E08-5BFB-2E79-BFB6-72B8BCC46DBB}"/>
              </a:ext>
            </a:extLst>
          </p:cNvPr>
          <p:cNvPicPr>
            <a:picLocks noChangeAspect="1"/>
          </p:cNvPicPr>
          <p:nvPr/>
        </p:nvPicPr>
        <p:blipFill>
          <a:blip r:embed="rId13"/>
          <a:stretch>
            <a:fillRect/>
          </a:stretch>
        </p:blipFill>
        <p:spPr>
          <a:xfrm>
            <a:off x="990149" y="1676992"/>
            <a:ext cx="5706271" cy="4401164"/>
          </a:xfrm>
          <a:prstGeom prst="rect">
            <a:avLst/>
          </a:prstGeom>
        </p:spPr>
      </p:pic>
      <p:pic>
        <p:nvPicPr>
          <p:cNvPr id="5" name="Picture 4">
            <a:extLst>
              <a:ext uri="{FF2B5EF4-FFF2-40B4-BE49-F238E27FC236}">
                <a16:creationId xmlns:a16="http://schemas.microsoft.com/office/drawing/2014/main" id="{88B6D7E9-E676-60F4-D574-E0FB7310FA9A}"/>
              </a:ext>
            </a:extLst>
          </p:cNvPr>
          <p:cNvPicPr>
            <a:picLocks noChangeAspect="1"/>
          </p:cNvPicPr>
          <p:nvPr/>
        </p:nvPicPr>
        <p:blipFill>
          <a:blip r:embed="rId14"/>
          <a:stretch>
            <a:fillRect/>
          </a:stretch>
        </p:blipFill>
        <p:spPr>
          <a:xfrm>
            <a:off x="981688" y="1676992"/>
            <a:ext cx="5725324" cy="4382112"/>
          </a:xfrm>
          <a:prstGeom prst="rect">
            <a:avLst/>
          </a:prstGeom>
        </p:spPr>
      </p:pic>
    </p:spTree>
    <p:extLst>
      <p:ext uri="{BB962C8B-B14F-4D97-AF65-F5344CB8AC3E}">
        <p14:creationId xmlns:p14="http://schemas.microsoft.com/office/powerpoint/2010/main" val="2107457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2D86-95A4-9B62-8479-F31E22FA5E1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9B18FDB-E2A4-E3A4-2133-B5EBE9722C96}"/>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Toyota Production System</a:t>
            </a:r>
            <a:endParaRPr lang="en-US" dirty="0"/>
          </a:p>
        </p:txBody>
      </p:sp>
      <p:graphicFrame>
        <p:nvGraphicFramePr>
          <p:cNvPr id="4" name="Diagram 3">
            <a:extLst>
              <a:ext uri="{FF2B5EF4-FFF2-40B4-BE49-F238E27FC236}">
                <a16:creationId xmlns:a16="http://schemas.microsoft.com/office/drawing/2014/main" id="{77228179-6CF9-63B2-0678-5505D563F323}"/>
              </a:ext>
            </a:extLst>
          </p:cNvPr>
          <p:cNvGraphicFramePr/>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8" descr="41,400+ Isometric People Computer Stock Photos, Pictures &amp; Royalty-Free  Images - iStock | Computer illustration">
            <a:extLst>
              <a:ext uri="{FF2B5EF4-FFF2-40B4-BE49-F238E27FC236}">
                <a16:creationId xmlns:a16="http://schemas.microsoft.com/office/drawing/2014/main" id="{82DCC641-BE13-FC81-4027-A104707E15B3}"/>
              </a:ext>
            </a:extLst>
          </p:cNvPr>
          <p:cNvPicPr>
            <a:picLocks noChangeAspect="1" noChangeArrowheads="1"/>
          </p:cNvPicPr>
          <p:nvPr/>
        </p:nvPicPr>
        <p:blipFill rotWithShape="1">
          <a:blip r:embed="rId8">
            <a:grayscl/>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D96C0D68-B162-A4A6-6FB3-2A6F1700F72A}"/>
              </a:ext>
            </a:extLst>
          </p:cNvPr>
          <p:cNvPicPr>
            <a:picLocks noChangeAspect="1" noChangeArrowheads="1"/>
          </p:cNvPicPr>
          <p:nvPr/>
        </p:nvPicPr>
        <p:blipFill rotWithShape="1">
          <a:blip r:embed="rId10">
            <a:grayscl/>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8C475BAF-82AD-31F4-D4B6-53A8B6187187}"/>
              </a:ext>
            </a:extLst>
          </p:cNvPr>
          <p:cNvPicPr>
            <a:picLocks noChangeAspect="1" noChangeArrowheads="1"/>
          </p:cNvPicPr>
          <p:nvPr/>
        </p:nvPicPr>
        <p:blipFill rotWithShape="1">
          <a:blip r:embed="rId12">
            <a:grayscl/>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A6AB506-4AB0-CDD7-EAE1-BEDFA8557149}"/>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pic>
        <p:nvPicPr>
          <p:cNvPr id="10" name="Picture 9">
            <a:extLst>
              <a:ext uri="{FF2B5EF4-FFF2-40B4-BE49-F238E27FC236}">
                <a16:creationId xmlns:a16="http://schemas.microsoft.com/office/drawing/2014/main" id="{8F537B7B-A970-A772-49E9-8210BF4AE390}"/>
              </a:ext>
            </a:extLst>
          </p:cNvPr>
          <p:cNvPicPr>
            <a:picLocks noChangeAspect="1"/>
          </p:cNvPicPr>
          <p:nvPr/>
        </p:nvPicPr>
        <p:blipFill>
          <a:blip r:embed="rId13"/>
          <a:stretch>
            <a:fillRect/>
          </a:stretch>
        </p:blipFill>
        <p:spPr>
          <a:xfrm>
            <a:off x="990149" y="1676992"/>
            <a:ext cx="5706271" cy="4401164"/>
          </a:xfrm>
          <a:prstGeom prst="rect">
            <a:avLst/>
          </a:prstGeom>
        </p:spPr>
      </p:pic>
    </p:spTree>
    <p:extLst>
      <p:ext uri="{BB962C8B-B14F-4D97-AF65-F5344CB8AC3E}">
        <p14:creationId xmlns:p14="http://schemas.microsoft.com/office/powerpoint/2010/main" val="2031915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B3387-B1F7-47D4-F705-DD9CCE4FA3A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1FFE055-D47D-DEAB-1AE4-222D349BFB64}"/>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Lean</a:t>
            </a:r>
            <a:endParaRPr lang="en-US" dirty="0"/>
          </a:p>
        </p:txBody>
      </p:sp>
      <p:graphicFrame>
        <p:nvGraphicFramePr>
          <p:cNvPr id="4" name="Diagram 3">
            <a:extLst>
              <a:ext uri="{FF2B5EF4-FFF2-40B4-BE49-F238E27FC236}">
                <a16:creationId xmlns:a16="http://schemas.microsoft.com/office/drawing/2014/main" id="{9EEF2A54-B2DC-75D2-C5D2-353C4A2A4E89}"/>
              </a:ext>
            </a:extLst>
          </p:cNvPr>
          <p:cNvGraphicFramePr/>
          <p:nvPr>
            <p:extLst>
              <p:ext uri="{D42A27DB-BD31-4B8C-83A1-F6EECF244321}">
                <p14:modId xmlns:p14="http://schemas.microsoft.com/office/powerpoint/2010/main" val="1493919129"/>
              </p:ext>
            </p:extLst>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8" descr="41,400+ Isometric People Computer Stock Photos, Pictures &amp; Royalty-Free  Images - iStock | Computer illustration">
            <a:extLst>
              <a:ext uri="{FF2B5EF4-FFF2-40B4-BE49-F238E27FC236}">
                <a16:creationId xmlns:a16="http://schemas.microsoft.com/office/drawing/2014/main" id="{B008C494-4F62-6B4A-C48C-06A17B539E64}"/>
              </a:ext>
            </a:extLst>
          </p:cNvPr>
          <p:cNvPicPr>
            <a:picLocks noChangeAspect="1" noChangeArrowheads="1"/>
          </p:cNvPicPr>
          <p:nvPr/>
        </p:nvPicPr>
        <p:blipFill rotWithShape="1">
          <a:blip r:embed="rId8">
            <a:grayscl/>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8A0A8A45-C016-E0FB-210C-361608167C00}"/>
              </a:ext>
            </a:extLst>
          </p:cNvPr>
          <p:cNvPicPr>
            <a:picLocks noChangeAspect="1" noChangeArrowheads="1"/>
          </p:cNvPicPr>
          <p:nvPr/>
        </p:nvPicPr>
        <p:blipFill rotWithShape="1">
          <a:blip r:embed="rId10">
            <a:grayscl/>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CA608B21-2340-9C5E-966C-A445031B9353}"/>
              </a:ext>
            </a:extLst>
          </p:cNvPr>
          <p:cNvPicPr>
            <a:picLocks noChangeAspect="1" noChangeArrowheads="1"/>
          </p:cNvPicPr>
          <p:nvPr/>
        </p:nvPicPr>
        <p:blipFill rotWithShape="1">
          <a:blip r:embed="rId12">
            <a:grayscl/>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9BF7264-9F8B-C92A-31B6-B19B5650347D}"/>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pic>
        <p:nvPicPr>
          <p:cNvPr id="2050" name="Picture 2" descr="Amazon.com: The Machine That Changed the World: The Story of Lean  Production- Toyota's Secret Weapon in the Global Car Wars That Is Now  Revolutionizing World Industry: 9780743299794: Womack, James P.: Books">
            <a:extLst>
              <a:ext uri="{FF2B5EF4-FFF2-40B4-BE49-F238E27FC236}">
                <a16:creationId xmlns:a16="http://schemas.microsoft.com/office/drawing/2014/main" id="{53D8FB27-D19C-B855-A337-EAE7D113D95D}"/>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005531" y="2915767"/>
            <a:ext cx="1878595" cy="28595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8695E73-C782-E465-2DE6-D19DC20FA6E4}"/>
              </a:ext>
            </a:extLst>
          </p:cNvPr>
          <p:cNvSpPr txBox="1"/>
          <p:nvPr/>
        </p:nvSpPr>
        <p:spPr>
          <a:xfrm>
            <a:off x="838199" y="1577263"/>
            <a:ext cx="6805773"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US Army" panose="020B0506030202020204"/>
              </a:rPr>
              <a:t>A management philosophy focused on </a:t>
            </a:r>
            <a:r>
              <a:rPr lang="en-US" sz="2400" dirty="0">
                <a:solidFill>
                  <a:srgbClr val="FF0000"/>
                </a:solidFill>
                <a:latin typeface="US Army" panose="020B0506030202020204"/>
              </a:rPr>
              <a:t>maximizing value for the customer</a:t>
            </a:r>
            <a:r>
              <a:rPr lang="en-US" sz="2400" dirty="0">
                <a:latin typeface="US Army" panose="020B0506030202020204"/>
              </a:rPr>
              <a:t> </a:t>
            </a:r>
            <a:r>
              <a:rPr lang="en-US" sz="2400" dirty="0">
                <a:solidFill>
                  <a:srgbClr val="FF0000"/>
                </a:solidFill>
                <a:latin typeface="US Army" panose="020B0506030202020204"/>
              </a:rPr>
              <a:t>while minimizing waste.</a:t>
            </a:r>
            <a:endParaRPr lang="en-US" sz="2400" dirty="0">
              <a:latin typeface="US Army" panose="020B0506030202020204"/>
            </a:endParaRPr>
          </a:p>
        </p:txBody>
      </p:sp>
    </p:spTree>
    <p:extLst>
      <p:ext uri="{BB962C8B-B14F-4D97-AF65-F5344CB8AC3E}">
        <p14:creationId xmlns:p14="http://schemas.microsoft.com/office/powerpoint/2010/main" val="3825396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6FF47-3193-A232-09AA-CED8F4527CA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25522B3-8B48-3A82-8CEA-4CDC265584C2}"/>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Lean</a:t>
            </a:r>
            <a:endParaRPr lang="en-US" dirty="0"/>
          </a:p>
        </p:txBody>
      </p:sp>
      <p:pic>
        <p:nvPicPr>
          <p:cNvPr id="2054" name="Picture 6" descr="The 8 Wastes of Lean">
            <a:extLst>
              <a:ext uri="{FF2B5EF4-FFF2-40B4-BE49-F238E27FC236}">
                <a16:creationId xmlns:a16="http://schemas.microsoft.com/office/drawing/2014/main" id="{CE165460-9BD7-9665-2E69-D5C40E6DAB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04"/>
          <a:stretch>
            <a:fillRect/>
          </a:stretch>
        </p:blipFill>
        <p:spPr bwMode="auto">
          <a:xfrm>
            <a:off x="1482675" y="1325563"/>
            <a:ext cx="9226650" cy="4888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898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09003-BEC2-BB59-3B01-B09479B33F7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D5AAE54-FC0E-7446-3701-40531D6EAE96}"/>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Lean</a:t>
            </a:r>
            <a:endParaRPr lang="en-US" dirty="0"/>
          </a:p>
        </p:txBody>
      </p:sp>
      <p:graphicFrame>
        <p:nvGraphicFramePr>
          <p:cNvPr id="4" name="Diagram 3">
            <a:extLst>
              <a:ext uri="{FF2B5EF4-FFF2-40B4-BE49-F238E27FC236}">
                <a16:creationId xmlns:a16="http://schemas.microsoft.com/office/drawing/2014/main" id="{563BB023-4531-3FFF-CC1D-0B9ECCEE6D86}"/>
              </a:ext>
            </a:extLst>
          </p:cNvPr>
          <p:cNvGraphicFramePr/>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8" descr="41,400+ Isometric People Computer Stock Photos, Pictures &amp; Royalty-Free  Images - iStock | Computer illustration">
            <a:extLst>
              <a:ext uri="{FF2B5EF4-FFF2-40B4-BE49-F238E27FC236}">
                <a16:creationId xmlns:a16="http://schemas.microsoft.com/office/drawing/2014/main" id="{CB9C58AA-3936-4680-C539-2ACBCC1AC658}"/>
              </a:ext>
            </a:extLst>
          </p:cNvPr>
          <p:cNvPicPr>
            <a:picLocks noChangeAspect="1" noChangeArrowheads="1"/>
          </p:cNvPicPr>
          <p:nvPr/>
        </p:nvPicPr>
        <p:blipFill rotWithShape="1">
          <a:blip r:embed="rId8">
            <a:grayscl/>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DD48177E-1C8A-8BD1-453A-0A553E80A626}"/>
              </a:ext>
            </a:extLst>
          </p:cNvPr>
          <p:cNvPicPr>
            <a:picLocks noChangeAspect="1" noChangeArrowheads="1"/>
          </p:cNvPicPr>
          <p:nvPr/>
        </p:nvPicPr>
        <p:blipFill rotWithShape="1">
          <a:blip r:embed="rId10">
            <a:grayscl/>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4AC404CB-6102-CE72-E9B6-46A3D3D806A3}"/>
              </a:ext>
            </a:extLst>
          </p:cNvPr>
          <p:cNvPicPr>
            <a:picLocks noChangeAspect="1" noChangeArrowheads="1"/>
          </p:cNvPicPr>
          <p:nvPr/>
        </p:nvPicPr>
        <p:blipFill rotWithShape="1">
          <a:blip r:embed="rId12">
            <a:grayscl/>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50F9CA2-139C-B03E-1998-B1768D2CAF0C}"/>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sp>
        <p:nvSpPr>
          <p:cNvPr id="5" name="TextBox 4">
            <a:extLst>
              <a:ext uri="{FF2B5EF4-FFF2-40B4-BE49-F238E27FC236}">
                <a16:creationId xmlns:a16="http://schemas.microsoft.com/office/drawing/2014/main" id="{A8A1A83D-2D36-5CEA-A372-EDEE4A97791E}"/>
              </a:ext>
            </a:extLst>
          </p:cNvPr>
          <p:cNvSpPr txBox="1"/>
          <p:nvPr/>
        </p:nvSpPr>
        <p:spPr>
          <a:xfrm>
            <a:off x="838200" y="1577263"/>
            <a:ext cx="5868812" cy="4154984"/>
          </a:xfrm>
          <a:prstGeom prst="rect">
            <a:avLst/>
          </a:prstGeom>
          <a:noFill/>
        </p:spPr>
        <p:txBody>
          <a:bodyPr wrap="square" rtlCol="0">
            <a:spAutoFit/>
          </a:bodyPr>
          <a:lstStyle/>
          <a:p>
            <a:r>
              <a:rPr lang="en-US" sz="2400" b="1" dirty="0">
                <a:latin typeface="US Army" panose="020B0506030202020204"/>
              </a:rPr>
              <a:t>Define Value</a:t>
            </a:r>
          </a:p>
          <a:p>
            <a:r>
              <a:rPr lang="en-US" sz="2400" dirty="0">
                <a:latin typeface="US Army" panose="020B0506030202020204"/>
              </a:rPr>
              <a:t>Focus on what solves the problem.</a:t>
            </a:r>
          </a:p>
          <a:p>
            <a:endParaRPr lang="en-US" sz="2400" dirty="0">
              <a:latin typeface="US Army" panose="020B0506030202020204"/>
            </a:endParaRPr>
          </a:p>
          <a:p>
            <a:r>
              <a:rPr lang="en-US" sz="2400" b="1" dirty="0">
                <a:latin typeface="US Army" panose="020B0506030202020204"/>
              </a:rPr>
              <a:t>Map the Value Stream</a:t>
            </a:r>
          </a:p>
          <a:p>
            <a:r>
              <a:rPr lang="en-US" sz="2400" dirty="0">
                <a:latin typeface="US Army" panose="020B0506030202020204"/>
              </a:rPr>
              <a:t>Make work visible using a </a:t>
            </a:r>
            <a:r>
              <a:rPr lang="en-US" sz="2400" i="1" dirty="0">
                <a:latin typeface="US Army" panose="020B0506030202020204"/>
              </a:rPr>
              <a:t>Kanban</a:t>
            </a:r>
            <a:r>
              <a:rPr lang="en-US" sz="2400" dirty="0">
                <a:latin typeface="US Army" panose="020B0506030202020204"/>
              </a:rPr>
              <a:t> board.</a:t>
            </a:r>
          </a:p>
          <a:p>
            <a:endParaRPr lang="en-US" sz="2400" dirty="0">
              <a:latin typeface="US Army" panose="020B0506030202020204"/>
            </a:endParaRPr>
          </a:p>
          <a:p>
            <a:r>
              <a:rPr lang="en-US" sz="2400" b="1" dirty="0">
                <a:latin typeface="US Army" panose="020B0506030202020204"/>
              </a:rPr>
              <a:t>Create a Flow</a:t>
            </a:r>
          </a:p>
          <a:p>
            <a:r>
              <a:rPr lang="en-US" sz="2400" dirty="0">
                <a:latin typeface="US Army" panose="020B0506030202020204"/>
              </a:rPr>
              <a:t>Keep batches of work small to avoid blockers.</a:t>
            </a:r>
          </a:p>
          <a:p>
            <a:endParaRPr lang="en-US" sz="2400" dirty="0">
              <a:latin typeface="US Army" panose="020B0506030202020204"/>
            </a:endParaRPr>
          </a:p>
          <a:p>
            <a:r>
              <a:rPr lang="en-US" sz="2400" b="1" dirty="0">
                <a:latin typeface="US Army" panose="020B0506030202020204"/>
              </a:rPr>
              <a:t>Establish Pull</a:t>
            </a:r>
          </a:p>
          <a:p>
            <a:r>
              <a:rPr lang="en-US" sz="2400" dirty="0">
                <a:latin typeface="US Army" panose="020B0506030202020204"/>
              </a:rPr>
              <a:t>Only eat when you’re hungry.</a:t>
            </a:r>
          </a:p>
        </p:txBody>
      </p:sp>
    </p:spTree>
    <p:extLst>
      <p:ext uri="{BB962C8B-B14F-4D97-AF65-F5344CB8AC3E}">
        <p14:creationId xmlns:p14="http://schemas.microsoft.com/office/powerpoint/2010/main" val="3444391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F0026-E50E-364C-1130-2B1BD195CD2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FEA68E8-6499-141D-DE55-7B3A8E4F0E70}"/>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Lean</a:t>
            </a:r>
            <a:endParaRPr lang="en-US" dirty="0"/>
          </a:p>
        </p:txBody>
      </p:sp>
      <p:pic>
        <p:nvPicPr>
          <p:cNvPr id="1032" name="Picture 8" descr="The Zube Blog">
            <a:extLst>
              <a:ext uri="{FF2B5EF4-FFF2-40B4-BE49-F238E27FC236}">
                <a16:creationId xmlns:a16="http://schemas.microsoft.com/office/drawing/2014/main" id="{4E5E3766-474A-A9DF-3276-87664B3128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72" t="11536" r="2393"/>
          <a:stretch>
            <a:fillRect/>
          </a:stretch>
        </p:blipFill>
        <p:spPr bwMode="auto">
          <a:xfrm>
            <a:off x="4326468" y="1325563"/>
            <a:ext cx="7263379" cy="4505278"/>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B42D271-9B24-52F2-1F5D-4389C7E0732A}"/>
              </a:ext>
            </a:extLst>
          </p:cNvPr>
          <p:cNvSpPr txBox="1"/>
          <p:nvPr/>
        </p:nvSpPr>
        <p:spPr>
          <a:xfrm>
            <a:off x="838200" y="1577263"/>
            <a:ext cx="3225800" cy="1938992"/>
          </a:xfrm>
          <a:prstGeom prst="rect">
            <a:avLst/>
          </a:prstGeom>
          <a:noFill/>
        </p:spPr>
        <p:txBody>
          <a:bodyPr wrap="square" rtlCol="0">
            <a:spAutoFit/>
          </a:bodyPr>
          <a:lstStyle/>
          <a:p>
            <a:r>
              <a:rPr lang="en-US" sz="2400" dirty="0">
                <a:latin typeface="US Army" panose="020B0506030202020204"/>
              </a:rPr>
              <a:t>How many pieces of work can our value stream handle before one of our work centers are overwhelmed?</a:t>
            </a:r>
          </a:p>
        </p:txBody>
      </p:sp>
      <p:sp>
        <p:nvSpPr>
          <p:cNvPr id="11" name="TextBox 10">
            <a:extLst>
              <a:ext uri="{FF2B5EF4-FFF2-40B4-BE49-F238E27FC236}">
                <a16:creationId xmlns:a16="http://schemas.microsoft.com/office/drawing/2014/main" id="{444392FD-3366-AA43-1724-9BE3B6E6F11E}"/>
              </a:ext>
            </a:extLst>
          </p:cNvPr>
          <p:cNvSpPr txBox="1"/>
          <p:nvPr/>
        </p:nvSpPr>
        <p:spPr>
          <a:xfrm>
            <a:off x="4827412" y="589581"/>
            <a:ext cx="929921" cy="461665"/>
          </a:xfrm>
          <a:prstGeom prst="rect">
            <a:avLst/>
          </a:prstGeom>
          <a:solidFill>
            <a:srgbClr val="00B050"/>
          </a:solidFill>
          <a:ln w="28575">
            <a:solidFill>
              <a:schemeClr val="tx1"/>
            </a:solidFill>
          </a:ln>
        </p:spPr>
        <p:txBody>
          <a:bodyPr wrap="square" rtlCol="0">
            <a:spAutoFit/>
          </a:bodyPr>
          <a:lstStyle/>
          <a:p>
            <a:pPr algn="ctr"/>
            <a:r>
              <a:rPr lang="en-US" sz="2400" b="1" dirty="0">
                <a:latin typeface="US Army" panose="020B0506030202020204"/>
              </a:rPr>
              <a:t>5/10</a:t>
            </a:r>
          </a:p>
        </p:txBody>
      </p:sp>
      <p:sp>
        <p:nvSpPr>
          <p:cNvPr id="12" name="TextBox 11">
            <a:extLst>
              <a:ext uri="{FF2B5EF4-FFF2-40B4-BE49-F238E27FC236}">
                <a16:creationId xmlns:a16="http://schemas.microsoft.com/office/drawing/2014/main" id="{31CBC9FF-7A9C-216E-8157-608EE9B3EDC6}"/>
              </a:ext>
            </a:extLst>
          </p:cNvPr>
          <p:cNvSpPr txBox="1"/>
          <p:nvPr/>
        </p:nvSpPr>
        <p:spPr>
          <a:xfrm>
            <a:off x="6604003" y="589580"/>
            <a:ext cx="929921" cy="461665"/>
          </a:xfrm>
          <a:prstGeom prst="rect">
            <a:avLst/>
          </a:prstGeom>
          <a:solidFill>
            <a:srgbClr val="FFC000"/>
          </a:solidFill>
          <a:ln w="28575">
            <a:solidFill>
              <a:schemeClr val="tx1"/>
            </a:solidFill>
          </a:ln>
        </p:spPr>
        <p:txBody>
          <a:bodyPr wrap="square" rtlCol="0">
            <a:spAutoFit/>
          </a:bodyPr>
          <a:lstStyle/>
          <a:p>
            <a:pPr algn="ctr"/>
            <a:r>
              <a:rPr lang="en-US" sz="2400" b="1" dirty="0">
                <a:latin typeface="US Army" panose="020B0506030202020204"/>
              </a:rPr>
              <a:t>8/10</a:t>
            </a:r>
          </a:p>
        </p:txBody>
      </p:sp>
      <p:sp>
        <p:nvSpPr>
          <p:cNvPr id="13" name="TextBox 12">
            <a:extLst>
              <a:ext uri="{FF2B5EF4-FFF2-40B4-BE49-F238E27FC236}">
                <a16:creationId xmlns:a16="http://schemas.microsoft.com/office/drawing/2014/main" id="{EE50E01D-CE54-8A3C-FDE8-572D272C0240}"/>
              </a:ext>
            </a:extLst>
          </p:cNvPr>
          <p:cNvSpPr txBox="1"/>
          <p:nvPr/>
        </p:nvSpPr>
        <p:spPr>
          <a:xfrm>
            <a:off x="8380594" y="589579"/>
            <a:ext cx="929921" cy="461665"/>
          </a:xfrm>
          <a:prstGeom prst="rect">
            <a:avLst/>
          </a:prstGeom>
          <a:solidFill>
            <a:srgbClr val="FF0000"/>
          </a:solidFill>
          <a:ln w="28575">
            <a:solidFill>
              <a:schemeClr val="tx1"/>
            </a:solidFill>
          </a:ln>
        </p:spPr>
        <p:txBody>
          <a:bodyPr wrap="square" rtlCol="0">
            <a:spAutoFit/>
          </a:bodyPr>
          <a:lstStyle/>
          <a:p>
            <a:pPr algn="ctr"/>
            <a:r>
              <a:rPr lang="en-US" sz="2400" b="1" dirty="0">
                <a:solidFill>
                  <a:schemeClr val="bg1"/>
                </a:solidFill>
                <a:latin typeface="US Army" panose="020B0506030202020204"/>
              </a:rPr>
              <a:t>3/2</a:t>
            </a:r>
          </a:p>
        </p:txBody>
      </p:sp>
      <p:sp>
        <p:nvSpPr>
          <p:cNvPr id="14" name="TextBox 13">
            <a:extLst>
              <a:ext uri="{FF2B5EF4-FFF2-40B4-BE49-F238E27FC236}">
                <a16:creationId xmlns:a16="http://schemas.microsoft.com/office/drawing/2014/main" id="{728F693A-A739-1169-E096-60940F8DC04D}"/>
              </a:ext>
            </a:extLst>
          </p:cNvPr>
          <p:cNvSpPr txBox="1"/>
          <p:nvPr/>
        </p:nvSpPr>
        <p:spPr>
          <a:xfrm>
            <a:off x="10188233" y="589578"/>
            <a:ext cx="929921" cy="461665"/>
          </a:xfrm>
          <a:prstGeom prst="rect">
            <a:avLst/>
          </a:prstGeom>
          <a:solidFill>
            <a:srgbClr val="00B050"/>
          </a:solidFill>
          <a:ln w="28575">
            <a:solidFill>
              <a:schemeClr val="tx1"/>
            </a:solidFill>
          </a:ln>
        </p:spPr>
        <p:txBody>
          <a:bodyPr wrap="square" rtlCol="0">
            <a:spAutoFit/>
          </a:bodyPr>
          <a:lstStyle/>
          <a:p>
            <a:pPr algn="ctr"/>
            <a:r>
              <a:rPr lang="en-US" sz="2400" b="1" dirty="0">
                <a:latin typeface="US Army" panose="020B0506030202020204"/>
              </a:rPr>
              <a:t>5/10</a:t>
            </a:r>
          </a:p>
        </p:txBody>
      </p:sp>
    </p:spTree>
    <p:extLst>
      <p:ext uri="{BB962C8B-B14F-4D97-AF65-F5344CB8AC3E}">
        <p14:creationId xmlns:p14="http://schemas.microsoft.com/office/powerpoint/2010/main" val="957345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CA6D-6F29-DCFF-7DD1-CAD42A48C70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E4010CF-0B04-A52E-5D22-DD19795C5B85}"/>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Agile</a:t>
            </a:r>
            <a:endParaRPr lang="en-US" dirty="0"/>
          </a:p>
        </p:txBody>
      </p:sp>
      <p:graphicFrame>
        <p:nvGraphicFramePr>
          <p:cNvPr id="4" name="Diagram 3">
            <a:extLst>
              <a:ext uri="{FF2B5EF4-FFF2-40B4-BE49-F238E27FC236}">
                <a16:creationId xmlns:a16="http://schemas.microsoft.com/office/drawing/2014/main" id="{01487E81-3910-BBFB-5825-BE29B01E27A7}"/>
              </a:ext>
            </a:extLst>
          </p:cNvPr>
          <p:cNvGraphicFramePr/>
          <p:nvPr>
            <p:extLst>
              <p:ext uri="{D42A27DB-BD31-4B8C-83A1-F6EECF244321}">
                <p14:modId xmlns:p14="http://schemas.microsoft.com/office/powerpoint/2010/main" val="945252113"/>
              </p:ext>
            </p:extLst>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8" descr="41,400+ Isometric People Computer Stock Photos, Pictures &amp; Royalty-Free  Images - iStock | Computer illustration">
            <a:extLst>
              <a:ext uri="{FF2B5EF4-FFF2-40B4-BE49-F238E27FC236}">
                <a16:creationId xmlns:a16="http://schemas.microsoft.com/office/drawing/2014/main" id="{BE9EDD5B-12C3-8D7D-7768-4B35DE9D7D75}"/>
              </a:ext>
            </a:extLst>
          </p:cNvPr>
          <p:cNvPicPr>
            <a:picLocks noChangeAspect="1" noChangeArrowheads="1"/>
          </p:cNvPicPr>
          <p:nvPr/>
        </p:nvPicPr>
        <p:blipFill rotWithShape="1">
          <a:blip r:embed="rId8">
            <a:grayscl/>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F5FA8A8A-C143-A820-55D2-5C150A7E6F1F}"/>
              </a:ext>
            </a:extLst>
          </p:cNvPr>
          <p:cNvPicPr>
            <a:picLocks noChangeAspect="1" noChangeArrowheads="1"/>
          </p:cNvPicPr>
          <p:nvPr/>
        </p:nvPicPr>
        <p:blipFill rotWithShape="1">
          <a:blip r:embed="rId10">
            <a:grayscl/>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8F875704-163E-4DF1-0A86-774CEB6ED707}"/>
              </a:ext>
            </a:extLst>
          </p:cNvPr>
          <p:cNvPicPr>
            <a:picLocks noChangeAspect="1" noChangeArrowheads="1"/>
          </p:cNvPicPr>
          <p:nvPr/>
        </p:nvPicPr>
        <p:blipFill rotWithShape="1">
          <a:blip r:embed="rId12">
            <a:grayscl/>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8ABA52F-06AB-4448-7574-B7A8F2201783}"/>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sp>
        <p:nvSpPr>
          <p:cNvPr id="12" name="TextBox 11">
            <a:extLst>
              <a:ext uri="{FF2B5EF4-FFF2-40B4-BE49-F238E27FC236}">
                <a16:creationId xmlns:a16="http://schemas.microsoft.com/office/drawing/2014/main" id="{FC47BCF8-296E-3550-DF3D-5F3F245AC7D4}"/>
              </a:ext>
            </a:extLst>
          </p:cNvPr>
          <p:cNvSpPr txBox="1"/>
          <p:nvPr/>
        </p:nvSpPr>
        <p:spPr>
          <a:xfrm>
            <a:off x="838200" y="1577263"/>
            <a:ext cx="6109308" cy="3416320"/>
          </a:xfrm>
          <a:prstGeom prst="rect">
            <a:avLst/>
          </a:prstGeom>
          <a:noFill/>
        </p:spPr>
        <p:txBody>
          <a:bodyPr wrap="square" rtlCol="0">
            <a:spAutoFit/>
          </a:bodyPr>
          <a:lstStyle/>
          <a:p>
            <a:r>
              <a:rPr lang="en-US" sz="2400" dirty="0">
                <a:latin typeface="US Army" panose="020B0506030202020204"/>
              </a:rPr>
              <a:t>A software development methodology focused on </a:t>
            </a:r>
            <a:r>
              <a:rPr lang="en-US" sz="2400" dirty="0">
                <a:solidFill>
                  <a:srgbClr val="FF0000"/>
                </a:solidFill>
                <a:latin typeface="US Army" panose="020B0506030202020204"/>
              </a:rPr>
              <a:t>delivering value to the customer rapidly.</a:t>
            </a:r>
          </a:p>
          <a:p>
            <a:pPr marL="342900" indent="-342900">
              <a:buFont typeface="Arial" panose="020B0604020202020204" pitchFamily="34" charset="0"/>
              <a:buChar char="•"/>
            </a:pPr>
            <a:r>
              <a:rPr lang="en-US" sz="2400" dirty="0">
                <a:latin typeface="US Army" panose="020B0506030202020204"/>
              </a:rPr>
              <a:t>Individuals and interactions over processes and tools</a:t>
            </a:r>
          </a:p>
          <a:p>
            <a:pPr marL="342900" indent="-342900">
              <a:buFont typeface="Arial" panose="020B0604020202020204" pitchFamily="34" charset="0"/>
              <a:buChar char="•"/>
            </a:pPr>
            <a:r>
              <a:rPr lang="en-US" sz="2400" dirty="0">
                <a:latin typeface="US Army" panose="020B0506030202020204"/>
              </a:rPr>
              <a:t>Working software over comprehensive documentation</a:t>
            </a:r>
          </a:p>
          <a:p>
            <a:pPr marL="342900" indent="-342900">
              <a:buFont typeface="Arial" panose="020B0604020202020204" pitchFamily="34" charset="0"/>
              <a:buChar char="•"/>
            </a:pPr>
            <a:r>
              <a:rPr lang="en-US" sz="2400" dirty="0">
                <a:latin typeface="US Army" panose="020B0506030202020204"/>
              </a:rPr>
              <a:t>Customer collaboration over contract negotiation</a:t>
            </a:r>
          </a:p>
          <a:p>
            <a:pPr marL="342900" indent="-342900">
              <a:buFont typeface="Arial" panose="020B0604020202020204" pitchFamily="34" charset="0"/>
              <a:buChar char="•"/>
            </a:pPr>
            <a:r>
              <a:rPr lang="en-US" sz="2400" dirty="0">
                <a:latin typeface="US Army" panose="020B0506030202020204"/>
              </a:rPr>
              <a:t>Responding to change over following a plan</a:t>
            </a:r>
            <a:endParaRPr lang="en-US" sz="3200" dirty="0">
              <a:latin typeface="US Army" panose="020B0506030202020204"/>
            </a:endParaRPr>
          </a:p>
        </p:txBody>
      </p:sp>
    </p:spTree>
    <p:extLst>
      <p:ext uri="{BB962C8B-B14F-4D97-AF65-F5344CB8AC3E}">
        <p14:creationId xmlns:p14="http://schemas.microsoft.com/office/powerpoint/2010/main" val="2286974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7C46D-2F88-5D02-9FAB-4EC27BF6C68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24C258-E0AE-41A0-69A2-33BF8CE63BD6}"/>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Agile</a:t>
            </a:r>
            <a:endParaRPr lang="en-US" dirty="0"/>
          </a:p>
        </p:txBody>
      </p:sp>
      <p:pic>
        <p:nvPicPr>
          <p:cNvPr id="3" name="Picture 4" descr="Agile vs Waterfall Differences in Software Development Methodologies –  Yodiz Project Management Blog">
            <a:extLst>
              <a:ext uri="{FF2B5EF4-FFF2-40B4-BE49-F238E27FC236}">
                <a16:creationId xmlns:a16="http://schemas.microsoft.com/office/drawing/2014/main" id="{75F48AC0-78E6-1D00-55A8-DBAA9DD627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79" t="58278" r="2262" b="1380"/>
          <a:stretch>
            <a:fillRect/>
          </a:stretch>
        </p:blipFill>
        <p:spPr bwMode="auto">
          <a:xfrm>
            <a:off x="634413" y="3628720"/>
            <a:ext cx="6107723" cy="276664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gile vs Waterfall Differences in Software Development Methodologies –  Yodiz Project Management Blog">
            <a:extLst>
              <a:ext uri="{FF2B5EF4-FFF2-40B4-BE49-F238E27FC236}">
                <a16:creationId xmlns:a16="http://schemas.microsoft.com/office/drawing/2014/main" id="{FB013479-774C-FA70-81AE-40053B4F06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79" t="22393" r="2262" b="52662"/>
          <a:stretch>
            <a:fillRect/>
          </a:stretch>
        </p:blipFill>
        <p:spPr bwMode="auto">
          <a:xfrm>
            <a:off x="4227537" y="862074"/>
            <a:ext cx="7302109" cy="20452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EA23014-7F2A-6D42-9C9B-AD6DBCB66019}"/>
              </a:ext>
            </a:extLst>
          </p:cNvPr>
          <p:cNvSpPr txBox="1"/>
          <p:nvPr/>
        </p:nvSpPr>
        <p:spPr>
          <a:xfrm>
            <a:off x="2001714" y="3167055"/>
            <a:ext cx="3053862" cy="461665"/>
          </a:xfrm>
          <a:prstGeom prst="rect">
            <a:avLst/>
          </a:prstGeom>
          <a:noFill/>
        </p:spPr>
        <p:txBody>
          <a:bodyPr wrap="square" rtlCol="0">
            <a:spAutoFit/>
          </a:bodyPr>
          <a:lstStyle/>
          <a:p>
            <a:r>
              <a:rPr lang="en-US" sz="2400" dirty="0">
                <a:latin typeface="US Army" panose="020B0506030202020204"/>
              </a:rPr>
              <a:t>Waterfall Methodology </a:t>
            </a:r>
            <a:endParaRPr lang="en-US" sz="3200" dirty="0">
              <a:latin typeface="US Army" panose="020B0506030202020204"/>
            </a:endParaRPr>
          </a:p>
        </p:txBody>
      </p:sp>
      <p:sp>
        <p:nvSpPr>
          <p:cNvPr id="10" name="TextBox 9">
            <a:extLst>
              <a:ext uri="{FF2B5EF4-FFF2-40B4-BE49-F238E27FC236}">
                <a16:creationId xmlns:a16="http://schemas.microsoft.com/office/drawing/2014/main" id="{21AA1FED-1CF9-993E-C335-5BFCBFFE8FAD}"/>
              </a:ext>
            </a:extLst>
          </p:cNvPr>
          <p:cNvSpPr txBox="1"/>
          <p:nvPr/>
        </p:nvSpPr>
        <p:spPr>
          <a:xfrm>
            <a:off x="6351660" y="400409"/>
            <a:ext cx="3053862" cy="461665"/>
          </a:xfrm>
          <a:prstGeom prst="rect">
            <a:avLst/>
          </a:prstGeom>
          <a:noFill/>
        </p:spPr>
        <p:txBody>
          <a:bodyPr wrap="square" rtlCol="0">
            <a:spAutoFit/>
          </a:bodyPr>
          <a:lstStyle/>
          <a:p>
            <a:r>
              <a:rPr lang="en-US" sz="2400" dirty="0">
                <a:latin typeface="US Army" panose="020B0506030202020204"/>
              </a:rPr>
              <a:t>Agile Methodology</a:t>
            </a:r>
            <a:endParaRPr lang="en-US" sz="3200" dirty="0">
              <a:latin typeface="US Army" panose="020B0506030202020204"/>
            </a:endParaRPr>
          </a:p>
        </p:txBody>
      </p:sp>
    </p:spTree>
    <p:extLst>
      <p:ext uri="{BB962C8B-B14F-4D97-AF65-F5344CB8AC3E}">
        <p14:creationId xmlns:p14="http://schemas.microsoft.com/office/powerpoint/2010/main" val="2827953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1D314-92FE-F96E-05E1-641756824756}"/>
            </a:ext>
          </a:extLst>
        </p:cNvPr>
        <p:cNvGrpSpPr/>
        <p:nvPr/>
      </p:nvGrpSpPr>
      <p:grpSpPr>
        <a:xfrm>
          <a:off x="0" y="0"/>
          <a:ext cx="0" cy="0"/>
          <a:chOff x="0" y="0"/>
          <a:chExt cx="0" cy="0"/>
        </a:xfrm>
      </p:grpSpPr>
      <p:pic>
        <p:nvPicPr>
          <p:cNvPr id="4098" name="Picture 2" descr="Waterfall Vs #Agile Vs #AI Vs #VibeCoding #nrsharing | Naveed Ramzan">
            <a:extLst>
              <a:ext uri="{FF2B5EF4-FFF2-40B4-BE49-F238E27FC236}">
                <a16:creationId xmlns:a16="http://schemas.microsoft.com/office/drawing/2014/main" id="{146D5FA3-846E-8C61-B8F3-2A02C3BB7C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30"/>
          <a:stretch>
            <a:fillRect/>
          </a:stretch>
        </p:blipFill>
        <p:spPr bwMode="auto">
          <a:xfrm>
            <a:off x="3011793" y="378767"/>
            <a:ext cx="6168414" cy="6100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109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B017-F2A2-72CD-D44F-FFE1632DBCF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AE42CBD-14C5-9589-FADE-FFB1E5874F05}"/>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DevSecOps</a:t>
            </a:r>
            <a:endParaRPr lang="en-US" dirty="0"/>
          </a:p>
        </p:txBody>
      </p:sp>
      <p:sp>
        <p:nvSpPr>
          <p:cNvPr id="3" name="TextBox 2">
            <a:extLst>
              <a:ext uri="{FF2B5EF4-FFF2-40B4-BE49-F238E27FC236}">
                <a16:creationId xmlns:a16="http://schemas.microsoft.com/office/drawing/2014/main" id="{233F4FA5-F351-BF5C-2466-1CFEC4AA6E46}"/>
              </a:ext>
            </a:extLst>
          </p:cNvPr>
          <p:cNvSpPr txBox="1"/>
          <p:nvPr/>
        </p:nvSpPr>
        <p:spPr>
          <a:xfrm>
            <a:off x="838199" y="1577263"/>
            <a:ext cx="5690661" cy="3046988"/>
          </a:xfrm>
          <a:prstGeom prst="rect">
            <a:avLst/>
          </a:prstGeom>
          <a:noFill/>
        </p:spPr>
        <p:txBody>
          <a:bodyPr wrap="square" rtlCol="0">
            <a:spAutoFit/>
          </a:bodyPr>
          <a:lstStyle/>
          <a:p>
            <a:r>
              <a:rPr lang="en-US" sz="2400" dirty="0">
                <a:latin typeface="US Army" panose="020B0506030202020204"/>
              </a:rPr>
              <a:t>DevSecOps is the result of applying principles from physical manufacturing and leadership domains to your software development value stream.</a:t>
            </a:r>
          </a:p>
          <a:p>
            <a:endParaRPr lang="en-US" sz="2400" dirty="0">
              <a:latin typeface="US Army" panose="020B0506030202020204"/>
            </a:endParaRPr>
          </a:p>
          <a:p>
            <a:pPr marL="342900" indent="-342900">
              <a:buFont typeface="Arial" panose="020B0604020202020204" pitchFamily="34" charset="0"/>
              <a:buChar char="•"/>
            </a:pPr>
            <a:r>
              <a:rPr lang="en-US" sz="2400" dirty="0">
                <a:solidFill>
                  <a:srgbClr val="FF0000"/>
                </a:solidFill>
                <a:latin typeface="US Army" panose="020B0506030202020204"/>
              </a:rPr>
              <a:t>Making work easier for the workers</a:t>
            </a:r>
          </a:p>
          <a:p>
            <a:pPr marL="342900" indent="-342900">
              <a:buFont typeface="Arial" panose="020B0604020202020204" pitchFamily="34" charset="0"/>
              <a:buChar char="•"/>
            </a:pPr>
            <a:r>
              <a:rPr lang="en-US" sz="2400" dirty="0">
                <a:solidFill>
                  <a:srgbClr val="FF0000"/>
                </a:solidFill>
                <a:latin typeface="US Army" panose="020B0506030202020204"/>
              </a:rPr>
              <a:t>Maximizing value while minimizing waste</a:t>
            </a:r>
          </a:p>
          <a:p>
            <a:pPr marL="342900" indent="-342900">
              <a:buFont typeface="Arial" panose="020B0604020202020204" pitchFamily="34" charset="0"/>
              <a:buChar char="•"/>
            </a:pPr>
            <a:r>
              <a:rPr lang="en-US" sz="2400" dirty="0">
                <a:solidFill>
                  <a:srgbClr val="FF0000"/>
                </a:solidFill>
                <a:latin typeface="US Army" panose="020B0506030202020204"/>
              </a:rPr>
              <a:t>Delivering value to the customer rapidly</a:t>
            </a:r>
          </a:p>
        </p:txBody>
      </p:sp>
      <p:graphicFrame>
        <p:nvGraphicFramePr>
          <p:cNvPr id="5" name="Diagram 4">
            <a:extLst>
              <a:ext uri="{FF2B5EF4-FFF2-40B4-BE49-F238E27FC236}">
                <a16:creationId xmlns:a16="http://schemas.microsoft.com/office/drawing/2014/main" id="{FA5DCF53-0020-94C1-F421-AE7E1CCF2B51}"/>
              </a:ext>
            </a:extLst>
          </p:cNvPr>
          <p:cNvGraphicFramePr/>
          <p:nvPr>
            <p:extLst>
              <p:ext uri="{D42A27DB-BD31-4B8C-83A1-F6EECF244321}">
                <p14:modId xmlns:p14="http://schemas.microsoft.com/office/powerpoint/2010/main" val="643473007"/>
              </p:ext>
            </p:extLst>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8" descr="41,400+ Isometric People Computer Stock Photos, Pictures &amp; Royalty-Free  Images - iStock | Computer illustration">
            <a:extLst>
              <a:ext uri="{FF2B5EF4-FFF2-40B4-BE49-F238E27FC236}">
                <a16:creationId xmlns:a16="http://schemas.microsoft.com/office/drawing/2014/main" id="{E1EAD647-1B5E-3575-78FA-54EEF4AD9F2C}"/>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1,248 River Isometric View Stock Vectors and Vector Art | Shutterstock">
            <a:extLst>
              <a:ext uri="{FF2B5EF4-FFF2-40B4-BE49-F238E27FC236}">
                <a16:creationId xmlns:a16="http://schemas.microsoft.com/office/drawing/2014/main" id="{B01B9D53-410A-C68E-1DBC-E24D7BCE4ACB}"/>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41,400+ Isometric People Computer Stock Photos, Pictures &amp; Royalty-Free  Images - iStock | Computer illustration">
            <a:extLst>
              <a:ext uri="{FF2B5EF4-FFF2-40B4-BE49-F238E27FC236}">
                <a16:creationId xmlns:a16="http://schemas.microsoft.com/office/drawing/2014/main" id="{4AB1C399-AF88-BC59-479B-77259528586A}"/>
              </a:ext>
            </a:extLst>
          </p:cNvPr>
          <p:cNvPicPr>
            <a:picLocks noChangeAspect="1" noChangeArrowheads="1"/>
          </p:cNvPicPr>
          <p:nvPr/>
        </p:nvPicPr>
        <p:blipFill rotWithShape="1">
          <a:blip r:embed="rId12">
            <a:extLst>
              <a:ext uri="{BEBA8EAE-BF5A-486C-A8C5-ECC9F3942E4B}">
                <a14:imgProps xmlns:a14="http://schemas.microsoft.com/office/drawing/2010/main">
                  <a14:imgLayer r:embed="rId9">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811C1963-B479-0319-8E43-93915FB9DEEA}"/>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spTree>
    <p:extLst>
      <p:ext uri="{BB962C8B-B14F-4D97-AF65-F5344CB8AC3E}">
        <p14:creationId xmlns:p14="http://schemas.microsoft.com/office/powerpoint/2010/main" val="1169351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05025-DE0F-4D73-27FA-156483A622D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B017693-6D16-E5FA-7078-65F70A38DA0D}"/>
              </a:ext>
            </a:extLst>
          </p:cNvPr>
          <p:cNvGraphicFramePr>
            <a:graphicFrameLocks noGrp="1"/>
          </p:cNvGraphicFramePr>
          <p:nvPr>
            <p:extLst>
              <p:ext uri="{D42A27DB-BD31-4B8C-83A1-F6EECF244321}">
                <p14:modId xmlns:p14="http://schemas.microsoft.com/office/powerpoint/2010/main" val="876185988"/>
              </p:ext>
            </p:extLst>
          </p:nvPr>
        </p:nvGraphicFramePr>
        <p:xfrm>
          <a:off x="958780" y="4980940"/>
          <a:ext cx="7010400" cy="1188720"/>
        </p:xfrm>
        <a:graphic>
          <a:graphicData uri="http://schemas.openxmlformats.org/drawingml/2006/table">
            <a:tbl>
              <a:tblPr firstRow="1" bandRow="1">
                <a:tableStyleId>{5C22544A-7EE6-4342-B048-85BDC9FD1C3A}</a:tableStyleId>
              </a:tblPr>
              <a:tblGrid>
                <a:gridCol w="2960077">
                  <a:extLst>
                    <a:ext uri="{9D8B030D-6E8A-4147-A177-3AD203B41FA5}">
                      <a16:colId xmlns:a16="http://schemas.microsoft.com/office/drawing/2014/main" val="2425257600"/>
                    </a:ext>
                  </a:extLst>
                </a:gridCol>
                <a:gridCol w="4050323">
                  <a:extLst>
                    <a:ext uri="{9D8B030D-6E8A-4147-A177-3AD203B41FA5}">
                      <a16:colId xmlns:a16="http://schemas.microsoft.com/office/drawing/2014/main" val="363261720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US Army" panose="020B0506030202020204"/>
                        </a:rPr>
                        <a:t>The Third Way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1" dirty="0">
                          <a:solidFill>
                            <a:schemeClr val="tx1"/>
                          </a:solidFill>
                          <a:latin typeface="US Army" panose="020B0506030202020204"/>
                        </a:rPr>
                        <a:t>the principles of continuous learning and experimentation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US Army" panose="020B0506030202020204"/>
                        </a:rPr>
                        <a:t>Promote a high-trust culture that supports a dynamic, disciplined, and scientific approach to experimentation to innovate faster.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576151"/>
                  </a:ext>
                </a:extLst>
              </a:tr>
            </a:tbl>
          </a:graphicData>
        </a:graphic>
      </p:graphicFrame>
      <p:sp>
        <p:nvSpPr>
          <p:cNvPr id="3" name="Title 1">
            <a:extLst>
              <a:ext uri="{FF2B5EF4-FFF2-40B4-BE49-F238E27FC236}">
                <a16:creationId xmlns:a16="http://schemas.microsoft.com/office/drawing/2014/main" id="{2D9A8376-A108-2D2D-3043-B19D78F1BA17}"/>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DevSecOps</a:t>
            </a:r>
            <a:endParaRPr lang="en-US" dirty="0"/>
          </a:p>
        </p:txBody>
      </p:sp>
      <p:graphicFrame>
        <p:nvGraphicFramePr>
          <p:cNvPr id="5" name="Table 4">
            <a:extLst>
              <a:ext uri="{FF2B5EF4-FFF2-40B4-BE49-F238E27FC236}">
                <a16:creationId xmlns:a16="http://schemas.microsoft.com/office/drawing/2014/main" id="{1D6F5E25-8904-D593-8497-3E2770DFB050}"/>
              </a:ext>
            </a:extLst>
          </p:cNvPr>
          <p:cNvGraphicFramePr>
            <a:graphicFrameLocks noGrp="1"/>
          </p:cNvGraphicFramePr>
          <p:nvPr>
            <p:extLst>
              <p:ext uri="{D42A27DB-BD31-4B8C-83A1-F6EECF244321}">
                <p14:modId xmlns:p14="http://schemas.microsoft.com/office/powerpoint/2010/main" val="2043371411"/>
              </p:ext>
            </p:extLst>
          </p:nvPr>
        </p:nvGraphicFramePr>
        <p:xfrm>
          <a:off x="8485834" y="1417320"/>
          <a:ext cx="2586612" cy="1463040"/>
        </p:xfrm>
        <a:graphic>
          <a:graphicData uri="http://schemas.openxmlformats.org/drawingml/2006/table">
            <a:tbl>
              <a:tblPr firstRow="1" bandRow="1">
                <a:tableStyleId>{5C22544A-7EE6-4342-B048-85BDC9FD1C3A}</a:tableStyleId>
              </a:tblPr>
              <a:tblGrid>
                <a:gridCol w="2586612">
                  <a:extLst>
                    <a:ext uri="{9D8B030D-6E8A-4147-A177-3AD203B41FA5}">
                      <a16:colId xmlns:a16="http://schemas.microsoft.com/office/drawing/2014/main" val="220079530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US Army" panose="020B0506030202020204"/>
                        </a:rPr>
                        <a:t>Continuous Test</a:t>
                      </a:r>
                    </a:p>
                    <a:p>
                      <a:r>
                        <a:rPr lang="en-US" b="0" dirty="0">
                          <a:solidFill>
                            <a:schemeClr val="tx1"/>
                          </a:solidFill>
                          <a:latin typeface="US Army" panose="020B0506030202020204"/>
                        </a:rPr>
                        <a:t>Continuous Build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US Army" panose="020B0506030202020204"/>
                        </a:rPr>
                        <a:t>Continuous Integration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US Army" panose="020B0506030202020204"/>
                        </a:rPr>
                        <a:t>Continuous Delivery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US Army" panose="020B0506030202020204"/>
                        </a:rPr>
                        <a:t>Continuous Deployment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9182432"/>
                  </a:ext>
                </a:extLst>
              </a:tr>
            </a:tbl>
          </a:graphicData>
        </a:graphic>
      </p:graphicFrame>
      <p:graphicFrame>
        <p:nvGraphicFramePr>
          <p:cNvPr id="6" name="Table 5">
            <a:extLst>
              <a:ext uri="{FF2B5EF4-FFF2-40B4-BE49-F238E27FC236}">
                <a16:creationId xmlns:a16="http://schemas.microsoft.com/office/drawing/2014/main" id="{192A21E4-4808-CDA0-BC12-F70CA0785731}"/>
              </a:ext>
            </a:extLst>
          </p:cNvPr>
          <p:cNvGraphicFramePr>
            <a:graphicFrameLocks noGrp="1"/>
          </p:cNvGraphicFramePr>
          <p:nvPr>
            <p:extLst>
              <p:ext uri="{D42A27DB-BD31-4B8C-83A1-F6EECF244321}">
                <p14:modId xmlns:p14="http://schemas.microsoft.com/office/powerpoint/2010/main" val="1441429040"/>
              </p:ext>
            </p:extLst>
          </p:nvPr>
        </p:nvGraphicFramePr>
        <p:xfrm>
          <a:off x="958780" y="2993390"/>
          <a:ext cx="7010400" cy="1737360"/>
        </p:xfrm>
        <a:graphic>
          <a:graphicData uri="http://schemas.openxmlformats.org/drawingml/2006/table">
            <a:tbl>
              <a:tblPr firstRow="1" bandRow="1">
                <a:tableStyleId>{5C22544A-7EE6-4342-B048-85BDC9FD1C3A}</a:tableStyleId>
              </a:tblPr>
              <a:tblGrid>
                <a:gridCol w="2960077">
                  <a:extLst>
                    <a:ext uri="{9D8B030D-6E8A-4147-A177-3AD203B41FA5}">
                      <a16:colId xmlns:a16="http://schemas.microsoft.com/office/drawing/2014/main" val="2425257600"/>
                    </a:ext>
                  </a:extLst>
                </a:gridCol>
                <a:gridCol w="4050323">
                  <a:extLst>
                    <a:ext uri="{9D8B030D-6E8A-4147-A177-3AD203B41FA5}">
                      <a16:colId xmlns:a16="http://schemas.microsoft.com/office/drawing/2014/main" val="363261720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US Army" panose="020B0506030202020204"/>
                        </a:rPr>
                        <a:t>The Second Way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1" dirty="0">
                          <a:solidFill>
                            <a:schemeClr val="tx1"/>
                          </a:solidFill>
                          <a:latin typeface="US Army" panose="020B0506030202020204"/>
                        </a:rPr>
                        <a:t>the principles of feedback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US Army" panose="020B0506030202020204"/>
                        </a:rPr>
                        <a:t>Shorten the feedback loop between you and your deployment environment to reduce the time detect/recover of problems.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latin typeface="US Army" panose="020B050603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US Army" panose="020B0506030202020204"/>
                        </a:rPr>
                        <a:t>Amplify feedback as it’s received.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8503352"/>
                  </a:ext>
                </a:extLst>
              </a:tr>
            </a:tbl>
          </a:graphicData>
        </a:graphic>
      </p:graphicFrame>
      <p:graphicFrame>
        <p:nvGraphicFramePr>
          <p:cNvPr id="7" name="Table 6">
            <a:extLst>
              <a:ext uri="{FF2B5EF4-FFF2-40B4-BE49-F238E27FC236}">
                <a16:creationId xmlns:a16="http://schemas.microsoft.com/office/drawing/2014/main" id="{7FD785E5-5022-40A4-86D0-C6B13B1C797A}"/>
              </a:ext>
            </a:extLst>
          </p:cNvPr>
          <p:cNvGraphicFramePr>
            <a:graphicFrameLocks noGrp="1"/>
          </p:cNvGraphicFramePr>
          <p:nvPr>
            <p:extLst>
              <p:ext uri="{D42A27DB-BD31-4B8C-83A1-F6EECF244321}">
                <p14:modId xmlns:p14="http://schemas.microsoft.com/office/powerpoint/2010/main" val="414991564"/>
              </p:ext>
            </p:extLst>
          </p:nvPr>
        </p:nvGraphicFramePr>
        <p:xfrm>
          <a:off x="958780" y="1554480"/>
          <a:ext cx="7010400" cy="1188720"/>
        </p:xfrm>
        <a:graphic>
          <a:graphicData uri="http://schemas.openxmlformats.org/drawingml/2006/table">
            <a:tbl>
              <a:tblPr firstRow="1" bandRow="1">
                <a:tableStyleId>{5C22544A-7EE6-4342-B048-85BDC9FD1C3A}</a:tableStyleId>
              </a:tblPr>
              <a:tblGrid>
                <a:gridCol w="2960077">
                  <a:extLst>
                    <a:ext uri="{9D8B030D-6E8A-4147-A177-3AD203B41FA5}">
                      <a16:colId xmlns:a16="http://schemas.microsoft.com/office/drawing/2014/main" val="2425257600"/>
                    </a:ext>
                  </a:extLst>
                </a:gridCol>
                <a:gridCol w="4050323">
                  <a:extLst>
                    <a:ext uri="{9D8B030D-6E8A-4147-A177-3AD203B41FA5}">
                      <a16:colId xmlns:a16="http://schemas.microsoft.com/office/drawing/2014/main" val="363261720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US Army" panose="020B0506030202020204"/>
                        </a:rPr>
                        <a:t>The First Way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1" dirty="0">
                          <a:solidFill>
                            <a:schemeClr val="tx1"/>
                          </a:solidFill>
                          <a:latin typeface="US Army" panose="020B0506030202020204"/>
                        </a:rPr>
                        <a:t>the principles of 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US Army" panose="020B0506030202020204"/>
                        </a:rPr>
                        <a:t>Keep your batches of work small, visible, and based on global goals for faster processing, shorter wait times, and more innovation.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99182432"/>
                  </a:ext>
                </a:extLst>
              </a:tr>
            </a:tbl>
          </a:graphicData>
        </a:graphic>
      </p:graphicFrame>
      <p:graphicFrame>
        <p:nvGraphicFramePr>
          <p:cNvPr id="8" name="Table 7">
            <a:extLst>
              <a:ext uri="{FF2B5EF4-FFF2-40B4-BE49-F238E27FC236}">
                <a16:creationId xmlns:a16="http://schemas.microsoft.com/office/drawing/2014/main" id="{BC6B0D8A-BDB5-8DBC-78C1-0FEBC579DEBC}"/>
              </a:ext>
            </a:extLst>
          </p:cNvPr>
          <p:cNvGraphicFramePr>
            <a:graphicFrameLocks noGrp="1"/>
          </p:cNvGraphicFramePr>
          <p:nvPr>
            <p:extLst>
              <p:ext uri="{D42A27DB-BD31-4B8C-83A1-F6EECF244321}">
                <p14:modId xmlns:p14="http://schemas.microsoft.com/office/powerpoint/2010/main" val="171973413"/>
              </p:ext>
            </p:extLst>
          </p:nvPr>
        </p:nvGraphicFramePr>
        <p:xfrm>
          <a:off x="8485834" y="3676650"/>
          <a:ext cx="2586612" cy="370840"/>
        </p:xfrm>
        <a:graphic>
          <a:graphicData uri="http://schemas.openxmlformats.org/drawingml/2006/table">
            <a:tbl>
              <a:tblPr firstRow="1" bandRow="1">
                <a:tableStyleId>{5C22544A-7EE6-4342-B048-85BDC9FD1C3A}</a:tableStyleId>
              </a:tblPr>
              <a:tblGrid>
                <a:gridCol w="2586612">
                  <a:extLst>
                    <a:ext uri="{9D8B030D-6E8A-4147-A177-3AD203B41FA5}">
                      <a16:colId xmlns:a16="http://schemas.microsoft.com/office/drawing/2014/main" val="2200795307"/>
                    </a:ext>
                  </a:extLst>
                </a:gridCol>
              </a:tblGrid>
              <a:tr h="370840">
                <a:tc>
                  <a:txBody>
                    <a:bodyPr/>
                    <a:lstStyle/>
                    <a:p>
                      <a:r>
                        <a:rPr lang="en-US" b="0" dirty="0">
                          <a:solidFill>
                            <a:schemeClr val="tx1"/>
                          </a:solidFill>
                          <a:latin typeface="US Army" panose="020B0506030202020204"/>
                        </a:rPr>
                        <a:t>Continuous Monitoring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8503352"/>
                  </a:ext>
                </a:extLst>
              </a:tr>
            </a:tbl>
          </a:graphicData>
        </a:graphic>
      </p:graphicFrame>
      <p:graphicFrame>
        <p:nvGraphicFramePr>
          <p:cNvPr id="9" name="Table 8">
            <a:extLst>
              <a:ext uri="{FF2B5EF4-FFF2-40B4-BE49-F238E27FC236}">
                <a16:creationId xmlns:a16="http://schemas.microsoft.com/office/drawing/2014/main" id="{4699A524-5015-F728-BC99-5DE28779D73B}"/>
              </a:ext>
            </a:extLst>
          </p:cNvPr>
          <p:cNvGraphicFramePr>
            <a:graphicFrameLocks noGrp="1"/>
          </p:cNvGraphicFramePr>
          <p:nvPr>
            <p:extLst>
              <p:ext uri="{D42A27DB-BD31-4B8C-83A1-F6EECF244321}">
                <p14:modId xmlns:p14="http://schemas.microsoft.com/office/powerpoint/2010/main" val="218259167"/>
              </p:ext>
            </p:extLst>
          </p:nvPr>
        </p:nvGraphicFramePr>
        <p:xfrm>
          <a:off x="8485834" y="5389880"/>
          <a:ext cx="2586612" cy="370840"/>
        </p:xfrm>
        <a:graphic>
          <a:graphicData uri="http://schemas.openxmlformats.org/drawingml/2006/table">
            <a:tbl>
              <a:tblPr firstRow="1" bandRow="1">
                <a:tableStyleId>{5C22544A-7EE6-4342-B048-85BDC9FD1C3A}</a:tableStyleId>
              </a:tblPr>
              <a:tblGrid>
                <a:gridCol w="2586612">
                  <a:extLst>
                    <a:ext uri="{9D8B030D-6E8A-4147-A177-3AD203B41FA5}">
                      <a16:colId xmlns:a16="http://schemas.microsoft.com/office/drawing/2014/main" val="220079530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US Army" panose="020B0506030202020204"/>
                        </a:rPr>
                        <a:t>Continuous Improvement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576151"/>
                  </a:ext>
                </a:extLst>
              </a:tr>
            </a:tbl>
          </a:graphicData>
        </a:graphic>
      </p:graphicFrame>
    </p:spTree>
    <p:extLst>
      <p:ext uri="{BB962C8B-B14F-4D97-AF65-F5344CB8AC3E}">
        <p14:creationId xmlns:p14="http://schemas.microsoft.com/office/powerpoint/2010/main" val="2986334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7D5D04-3F76-7E3A-AD64-0FC54078DBAE}"/>
              </a:ext>
            </a:extLst>
          </p:cNvPr>
          <p:cNvSpPr txBox="1"/>
          <p:nvPr/>
        </p:nvSpPr>
        <p:spPr>
          <a:xfrm>
            <a:off x="838200" y="1931436"/>
            <a:ext cx="10515600" cy="3139321"/>
          </a:xfrm>
          <a:prstGeom prst="rect">
            <a:avLst/>
          </a:prstGeom>
          <a:noFill/>
        </p:spPr>
        <p:txBody>
          <a:bodyPr wrap="square" rtlCol="0">
            <a:spAutoFit/>
          </a:bodyPr>
          <a:lstStyle/>
          <a:p>
            <a:r>
              <a:rPr lang="en-US" b="1" dirty="0"/>
              <a:t>Toyota Production System</a:t>
            </a:r>
          </a:p>
          <a:p>
            <a:r>
              <a:rPr lang="en-US" dirty="0">
                <a:hlinkClick r:id="rId2"/>
              </a:rPr>
              <a:t>https://global.toyota/en/company/vision-and-philosophy/production-system/</a:t>
            </a:r>
            <a:r>
              <a:rPr lang="en-US" dirty="0"/>
              <a:t> </a:t>
            </a:r>
          </a:p>
          <a:p>
            <a:endParaRPr lang="en-US" b="1" dirty="0"/>
          </a:p>
          <a:p>
            <a:r>
              <a:rPr lang="en-US" b="1" dirty="0"/>
              <a:t>“Lean Applied to Us” by Bill Peterson at </a:t>
            </a:r>
            <a:r>
              <a:rPr lang="en-US" b="1" dirty="0" err="1"/>
              <a:t>TEDxKnoxville</a:t>
            </a:r>
            <a:endParaRPr lang="en-US" b="1" dirty="0"/>
          </a:p>
          <a:p>
            <a:r>
              <a:rPr lang="en-US" dirty="0">
                <a:hlinkClick r:id="rId3"/>
              </a:rPr>
              <a:t>https://youtu.be/tfQiGDUBdD0?si=rPpgv_lnBAJB0LKt</a:t>
            </a:r>
            <a:r>
              <a:rPr lang="en-US" dirty="0"/>
              <a:t> </a:t>
            </a:r>
          </a:p>
          <a:p>
            <a:endParaRPr lang="en-US" dirty="0"/>
          </a:p>
          <a:p>
            <a:r>
              <a:rPr lang="en-US" b="1" dirty="0"/>
              <a:t>Agile Manifesto</a:t>
            </a:r>
          </a:p>
          <a:p>
            <a:r>
              <a:rPr lang="en-US" dirty="0">
                <a:hlinkClick r:id="rId4"/>
              </a:rPr>
              <a:t>https://agilemanifesto.org/</a:t>
            </a:r>
            <a:r>
              <a:rPr lang="en-US" dirty="0"/>
              <a:t> </a:t>
            </a:r>
          </a:p>
          <a:p>
            <a:endParaRPr lang="en-US" dirty="0"/>
          </a:p>
          <a:p>
            <a:r>
              <a:rPr lang="en-US" b="1" dirty="0"/>
              <a:t>DevOps Handbook</a:t>
            </a:r>
          </a:p>
          <a:p>
            <a:r>
              <a:rPr lang="en-US" dirty="0">
                <a:hlinkClick r:id="rId5"/>
              </a:rPr>
              <a:t>https://itrevolution.com/product/the-devops-handbook-second-edition/</a:t>
            </a:r>
            <a:r>
              <a:rPr lang="en-US" dirty="0"/>
              <a:t> </a:t>
            </a:r>
          </a:p>
        </p:txBody>
      </p:sp>
      <p:sp>
        <p:nvSpPr>
          <p:cNvPr id="3" name="Title 1">
            <a:extLst>
              <a:ext uri="{FF2B5EF4-FFF2-40B4-BE49-F238E27FC236}">
                <a16:creationId xmlns:a16="http://schemas.microsoft.com/office/drawing/2014/main" id="{D986453C-3052-4C5E-3CD5-412A9079D00E}"/>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References</a:t>
            </a:r>
            <a:endParaRPr lang="en-US" dirty="0"/>
          </a:p>
        </p:txBody>
      </p:sp>
    </p:spTree>
    <p:extLst>
      <p:ext uri="{BB962C8B-B14F-4D97-AF65-F5344CB8AC3E}">
        <p14:creationId xmlns:p14="http://schemas.microsoft.com/office/powerpoint/2010/main" val="1928763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153B4-8216-0785-E187-B6498F28910C}"/>
            </a:ext>
          </a:extLst>
        </p:cNvPr>
        <p:cNvGrpSpPr/>
        <p:nvPr/>
      </p:nvGrpSpPr>
      <p:grpSpPr>
        <a:xfrm>
          <a:off x="0" y="0"/>
          <a:ext cx="0" cy="0"/>
          <a:chOff x="0" y="0"/>
          <a:chExt cx="0" cy="0"/>
        </a:xfrm>
      </p:grpSpPr>
      <p:sp>
        <p:nvSpPr>
          <p:cNvPr id="2" name="Lorem ipsum sit lom dolor sit amet, Lorem ipsum sit lom dolor sit amet, consectetur sit amet adipiscing. Lorem ipsum sit.">
            <a:extLst>
              <a:ext uri="{FF2B5EF4-FFF2-40B4-BE49-F238E27FC236}">
                <a16:creationId xmlns:a16="http://schemas.microsoft.com/office/drawing/2014/main" id="{639BD785-7CB8-B64A-D764-705D074E16C0}"/>
              </a:ext>
            </a:extLst>
          </p:cNvPr>
          <p:cNvSpPr txBox="1"/>
          <p:nvPr/>
        </p:nvSpPr>
        <p:spPr>
          <a:xfrm>
            <a:off x="3647552" y="5021345"/>
            <a:ext cx="4893548"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t">
            <a:spAutoFit/>
          </a:bodyPr>
          <a:lstStyle/>
          <a:p>
            <a:pPr marL="0" indent="0" algn="ctr">
              <a:buFont typeface="Arial" panose="020B0604020202020204" pitchFamily="34" charset="0"/>
              <a:buNone/>
              <a:defRPr/>
            </a:pPr>
            <a:r>
              <a:rPr lang="en-US" sz="3200" b="1" dirty="0">
                <a:solidFill>
                  <a:srgbClr val="FFD52F"/>
                </a:solidFill>
                <a:latin typeface="US Army"/>
              </a:rPr>
              <a:t>Break</a:t>
            </a:r>
          </a:p>
        </p:txBody>
      </p:sp>
      <p:sp>
        <p:nvSpPr>
          <p:cNvPr id="4" name="Title 3">
            <a:extLst>
              <a:ext uri="{FF2B5EF4-FFF2-40B4-BE49-F238E27FC236}">
                <a16:creationId xmlns:a16="http://schemas.microsoft.com/office/drawing/2014/main" id="{639BBB17-9A37-5666-0B1D-8B549ACD3AE1}"/>
              </a:ext>
            </a:extLst>
          </p:cNvPr>
          <p:cNvSpPr>
            <a:spLocks noGrp="1"/>
          </p:cNvSpPr>
          <p:nvPr>
            <p:ph type="title"/>
          </p:nvPr>
        </p:nvSpPr>
        <p:spPr>
          <a:xfrm>
            <a:off x="2741259" y="3717890"/>
            <a:ext cx="6709482" cy="1034979"/>
          </a:xfrm>
        </p:spPr>
        <p:txBody>
          <a:bodyPr anchor="ctr">
            <a:normAutofit/>
          </a:bodyPr>
          <a:lstStyle/>
          <a:p>
            <a:r>
              <a:rPr lang="en-US" b="1" dirty="0">
                <a:solidFill>
                  <a:schemeClr val="bg1"/>
                </a:solidFill>
                <a:latin typeface="US Army" panose="020B0506030202020204" pitchFamily="34" charset="0"/>
              </a:rPr>
              <a:t>ARTIFICIAL INTELLIGENCE INTEGRATION CENTER</a:t>
            </a:r>
            <a:endParaRPr lang="en-US" dirty="0"/>
          </a:p>
        </p:txBody>
      </p:sp>
      <p:sp>
        <p:nvSpPr>
          <p:cNvPr id="3" name="TextBox 2">
            <a:extLst>
              <a:ext uri="{FF2B5EF4-FFF2-40B4-BE49-F238E27FC236}">
                <a16:creationId xmlns:a16="http://schemas.microsoft.com/office/drawing/2014/main" id="{50A4353D-26CA-8D62-C062-88EE9A7C9517}"/>
              </a:ext>
            </a:extLst>
          </p:cNvPr>
          <p:cNvSpPr txBox="1"/>
          <p:nvPr/>
        </p:nvSpPr>
        <p:spPr>
          <a:xfrm>
            <a:off x="0" y="0"/>
            <a:ext cx="9033468" cy="646331"/>
          </a:xfrm>
          <a:prstGeom prst="rect">
            <a:avLst/>
          </a:prstGeom>
          <a:noFill/>
        </p:spPr>
        <p:txBody>
          <a:bodyPr wrap="square" lIns="91440" tIns="45720" rIns="91440" bIns="45720" rtlCol="0" anchor="t">
            <a:spAutoFit/>
          </a:bodyPr>
          <a:lstStyle/>
          <a:p>
            <a:r>
              <a:rPr lang="en-US" b="1" dirty="0">
                <a:solidFill>
                  <a:schemeClr val="bg1"/>
                </a:solidFill>
                <a:latin typeface="US Army" panose="020B0506030202020204"/>
              </a:rPr>
              <a:t>CW3 Vic Fernandez III</a:t>
            </a:r>
          </a:p>
          <a:p>
            <a:r>
              <a:rPr lang="en-US" dirty="0">
                <a:solidFill>
                  <a:schemeClr val="bg1"/>
                </a:solidFill>
                <a:latin typeface="US Army" panose="020B0506030202020204"/>
              </a:rPr>
              <a:t>victor.fernandez19.mil@army.mil</a:t>
            </a:r>
          </a:p>
        </p:txBody>
      </p:sp>
    </p:spTree>
    <p:extLst>
      <p:ext uri="{BB962C8B-B14F-4D97-AF65-F5344CB8AC3E}">
        <p14:creationId xmlns:p14="http://schemas.microsoft.com/office/powerpoint/2010/main" val="2657139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EDD53-80C9-D344-6ACB-63CB1BCF388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98BA075-C56D-5C0B-D67A-86D284EB2F17}"/>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Practical Exercise</a:t>
            </a:r>
            <a:endParaRPr lang="en-US" dirty="0"/>
          </a:p>
        </p:txBody>
      </p:sp>
      <p:sp>
        <p:nvSpPr>
          <p:cNvPr id="3" name="TextBox 2">
            <a:extLst>
              <a:ext uri="{FF2B5EF4-FFF2-40B4-BE49-F238E27FC236}">
                <a16:creationId xmlns:a16="http://schemas.microsoft.com/office/drawing/2014/main" id="{7C1E3886-64A4-5FC3-E678-C3BA3C9D98C1}"/>
              </a:ext>
            </a:extLst>
          </p:cNvPr>
          <p:cNvSpPr txBox="1"/>
          <p:nvPr/>
        </p:nvSpPr>
        <p:spPr>
          <a:xfrm>
            <a:off x="838200" y="1396639"/>
            <a:ext cx="6556022" cy="4893647"/>
          </a:xfrm>
          <a:prstGeom prst="rect">
            <a:avLst/>
          </a:prstGeom>
          <a:noFill/>
        </p:spPr>
        <p:txBody>
          <a:bodyPr wrap="square" rtlCol="0">
            <a:spAutoFit/>
          </a:bodyPr>
          <a:lstStyle/>
          <a:p>
            <a:r>
              <a:rPr lang="en-US" sz="2400" b="1" dirty="0">
                <a:latin typeface="US Army" panose="020B0506030202020204"/>
              </a:rPr>
              <a:t>Setup</a:t>
            </a:r>
          </a:p>
          <a:p>
            <a:r>
              <a:rPr lang="en-US" sz="2400" dirty="0">
                <a:latin typeface="US Army" panose="020B0506030202020204"/>
              </a:rPr>
              <a:t>Break up into teams (e.g., by table).</a:t>
            </a:r>
          </a:p>
          <a:p>
            <a:endParaRPr lang="en-US" sz="2400" dirty="0">
              <a:latin typeface="US Army" panose="020B0506030202020204"/>
            </a:endParaRPr>
          </a:p>
          <a:p>
            <a:r>
              <a:rPr lang="en-US" sz="2400" dirty="0">
                <a:latin typeface="US Army" panose="020B0506030202020204"/>
              </a:rPr>
              <a:t>Your Team Lead will be anyone who meets two of the following requirements:</a:t>
            </a:r>
          </a:p>
          <a:p>
            <a:pPr marL="342900" indent="-342900">
              <a:buFont typeface="Arial" panose="020B0604020202020204" pitchFamily="34" charset="0"/>
              <a:buChar char="•"/>
            </a:pPr>
            <a:r>
              <a:rPr lang="en-US" sz="2400" dirty="0">
                <a:latin typeface="US Army" panose="020B0506030202020204"/>
              </a:rPr>
              <a:t>Contributed to an open-source project</a:t>
            </a:r>
          </a:p>
          <a:p>
            <a:pPr marL="342900" indent="-342900">
              <a:buFont typeface="Arial" panose="020B0604020202020204" pitchFamily="34" charset="0"/>
              <a:buChar char="•"/>
            </a:pPr>
            <a:r>
              <a:rPr lang="en-US" sz="2400" dirty="0">
                <a:latin typeface="US Army" panose="020B0506030202020204"/>
              </a:rPr>
              <a:t>Believes in aliens</a:t>
            </a:r>
          </a:p>
          <a:p>
            <a:pPr marL="342900" indent="-342900">
              <a:buFont typeface="Arial" panose="020B0604020202020204" pitchFamily="34" charset="0"/>
              <a:buChar char="•"/>
            </a:pPr>
            <a:r>
              <a:rPr lang="en-US" sz="2400" dirty="0">
                <a:latin typeface="US Army" panose="020B0506030202020204"/>
              </a:rPr>
              <a:t>Likes early 2000s post-hardcore music</a:t>
            </a:r>
          </a:p>
          <a:p>
            <a:pPr marL="342900" indent="-342900">
              <a:buFont typeface="Arial" panose="020B0604020202020204" pitchFamily="34" charset="0"/>
              <a:buChar char="•"/>
            </a:pPr>
            <a:r>
              <a:rPr lang="en-US" sz="2400" dirty="0">
                <a:latin typeface="US Army" panose="020B0506030202020204"/>
              </a:rPr>
              <a:t>Loves (not like) pizza</a:t>
            </a:r>
          </a:p>
          <a:p>
            <a:endParaRPr lang="en-US" sz="2400" dirty="0">
              <a:latin typeface="US Army" panose="020B0506030202020204"/>
            </a:endParaRPr>
          </a:p>
          <a:p>
            <a:r>
              <a:rPr lang="en-US" sz="2400" dirty="0">
                <a:latin typeface="US Army" panose="020B0506030202020204"/>
              </a:rPr>
              <a:t>Ensure the Team Lead creates a code repository in GitHub and shares access with everyone on the team. </a:t>
            </a:r>
          </a:p>
        </p:txBody>
      </p:sp>
      <p:pic>
        <p:nvPicPr>
          <p:cNvPr id="2" name="Picture 8" descr="41,400+ Isometric People Computer Stock Photos, Pictures &amp; Royalty-Free  Images - iStock | Computer illustration">
            <a:extLst>
              <a:ext uri="{FF2B5EF4-FFF2-40B4-BE49-F238E27FC236}">
                <a16:creationId xmlns:a16="http://schemas.microsoft.com/office/drawing/2014/main" id="{60912149-A86B-4929-6872-D3EEF97820D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18C37FD9-CA29-DDF2-DC43-930E2C0BD9EC}"/>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101FA07E-68D1-1716-5B6A-C1808F2ED570}"/>
              </a:ext>
            </a:extLst>
          </p:cNvPr>
          <p:cNvPicPr>
            <a:picLocks noChangeAspect="1" noChangeArrowheads="1"/>
          </p:cNvPicPr>
          <p:nvPr/>
        </p:nvPicPr>
        <p:blipFill rotWithShape="1">
          <a:blip r:embed="rId7">
            <a:extLst>
              <a:ext uri="{BEBA8EAE-BF5A-486C-A8C5-ECC9F3942E4B}">
                <a14:imgProps xmlns:a14="http://schemas.microsoft.com/office/drawing/2010/main">
                  <a14:imgLayer r:embed="rId4">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28C9172-0664-C6FD-3B66-E017914DB937}"/>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graphicFrame>
        <p:nvGraphicFramePr>
          <p:cNvPr id="10" name="Diagram 9">
            <a:extLst>
              <a:ext uri="{FF2B5EF4-FFF2-40B4-BE49-F238E27FC236}">
                <a16:creationId xmlns:a16="http://schemas.microsoft.com/office/drawing/2014/main" id="{8B981EA0-B96A-843C-51BA-1F8616A3914A}"/>
              </a:ext>
            </a:extLst>
          </p:cNvPr>
          <p:cNvGraphicFramePr/>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15143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1D465-2103-9D9E-0447-D706202D08B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98CC039-E313-FB05-B163-DB1F7DEFD7BC}"/>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Practical Exercise</a:t>
            </a:r>
            <a:endParaRPr lang="en-US" dirty="0"/>
          </a:p>
        </p:txBody>
      </p:sp>
      <p:sp>
        <p:nvSpPr>
          <p:cNvPr id="3" name="TextBox 2">
            <a:extLst>
              <a:ext uri="{FF2B5EF4-FFF2-40B4-BE49-F238E27FC236}">
                <a16:creationId xmlns:a16="http://schemas.microsoft.com/office/drawing/2014/main" id="{7E7EB127-44E0-A0C3-73C3-4972E57BA917}"/>
              </a:ext>
            </a:extLst>
          </p:cNvPr>
          <p:cNvSpPr txBox="1"/>
          <p:nvPr/>
        </p:nvSpPr>
        <p:spPr>
          <a:xfrm>
            <a:off x="838200" y="1577263"/>
            <a:ext cx="5690660" cy="3785652"/>
          </a:xfrm>
          <a:prstGeom prst="rect">
            <a:avLst/>
          </a:prstGeom>
          <a:noFill/>
        </p:spPr>
        <p:txBody>
          <a:bodyPr wrap="square" rtlCol="0">
            <a:spAutoFit/>
          </a:bodyPr>
          <a:lstStyle/>
          <a:p>
            <a:r>
              <a:rPr lang="en-US" sz="2400" b="1" dirty="0">
                <a:latin typeface="US Army" panose="020B0506030202020204"/>
              </a:rPr>
              <a:t>Scenario</a:t>
            </a:r>
          </a:p>
          <a:p>
            <a:r>
              <a:rPr lang="en-US" sz="2400" dirty="0">
                <a:latin typeface="US Army" panose="020B0506030202020204"/>
              </a:rPr>
              <a:t>Your team has been tasked to create an app that boosts morale. The customer has not identified where they want the app to be deployed yet, but your Portfolio Lead wants you to ensure the app is ready when they do. To meet your Portfolio Lead’s intent, your app must be containerized and tested. It must also be reviewed and approved by your Team Lead.</a:t>
            </a:r>
          </a:p>
        </p:txBody>
      </p:sp>
      <p:pic>
        <p:nvPicPr>
          <p:cNvPr id="2" name="Picture 8" descr="41,400+ Isometric People Computer Stock Photos, Pictures &amp; Royalty-Free  Images - iStock | Computer illustration">
            <a:extLst>
              <a:ext uri="{FF2B5EF4-FFF2-40B4-BE49-F238E27FC236}">
                <a16:creationId xmlns:a16="http://schemas.microsoft.com/office/drawing/2014/main" id="{1E2AEF04-8340-9919-911F-8F4713D1CE75}"/>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C728311D-A24C-C7BE-5A0D-81D4364DA503}"/>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52545B1B-A485-1EF0-1018-10B8F8FF5ACC}"/>
              </a:ext>
            </a:extLst>
          </p:cNvPr>
          <p:cNvPicPr>
            <a:picLocks noChangeAspect="1" noChangeArrowheads="1"/>
          </p:cNvPicPr>
          <p:nvPr/>
        </p:nvPicPr>
        <p:blipFill rotWithShape="1">
          <a:blip r:embed="rId7">
            <a:extLst>
              <a:ext uri="{BEBA8EAE-BF5A-486C-A8C5-ECC9F3942E4B}">
                <a14:imgProps xmlns:a14="http://schemas.microsoft.com/office/drawing/2010/main">
                  <a14:imgLayer r:embed="rId4">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F6EA6983-725A-7993-21CE-0C633938E857}"/>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graphicFrame>
        <p:nvGraphicFramePr>
          <p:cNvPr id="10" name="Diagram 9">
            <a:extLst>
              <a:ext uri="{FF2B5EF4-FFF2-40B4-BE49-F238E27FC236}">
                <a16:creationId xmlns:a16="http://schemas.microsoft.com/office/drawing/2014/main" id="{E8FB3371-2F01-94A6-6DA4-F8D086C2C9AB}"/>
              </a:ext>
            </a:extLst>
          </p:cNvPr>
          <p:cNvGraphicFramePr/>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19238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57137-7212-DAA5-DD35-FD5D788FAF7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219912B-E16B-1F00-CF72-933803360B15}"/>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Practical Exercise</a:t>
            </a:r>
            <a:endParaRPr lang="en-US" dirty="0"/>
          </a:p>
        </p:txBody>
      </p:sp>
      <p:pic>
        <p:nvPicPr>
          <p:cNvPr id="2" name="Picture 8" descr="41,400+ Isometric People Computer Stock Photos, Pictures &amp; Royalty-Free  Images - iStock | Computer illustration">
            <a:extLst>
              <a:ext uri="{FF2B5EF4-FFF2-40B4-BE49-F238E27FC236}">
                <a16:creationId xmlns:a16="http://schemas.microsoft.com/office/drawing/2014/main" id="{E22B3E08-04B7-2929-6785-235960C58B8A}"/>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3978B744-0F86-C7D1-9CDC-A7265655FBBA}"/>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62D75458-72B0-E398-89A9-8A338ACA0CA9}"/>
              </a:ext>
            </a:extLst>
          </p:cNvPr>
          <p:cNvPicPr>
            <a:picLocks noChangeAspect="1" noChangeArrowheads="1"/>
          </p:cNvPicPr>
          <p:nvPr/>
        </p:nvPicPr>
        <p:blipFill rotWithShape="1">
          <a:blip r:embed="rId7">
            <a:extLst>
              <a:ext uri="{BEBA8EAE-BF5A-486C-A8C5-ECC9F3942E4B}">
                <a14:imgProps xmlns:a14="http://schemas.microsoft.com/office/drawing/2010/main">
                  <a14:imgLayer r:embed="rId4">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EF88B97D-67AE-A7CC-AC2A-B1A3AB21B021}"/>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graphicFrame>
        <p:nvGraphicFramePr>
          <p:cNvPr id="10" name="Diagram 9">
            <a:extLst>
              <a:ext uri="{FF2B5EF4-FFF2-40B4-BE49-F238E27FC236}">
                <a16:creationId xmlns:a16="http://schemas.microsoft.com/office/drawing/2014/main" id="{E8E48B46-E14B-25FC-6FAF-E71BDA767F8E}"/>
              </a:ext>
            </a:extLst>
          </p:cNvPr>
          <p:cNvGraphicFramePr/>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extBox 3">
            <a:extLst>
              <a:ext uri="{FF2B5EF4-FFF2-40B4-BE49-F238E27FC236}">
                <a16:creationId xmlns:a16="http://schemas.microsoft.com/office/drawing/2014/main" id="{51B60EE4-F688-A5E5-EC5A-27D2CFA1CB30}"/>
              </a:ext>
            </a:extLst>
          </p:cNvPr>
          <p:cNvSpPr txBox="1"/>
          <p:nvPr/>
        </p:nvSpPr>
        <p:spPr>
          <a:xfrm>
            <a:off x="838200" y="1577263"/>
            <a:ext cx="5690660" cy="4154984"/>
          </a:xfrm>
          <a:prstGeom prst="rect">
            <a:avLst/>
          </a:prstGeom>
          <a:noFill/>
        </p:spPr>
        <p:txBody>
          <a:bodyPr wrap="square" rtlCol="0">
            <a:spAutoFit/>
          </a:bodyPr>
          <a:lstStyle/>
          <a:p>
            <a:r>
              <a:rPr lang="en-US" sz="2400" b="1" dirty="0">
                <a:latin typeface="US Army" panose="020B0506030202020204"/>
              </a:rPr>
              <a:t>Task</a:t>
            </a:r>
          </a:p>
          <a:p>
            <a:r>
              <a:rPr lang="en-US" sz="2400" dirty="0">
                <a:latin typeface="US Army" panose="020B0506030202020204"/>
              </a:rPr>
              <a:t>Create and containerize a morale-boosting app that has been reviewed and approved internally by someone else on your team. </a:t>
            </a:r>
          </a:p>
          <a:p>
            <a:endParaRPr lang="en-US" sz="2400" dirty="0">
              <a:latin typeface="US Army" panose="020B0506030202020204"/>
            </a:endParaRPr>
          </a:p>
          <a:p>
            <a:r>
              <a:rPr lang="en-US" sz="2400" b="1" dirty="0">
                <a:latin typeface="US Army" panose="020B0506030202020204"/>
              </a:rPr>
              <a:t>Conditions</a:t>
            </a:r>
          </a:p>
          <a:p>
            <a:pPr marL="342900" indent="-342900">
              <a:buFont typeface="Arial" panose="020B0604020202020204" pitchFamily="34" charset="0"/>
              <a:buChar char="•"/>
            </a:pPr>
            <a:r>
              <a:rPr lang="en-US" sz="2400" dirty="0">
                <a:latin typeface="US Army" panose="020B0506030202020204"/>
              </a:rPr>
              <a:t>You have one hour to complete this task </a:t>
            </a:r>
            <a:r>
              <a:rPr lang="en-US" sz="2400" dirty="0">
                <a:solidFill>
                  <a:srgbClr val="FF0000"/>
                </a:solidFill>
                <a:latin typeface="US Army" panose="020B0506030202020204"/>
              </a:rPr>
              <a:t>using the provided instructions</a:t>
            </a:r>
            <a:r>
              <a:rPr lang="en-US" sz="2400" dirty="0">
                <a:latin typeface="US Army" panose="020B0506030202020204"/>
              </a:rPr>
              <a:t>.</a:t>
            </a:r>
          </a:p>
          <a:p>
            <a:pPr marL="342900" indent="-342900">
              <a:buFont typeface="Arial" panose="020B0604020202020204" pitchFamily="34" charset="0"/>
              <a:buChar char="•"/>
            </a:pPr>
            <a:r>
              <a:rPr lang="en-US" sz="2400" dirty="0">
                <a:latin typeface="US Army" panose="020B0506030202020204"/>
              </a:rPr>
              <a:t>You have access to a GitHub.</a:t>
            </a:r>
          </a:p>
          <a:p>
            <a:pPr marL="342900" indent="-342900">
              <a:buFont typeface="Arial" panose="020B0604020202020204" pitchFamily="34" charset="0"/>
              <a:buChar char="•"/>
            </a:pPr>
            <a:r>
              <a:rPr lang="en-US" sz="2400" dirty="0">
                <a:latin typeface="US Army" panose="020B0506030202020204"/>
              </a:rPr>
              <a:t>You are authorized to use whatever code editor you want.</a:t>
            </a:r>
          </a:p>
        </p:txBody>
      </p:sp>
    </p:spTree>
    <p:extLst>
      <p:ext uri="{BB962C8B-B14F-4D97-AF65-F5344CB8AC3E}">
        <p14:creationId xmlns:p14="http://schemas.microsoft.com/office/powerpoint/2010/main" val="521449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2258-1354-6FEE-138E-9E2A0083BA2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6C6ADD7-D5AB-9D19-B47D-67F4672AC8EB}"/>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Practical Exercise</a:t>
            </a:r>
            <a:endParaRPr lang="en-US" dirty="0"/>
          </a:p>
        </p:txBody>
      </p:sp>
      <p:pic>
        <p:nvPicPr>
          <p:cNvPr id="2" name="Picture 8" descr="41,400+ Isometric People Computer Stock Photos, Pictures &amp; Royalty-Free  Images - iStock | Computer illustration">
            <a:extLst>
              <a:ext uri="{FF2B5EF4-FFF2-40B4-BE49-F238E27FC236}">
                <a16:creationId xmlns:a16="http://schemas.microsoft.com/office/drawing/2014/main" id="{FA9EEF88-6E16-9D0F-D054-8C768AB22518}"/>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53626" b="94656" l="11765" r="45915">
                        <a14:foregroundMark x1="11928" y1="73855" x2="11928" y2="73855"/>
                        <a14:foregroundMark x1="24183" y1="53626" x2="24183" y2="53626"/>
                        <a14:foregroundMark x1="32026" y1="57634" x2="32026" y2="57634"/>
                        <a14:foregroundMark x1="32026" y1="57634" x2="32353" y2="56298"/>
                        <a14:foregroundMark x1="32353" y1="56298" x2="32353" y2="56298"/>
                        <a14:foregroundMark x1="38889" y1="63168" x2="38889" y2="63168"/>
                      </a14:backgroundRemoval>
                    </a14:imgEffect>
                  </a14:imgLayer>
                </a14:imgProps>
              </a:ext>
              <a:ext uri="{28A0092B-C50C-407E-A947-70E740481C1C}">
                <a14:useLocalDpi xmlns:a14="http://schemas.microsoft.com/office/drawing/2010/main" val="0"/>
              </a:ext>
            </a:extLst>
          </a:blip>
          <a:srcRect l="8859" t="50000" r="49680"/>
          <a:stretch>
            <a:fillRect/>
          </a:stretch>
        </p:blipFill>
        <p:spPr bwMode="auto">
          <a:xfrm>
            <a:off x="7514852" y="2801885"/>
            <a:ext cx="1260650" cy="13016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1,248 River Isometric View Stock Vectors and Vector Art | Shutterstock">
            <a:extLst>
              <a:ext uri="{FF2B5EF4-FFF2-40B4-BE49-F238E27FC236}">
                <a16:creationId xmlns:a16="http://schemas.microsoft.com/office/drawing/2014/main" id="{13C0A469-3A72-D511-9C6B-7D85D19C31DC}"/>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1071" b="83214" l="9783" r="88859">
                        <a14:foregroundMark x1="10326" y1="49643" x2="10326" y2="49643"/>
                        <a14:foregroundMark x1="55435" y1="80357" x2="55435" y2="80357"/>
                        <a14:foregroundMark x1="89402" y1="50714" x2="89402" y2="50714"/>
                        <a14:foregroundMark x1="53804" y1="83571" x2="53804" y2="83571"/>
                        <a14:foregroundMark x1="46467" y1="11071" x2="46467" y2="11071"/>
                      </a14:backgroundRemoval>
                    </a14:imgEffect>
                  </a14:imgLayer>
                </a14:imgProps>
              </a:ext>
              <a:ext uri="{28A0092B-C50C-407E-A947-70E740481C1C}">
                <a14:useLocalDpi xmlns:a14="http://schemas.microsoft.com/office/drawing/2010/main" val="0"/>
              </a:ext>
            </a:extLst>
          </a:blip>
          <a:srcRect l="3369" t="4695" r="3464" b="9780"/>
          <a:stretch>
            <a:fillRect/>
          </a:stretch>
        </p:blipFill>
        <p:spPr bwMode="auto">
          <a:xfrm>
            <a:off x="7759112" y="3205076"/>
            <a:ext cx="3265714" cy="22809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41,400+ Isometric People Computer Stock Photos, Pictures &amp; Royalty-Free  Images - iStock | Computer illustration">
            <a:extLst>
              <a:ext uri="{FF2B5EF4-FFF2-40B4-BE49-F238E27FC236}">
                <a16:creationId xmlns:a16="http://schemas.microsoft.com/office/drawing/2014/main" id="{1CA6EEFC-63BC-2ACC-07F7-FA39D75A16DD}"/>
              </a:ext>
            </a:extLst>
          </p:cNvPr>
          <p:cNvPicPr>
            <a:picLocks noChangeAspect="1" noChangeArrowheads="1"/>
          </p:cNvPicPr>
          <p:nvPr/>
        </p:nvPicPr>
        <p:blipFill rotWithShape="1">
          <a:blip r:embed="rId7">
            <a:extLst>
              <a:ext uri="{BEBA8EAE-BF5A-486C-A8C5-ECC9F3942E4B}">
                <a14:imgProps xmlns:a14="http://schemas.microsoft.com/office/drawing/2010/main">
                  <a14:imgLayer r:embed="rId4">
                    <a14:imgEffect>
                      <a14:backgroundRemoval t="10687" b="52290" l="52288" r="87908">
                        <a14:foregroundMark x1="70588" y1="10687" x2="70588" y2="10687"/>
                      </a14:backgroundRemoval>
                    </a14:imgEffect>
                  </a14:imgLayer>
                </a14:imgProps>
              </a:ext>
              <a:ext uri="{28A0092B-C50C-407E-A947-70E740481C1C}">
                <a14:useLocalDpi xmlns:a14="http://schemas.microsoft.com/office/drawing/2010/main" val="0"/>
              </a:ext>
            </a:extLst>
          </a:blip>
          <a:srcRect l="47990" t="7856" r="7537" b="42601"/>
          <a:stretch>
            <a:fillRect/>
          </a:stretch>
        </p:blipFill>
        <p:spPr bwMode="auto">
          <a:xfrm flipH="1">
            <a:off x="10227447" y="4587564"/>
            <a:ext cx="1364723" cy="13016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0AA2908-36CA-0A08-B3B6-586B0D43DB42}"/>
              </a:ext>
            </a:extLst>
          </p:cNvPr>
          <p:cNvSpPr/>
          <p:nvPr/>
        </p:nvSpPr>
        <p:spPr>
          <a:xfrm>
            <a:off x="6528860" y="4580434"/>
            <a:ext cx="3688126" cy="923330"/>
          </a:xfrm>
          <a:prstGeom prst="rect">
            <a:avLst/>
          </a:prstGeom>
          <a:noFill/>
          <a:scene3d>
            <a:camera prst="isometricLeftDown"/>
            <a:lightRig rig="threePt" dir="t"/>
          </a:scene3d>
        </p:spPr>
        <p:txBody>
          <a:bodyPr wrap="none" lIns="91440" tIns="45720" rIns="91440" bIns="45720">
            <a:spAutoFit/>
          </a:bodyPr>
          <a:lstStyle/>
          <a:p>
            <a:pPr algn="ctr"/>
            <a:r>
              <a:rPr lang="en-US" sz="5400" b="0" cap="none" spc="0" dirty="0">
                <a:ln w="0"/>
                <a:solidFill>
                  <a:schemeClr val="tx1"/>
                </a:solidFill>
                <a:effectLst>
                  <a:outerShdw blurRad="60007" dir="1500000" sy="-30000" kx="800400" algn="bl" rotWithShape="0">
                    <a:prstClr val="black">
                      <a:alpha val="20000"/>
                    </a:prstClr>
                  </a:outerShdw>
                </a:effectLst>
              </a:rPr>
              <a:t>DevSecOps</a:t>
            </a:r>
          </a:p>
        </p:txBody>
      </p:sp>
      <p:graphicFrame>
        <p:nvGraphicFramePr>
          <p:cNvPr id="10" name="Diagram 9">
            <a:extLst>
              <a:ext uri="{FF2B5EF4-FFF2-40B4-BE49-F238E27FC236}">
                <a16:creationId xmlns:a16="http://schemas.microsoft.com/office/drawing/2014/main" id="{B685170C-DB13-7523-4B9F-38AC706356EB}"/>
              </a:ext>
            </a:extLst>
          </p:cNvPr>
          <p:cNvGraphicFramePr/>
          <p:nvPr/>
        </p:nvGraphicFramePr>
        <p:xfrm>
          <a:off x="7540919" y="425470"/>
          <a:ext cx="4906150" cy="36683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extBox 3">
            <a:extLst>
              <a:ext uri="{FF2B5EF4-FFF2-40B4-BE49-F238E27FC236}">
                <a16:creationId xmlns:a16="http://schemas.microsoft.com/office/drawing/2014/main" id="{C32260C3-E653-0703-CD8A-2BCBB3513FEE}"/>
              </a:ext>
            </a:extLst>
          </p:cNvPr>
          <p:cNvSpPr txBox="1"/>
          <p:nvPr/>
        </p:nvSpPr>
        <p:spPr>
          <a:xfrm>
            <a:off x="838200" y="1577263"/>
            <a:ext cx="5690660" cy="2308324"/>
          </a:xfrm>
          <a:prstGeom prst="rect">
            <a:avLst/>
          </a:prstGeom>
          <a:noFill/>
        </p:spPr>
        <p:txBody>
          <a:bodyPr wrap="square" rtlCol="0">
            <a:spAutoFit/>
          </a:bodyPr>
          <a:lstStyle/>
          <a:p>
            <a:r>
              <a:rPr lang="en-US" sz="2400" b="1" dirty="0">
                <a:latin typeface="US Army" panose="020B0506030202020204"/>
              </a:rPr>
              <a:t>Standard</a:t>
            </a:r>
          </a:p>
          <a:p>
            <a:r>
              <a:rPr lang="en-US" sz="2400" dirty="0">
                <a:latin typeface="US Army" panose="020B0506030202020204"/>
              </a:rPr>
              <a:t>You have met the standard of this task once you have created and containerized a morale-boosting app that has been reviewed and approved internally by someone else on your team. </a:t>
            </a:r>
          </a:p>
        </p:txBody>
      </p:sp>
    </p:spTree>
    <p:extLst>
      <p:ext uri="{BB962C8B-B14F-4D97-AF65-F5344CB8AC3E}">
        <p14:creationId xmlns:p14="http://schemas.microsoft.com/office/powerpoint/2010/main" val="1391455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B07BA-A45B-A49D-3D41-31B3A30F88F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16629D6-63E4-17A8-923E-12577B8DFC98}"/>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Practical Exercise</a:t>
            </a:r>
            <a:endParaRPr lang="en-US" dirty="0"/>
          </a:p>
        </p:txBody>
      </p:sp>
      <p:sp>
        <p:nvSpPr>
          <p:cNvPr id="5" name="TextBox 4">
            <a:extLst>
              <a:ext uri="{FF2B5EF4-FFF2-40B4-BE49-F238E27FC236}">
                <a16:creationId xmlns:a16="http://schemas.microsoft.com/office/drawing/2014/main" id="{C0574C4D-2FF8-78FA-E65D-8D126EA2DCB6}"/>
              </a:ext>
            </a:extLst>
          </p:cNvPr>
          <p:cNvSpPr txBox="1"/>
          <p:nvPr/>
        </p:nvSpPr>
        <p:spPr>
          <a:xfrm>
            <a:off x="838200" y="1610703"/>
            <a:ext cx="10308050" cy="3416320"/>
          </a:xfrm>
          <a:prstGeom prst="rect">
            <a:avLst/>
          </a:prstGeom>
          <a:noFill/>
        </p:spPr>
        <p:txBody>
          <a:bodyPr wrap="square">
            <a:spAutoFit/>
          </a:bodyPr>
          <a:lstStyle/>
          <a:p>
            <a:r>
              <a:rPr lang="en-US" sz="2400" b="1" dirty="0">
                <a:latin typeface="US Army" panose="020B0506030202020204"/>
              </a:rPr>
              <a:t>Instructions</a:t>
            </a:r>
          </a:p>
          <a:p>
            <a:r>
              <a:rPr lang="en-US" sz="2400" dirty="0">
                <a:latin typeface="US Army" panose="020B0506030202020204"/>
              </a:rPr>
              <a:t>Do coding kata 1.</a:t>
            </a:r>
          </a:p>
          <a:p>
            <a:r>
              <a:rPr lang="en-US" sz="2400" dirty="0">
                <a:latin typeface="US Army" panose="020B0506030202020204"/>
                <a:hlinkClick r:id="rId3"/>
              </a:rPr>
              <a:t>https://github.com/afc-ai2c/coding-katas/</a:t>
            </a:r>
            <a:endParaRPr lang="en-US" sz="2400" dirty="0">
              <a:latin typeface="US Army" panose="020B0506030202020204"/>
            </a:endParaRPr>
          </a:p>
          <a:p>
            <a:endParaRPr lang="en-US" sz="2400" dirty="0">
              <a:latin typeface="US Army" panose="020B0506030202020204"/>
            </a:endParaRPr>
          </a:p>
          <a:p>
            <a:r>
              <a:rPr lang="en-US" sz="2400" b="1" dirty="0">
                <a:latin typeface="US Army" panose="020B0506030202020204"/>
              </a:rPr>
              <a:t>Start</a:t>
            </a:r>
          </a:p>
          <a:p>
            <a:r>
              <a:rPr lang="en-US" sz="2400" dirty="0">
                <a:latin typeface="US Army" panose="020B0506030202020204"/>
              </a:rPr>
              <a:t>1000</a:t>
            </a:r>
          </a:p>
          <a:p>
            <a:endParaRPr lang="en-US" sz="2400" dirty="0">
              <a:latin typeface="US Army" panose="020B0506030202020204"/>
            </a:endParaRPr>
          </a:p>
          <a:p>
            <a:r>
              <a:rPr lang="en-US" sz="2400" b="1" dirty="0">
                <a:latin typeface="US Army" panose="020B0506030202020204"/>
              </a:rPr>
              <a:t>End</a:t>
            </a:r>
          </a:p>
          <a:p>
            <a:r>
              <a:rPr lang="en-US" sz="2400" dirty="0">
                <a:latin typeface="US Army" panose="020B0506030202020204"/>
              </a:rPr>
              <a:t>1100</a:t>
            </a:r>
          </a:p>
        </p:txBody>
      </p:sp>
    </p:spTree>
    <p:extLst>
      <p:ext uri="{BB962C8B-B14F-4D97-AF65-F5344CB8AC3E}">
        <p14:creationId xmlns:p14="http://schemas.microsoft.com/office/powerpoint/2010/main" val="636927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C3A32-8578-2652-038F-C596ED1FBACD}"/>
            </a:ext>
          </a:extLst>
        </p:cNvPr>
        <p:cNvGrpSpPr/>
        <p:nvPr/>
      </p:nvGrpSpPr>
      <p:grpSpPr>
        <a:xfrm>
          <a:off x="0" y="0"/>
          <a:ext cx="0" cy="0"/>
          <a:chOff x="0" y="0"/>
          <a:chExt cx="0" cy="0"/>
        </a:xfrm>
      </p:grpSpPr>
      <p:sp>
        <p:nvSpPr>
          <p:cNvPr id="2" name="Lorem ipsum sit lom dolor sit amet, Lorem ipsum sit lom dolor sit amet, consectetur sit amet adipiscing. Lorem ipsum sit.">
            <a:extLst>
              <a:ext uri="{FF2B5EF4-FFF2-40B4-BE49-F238E27FC236}">
                <a16:creationId xmlns:a16="http://schemas.microsoft.com/office/drawing/2014/main" id="{9EF4C230-1A7A-475E-BDDE-207E0BE0ED9D}"/>
              </a:ext>
            </a:extLst>
          </p:cNvPr>
          <p:cNvSpPr txBox="1"/>
          <p:nvPr/>
        </p:nvSpPr>
        <p:spPr>
          <a:xfrm>
            <a:off x="3647552" y="5021345"/>
            <a:ext cx="4893548"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t">
            <a:spAutoFit/>
          </a:bodyPr>
          <a:lstStyle/>
          <a:p>
            <a:pPr marL="0" indent="0" algn="ctr">
              <a:buFont typeface="Arial" panose="020B0604020202020204" pitchFamily="34" charset="0"/>
              <a:buNone/>
              <a:defRPr/>
            </a:pPr>
            <a:r>
              <a:rPr lang="en-US" sz="3200" b="1" dirty="0">
                <a:solidFill>
                  <a:srgbClr val="FFD52F"/>
                </a:solidFill>
                <a:latin typeface="US Army"/>
              </a:rPr>
              <a:t>Break</a:t>
            </a:r>
          </a:p>
        </p:txBody>
      </p:sp>
      <p:sp>
        <p:nvSpPr>
          <p:cNvPr id="4" name="Title 3">
            <a:extLst>
              <a:ext uri="{FF2B5EF4-FFF2-40B4-BE49-F238E27FC236}">
                <a16:creationId xmlns:a16="http://schemas.microsoft.com/office/drawing/2014/main" id="{01A048BB-A2A8-474C-4FBB-CE37C94C4025}"/>
              </a:ext>
            </a:extLst>
          </p:cNvPr>
          <p:cNvSpPr>
            <a:spLocks noGrp="1"/>
          </p:cNvSpPr>
          <p:nvPr>
            <p:ph type="title"/>
          </p:nvPr>
        </p:nvSpPr>
        <p:spPr>
          <a:xfrm>
            <a:off x="2741259" y="3717890"/>
            <a:ext cx="6709482" cy="1034979"/>
          </a:xfrm>
        </p:spPr>
        <p:txBody>
          <a:bodyPr anchor="ctr">
            <a:normAutofit/>
          </a:bodyPr>
          <a:lstStyle/>
          <a:p>
            <a:r>
              <a:rPr lang="en-US" b="1" dirty="0">
                <a:solidFill>
                  <a:schemeClr val="bg1"/>
                </a:solidFill>
                <a:latin typeface="US Army" panose="020B0506030202020204" pitchFamily="34" charset="0"/>
              </a:rPr>
              <a:t>ARTIFICIAL INTELLIGENCE INTEGRATION CENTER</a:t>
            </a:r>
            <a:endParaRPr lang="en-US" dirty="0"/>
          </a:p>
        </p:txBody>
      </p:sp>
      <p:sp>
        <p:nvSpPr>
          <p:cNvPr id="3" name="TextBox 2">
            <a:extLst>
              <a:ext uri="{FF2B5EF4-FFF2-40B4-BE49-F238E27FC236}">
                <a16:creationId xmlns:a16="http://schemas.microsoft.com/office/drawing/2014/main" id="{2075F506-C95D-6979-D895-144EC2677795}"/>
              </a:ext>
            </a:extLst>
          </p:cNvPr>
          <p:cNvSpPr txBox="1"/>
          <p:nvPr/>
        </p:nvSpPr>
        <p:spPr>
          <a:xfrm>
            <a:off x="0" y="0"/>
            <a:ext cx="9033468" cy="646331"/>
          </a:xfrm>
          <a:prstGeom prst="rect">
            <a:avLst/>
          </a:prstGeom>
          <a:noFill/>
        </p:spPr>
        <p:txBody>
          <a:bodyPr wrap="square" lIns="91440" tIns="45720" rIns="91440" bIns="45720" rtlCol="0" anchor="t">
            <a:spAutoFit/>
          </a:bodyPr>
          <a:lstStyle/>
          <a:p>
            <a:r>
              <a:rPr lang="en-US" b="1" dirty="0">
                <a:solidFill>
                  <a:schemeClr val="bg1"/>
                </a:solidFill>
                <a:latin typeface="US Army" panose="020B0506030202020204"/>
              </a:rPr>
              <a:t>CW3 Vic Fernandez III</a:t>
            </a:r>
          </a:p>
          <a:p>
            <a:r>
              <a:rPr lang="en-US" dirty="0">
                <a:solidFill>
                  <a:schemeClr val="bg1"/>
                </a:solidFill>
                <a:latin typeface="US Army" panose="020B0506030202020204"/>
              </a:rPr>
              <a:t>victor.fernandez19.mil@army.mil</a:t>
            </a:r>
          </a:p>
        </p:txBody>
      </p:sp>
    </p:spTree>
    <p:extLst>
      <p:ext uri="{BB962C8B-B14F-4D97-AF65-F5344CB8AC3E}">
        <p14:creationId xmlns:p14="http://schemas.microsoft.com/office/powerpoint/2010/main" val="2392885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A599B-FF76-6135-67C4-451B058505E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9E70C25-63B4-F2FF-6674-9F82252C0171}"/>
              </a:ext>
            </a:extLst>
          </p:cNvPr>
          <p:cNvSpPr txBox="1">
            <a:spLocks/>
          </p:cNvSpPr>
          <p:nvPr/>
        </p:nvSpPr>
        <p:spPr>
          <a:xfrm>
            <a:off x="838200" y="0"/>
            <a:ext cx="10515600" cy="1325563"/>
          </a:xfrm>
          <a:prstGeom prst="rect">
            <a:avLst/>
          </a:prstGeom>
        </p:spPr>
        <p:txBody>
          <a:bodyPr lIns="91440" tIns="45720" rIns="91440" bIns="45720" anchor="b"/>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r>
              <a:rPr lang="en-US" dirty="0">
                <a:solidFill>
                  <a:sysClr val="windowText" lastClr="000000"/>
                </a:solidFill>
                <a:latin typeface="US Army" panose="020B0506030202020204"/>
                <a:cs typeface="Arial"/>
              </a:rPr>
              <a:t>Quiz</a:t>
            </a:r>
            <a:endParaRPr lang="en-US" dirty="0"/>
          </a:p>
        </p:txBody>
      </p:sp>
      <p:sp>
        <p:nvSpPr>
          <p:cNvPr id="3" name="TextBox 2">
            <a:extLst>
              <a:ext uri="{FF2B5EF4-FFF2-40B4-BE49-F238E27FC236}">
                <a16:creationId xmlns:a16="http://schemas.microsoft.com/office/drawing/2014/main" id="{093D9CE5-E29D-9A9E-7A9C-CA7473CF29A4}"/>
              </a:ext>
            </a:extLst>
          </p:cNvPr>
          <p:cNvSpPr txBox="1"/>
          <p:nvPr/>
        </p:nvSpPr>
        <p:spPr>
          <a:xfrm>
            <a:off x="838199" y="1577263"/>
            <a:ext cx="10515600" cy="4524315"/>
          </a:xfrm>
          <a:prstGeom prst="rect">
            <a:avLst/>
          </a:prstGeom>
          <a:noFill/>
        </p:spPr>
        <p:txBody>
          <a:bodyPr wrap="square" rtlCol="0">
            <a:spAutoFit/>
          </a:bodyPr>
          <a:lstStyle/>
          <a:p>
            <a:r>
              <a:rPr lang="en-US" sz="2400" b="1" dirty="0">
                <a:latin typeface="US Army" panose="020B0506030202020204"/>
              </a:rPr>
              <a:t>What is are some examples of a value stream?</a:t>
            </a:r>
          </a:p>
          <a:p>
            <a:r>
              <a:rPr lang="en-US" sz="2400" dirty="0">
                <a:latin typeface="US Army" panose="020B0506030202020204"/>
              </a:rPr>
              <a:t>Physical manufacturing, food delivery, and software development. </a:t>
            </a:r>
          </a:p>
          <a:p>
            <a:endParaRPr lang="en-US" sz="2400" b="1" dirty="0">
              <a:latin typeface="US Army" panose="020B0506030202020204"/>
            </a:endParaRPr>
          </a:p>
          <a:p>
            <a:r>
              <a:rPr lang="en-US" sz="2400" b="1" dirty="0">
                <a:latin typeface="US Army" panose="020B0506030202020204"/>
              </a:rPr>
              <a:t>What are some examples of implementing the first principle of DevSecOps?</a:t>
            </a:r>
          </a:p>
          <a:p>
            <a:r>
              <a:rPr lang="en-US" sz="2400" dirty="0">
                <a:latin typeface="US Army" panose="020B0506030202020204"/>
              </a:rPr>
              <a:t>Continuous Build, Test, Integration, Delivery, and Deployment.</a:t>
            </a:r>
          </a:p>
          <a:p>
            <a:endParaRPr lang="en-US" sz="2400" b="1" dirty="0">
              <a:latin typeface="US Army" panose="020B0506030202020204"/>
            </a:endParaRPr>
          </a:p>
          <a:p>
            <a:r>
              <a:rPr lang="en-US" sz="2400" b="1" dirty="0">
                <a:latin typeface="US Army" panose="020B0506030202020204"/>
              </a:rPr>
              <a:t>What is are some examples of implementing the second principle of DevSecOps?</a:t>
            </a:r>
          </a:p>
          <a:p>
            <a:r>
              <a:rPr lang="en-US" sz="2400" dirty="0">
                <a:latin typeface="US Army" panose="020B0506030202020204"/>
              </a:rPr>
              <a:t>Continuous Monitoring (baking observability into an app).</a:t>
            </a:r>
            <a:endParaRPr lang="en-US" sz="2400" b="1" dirty="0">
              <a:latin typeface="US Army" panose="020B0506030202020204"/>
            </a:endParaRPr>
          </a:p>
          <a:p>
            <a:endParaRPr lang="en-US" sz="2400" b="1" dirty="0">
              <a:latin typeface="US Army" panose="020B0506030202020204"/>
            </a:endParaRPr>
          </a:p>
          <a:p>
            <a:r>
              <a:rPr lang="en-US" sz="2400" b="1" dirty="0">
                <a:latin typeface="US Army" panose="020B0506030202020204"/>
              </a:rPr>
              <a:t>What is are some examples of implementing the third principle of DevSecOps?</a:t>
            </a:r>
            <a:endParaRPr lang="en-US" sz="2400" dirty="0">
              <a:latin typeface="US Army" panose="020B0506030202020204"/>
            </a:endParaRPr>
          </a:p>
          <a:p>
            <a:r>
              <a:rPr lang="en-US" sz="2400" dirty="0">
                <a:latin typeface="US Army" panose="020B0506030202020204"/>
              </a:rPr>
              <a:t>Continuous Improvement (sprint retrospectives).</a:t>
            </a:r>
          </a:p>
          <a:p>
            <a:endParaRPr lang="en-US" sz="2400" dirty="0">
              <a:latin typeface="US Army" panose="020B0506030202020204"/>
            </a:endParaRPr>
          </a:p>
        </p:txBody>
      </p:sp>
    </p:spTree>
    <p:extLst>
      <p:ext uri="{BB962C8B-B14F-4D97-AF65-F5344CB8AC3E}">
        <p14:creationId xmlns:p14="http://schemas.microsoft.com/office/powerpoint/2010/main" val="334565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2636D-D505-E494-34B2-0C2F31BE0418}"/>
            </a:ext>
          </a:extLst>
        </p:cNvPr>
        <p:cNvGrpSpPr/>
        <p:nvPr/>
      </p:nvGrpSpPr>
      <p:grpSpPr>
        <a:xfrm>
          <a:off x="0" y="0"/>
          <a:ext cx="0" cy="0"/>
          <a:chOff x="0" y="0"/>
          <a:chExt cx="0" cy="0"/>
        </a:xfrm>
      </p:grpSpPr>
      <p:sp>
        <p:nvSpPr>
          <p:cNvPr id="2" name="Lorem ipsum sit lom dolor sit amet, Lorem ipsum sit lom dolor sit amet, consectetur sit amet adipiscing. Lorem ipsum sit.">
            <a:extLst>
              <a:ext uri="{FF2B5EF4-FFF2-40B4-BE49-F238E27FC236}">
                <a16:creationId xmlns:a16="http://schemas.microsoft.com/office/drawing/2014/main" id="{8E4F5114-0751-3C65-63C9-B241DE4281ED}"/>
              </a:ext>
            </a:extLst>
          </p:cNvPr>
          <p:cNvSpPr txBox="1"/>
          <p:nvPr/>
        </p:nvSpPr>
        <p:spPr>
          <a:xfrm>
            <a:off x="3647552" y="5021345"/>
            <a:ext cx="4893548"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t">
            <a:spAutoFit/>
          </a:bodyPr>
          <a:lstStyle/>
          <a:p>
            <a:pPr marL="0" indent="0" algn="ctr">
              <a:buFont typeface="Arial" panose="020B0604020202020204" pitchFamily="34" charset="0"/>
              <a:buNone/>
              <a:defRPr/>
            </a:pPr>
            <a:r>
              <a:rPr lang="en-US" sz="3200" b="1" dirty="0">
                <a:solidFill>
                  <a:srgbClr val="FFD52F"/>
                </a:solidFill>
                <a:latin typeface="US Army"/>
              </a:rPr>
              <a:t>Questions?</a:t>
            </a:r>
          </a:p>
        </p:txBody>
      </p:sp>
      <p:sp>
        <p:nvSpPr>
          <p:cNvPr id="4" name="Title 3">
            <a:extLst>
              <a:ext uri="{FF2B5EF4-FFF2-40B4-BE49-F238E27FC236}">
                <a16:creationId xmlns:a16="http://schemas.microsoft.com/office/drawing/2014/main" id="{4A7DEBA1-E126-98A7-825D-C7529586FD60}"/>
              </a:ext>
            </a:extLst>
          </p:cNvPr>
          <p:cNvSpPr>
            <a:spLocks noGrp="1"/>
          </p:cNvSpPr>
          <p:nvPr>
            <p:ph type="title"/>
          </p:nvPr>
        </p:nvSpPr>
        <p:spPr>
          <a:xfrm>
            <a:off x="2741259" y="3717890"/>
            <a:ext cx="6709482" cy="1034979"/>
          </a:xfrm>
        </p:spPr>
        <p:txBody>
          <a:bodyPr anchor="ctr">
            <a:normAutofit/>
          </a:bodyPr>
          <a:lstStyle/>
          <a:p>
            <a:r>
              <a:rPr lang="en-US" b="1" dirty="0">
                <a:solidFill>
                  <a:schemeClr val="bg1"/>
                </a:solidFill>
                <a:latin typeface="US Army" panose="020B0506030202020204" pitchFamily="34" charset="0"/>
              </a:rPr>
              <a:t>ARTIFICIAL INTELLIGENCE INTEGRATION CENTER</a:t>
            </a:r>
            <a:endParaRPr lang="en-US" dirty="0"/>
          </a:p>
        </p:txBody>
      </p:sp>
      <p:sp>
        <p:nvSpPr>
          <p:cNvPr id="3" name="TextBox 2">
            <a:extLst>
              <a:ext uri="{FF2B5EF4-FFF2-40B4-BE49-F238E27FC236}">
                <a16:creationId xmlns:a16="http://schemas.microsoft.com/office/drawing/2014/main" id="{EA09712F-8C21-203E-6DA1-C4F8FB83D860}"/>
              </a:ext>
            </a:extLst>
          </p:cNvPr>
          <p:cNvSpPr txBox="1"/>
          <p:nvPr/>
        </p:nvSpPr>
        <p:spPr>
          <a:xfrm>
            <a:off x="0" y="0"/>
            <a:ext cx="9033468" cy="646331"/>
          </a:xfrm>
          <a:prstGeom prst="rect">
            <a:avLst/>
          </a:prstGeom>
          <a:noFill/>
        </p:spPr>
        <p:txBody>
          <a:bodyPr wrap="square" lIns="91440" tIns="45720" rIns="91440" bIns="45720" rtlCol="0" anchor="t">
            <a:spAutoFit/>
          </a:bodyPr>
          <a:lstStyle/>
          <a:p>
            <a:r>
              <a:rPr lang="en-US" b="1" dirty="0">
                <a:solidFill>
                  <a:schemeClr val="bg1"/>
                </a:solidFill>
                <a:latin typeface="US Army" panose="020B0506030202020204"/>
              </a:rPr>
              <a:t>CW3 Vic Fernandez III</a:t>
            </a:r>
          </a:p>
          <a:p>
            <a:r>
              <a:rPr lang="en-US" dirty="0">
                <a:solidFill>
                  <a:schemeClr val="bg1"/>
                </a:solidFill>
                <a:latin typeface="US Army" panose="020B0506030202020204"/>
              </a:rPr>
              <a:t>victor.fernandez19.mil@army.mil</a:t>
            </a:r>
          </a:p>
        </p:txBody>
      </p:sp>
    </p:spTree>
    <p:extLst>
      <p:ext uri="{BB962C8B-B14F-4D97-AF65-F5344CB8AC3E}">
        <p14:creationId xmlns:p14="http://schemas.microsoft.com/office/powerpoint/2010/main" val="360936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409a30b-dac9-499f-8c12-c063c3a6bc32">
      <Terms xmlns="http://schemas.microsoft.com/office/infopath/2007/PartnerControls"/>
    </lcf76f155ced4ddcb4097134ff3c332f>
    <TaxCatchAll xmlns="30e49430-8f3a-4fb7-998a-1ed2a5346fa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DF1F8481386347ABF96E55D6D94A89" ma:contentTypeVersion="12" ma:contentTypeDescription="Create a new document." ma:contentTypeScope="" ma:versionID="7dd354d8aa0ec904d01b016ddb3e27f8">
  <xsd:schema xmlns:xsd="http://www.w3.org/2001/XMLSchema" xmlns:xs="http://www.w3.org/2001/XMLSchema" xmlns:p="http://schemas.microsoft.com/office/2006/metadata/properties" xmlns:ns2="0409a30b-dac9-499f-8c12-c063c3a6bc32" xmlns:ns3="30e49430-8f3a-4fb7-998a-1ed2a5346fac" targetNamespace="http://schemas.microsoft.com/office/2006/metadata/properties" ma:root="true" ma:fieldsID="d8dbc6957d7aa7e4eb869aae4f2c449b" ns2:_="" ns3:_="">
    <xsd:import namespace="0409a30b-dac9-499f-8c12-c063c3a6bc32"/>
    <xsd:import namespace="30e49430-8f3a-4fb7-998a-1ed2a5346fa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09a30b-dac9-499f-8c12-c063c3a6bc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c874fec-6985-468d-9a86-0194f6fd86d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0e49430-8f3a-4fb7-998a-1ed2a5346fa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a0468e1-bb67-4c04-90e1-564a3b60ff92}" ma:internalName="TaxCatchAll" ma:showField="CatchAllData" ma:web="30e49430-8f3a-4fb7-998a-1ed2a5346f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FE5412-6299-444F-B590-A414923A67BB}">
  <ds:schemaRefs>
    <ds:schemaRef ds:uri="http://schemas.microsoft.com/sharepoint/v3/contenttype/forms"/>
  </ds:schemaRefs>
</ds:datastoreItem>
</file>

<file path=customXml/itemProps2.xml><?xml version="1.0" encoding="utf-8"?>
<ds:datastoreItem xmlns:ds="http://schemas.openxmlformats.org/officeDocument/2006/customXml" ds:itemID="{109FEEFC-AE5B-4673-864A-92F39A712A69}">
  <ds:schemaRefs>
    <ds:schemaRef ds:uri="ef9d8c99-a6c2-4b65-8451-32ff9efcb598"/>
    <ds:schemaRef ds:uri="f9fa3ad2-c39b-4954-a22f-40ec4b5ca1b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0409a30b-dac9-499f-8c12-c063c3a6bc32"/>
    <ds:schemaRef ds:uri="30e49430-8f3a-4fb7-998a-1ed2a5346fac"/>
  </ds:schemaRefs>
</ds:datastoreItem>
</file>

<file path=customXml/itemProps3.xml><?xml version="1.0" encoding="utf-8"?>
<ds:datastoreItem xmlns:ds="http://schemas.openxmlformats.org/officeDocument/2006/customXml" ds:itemID="{7A94F02D-C86D-47F4-B417-8A43E8FBBE27}"/>
</file>

<file path=docMetadata/LabelInfo.xml><?xml version="1.0" encoding="utf-8"?>
<clbl:labelList xmlns:clbl="http://schemas.microsoft.com/office/2020/mipLabelMetadata">
  <clbl:label id="{554eecc5-e26c-4620-b240-5a8bb326c33d}" enabled="1" method="Standard" siteId="{fae6d70f-954b-4811-92b6-0530d6f84c43}" removed="0"/>
</clbl:labelList>
</file>

<file path=docProps/app.xml><?xml version="1.0" encoding="utf-8"?>
<Properties xmlns="http://schemas.openxmlformats.org/officeDocument/2006/extended-properties" xmlns:vt="http://schemas.openxmlformats.org/officeDocument/2006/docPropsVTypes">
  <Template>office theme</Template>
  <TotalTime>655</TotalTime>
  <Words>1532</Words>
  <Application>Microsoft Office PowerPoint</Application>
  <PresentationFormat>Widescreen</PresentationFormat>
  <Paragraphs>345</Paragraphs>
  <Slides>26</Slides>
  <Notes>22</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ARTIFICIAL INTELLIGENCE INTEGRATION CENTER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ARTIFICIAL INTELLIGENCE INTEGRATION CENTER</vt:lpstr>
      <vt:lpstr>PowerPoint Presentation</vt:lpstr>
      <vt:lpstr>PowerPoint Presentation</vt:lpstr>
      <vt:lpstr>PowerPoint Presentation</vt:lpstr>
      <vt:lpstr>PowerPoint Presentation</vt:lpstr>
      <vt:lpstr>PowerPoint Presentation</vt:lpstr>
      <vt:lpstr>ARTIFICIAL INTELLIGENCE INTEGRATION CENTER</vt:lpstr>
      <vt:lpstr>PowerPoint Presentation</vt:lpstr>
      <vt:lpstr>ARTIFICIAL INTELLIGENCE INTEGRATION CENTER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Fernandez, Victor  (Vic) III CW3 USARMY AFC AI2C (USA)</dc:creator>
  <cp:lastModifiedBy>Fernandez, Victor  (Vic) III CW3 USARMY AFC AI2C (USA)</cp:lastModifiedBy>
  <cp:revision>101</cp:revision>
  <dcterms:created xsi:type="dcterms:W3CDTF">2025-06-17T12:34:16Z</dcterms:created>
  <dcterms:modified xsi:type="dcterms:W3CDTF">2025-12-31T12:07:31Z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0x01010015DF1F8481386347ABF96E55D6D94A89</vt:lpwstr>
  </property>
  <property fmtid="{D5CDD505-2E9C-101B-9397-08002B2CF9AE}" pid="3" name="MediaServiceImageTags">
    <vt:lpwstr/>
  </property>
</Properties>
</file>