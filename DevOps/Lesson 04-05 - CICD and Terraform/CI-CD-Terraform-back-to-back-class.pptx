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81" r:id="rId24"/>
    <p:sldId id="283" r:id="rId25"/>
    <p:sldId id="282" r:id="rId26"/>
    <p:sldId id="284" r:id="rId27"/>
    <p:sldId id="286" r:id="rId28"/>
    <p:sldId id="285" r:id="rId29"/>
    <p:sldId id="280" r:id="rId30"/>
    <p:sldId id="279" r:id="rId31"/>
    <p:sldId id="287" r:id="rId32"/>
    <p:sldId id="278" r:id="rId3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70822"/>
  </p:normalViewPr>
  <p:slideViewPr>
    <p:cSldViewPr snapToGrid="0">
      <p:cViewPr varScale="1">
        <p:scale>
          <a:sx n="117" d="100"/>
          <a:sy n="117" d="100"/>
        </p:scale>
        <p:origin x="20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2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427" name="PlaceHolder 4"/>
          <p:cNvSpPr>
            <a:spLocks noGrp="1"/>
          </p:cNvSpPr>
          <p:nvPr>
            <p:ph type="dt" idx="6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28" name="PlaceHolder 5"/>
          <p:cNvSpPr>
            <a:spLocks noGrp="1"/>
          </p:cNvSpPr>
          <p:nvPr>
            <p:ph type="ftr" idx="6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9" name="PlaceHolder 6"/>
          <p:cNvSpPr>
            <a:spLocks noGrp="1"/>
          </p:cNvSpPr>
          <p:nvPr>
            <p:ph type="sldNum" idx="6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801D72-CB76-46F7-A9B9-82BC933CD2D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 the two classes as one workflow.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 Actions provides automated evidence for application changes.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Terraform provides plan evidence for infrastructure changes.</a:t>
            </a:r>
          </a:p>
        </p:txBody>
      </p:sp>
      <p:sp>
        <p:nvSpPr>
          <p:cNvPr id="558" name="PlaceHolder 3"/>
          <p:cNvSpPr>
            <a:spLocks noGrp="1"/>
          </p:cNvSpPr>
          <p:nvPr>
            <p:ph type="sldNum" idx="6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Pipelines: 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pipeline is a way to ensure everyone is following the same standards.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Normalize errors before the lab begins.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Students will hit indentation mistakes, missing dependencies, and failing tests.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habit we want is calm diagnosis from logs.</a:t>
            </a:r>
          </a:p>
        </p:txBody>
      </p:sp>
      <p:sp>
        <p:nvSpPr>
          <p:cNvPr id="561" name="PlaceHolder 3"/>
          <p:cNvSpPr>
            <a:spLocks noGrp="1"/>
          </p:cNvSpPr>
          <p:nvPr>
            <p:ph type="sldNum" idx="6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this slide as the closing resource list for students.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Terraform lab path intentionally avoids provider credentials and cloud cost.</a:t>
            </a:r>
          </a:p>
        </p:txBody>
      </p:sp>
      <p:sp>
        <p:nvSpPr>
          <p:cNvPr id="564" name="PlaceHolder 3"/>
          <p:cNvSpPr>
            <a:spLocks noGrp="1"/>
          </p:cNvSpPr>
          <p:nvPr>
            <p:ph type="sldNum" idx="6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 the handoff explicit: CI/CD is not only app deployment; it is a change-control habit.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Terraform gives infrastructure the same reviewable change path.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CI/CD is change management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Terraform is like building a lego set as code, its the instructions and also knows when there are changes to the infrastructure</a:t>
            </a:r>
          </a:p>
        </p:txBody>
      </p:sp>
      <p:sp>
        <p:nvSpPr>
          <p:cNvPr id="567" name="PlaceHolder 3"/>
          <p:cNvSpPr>
            <a:spLocks noGrp="1"/>
          </p:cNvSpPr>
          <p:nvPr>
            <p:ph type="sldNum" idx="6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teams say CI/CD when they only mean tests.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distinction to explain why approvals, artifacts, and verification belong in the conversation.</a:t>
            </a:r>
          </a:p>
        </p:txBody>
      </p:sp>
      <p:sp>
        <p:nvSpPr>
          <p:cNvPr id="570" name="PlaceHolder 3"/>
          <p:cNvSpPr>
            <a:spLocks noGrp="1"/>
          </p:cNvSpPr>
          <p:nvPr>
            <p:ph type="sldNum" idx="6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one bug-fix example moving through branch, pull request, checks, artifact, staging, and production.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where a human approval belongs in their environment.</a:t>
            </a:r>
          </a:p>
        </p:txBody>
      </p:sp>
      <p:sp>
        <p:nvSpPr>
          <p:cNvPr id="573" name="PlaceHolder 3"/>
          <p:cNvSpPr>
            <a:spLocks noGrp="1"/>
          </p:cNvSpPr>
          <p:nvPr>
            <p:ph type="sldNum" idx="6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visual to connect Agile, CI/CD, and DevOps.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CI/CD is the technical path where quality checks, reviews, and release evidence become visible.</a:t>
            </a:r>
          </a:p>
        </p:txBody>
      </p:sp>
      <p:sp>
        <p:nvSpPr>
          <p:cNvPr id="576" name="PlaceHolder 3"/>
          <p:cNvSpPr>
            <a:spLocks noGrp="1"/>
          </p:cNvSpPr>
          <p:nvPr>
            <p:ph type="sldNum" idx="7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students will name speed first.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out that traceability and repeatability often become the bigger operational value.</a:t>
            </a:r>
          </a:p>
        </p:txBody>
      </p:sp>
      <p:sp>
        <p:nvSpPr>
          <p:cNvPr id="579" name="PlaceHolder 3"/>
          <p:cNvSpPr>
            <a:spLocks noGrp="1"/>
          </p:cNvSpPr>
          <p:nvPr>
            <p:ph type="sldNum" idx="7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important shift is from 'I ran it on my machine' to 'the repository can prove this change.'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to the workflow run as the shared source of evidence.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Time:https://github.com/CyberDave80/CI/blob/main/.github/workflows/learn-ci.yml</a:t>
            </a:r>
          </a:p>
        </p:txBody>
      </p:sp>
      <p:sp>
        <p:nvSpPr>
          <p:cNvPr id="582" name="PlaceHolder 3"/>
          <p:cNvSpPr>
            <a:spLocks noGrp="1"/>
          </p:cNvSpPr>
          <p:nvPr>
            <p:ph type="sldNum" idx="7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students point to each concept in the workflow file during the lab.</a:t>
            </a:r>
          </a:p>
        </p:txBody>
      </p:sp>
      <p:sp>
        <p:nvSpPr>
          <p:cNvPr id="585" name="PlaceHolder 3"/>
          <p:cNvSpPr>
            <a:spLocks noGrp="1"/>
          </p:cNvSpPr>
          <p:nvPr>
            <p:ph type="sldNum" idx="7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a minimal ci.yml file live rather than crowding this slide.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that YAML defines the automation; the runner executes it.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actions/checkout and actions/setup-python as examples if using the GitHub Skills lab.</a:t>
            </a:r>
          </a:p>
        </p:txBody>
      </p:sp>
      <p:sp>
        <p:nvSpPr>
          <p:cNvPr id="588" name="PlaceHolder 3"/>
          <p:cNvSpPr>
            <a:spLocks noGrp="1"/>
          </p:cNvSpPr>
          <p:nvPr>
            <p:ph type="sldNum" idx="7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official GitHub Skills lab if students do not already have a sample repository.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them intentionally break the test before fixing it.</a:t>
            </a:r>
          </a:p>
        </p:txBody>
      </p:sp>
      <p:sp>
        <p:nvSpPr>
          <p:cNvPr id="591" name="PlaceHolder 3"/>
          <p:cNvSpPr>
            <a:spLocks noGrp="1"/>
          </p:cNvSpPr>
          <p:nvPr>
            <p:ph type="sldNum" idx="7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 this to the lab: the workflow run becomes part of the merge decision.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students have limited repository permissions, demo this part instead of requiring every student to configure it.</a:t>
            </a:r>
          </a:p>
        </p:txBody>
      </p:sp>
      <p:sp>
        <p:nvSpPr>
          <p:cNvPr id="594" name="PlaceHolder 3"/>
          <p:cNvSpPr>
            <a:spLocks noGrp="1"/>
          </p:cNvSpPr>
          <p:nvPr>
            <p:ph type="sldNum" idx="7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Students often read only the last red line.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a calm log-reading workflow during the lab.</a:t>
            </a:r>
          </a:p>
        </p:txBody>
      </p:sp>
      <p:sp>
        <p:nvSpPr>
          <p:cNvPr id="597" name="PlaceHolder 3"/>
          <p:cNvSpPr>
            <a:spLocks noGrp="1"/>
          </p:cNvSpPr>
          <p:nvPr>
            <p:ph type="sldNum" idx="7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Frame the two classes as one workflow.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 Actions provides automated evidence for application changes.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Terraform provides plan evidence for infrastructure changes.</a:t>
            </a:r>
          </a:p>
        </p:txBody>
      </p:sp>
      <p:sp>
        <p:nvSpPr>
          <p:cNvPr id="600" name="PlaceHolder 3"/>
          <p:cNvSpPr>
            <a:spLocks noGrp="1"/>
          </p:cNvSpPr>
          <p:nvPr>
            <p:ph type="sldNum" idx="7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=tomUWcQ0P3k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2"/>
          </p:nvPr>
        </p:nvSpPr>
        <p:spPr/>
        <p:txBody>
          <a:bodyPr/>
          <a:lstStyle/>
          <a:p>
            <a:pPr indent="0" algn="r">
              <a:buNone/>
            </a:pPr>
            <a:fld id="{34801D72-CB76-46F7-A9B9-82BC933CD2D1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8127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588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84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Infrastructure as Code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 resources, providers, and configurations in Terraform configuration files.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variables, modules, and functions to make the code reusable and maintainable.</a:t>
            </a:r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 with Terraform community registries for ready-to-use modules.</a:t>
            </a:r>
          </a:p>
          <a:p>
            <a:pPr lvl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 Plan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Preview the changes Terraform will make to the infrastructure by running “terraform plan”. It can be triggered as part of a CI/CD pipeline.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 compares the desired state defined in the configuration file with the current state in the state file.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 Apply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“terraform apply” to create, update, or delete resources based on the plan.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 makes API calls to the specified providers (AWS, Azure, GCP, Kubernetes,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to provision the resources.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state file is updated to reflect the new state of the infrastructure.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 Ready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 state file acts as a single source of truth for the current state of the infrastructure.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file enables version control and collaboration between team members for future changes.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bridge slide between the two back-to-back classes.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Students should recognize the same change discipline before learning Terraform syntax.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Terraform has 3 resources and tracks changes through them</a:t>
            </a: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Your Terraform configuration files (.tf files) — what you want </a:t>
            </a:r>
          </a:p>
          <a:p>
            <a:pPr marL="432000" lvl="1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variables.tf → inputs (what you give Terraform) </a:t>
            </a:r>
          </a:p>
          <a:p>
            <a:pPr marL="432000" lvl="1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main.tf → resources (what Terraform builds) </a:t>
            </a:r>
          </a:p>
          <a:p>
            <a:pPr marL="432000" lvl="1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outputs.tf → results (what Terraform gives back)</a:t>
            </a: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The Terraform state file (terraform.tfstate) — what Terraform believes exists (after Apply)</a:t>
            </a: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The actual infrastructure (AWS/Azure/GCP APIs) — what really exists</a:t>
            </a: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7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End with the common discipline, not the specific tools.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Ask students to name one manual step in their current workflow that can become a checked, reviewable automation. Pull up the repo.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Primary teaching file: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+mn-lt"/>
              </a:rPr>
              <a:t>variables.tf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 — this is the safe, intended "change surface." 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Students change defaults for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+mn-lt"/>
              </a:rPr>
              <a:t>service_name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, environment,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+mn-lt"/>
              </a:rPr>
              <a:t>app_version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, or owner (or pass -var/-var-file on the CLI) and observe how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+mn-lt"/>
              </a:rPr>
              <a:t>main.tf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 and main.tf:1-12 react in the plan/apply/output.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For the module contract discussion (Lab 3), have them look at (but not necessarily edit)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+mn-lt"/>
              </a:rPr>
              <a:t>variables.tf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 and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+mn-lt"/>
              </a:rPr>
              <a:t>outputs.tf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 to see the inputs/outputs contract.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Advanced/optional: once comfortable, students can add a new run block to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+mn-lt"/>
              </a:rPr>
              <a:t>release.tftest.hcl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 to practice writing their own assertions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8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time is limited, run this as an instructor demo.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goal is to make the two classes feel like one workflow, not two unrelated tools.</a:t>
            </a:r>
          </a:p>
        </p:txBody>
      </p:sp>
      <p:sp>
        <p:nvSpPr>
          <p:cNvPr id="611" name="PlaceHolder 3"/>
          <p:cNvSpPr>
            <a:spLocks noGrp="1"/>
          </p:cNvSpPr>
          <p:nvPr>
            <p:ph type="sldNum" idx="8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closes the back-to-back loop.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same repository workflow can test application code and check Terraform configuration.</a:t>
            </a:r>
          </a:p>
        </p:txBody>
      </p:sp>
      <p:sp>
        <p:nvSpPr>
          <p:cNvPr id="614" name="PlaceHolder 3"/>
          <p:cNvSpPr>
            <a:spLocks noGrp="1"/>
          </p:cNvSpPr>
          <p:nvPr>
            <p:ph type="sldNum" idx="8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local lab, state is low risk.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real work, state can contain sensitive data and needs an appropriate backend, access control, and locking.</a:t>
            </a:r>
          </a:p>
        </p:txBody>
      </p:sp>
      <p:sp>
        <p:nvSpPr>
          <p:cNvPr id="617" name="PlaceHolder 3"/>
          <p:cNvSpPr>
            <a:spLocks noGrp="1"/>
          </p:cNvSpPr>
          <p:nvPr>
            <p:ph type="sldNum" idx="8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lightweight before the lab.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Variables, locals, and outputs are enough to make the first lab feel real without cloud access.</a:t>
            </a:r>
          </a:p>
        </p:txBody>
      </p:sp>
      <p:sp>
        <p:nvSpPr>
          <p:cNvPr id="629" name="PlaceHolder 3"/>
          <p:cNvSpPr>
            <a:spLocks noGrp="1"/>
          </p:cNvSpPr>
          <p:nvPr>
            <p:ph type="sldNum" idx="8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state early.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Students often treat state as an implementation detail, but it is central to how Terraform tracks managed objects.</a:t>
            </a:r>
          </a:p>
        </p:txBody>
      </p:sp>
      <p:sp>
        <p:nvSpPr>
          <p:cNvPr id="635" name="PlaceHolder 3"/>
          <p:cNvSpPr>
            <a:spLocks noGrp="1"/>
          </p:cNvSpPr>
          <p:nvPr>
            <p:ph type="sldNum" idx="8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same command rhythm in every lab.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goal is muscle memory around plan before apply.</a:t>
            </a:r>
          </a:p>
        </p:txBody>
      </p:sp>
      <p:sp>
        <p:nvSpPr>
          <p:cNvPr id="632" name="PlaceHolder 3"/>
          <p:cNvSpPr>
            <a:spLocks noGrp="1"/>
          </p:cNvSpPr>
          <p:nvPr>
            <p:ph type="sldNum" idx="8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Connect this directly to pull requests: both workflows ask for evidence before accepting change.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business value is not only automation; it is traceability and repeatability.</a:t>
            </a:r>
          </a:p>
        </p:txBody>
      </p:sp>
      <p:sp>
        <p:nvSpPr>
          <p:cNvPr id="638" name="PlaceHolder 3"/>
          <p:cNvSpPr>
            <a:spLocks noGrp="1"/>
          </p:cNvSpPr>
          <p:nvPr>
            <p:ph type="sldNum" idx="9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 clear that local training is not pretending to be cloud infrastructure.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isolates the Terraform workflow from credential, billing, and network complexity.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Reference: Terraform terraform_data stores values that follow a managed resource lifecycle.</a:t>
            </a:r>
          </a:p>
        </p:txBody>
      </p:sp>
      <p:sp>
        <p:nvSpPr>
          <p:cNvPr id="644" name="PlaceHolder 3"/>
          <p:cNvSpPr>
            <a:spLocks noGrp="1"/>
          </p:cNvSpPr>
          <p:nvPr>
            <p:ph type="sldNum" idx="9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Terraform 1.4 or later supports terraform_data.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you want terraform test provider mocking later, use a newer Terraform version, but this deck does not depend on mocking.</a:t>
            </a:r>
          </a:p>
        </p:txBody>
      </p:sp>
      <p:sp>
        <p:nvSpPr>
          <p:cNvPr id="641" name="PlaceHolder 3"/>
          <p:cNvSpPr>
            <a:spLocks noGrp="1"/>
          </p:cNvSpPr>
          <p:nvPr>
            <p:ph type="sldNum" idx="9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Have students predict the plan before apply.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Use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terraform_data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because it stores values in state without needing a cloud provider.</a:t>
            </a:r>
          </a:p>
        </p:txBody>
      </p:sp>
      <p:sp>
        <p:nvSpPr>
          <p:cNvPr id="626" name="PlaceHolder 3"/>
          <p:cNvSpPr>
            <a:spLocks noGrp="1"/>
          </p:cNvSpPr>
          <p:nvPr>
            <p:ph type="sldNum" idx="8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strongest link to CI/CD.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Terraform plan is the infrastructure equivalent of a reviewable test result and diff.</a:t>
            </a:r>
          </a:p>
        </p:txBody>
      </p:sp>
      <p:sp>
        <p:nvSpPr>
          <p:cNvPr id="623" name="PlaceHolder 3"/>
          <p:cNvSpPr>
            <a:spLocks noGrp="1"/>
          </p:cNvSpPr>
          <p:nvPr>
            <p:ph type="sldNum" idx="8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Teach modules as an interface, not just as folders.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Inputs and outputs are the contract between caller and module.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Modules are grouped together resources, so your code remains DRY (Don’t Repeat Yourself)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Terraform </a:t>
            </a:r>
            <a:r>
              <a:rPr lang="en-US" sz="1200" b="0" u="none" strike="noStrike" dirty="0" err="1">
                <a:solidFill>
                  <a:srgbClr val="000000"/>
                </a:solidFill>
                <a:effectLst/>
                <a:uFillTx/>
                <a:latin typeface="+mn-lt"/>
              </a:rPr>
              <a:t>init</a:t>
            </a: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 downloads modules into a local directory .terraform/modules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Use modules to provision resources which give outputs which we use in the main module outputs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62"/>
          </p:nvPr>
        </p:nvSpPr>
        <p:spPr/>
        <p:txBody>
          <a:bodyPr/>
          <a:lstStyle/>
          <a:p>
            <a:pPr indent="0" algn="r">
              <a:buNone/>
            </a:pPr>
            <a:fld id="{34801D72-CB76-46F7-A9B9-82BC933CD2D1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31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34792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Teach modules as an interface, not just as folders.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Inputs and outputs are the contract between caller and module.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Modules are grouped together resources, so your code remains DRY (Don’t Repeat Yourself)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Terraform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init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downloads modules into a local directory .terraform/modules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Use modules to provision resources which give outputs which we use in the main module outputs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8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;p1" hidden="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13;p1" hidden="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dt" idx="1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BE733B-B5B5-4590-AF0F-4B351EA1DC9C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Google Shape;324;p28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325;p28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Google Shape;326;p28"/>
          <p:cNvPicPr/>
          <p:nvPr/>
        </p:nvPicPr>
        <p:blipFill>
          <a:blip r:embed="rId4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dt" idx="3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sldNum" idx="4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9FCD66-3698-479E-92BB-31B4EBA2A4FC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6;p1" hidden="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Google Shape;13;p1" hidden="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dt" idx="5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sldNum" idx="6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C217CC-8DF2-42B6-895B-1D16217049A4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10760" y="-247788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10760" y="-261396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10760" y="-234252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6"/>
          <p:cNvSpPr>
            <a:spLocks noGrp="1"/>
          </p:cNvSpPr>
          <p:nvPr>
            <p:ph type="body"/>
          </p:nvPr>
        </p:nvSpPr>
        <p:spPr>
          <a:xfrm>
            <a:off x="410760" y="-220716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7"/>
          <p:cNvSpPr>
            <a:spLocks noGrp="1"/>
          </p:cNvSpPr>
          <p:nvPr>
            <p:ph type="body"/>
          </p:nvPr>
        </p:nvSpPr>
        <p:spPr>
          <a:xfrm>
            <a:off x="410760" y="-207144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8"/>
          <p:cNvSpPr>
            <a:spLocks noGrp="1"/>
          </p:cNvSpPr>
          <p:nvPr>
            <p:ph type="body"/>
          </p:nvPr>
        </p:nvSpPr>
        <p:spPr>
          <a:xfrm>
            <a:off x="1486080" y="-33876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9"/>
          <p:cNvSpPr>
            <a:spLocks noGrp="1"/>
          </p:cNvSpPr>
          <p:nvPr>
            <p:ph type="body"/>
          </p:nvPr>
        </p:nvSpPr>
        <p:spPr>
          <a:xfrm>
            <a:off x="1486080" y="-47448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10"/>
          <p:cNvSpPr>
            <a:spLocks noGrp="1"/>
          </p:cNvSpPr>
          <p:nvPr>
            <p:ph type="body"/>
          </p:nvPr>
        </p:nvSpPr>
        <p:spPr>
          <a:xfrm>
            <a:off x="1486080" y="-20304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" name="PlaceHolder 11"/>
          <p:cNvSpPr>
            <a:spLocks noGrp="1"/>
          </p:cNvSpPr>
          <p:nvPr>
            <p:ph type="body"/>
          </p:nvPr>
        </p:nvSpPr>
        <p:spPr>
          <a:xfrm>
            <a:off x="1486080" y="-6768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" name="PlaceHolder 12"/>
          <p:cNvSpPr>
            <a:spLocks noGrp="1"/>
          </p:cNvSpPr>
          <p:nvPr>
            <p:ph type="body"/>
          </p:nvPr>
        </p:nvSpPr>
        <p:spPr>
          <a:xfrm>
            <a:off x="1486080" y="6804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34" name="Google Shape;31;p3"/>
          <p:cNvPicPr/>
          <p:nvPr/>
        </p:nvPicPr>
        <p:blipFill>
          <a:blip r:embed="rId4"/>
          <a:stretch/>
        </p:blipFill>
        <p:spPr>
          <a:xfrm>
            <a:off x="183600" y="84600"/>
            <a:ext cx="2433600" cy="91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32;p3"/>
          <p:cNvPicPr/>
          <p:nvPr/>
        </p:nvPicPr>
        <p:blipFill>
          <a:blip r:embed="rId5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34;p3"/>
          <p:cNvSpPr/>
          <p:nvPr/>
        </p:nvSpPr>
        <p:spPr>
          <a:xfrm>
            <a:off x="411120" y="1480680"/>
            <a:ext cx="5379120" cy="1782000"/>
          </a:xfrm>
          <a:prstGeom prst="rect">
            <a:avLst/>
          </a:prstGeom>
          <a:noFill/>
          <a:ln w="19050">
            <a:solidFill>
              <a:srgbClr val="FFCC0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7" name="Google Shape;35;p3"/>
          <p:cNvCxnSpPr/>
          <p:nvPr/>
        </p:nvCxnSpPr>
        <p:spPr>
          <a:xfrm>
            <a:off x="411120" y="2749320"/>
            <a:ext cx="538092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cxnSp>
        <p:nvCxnSpPr>
          <p:cNvPr id="38" name="Google Shape;36;p3"/>
          <p:cNvCxnSpPr/>
          <p:nvPr/>
        </p:nvCxnSpPr>
        <p:spPr>
          <a:xfrm>
            <a:off x="3635280" y="2749320"/>
            <a:ext cx="1080" cy="51516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39" name="PlaceHolder 13"/>
          <p:cNvSpPr>
            <a:spLocks noGrp="1"/>
          </p:cNvSpPr>
          <p:nvPr>
            <p:ph type="title"/>
          </p:nvPr>
        </p:nvSpPr>
        <p:spPr>
          <a:xfrm>
            <a:off x="685800" y="1652040"/>
            <a:ext cx="482112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14"/>
          <p:cNvSpPr>
            <a:spLocks noGrp="1"/>
          </p:cNvSpPr>
          <p:nvPr>
            <p:ph type="body"/>
          </p:nvPr>
        </p:nvSpPr>
        <p:spPr>
          <a:xfrm>
            <a:off x="3909240" y="2838600"/>
            <a:ext cx="159768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Google Shape;40;p3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41;p3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6;p1" hidden="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Google Shape;13;p1" hidden="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dt" idx="7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sldNum" idx="8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07E45B-A09B-4898-9873-B3667CDB7099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Google Shape;333;p30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334;p30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Google Shape;335;p30"/>
          <p:cNvPicPr/>
          <p:nvPr/>
        </p:nvPicPr>
        <p:blipFill>
          <a:blip r:embed="rId4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6;p1" hidden="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Google Shape;13;p1" hidden="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Google Shape;337;p31"/>
          <p:cNvSpPr/>
          <p:nvPr/>
        </p:nvSpPr>
        <p:spPr>
          <a:xfrm>
            <a:off x="411120" y="1611720"/>
            <a:ext cx="8319960" cy="10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CC01"/>
                </a:solidFill>
                <a:effectLst/>
                <a:uFillTx/>
                <a:latin typeface="Arial"/>
                <a:ea typeface="Arial"/>
              </a:rPr>
              <a:t>THANK YOU.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411120" y="3614400"/>
            <a:ext cx="4023360" cy="102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dt" idx="9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sldNum" idx="10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36269B-0968-425B-A10C-EDC9791A154B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0" name="Google Shape;341;p31"/>
          <p:cNvPicPr/>
          <p:nvPr/>
        </p:nvPicPr>
        <p:blipFill>
          <a:blip r:embed="rId4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;p1" hidden="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Google Shape;13;p1" hidden="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oogle Shape;343;p32"/>
          <p:cNvPicPr/>
          <p:nvPr/>
        </p:nvPicPr>
        <p:blipFill>
          <a:blip r:embed="rId4"/>
          <a:stretch/>
        </p:blipFill>
        <p:spPr>
          <a:xfrm>
            <a:off x="2120400" y="1645920"/>
            <a:ext cx="4902480" cy="1850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11760" y="539640"/>
            <a:ext cx="8519400" cy="128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accent1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71EA2C-56D8-431F-AC49-FA9F6DD70861}" type="slidenum">
              <a:rPr lang="en-US" sz="1000" b="0" u="none" strike="noStrike">
                <a:solidFill>
                  <a:schemeClr val="accent1"/>
                </a:solidFill>
                <a:effectLst/>
                <a:uFillTx/>
                <a:latin typeface="Roboto"/>
                <a:ea typeface="Roboto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 - Imag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6;p1" hidden="1"/>
          <p:cNvPicPr/>
          <p:nvPr/>
        </p:nvPicPr>
        <p:blipFill>
          <a:blip r:embed="rId3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Google Shape;13;p1" hidden="1"/>
          <p:cNvPicPr/>
          <p:nvPr/>
        </p:nvPicPr>
        <p:blipFill>
          <a:blip r:embed="rId4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dt" idx="12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sldNum" idx="13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266596-1E4E-42E6-B9FB-9B2000D6A834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8" name="Google Shape;66;p5"/>
          <p:cNvPicPr/>
          <p:nvPr/>
        </p:nvPicPr>
        <p:blipFill>
          <a:blip r:embed="rId5"/>
          <a:stretch/>
        </p:blipFill>
        <p:spPr>
          <a:xfrm>
            <a:off x="183600" y="84600"/>
            <a:ext cx="2433600" cy="91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10760" y="-247788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410760" y="-261396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10760" y="-234252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410760" y="-220716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410760" y="-2071440"/>
            <a:ext cx="1000440" cy="1275984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4" name="PlaceHolder 8"/>
          <p:cNvSpPr>
            <a:spLocks noGrp="1"/>
          </p:cNvSpPr>
          <p:nvPr>
            <p:ph type="body"/>
          </p:nvPr>
        </p:nvSpPr>
        <p:spPr>
          <a:xfrm>
            <a:off x="1486080" y="-33876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5" name="PlaceHolder 9"/>
          <p:cNvSpPr>
            <a:spLocks noGrp="1"/>
          </p:cNvSpPr>
          <p:nvPr>
            <p:ph type="body"/>
          </p:nvPr>
        </p:nvSpPr>
        <p:spPr>
          <a:xfrm>
            <a:off x="1486080" y="-47448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6" name="PlaceHolder 10"/>
          <p:cNvSpPr>
            <a:spLocks noGrp="1"/>
          </p:cNvSpPr>
          <p:nvPr>
            <p:ph type="body"/>
          </p:nvPr>
        </p:nvSpPr>
        <p:spPr>
          <a:xfrm>
            <a:off x="1486080" y="-20304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11"/>
          <p:cNvSpPr>
            <a:spLocks noGrp="1"/>
          </p:cNvSpPr>
          <p:nvPr>
            <p:ph type="body"/>
          </p:nvPr>
        </p:nvSpPr>
        <p:spPr>
          <a:xfrm>
            <a:off x="1486080" y="-6768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8" name="PlaceHolder 12"/>
          <p:cNvSpPr>
            <a:spLocks noGrp="1"/>
          </p:cNvSpPr>
          <p:nvPr>
            <p:ph type="body"/>
          </p:nvPr>
        </p:nvSpPr>
        <p:spPr>
          <a:xfrm>
            <a:off x="1486080" y="68040"/>
            <a:ext cx="2342520" cy="8480880"/>
          </a:xfrm>
          <a:prstGeom prst="rect">
            <a:avLst/>
          </a:prstGeom>
          <a:solidFill>
            <a:schemeClr val="lt1">
              <a:alpha val="93000"/>
            </a:schemeClr>
          </a:solidFill>
          <a:ln w="9360">
            <a:solidFill>
              <a:schemeClr val="lt1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9" name="Google Shape;78;p5"/>
          <p:cNvSpPr/>
          <p:nvPr/>
        </p:nvSpPr>
        <p:spPr>
          <a:xfrm>
            <a:off x="411120" y="1480680"/>
            <a:ext cx="5379120" cy="1782000"/>
          </a:xfrm>
          <a:prstGeom prst="rect">
            <a:avLst/>
          </a:prstGeom>
          <a:noFill/>
          <a:ln w="19050">
            <a:solidFill>
              <a:srgbClr val="FFCC0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Google Shape;79;p5"/>
          <p:cNvCxnSpPr/>
          <p:nvPr/>
        </p:nvCxnSpPr>
        <p:spPr>
          <a:xfrm>
            <a:off x="411120" y="2749320"/>
            <a:ext cx="538092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cxnSp>
        <p:nvCxnSpPr>
          <p:cNvPr id="91" name="Google Shape;80;p5"/>
          <p:cNvCxnSpPr/>
          <p:nvPr/>
        </p:nvCxnSpPr>
        <p:spPr>
          <a:xfrm>
            <a:off x="3635280" y="2749320"/>
            <a:ext cx="1080" cy="51516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92" name="PlaceHolder 13"/>
          <p:cNvSpPr>
            <a:spLocks noGrp="1"/>
          </p:cNvSpPr>
          <p:nvPr>
            <p:ph type="title"/>
          </p:nvPr>
        </p:nvSpPr>
        <p:spPr>
          <a:xfrm>
            <a:off x="685800" y="1652040"/>
            <a:ext cx="482112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14"/>
          <p:cNvSpPr>
            <a:spLocks noGrp="1"/>
          </p:cNvSpPr>
          <p:nvPr>
            <p:ph type="body"/>
          </p:nvPr>
        </p:nvSpPr>
        <p:spPr>
          <a:xfrm>
            <a:off x="3909240" y="2838600"/>
            <a:ext cx="159768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94" name="Google Shape;84;p5"/>
          <p:cNvPicPr/>
          <p:nvPr/>
        </p:nvPicPr>
        <p:blipFill>
          <a:blip r:embed="rId6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Google Shape;85;p5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86;p5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8519400" cy="62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88637A-FC78-4743-A3D2-3F1CCFFD6BF3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11760" y="500760"/>
            <a:ext cx="3705480" cy="250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644720" y="500760"/>
            <a:ext cx="4165200" cy="409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9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D3E733-AC91-4D68-849B-CCFB336B6B90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and 4 Image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1873440" cy="92484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11480" y="2297520"/>
            <a:ext cx="187344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411480" y="2606040"/>
            <a:ext cx="1873440" cy="202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2571480" y="1200240"/>
            <a:ext cx="1873440" cy="92484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body"/>
          </p:nvPr>
        </p:nvSpPr>
        <p:spPr>
          <a:xfrm>
            <a:off x="2571480" y="2297520"/>
            <a:ext cx="187344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0" name="PlaceHolder 7"/>
          <p:cNvSpPr>
            <a:spLocks noGrp="1"/>
          </p:cNvSpPr>
          <p:nvPr>
            <p:ph type="body"/>
          </p:nvPr>
        </p:nvSpPr>
        <p:spPr>
          <a:xfrm>
            <a:off x="2571480" y="2606040"/>
            <a:ext cx="1873440" cy="202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1" name="PlaceHolder 8"/>
          <p:cNvSpPr>
            <a:spLocks noGrp="1"/>
          </p:cNvSpPr>
          <p:nvPr>
            <p:ph type="body"/>
          </p:nvPr>
        </p:nvSpPr>
        <p:spPr>
          <a:xfrm>
            <a:off x="4698000" y="1200240"/>
            <a:ext cx="1873440" cy="92484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2" name="PlaceHolder 9"/>
          <p:cNvSpPr>
            <a:spLocks noGrp="1"/>
          </p:cNvSpPr>
          <p:nvPr>
            <p:ph type="body"/>
          </p:nvPr>
        </p:nvSpPr>
        <p:spPr>
          <a:xfrm>
            <a:off x="4698000" y="2297520"/>
            <a:ext cx="187344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3" name="PlaceHolder 10"/>
          <p:cNvSpPr>
            <a:spLocks noGrp="1"/>
          </p:cNvSpPr>
          <p:nvPr>
            <p:ph type="body"/>
          </p:nvPr>
        </p:nvSpPr>
        <p:spPr>
          <a:xfrm>
            <a:off x="4698000" y="2606040"/>
            <a:ext cx="1873440" cy="202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4" name="PlaceHolder 11"/>
          <p:cNvSpPr>
            <a:spLocks noGrp="1"/>
          </p:cNvSpPr>
          <p:nvPr>
            <p:ph type="body"/>
          </p:nvPr>
        </p:nvSpPr>
        <p:spPr>
          <a:xfrm>
            <a:off x="6858000" y="1200240"/>
            <a:ext cx="1873440" cy="92484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5" name="PlaceHolder 12"/>
          <p:cNvSpPr>
            <a:spLocks noGrp="1"/>
          </p:cNvSpPr>
          <p:nvPr>
            <p:ph type="body"/>
          </p:nvPr>
        </p:nvSpPr>
        <p:spPr>
          <a:xfrm>
            <a:off x="6858000" y="2297520"/>
            <a:ext cx="187344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6" name="PlaceHolder 13"/>
          <p:cNvSpPr>
            <a:spLocks noGrp="1"/>
          </p:cNvSpPr>
          <p:nvPr>
            <p:ph type="body"/>
          </p:nvPr>
        </p:nvSpPr>
        <p:spPr>
          <a:xfrm>
            <a:off x="6858000" y="2606040"/>
            <a:ext cx="1873440" cy="202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7" name="PlaceHolder 14"/>
          <p:cNvSpPr>
            <a:spLocks noGrp="1"/>
          </p:cNvSpPr>
          <p:nvPr>
            <p:ph type="dt" idx="16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8" name="PlaceHolder 15"/>
          <p:cNvSpPr>
            <a:spLocks noGrp="1"/>
          </p:cNvSpPr>
          <p:nvPr>
            <p:ph type="sldNum" idx="17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D0C5EC-3B34-42D8-B511-16243A8A698F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Roboto"/>
                <a:ea typeface="Robot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4DCF84-7FE2-492A-85B8-76B0DC496306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80880" y="0"/>
            <a:ext cx="8380800" cy="85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380880" y="857160"/>
            <a:ext cx="8380800" cy="377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  <a:lvl2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2pPr>
            <a:lvl3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3pPr>
            <a:lvl4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4pPr>
            <a:lvl5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-309600" algn="l">
              <a:lnSpc>
                <a:spcPct val="95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9"/>
          </p:nvPr>
        </p:nvSpPr>
        <p:spPr>
          <a:xfrm>
            <a:off x="7086600" y="-216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1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5383BC-6DB3-4A76-86D9-BBFB3E7A5842}" type="slidenum">
              <a:rPr lang="en-US" sz="900" b="1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 Colum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402228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709160" y="1200240"/>
            <a:ext cx="402228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8" name="PlaceHolder 4"/>
          <p:cNvSpPr>
            <a:spLocks noGrp="1"/>
          </p:cNvSpPr>
          <p:nvPr>
            <p:ph type="dt" idx="20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49" name="PlaceHolder 5"/>
          <p:cNvSpPr>
            <a:spLocks noGrp="1"/>
          </p:cNvSpPr>
          <p:nvPr>
            <p:ph type="sldNum" idx="21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F66569-AC4D-4211-A428-ED14BB20E1CE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6;p1" hidden="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3" name="Google Shape;13;p1" hidden="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55" name="Google Shape;162;p13"/>
          <p:cNvCxnSpPr/>
          <p:nvPr/>
        </p:nvCxnSpPr>
        <p:spPr>
          <a:xfrm>
            <a:off x="411480" y="119988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156" name="Google Shape;163;p13"/>
          <p:cNvSpPr/>
          <p:nvPr/>
        </p:nvSpPr>
        <p:spPr>
          <a:xfrm>
            <a:off x="41148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11480" y="171468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58" name="Google Shape;165;p13"/>
          <p:cNvCxnSpPr/>
          <p:nvPr/>
        </p:nvCxnSpPr>
        <p:spPr>
          <a:xfrm>
            <a:off x="2560320" y="119988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159" name="Google Shape;166;p13"/>
          <p:cNvSpPr/>
          <p:nvPr/>
        </p:nvSpPr>
        <p:spPr>
          <a:xfrm>
            <a:off x="256032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2560320" y="171468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61" name="Google Shape;168;p13"/>
          <p:cNvCxnSpPr/>
          <p:nvPr/>
        </p:nvCxnSpPr>
        <p:spPr>
          <a:xfrm>
            <a:off x="4709160" y="119988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162" name="Google Shape;169;p13"/>
          <p:cNvSpPr/>
          <p:nvPr/>
        </p:nvSpPr>
        <p:spPr>
          <a:xfrm>
            <a:off x="470916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4709160" y="171468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64" name="Google Shape;171;p13"/>
          <p:cNvCxnSpPr/>
          <p:nvPr/>
        </p:nvCxnSpPr>
        <p:spPr>
          <a:xfrm>
            <a:off x="6858000" y="119988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165" name="Google Shape;172;p13"/>
          <p:cNvSpPr/>
          <p:nvPr/>
        </p:nvSpPr>
        <p:spPr>
          <a:xfrm>
            <a:off x="685800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body"/>
          </p:nvPr>
        </p:nvSpPr>
        <p:spPr>
          <a:xfrm>
            <a:off x="6858000" y="171468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67" name="Google Shape;174;p13"/>
          <p:cNvCxnSpPr/>
          <p:nvPr/>
        </p:nvCxnSpPr>
        <p:spPr>
          <a:xfrm>
            <a:off x="411480" y="291456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168" name="Google Shape;175;p13"/>
          <p:cNvSpPr/>
          <p:nvPr/>
        </p:nvSpPr>
        <p:spPr>
          <a:xfrm>
            <a:off x="411480" y="301752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body"/>
          </p:nvPr>
        </p:nvSpPr>
        <p:spPr>
          <a:xfrm>
            <a:off x="411480" y="342900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70" name="Google Shape;177;p13"/>
          <p:cNvCxnSpPr/>
          <p:nvPr/>
        </p:nvCxnSpPr>
        <p:spPr>
          <a:xfrm>
            <a:off x="2560320" y="291456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171" name="Google Shape;178;p13"/>
          <p:cNvSpPr/>
          <p:nvPr/>
        </p:nvSpPr>
        <p:spPr>
          <a:xfrm>
            <a:off x="2560320" y="301752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 type="body"/>
          </p:nvPr>
        </p:nvSpPr>
        <p:spPr>
          <a:xfrm>
            <a:off x="2560320" y="342900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73" name="Google Shape;180;p13"/>
          <p:cNvCxnSpPr/>
          <p:nvPr/>
        </p:nvCxnSpPr>
        <p:spPr>
          <a:xfrm>
            <a:off x="4709160" y="291456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174" name="Google Shape;181;p13"/>
          <p:cNvSpPr/>
          <p:nvPr/>
        </p:nvSpPr>
        <p:spPr>
          <a:xfrm>
            <a:off x="4709160" y="301752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8"/>
          <p:cNvSpPr>
            <a:spLocks noGrp="1"/>
          </p:cNvSpPr>
          <p:nvPr>
            <p:ph type="body"/>
          </p:nvPr>
        </p:nvSpPr>
        <p:spPr>
          <a:xfrm>
            <a:off x="4709160" y="342900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76" name="Google Shape;183;p13"/>
          <p:cNvCxnSpPr/>
          <p:nvPr/>
        </p:nvCxnSpPr>
        <p:spPr>
          <a:xfrm>
            <a:off x="6858000" y="291456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177" name="Google Shape;184;p13"/>
          <p:cNvSpPr/>
          <p:nvPr/>
        </p:nvSpPr>
        <p:spPr>
          <a:xfrm>
            <a:off x="6858000" y="301752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9"/>
          <p:cNvSpPr>
            <a:spLocks noGrp="1"/>
          </p:cNvSpPr>
          <p:nvPr>
            <p:ph type="body"/>
          </p:nvPr>
        </p:nvSpPr>
        <p:spPr>
          <a:xfrm>
            <a:off x="6858000" y="342900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9" name="PlaceHolder 10"/>
          <p:cNvSpPr>
            <a:spLocks noGrp="1"/>
          </p:cNvSpPr>
          <p:nvPr>
            <p:ph type="dt" idx="22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80" name="PlaceHolder 11"/>
          <p:cNvSpPr>
            <a:spLocks noGrp="1"/>
          </p:cNvSpPr>
          <p:nvPr>
            <p:ph type="sldNum" idx="23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7DA680-5929-48FB-AAC1-A02094162049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Google Shape;188;p13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189;p13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Google Shape;190;p13"/>
          <p:cNvPicPr/>
          <p:nvPr/>
        </p:nvPicPr>
        <p:blipFill>
          <a:blip r:embed="rId4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258660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3278160" y="1200240"/>
            <a:ext cx="258660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1" name="PlaceHolder 4"/>
          <p:cNvSpPr>
            <a:spLocks noGrp="1"/>
          </p:cNvSpPr>
          <p:nvPr>
            <p:ph type="body"/>
          </p:nvPr>
        </p:nvSpPr>
        <p:spPr>
          <a:xfrm>
            <a:off x="6144840" y="1200240"/>
            <a:ext cx="258660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2" name="PlaceHolder 5"/>
          <p:cNvSpPr>
            <a:spLocks noGrp="1"/>
          </p:cNvSpPr>
          <p:nvPr>
            <p:ph type="dt" idx="24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93" name="PlaceHolder 6"/>
          <p:cNvSpPr>
            <a:spLocks noGrp="1"/>
          </p:cNvSpPr>
          <p:nvPr>
            <p:ph type="sldNum" idx="25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E506BC-C3D1-44BF-B5FF-2C76EACBBB5B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 Colum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187344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2560320" y="1200240"/>
            <a:ext cx="187344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4709160" y="1200240"/>
            <a:ext cx="187344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2" name="PlaceHolder 5"/>
          <p:cNvSpPr>
            <a:spLocks noGrp="1"/>
          </p:cNvSpPr>
          <p:nvPr>
            <p:ph type="body"/>
          </p:nvPr>
        </p:nvSpPr>
        <p:spPr>
          <a:xfrm>
            <a:off x="6858000" y="1200240"/>
            <a:ext cx="187344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3" name="PlaceHolder 6"/>
          <p:cNvSpPr>
            <a:spLocks noGrp="1"/>
          </p:cNvSpPr>
          <p:nvPr>
            <p:ph type="dt" idx="26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04" name="PlaceHolder 7"/>
          <p:cNvSpPr>
            <a:spLocks noGrp="1"/>
          </p:cNvSpPr>
          <p:nvPr>
            <p:ph type="sldNum" idx="27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89E3F8-6DFF-40AD-8428-A9BD0FAD6B77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 Ico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417240" cy="415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11480" y="171432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2560320" y="1200240"/>
            <a:ext cx="417240" cy="41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3" name="PlaceHolder 5"/>
          <p:cNvSpPr>
            <a:spLocks noGrp="1"/>
          </p:cNvSpPr>
          <p:nvPr>
            <p:ph type="body"/>
          </p:nvPr>
        </p:nvSpPr>
        <p:spPr>
          <a:xfrm>
            <a:off x="2560320" y="171432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4" name="PlaceHolder 6"/>
          <p:cNvSpPr>
            <a:spLocks noGrp="1"/>
          </p:cNvSpPr>
          <p:nvPr>
            <p:ph type="body"/>
          </p:nvPr>
        </p:nvSpPr>
        <p:spPr>
          <a:xfrm>
            <a:off x="4709160" y="1200240"/>
            <a:ext cx="417240" cy="41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5" name="PlaceHolder 7"/>
          <p:cNvSpPr>
            <a:spLocks noGrp="1"/>
          </p:cNvSpPr>
          <p:nvPr>
            <p:ph type="body"/>
          </p:nvPr>
        </p:nvSpPr>
        <p:spPr>
          <a:xfrm>
            <a:off x="4709160" y="171432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6" name="PlaceHolder 8"/>
          <p:cNvSpPr>
            <a:spLocks noGrp="1"/>
          </p:cNvSpPr>
          <p:nvPr>
            <p:ph type="body"/>
          </p:nvPr>
        </p:nvSpPr>
        <p:spPr>
          <a:xfrm>
            <a:off x="6858000" y="1200240"/>
            <a:ext cx="417240" cy="41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7" name="PlaceHolder 9"/>
          <p:cNvSpPr>
            <a:spLocks noGrp="1"/>
          </p:cNvSpPr>
          <p:nvPr>
            <p:ph type="body"/>
          </p:nvPr>
        </p:nvSpPr>
        <p:spPr>
          <a:xfrm>
            <a:off x="6858000" y="171432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0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8" name="PlaceHolder 10"/>
          <p:cNvSpPr>
            <a:spLocks noGrp="1"/>
          </p:cNvSpPr>
          <p:nvPr>
            <p:ph type="dt" idx="28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19" name="PlaceHolder 11"/>
          <p:cNvSpPr>
            <a:spLocks noGrp="1"/>
          </p:cNvSpPr>
          <p:nvPr>
            <p:ph type="sldNum" idx="29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E9D503-F472-4BA6-9AEA-67F842BA9D18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6;p1" hidden="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Google Shape;13;p1" hidden="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25" name="Google Shape;127;p11"/>
          <p:cNvCxnSpPr/>
          <p:nvPr/>
        </p:nvCxnSpPr>
        <p:spPr>
          <a:xfrm>
            <a:off x="411480" y="119988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226" name="Google Shape;128;p11"/>
          <p:cNvSpPr/>
          <p:nvPr/>
        </p:nvSpPr>
        <p:spPr>
          <a:xfrm>
            <a:off x="41148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11480" y="171468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28" name="Google Shape;130;p11"/>
          <p:cNvCxnSpPr/>
          <p:nvPr/>
        </p:nvCxnSpPr>
        <p:spPr>
          <a:xfrm>
            <a:off x="2560320" y="119988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229" name="Google Shape;131;p11"/>
          <p:cNvSpPr/>
          <p:nvPr/>
        </p:nvSpPr>
        <p:spPr>
          <a:xfrm>
            <a:off x="256032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2560320" y="171468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31" name="Google Shape;133;p11"/>
          <p:cNvCxnSpPr/>
          <p:nvPr/>
        </p:nvCxnSpPr>
        <p:spPr>
          <a:xfrm>
            <a:off x="4709160" y="119988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232" name="Google Shape;134;p11"/>
          <p:cNvSpPr/>
          <p:nvPr/>
        </p:nvSpPr>
        <p:spPr>
          <a:xfrm>
            <a:off x="470916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body"/>
          </p:nvPr>
        </p:nvSpPr>
        <p:spPr>
          <a:xfrm>
            <a:off x="4709160" y="171468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34" name="Google Shape;136;p11"/>
          <p:cNvCxnSpPr/>
          <p:nvPr/>
        </p:nvCxnSpPr>
        <p:spPr>
          <a:xfrm>
            <a:off x="6858000" y="1199880"/>
            <a:ext cx="1875600" cy="1080"/>
          </a:xfrm>
          <a:prstGeom prst="straightConnector1">
            <a:avLst/>
          </a:prstGeom>
          <a:ln w="19050">
            <a:solidFill>
              <a:srgbClr val="FFCC01"/>
            </a:solidFill>
            <a:miter/>
          </a:ln>
        </p:spPr>
      </p:cxnSp>
      <p:sp>
        <p:nvSpPr>
          <p:cNvPr id="235" name="Google Shape;137;p11"/>
          <p:cNvSpPr/>
          <p:nvPr/>
        </p:nvSpPr>
        <p:spPr>
          <a:xfrm>
            <a:off x="685800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6858000" y="171468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7" name="PlaceHolder 6"/>
          <p:cNvSpPr>
            <a:spLocks noGrp="1"/>
          </p:cNvSpPr>
          <p:nvPr>
            <p:ph type="dt" idx="30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38" name="PlaceHolder 7"/>
          <p:cNvSpPr>
            <a:spLocks noGrp="1"/>
          </p:cNvSpPr>
          <p:nvPr>
            <p:ph type="sldNum" idx="31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EB81FC-9133-4CEF-A09A-BE3D101EC5D4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Google Shape;141;p1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142;p1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1" name="Google Shape;143;p11"/>
          <p:cNvPicPr/>
          <p:nvPr/>
        </p:nvPicPr>
        <p:blipFill>
          <a:blip r:embed="rId4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 Numbers - Whi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47" name="Google Shape;146;p12"/>
          <p:cNvCxnSpPr/>
          <p:nvPr/>
        </p:nvCxnSpPr>
        <p:spPr>
          <a:xfrm>
            <a:off x="411480" y="119988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48" name="Google Shape;147;p12"/>
          <p:cNvSpPr/>
          <p:nvPr/>
        </p:nvSpPr>
        <p:spPr>
          <a:xfrm>
            <a:off x="41148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411480" y="171468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50" name="Google Shape;149;p12"/>
          <p:cNvCxnSpPr/>
          <p:nvPr/>
        </p:nvCxnSpPr>
        <p:spPr>
          <a:xfrm>
            <a:off x="2560320" y="119988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51" name="Google Shape;150;p12"/>
          <p:cNvSpPr/>
          <p:nvPr/>
        </p:nvSpPr>
        <p:spPr>
          <a:xfrm>
            <a:off x="256032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2560320" y="171468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53" name="Google Shape;152;p12"/>
          <p:cNvCxnSpPr/>
          <p:nvPr/>
        </p:nvCxnSpPr>
        <p:spPr>
          <a:xfrm>
            <a:off x="4709160" y="119988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54" name="Google Shape;153;p12"/>
          <p:cNvSpPr/>
          <p:nvPr/>
        </p:nvSpPr>
        <p:spPr>
          <a:xfrm>
            <a:off x="470916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body"/>
          </p:nvPr>
        </p:nvSpPr>
        <p:spPr>
          <a:xfrm>
            <a:off x="4709160" y="171468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56" name="Google Shape;155;p12"/>
          <p:cNvCxnSpPr/>
          <p:nvPr/>
        </p:nvCxnSpPr>
        <p:spPr>
          <a:xfrm>
            <a:off x="6858000" y="119988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57" name="Google Shape;156;p12"/>
          <p:cNvSpPr/>
          <p:nvPr/>
        </p:nvSpPr>
        <p:spPr>
          <a:xfrm>
            <a:off x="685800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6858000" y="1714680"/>
            <a:ext cx="1873440" cy="291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9" name="PlaceHolder 6"/>
          <p:cNvSpPr>
            <a:spLocks noGrp="1"/>
          </p:cNvSpPr>
          <p:nvPr>
            <p:ph type="dt" idx="32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60" name="PlaceHolder 7"/>
          <p:cNvSpPr>
            <a:spLocks noGrp="1"/>
          </p:cNvSpPr>
          <p:nvPr>
            <p:ph type="sldNum" idx="33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4423D5-0460-4348-B7CA-32DBC8D579EA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 Numbers - Whi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66" name="Google Shape;193;p14"/>
          <p:cNvCxnSpPr/>
          <p:nvPr/>
        </p:nvCxnSpPr>
        <p:spPr>
          <a:xfrm>
            <a:off x="411480" y="119988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67" name="Google Shape;194;p14"/>
          <p:cNvSpPr/>
          <p:nvPr/>
        </p:nvSpPr>
        <p:spPr>
          <a:xfrm>
            <a:off x="41148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411480" y="171468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69" name="Google Shape;196;p14"/>
          <p:cNvCxnSpPr/>
          <p:nvPr/>
        </p:nvCxnSpPr>
        <p:spPr>
          <a:xfrm>
            <a:off x="2560320" y="119988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70" name="Google Shape;197;p14"/>
          <p:cNvSpPr/>
          <p:nvPr/>
        </p:nvSpPr>
        <p:spPr>
          <a:xfrm>
            <a:off x="256032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2560320" y="171468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72" name="Google Shape;199;p14"/>
          <p:cNvCxnSpPr/>
          <p:nvPr/>
        </p:nvCxnSpPr>
        <p:spPr>
          <a:xfrm>
            <a:off x="4709160" y="119988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73" name="Google Shape;200;p14"/>
          <p:cNvSpPr/>
          <p:nvPr/>
        </p:nvSpPr>
        <p:spPr>
          <a:xfrm>
            <a:off x="470916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 type="body"/>
          </p:nvPr>
        </p:nvSpPr>
        <p:spPr>
          <a:xfrm>
            <a:off x="4709160" y="171468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75" name="Google Shape;202;p14"/>
          <p:cNvCxnSpPr/>
          <p:nvPr/>
        </p:nvCxnSpPr>
        <p:spPr>
          <a:xfrm>
            <a:off x="6858000" y="119988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76" name="Google Shape;203;p14"/>
          <p:cNvSpPr/>
          <p:nvPr/>
        </p:nvSpPr>
        <p:spPr>
          <a:xfrm>
            <a:off x="6858000" y="130320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body"/>
          </p:nvPr>
        </p:nvSpPr>
        <p:spPr>
          <a:xfrm>
            <a:off x="6858000" y="171468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78" name="Google Shape;205;p14"/>
          <p:cNvCxnSpPr/>
          <p:nvPr/>
        </p:nvCxnSpPr>
        <p:spPr>
          <a:xfrm>
            <a:off x="411480" y="291456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79" name="Google Shape;206;p14"/>
          <p:cNvSpPr/>
          <p:nvPr/>
        </p:nvSpPr>
        <p:spPr>
          <a:xfrm>
            <a:off x="411480" y="301752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6"/>
          <p:cNvSpPr>
            <a:spLocks noGrp="1"/>
          </p:cNvSpPr>
          <p:nvPr>
            <p:ph type="body"/>
          </p:nvPr>
        </p:nvSpPr>
        <p:spPr>
          <a:xfrm>
            <a:off x="411480" y="342900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81" name="Google Shape;208;p14"/>
          <p:cNvCxnSpPr/>
          <p:nvPr/>
        </p:nvCxnSpPr>
        <p:spPr>
          <a:xfrm>
            <a:off x="2560320" y="291456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82" name="Google Shape;209;p14"/>
          <p:cNvSpPr/>
          <p:nvPr/>
        </p:nvSpPr>
        <p:spPr>
          <a:xfrm>
            <a:off x="2560320" y="301752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7"/>
          <p:cNvSpPr>
            <a:spLocks noGrp="1"/>
          </p:cNvSpPr>
          <p:nvPr>
            <p:ph type="body"/>
          </p:nvPr>
        </p:nvSpPr>
        <p:spPr>
          <a:xfrm>
            <a:off x="2560320" y="342900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84" name="Google Shape;211;p14"/>
          <p:cNvCxnSpPr/>
          <p:nvPr/>
        </p:nvCxnSpPr>
        <p:spPr>
          <a:xfrm>
            <a:off x="4709160" y="291456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85" name="Google Shape;212;p14"/>
          <p:cNvSpPr/>
          <p:nvPr/>
        </p:nvSpPr>
        <p:spPr>
          <a:xfrm>
            <a:off x="4709160" y="301752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8"/>
          <p:cNvSpPr>
            <a:spLocks noGrp="1"/>
          </p:cNvSpPr>
          <p:nvPr>
            <p:ph type="body"/>
          </p:nvPr>
        </p:nvSpPr>
        <p:spPr>
          <a:xfrm>
            <a:off x="4709160" y="342900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87" name="Google Shape;214;p14"/>
          <p:cNvCxnSpPr/>
          <p:nvPr/>
        </p:nvCxnSpPr>
        <p:spPr>
          <a:xfrm>
            <a:off x="6858000" y="2914560"/>
            <a:ext cx="1875600" cy="1080"/>
          </a:xfrm>
          <a:prstGeom prst="straightConnector1">
            <a:avLst/>
          </a:prstGeom>
          <a:ln w="19050">
            <a:solidFill>
              <a:srgbClr val="000000"/>
            </a:solidFill>
            <a:miter/>
          </a:ln>
        </p:spPr>
      </p:cxnSp>
      <p:sp>
        <p:nvSpPr>
          <p:cNvPr id="288" name="Google Shape;215;p14"/>
          <p:cNvSpPr/>
          <p:nvPr/>
        </p:nvSpPr>
        <p:spPr>
          <a:xfrm>
            <a:off x="6858000" y="3017520"/>
            <a:ext cx="18734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9"/>
          <p:cNvSpPr>
            <a:spLocks noGrp="1"/>
          </p:cNvSpPr>
          <p:nvPr>
            <p:ph type="body"/>
          </p:nvPr>
        </p:nvSpPr>
        <p:spPr>
          <a:xfrm>
            <a:off x="6858000" y="3429000"/>
            <a:ext cx="187344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0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0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0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0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90" name="PlaceHolder 10"/>
          <p:cNvSpPr>
            <a:spLocks noGrp="1"/>
          </p:cNvSpPr>
          <p:nvPr>
            <p:ph type="dt" idx="34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91" name="PlaceHolder 11"/>
          <p:cNvSpPr>
            <a:spLocks noGrp="1"/>
          </p:cNvSpPr>
          <p:nvPr>
            <p:ph type="sldNum" idx="35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620EEE-4453-422E-9CA8-D58C811F939E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 - Imag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PlaceHolder 1"/>
          <p:cNvSpPr>
            <a:spLocks noGrp="1"/>
          </p:cNvSpPr>
          <p:nvPr>
            <p:ph type="body"/>
          </p:nvPr>
        </p:nvSpPr>
        <p:spPr>
          <a:xfrm>
            <a:off x="0" y="171360"/>
            <a:ext cx="9142920" cy="4799520"/>
          </a:xfrm>
          <a:prstGeom prst="rect">
            <a:avLst/>
          </a:prstGeom>
          <a:solidFill>
            <a:srgbClr val="565557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97" name="PlaceHolder 2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89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8" name="PlaceHolder 3"/>
          <p:cNvSpPr>
            <a:spLocks noGrp="1"/>
          </p:cNvSpPr>
          <p:nvPr>
            <p:ph type="body"/>
          </p:nvPr>
        </p:nvSpPr>
        <p:spPr>
          <a:xfrm>
            <a:off x="411480" y="1611720"/>
            <a:ext cx="509544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9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9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9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99" name="PlaceHolder 4"/>
          <p:cNvSpPr>
            <a:spLocks noGrp="1"/>
          </p:cNvSpPr>
          <p:nvPr>
            <p:ph type="dt" idx="36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00" name="PlaceHolder 5"/>
          <p:cNvSpPr>
            <a:spLocks noGrp="1"/>
          </p:cNvSpPr>
          <p:nvPr>
            <p:ph type="sldNum" idx="37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8A6643-151D-4E39-A767-6D7249A3C68C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1" name="Google Shape;290;p22"/>
          <p:cNvPicPr/>
          <p:nvPr/>
        </p:nvPicPr>
        <p:blipFill>
          <a:blip r:embed="rId4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ull Imag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PlaceHolder 1"/>
          <p:cNvSpPr>
            <a:spLocks noGrp="1"/>
          </p:cNvSpPr>
          <p:nvPr>
            <p:ph type="body"/>
          </p:nvPr>
        </p:nvSpPr>
        <p:spPr>
          <a:xfrm>
            <a:off x="0" y="171360"/>
            <a:ext cx="9142920" cy="479952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07" name="PlaceHolder 2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8" name="PlaceHolder 3"/>
          <p:cNvSpPr>
            <a:spLocks noGrp="1"/>
          </p:cNvSpPr>
          <p:nvPr>
            <p:ph type="dt" idx="38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09" name="PlaceHolder 4"/>
          <p:cNvSpPr>
            <a:spLocks noGrp="1"/>
          </p:cNvSpPr>
          <p:nvPr>
            <p:ph type="sldNum" idx="39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7DCFCD-026A-4091-B0F6-9673215DD44C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0" name="Google Shape;224;p15"/>
          <p:cNvPicPr/>
          <p:nvPr/>
        </p:nvPicPr>
        <p:blipFill>
          <a:blip r:embed="rId4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and Image 0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402228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402228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7" name="PlaceHolder 3"/>
          <p:cNvSpPr>
            <a:spLocks noGrp="1"/>
          </p:cNvSpPr>
          <p:nvPr>
            <p:ph type="dt" idx="40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18" name="PlaceHolder 4"/>
          <p:cNvSpPr>
            <a:spLocks noGrp="1"/>
          </p:cNvSpPr>
          <p:nvPr>
            <p:ph type="sldNum" idx="41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060352-0FA2-4C0A-BAE9-5F969D2B99F2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5"/>
          <p:cNvSpPr>
            <a:spLocks noGrp="1"/>
          </p:cNvSpPr>
          <p:nvPr>
            <p:ph type="body"/>
          </p:nvPr>
        </p:nvSpPr>
        <p:spPr>
          <a:xfrm>
            <a:off x="4708440" y="807120"/>
            <a:ext cx="4023360" cy="382068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and Image 0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PlaceHolder 1"/>
          <p:cNvSpPr>
            <a:spLocks noGrp="1"/>
          </p:cNvSpPr>
          <p:nvPr>
            <p:ph type="body"/>
          </p:nvPr>
        </p:nvSpPr>
        <p:spPr>
          <a:xfrm>
            <a:off x="411480" y="308520"/>
            <a:ext cx="8319960" cy="233064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5" name="PlaceHolder 2"/>
          <p:cNvSpPr>
            <a:spLocks noGrp="1"/>
          </p:cNvSpPr>
          <p:nvPr>
            <p:ph type="title"/>
          </p:nvPr>
        </p:nvSpPr>
        <p:spPr>
          <a:xfrm>
            <a:off x="411480" y="2846160"/>
            <a:ext cx="402228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4709160" y="2846160"/>
            <a:ext cx="4022280" cy="178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7" name="PlaceHolder 4"/>
          <p:cNvSpPr>
            <a:spLocks noGrp="1"/>
          </p:cNvSpPr>
          <p:nvPr>
            <p:ph type="dt" idx="42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28" name="PlaceHolder 5"/>
          <p:cNvSpPr>
            <a:spLocks noGrp="1"/>
          </p:cNvSpPr>
          <p:nvPr>
            <p:ph type="sldNum" idx="43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306BA7-0475-4684-BAEF-545C56C3B19A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and 2 Image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4022280" cy="171360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411480" y="3086280"/>
            <a:ext cx="402228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411480" y="3394800"/>
            <a:ext cx="4022280" cy="123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9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9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9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98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7" name="PlaceHolder 5"/>
          <p:cNvSpPr>
            <a:spLocks noGrp="1"/>
          </p:cNvSpPr>
          <p:nvPr>
            <p:ph type="body"/>
          </p:nvPr>
        </p:nvSpPr>
        <p:spPr>
          <a:xfrm>
            <a:off x="4709160" y="1200240"/>
            <a:ext cx="4022280" cy="171360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8" name="PlaceHolder 6"/>
          <p:cNvSpPr>
            <a:spLocks noGrp="1"/>
          </p:cNvSpPr>
          <p:nvPr>
            <p:ph type="body"/>
          </p:nvPr>
        </p:nvSpPr>
        <p:spPr>
          <a:xfrm>
            <a:off x="4709160" y="3086280"/>
            <a:ext cx="402228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9" name="PlaceHolder 7"/>
          <p:cNvSpPr>
            <a:spLocks noGrp="1"/>
          </p:cNvSpPr>
          <p:nvPr>
            <p:ph type="body"/>
          </p:nvPr>
        </p:nvSpPr>
        <p:spPr>
          <a:xfrm>
            <a:off x="4709160" y="3394800"/>
            <a:ext cx="4022280" cy="123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9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9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9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98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0" name="PlaceHolder 8"/>
          <p:cNvSpPr>
            <a:spLocks noGrp="1"/>
          </p:cNvSpPr>
          <p:nvPr>
            <p:ph type="dt" idx="44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41" name="PlaceHolder 9"/>
          <p:cNvSpPr>
            <a:spLocks noGrp="1"/>
          </p:cNvSpPr>
          <p:nvPr>
            <p:ph type="sldNum" idx="45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AA227B-91EE-4BE1-85F0-4E75F582F36E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and 3 Image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5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2586600" cy="126756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8" name="PlaceHolder 3"/>
          <p:cNvSpPr>
            <a:spLocks noGrp="1"/>
          </p:cNvSpPr>
          <p:nvPr>
            <p:ph type="body"/>
          </p:nvPr>
        </p:nvSpPr>
        <p:spPr>
          <a:xfrm>
            <a:off x="411480" y="2640240"/>
            <a:ext cx="258660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9" name="PlaceHolder 4"/>
          <p:cNvSpPr>
            <a:spLocks noGrp="1"/>
          </p:cNvSpPr>
          <p:nvPr>
            <p:ph type="body"/>
          </p:nvPr>
        </p:nvSpPr>
        <p:spPr>
          <a:xfrm>
            <a:off x="411480" y="2949120"/>
            <a:ext cx="258660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9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9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9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98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0" name="PlaceHolder 5"/>
          <p:cNvSpPr>
            <a:spLocks noGrp="1"/>
          </p:cNvSpPr>
          <p:nvPr>
            <p:ph type="body"/>
          </p:nvPr>
        </p:nvSpPr>
        <p:spPr>
          <a:xfrm>
            <a:off x="3278160" y="1200240"/>
            <a:ext cx="2586600" cy="126756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1" name="PlaceHolder 6"/>
          <p:cNvSpPr>
            <a:spLocks noGrp="1"/>
          </p:cNvSpPr>
          <p:nvPr>
            <p:ph type="body"/>
          </p:nvPr>
        </p:nvSpPr>
        <p:spPr>
          <a:xfrm>
            <a:off x="3278160" y="2640240"/>
            <a:ext cx="258660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2" name="PlaceHolder 7"/>
          <p:cNvSpPr>
            <a:spLocks noGrp="1"/>
          </p:cNvSpPr>
          <p:nvPr>
            <p:ph type="body"/>
          </p:nvPr>
        </p:nvSpPr>
        <p:spPr>
          <a:xfrm>
            <a:off x="3278160" y="2949120"/>
            <a:ext cx="258660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9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9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9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98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3" name="PlaceHolder 8"/>
          <p:cNvSpPr>
            <a:spLocks noGrp="1"/>
          </p:cNvSpPr>
          <p:nvPr>
            <p:ph type="body"/>
          </p:nvPr>
        </p:nvSpPr>
        <p:spPr>
          <a:xfrm>
            <a:off x="6144840" y="1200240"/>
            <a:ext cx="2586600" cy="126756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4" name="PlaceHolder 9"/>
          <p:cNvSpPr>
            <a:spLocks noGrp="1"/>
          </p:cNvSpPr>
          <p:nvPr>
            <p:ph type="body"/>
          </p:nvPr>
        </p:nvSpPr>
        <p:spPr>
          <a:xfrm>
            <a:off x="6144840" y="2640240"/>
            <a:ext cx="258660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5" name="PlaceHolder 10"/>
          <p:cNvSpPr>
            <a:spLocks noGrp="1"/>
          </p:cNvSpPr>
          <p:nvPr>
            <p:ph type="body"/>
          </p:nvPr>
        </p:nvSpPr>
        <p:spPr>
          <a:xfrm>
            <a:off x="6144840" y="2949120"/>
            <a:ext cx="258660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9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99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99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998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998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6" name="PlaceHolder 11"/>
          <p:cNvSpPr>
            <a:spLocks noGrp="1"/>
          </p:cNvSpPr>
          <p:nvPr>
            <p:ph type="dt" idx="46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57" name="PlaceHolder 12"/>
          <p:cNvSpPr>
            <a:spLocks noGrp="1"/>
          </p:cNvSpPr>
          <p:nvPr>
            <p:ph type="sldNum" idx="47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48566B-7F50-4EFB-9442-5AA25ABCA62A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 - White 0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1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89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411480" y="1611720"/>
            <a:ext cx="5095440" cy="301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9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9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9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64" name="PlaceHolder 3"/>
          <p:cNvSpPr>
            <a:spLocks noGrp="1"/>
          </p:cNvSpPr>
          <p:nvPr>
            <p:ph type="dt" idx="48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65" name="PlaceHolder 4"/>
          <p:cNvSpPr>
            <a:spLocks noGrp="1"/>
          </p:cNvSpPr>
          <p:nvPr>
            <p:ph type="sldNum" idx="49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FD6B25-3910-4324-B58B-0CACACA112F3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 - Whi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9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PlaceHolder 1"/>
          <p:cNvSpPr>
            <a:spLocks noGrp="1"/>
          </p:cNvSpPr>
          <p:nvPr>
            <p:ph type="dt" idx="50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71" name="PlaceHolder 2"/>
          <p:cNvSpPr>
            <a:spLocks noGrp="1"/>
          </p:cNvSpPr>
          <p:nvPr>
            <p:ph type="sldNum" idx="51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A3F88E-714E-4BA4-8FFF-DBE3AB9C9E16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2" name="Google Shape;45;p4"/>
          <p:cNvPicPr/>
          <p:nvPr/>
        </p:nvPicPr>
        <p:blipFill>
          <a:blip r:embed="rId4"/>
          <a:stretch/>
        </p:blipFill>
        <p:spPr>
          <a:xfrm>
            <a:off x="135720" y="78840"/>
            <a:ext cx="2433600" cy="91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410760" y="-2477880"/>
            <a:ext cx="1000440" cy="127598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410760" y="-2613960"/>
            <a:ext cx="1000440" cy="127598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5" name="PlaceHolder 5"/>
          <p:cNvSpPr>
            <a:spLocks noGrp="1"/>
          </p:cNvSpPr>
          <p:nvPr>
            <p:ph type="body"/>
          </p:nvPr>
        </p:nvSpPr>
        <p:spPr>
          <a:xfrm>
            <a:off x="410760" y="-2342520"/>
            <a:ext cx="1000440" cy="127598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6" name="PlaceHolder 6"/>
          <p:cNvSpPr>
            <a:spLocks noGrp="1"/>
          </p:cNvSpPr>
          <p:nvPr>
            <p:ph type="body"/>
          </p:nvPr>
        </p:nvSpPr>
        <p:spPr>
          <a:xfrm>
            <a:off x="410760" y="-2207160"/>
            <a:ext cx="1000440" cy="127598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7" name="PlaceHolder 7"/>
          <p:cNvSpPr>
            <a:spLocks noGrp="1"/>
          </p:cNvSpPr>
          <p:nvPr>
            <p:ph type="body"/>
          </p:nvPr>
        </p:nvSpPr>
        <p:spPr>
          <a:xfrm>
            <a:off x="410760" y="-2071440"/>
            <a:ext cx="1000440" cy="1275984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8" name="PlaceHolder 8"/>
          <p:cNvSpPr>
            <a:spLocks noGrp="1"/>
          </p:cNvSpPr>
          <p:nvPr>
            <p:ph type="body"/>
          </p:nvPr>
        </p:nvSpPr>
        <p:spPr>
          <a:xfrm>
            <a:off x="1486080" y="-338760"/>
            <a:ext cx="2342520" cy="84808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9" name="PlaceHolder 9"/>
          <p:cNvSpPr>
            <a:spLocks noGrp="1"/>
          </p:cNvSpPr>
          <p:nvPr>
            <p:ph type="body"/>
          </p:nvPr>
        </p:nvSpPr>
        <p:spPr>
          <a:xfrm>
            <a:off x="1486080" y="-474480"/>
            <a:ext cx="2342520" cy="84808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80" name="PlaceHolder 10"/>
          <p:cNvSpPr>
            <a:spLocks noGrp="1"/>
          </p:cNvSpPr>
          <p:nvPr>
            <p:ph type="body"/>
          </p:nvPr>
        </p:nvSpPr>
        <p:spPr>
          <a:xfrm>
            <a:off x="1486080" y="-203040"/>
            <a:ext cx="2342520" cy="84808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81" name="PlaceHolder 11"/>
          <p:cNvSpPr>
            <a:spLocks noGrp="1"/>
          </p:cNvSpPr>
          <p:nvPr>
            <p:ph type="body"/>
          </p:nvPr>
        </p:nvSpPr>
        <p:spPr>
          <a:xfrm>
            <a:off x="1486080" y="-67680"/>
            <a:ext cx="2342520" cy="84808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82" name="PlaceHolder 12"/>
          <p:cNvSpPr>
            <a:spLocks noGrp="1"/>
          </p:cNvSpPr>
          <p:nvPr>
            <p:ph type="body"/>
          </p:nvPr>
        </p:nvSpPr>
        <p:spPr>
          <a:xfrm>
            <a:off x="1486080" y="68040"/>
            <a:ext cx="2342520" cy="8480880"/>
          </a:xfrm>
          <a:prstGeom prst="rect">
            <a:avLst/>
          </a:prstGeom>
          <a:noFill/>
          <a:ln w="9360">
            <a:solidFill>
              <a:srgbClr val="000000"/>
            </a:solidFill>
            <a:round/>
          </a:ln>
        </p:spPr>
        <p:txBody>
          <a:bodyPr lIns="91440" tIns="0" rIns="365760" bIns="0" anchor="ctr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83" name="Google Shape;57;p4"/>
          <p:cNvSpPr/>
          <p:nvPr/>
        </p:nvSpPr>
        <p:spPr>
          <a:xfrm>
            <a:off x="411120" y="1480680"/>
            <a:ext cx="5379120" cy="1782000"/>
          </a:xfrm>
          <a:prstGeom prst="rect">
            <a:avLst/>
          </a:prstGeom>
          <a:noFill/>
          <a:ln w="19050">
            <a:solidFill>
              <a:srgbClr val="22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84" name="Google Shape;58;p4"/>
          <p:cNvCxnSpPr/>
          <p:nvPr/>
        </p:nvCxnSpPr>
        <p:spPr>
          <a:xfrm>
            <a:off x="411120" y="2749320"/>
            <a:ext cx="5380920" cy="1080"/>
          </a:xfrm>
          <a:prstGeom prst="straightConnector1">
            <a:avLst/>
          </a:prstGeom>
          <a:ln w="19050">
            <a:solidFill>
              <a:srgbClr val="221F20"/>
            </a:solidFill>
            <a:miter/>
          </a:ln>
        </p:spPr>
      </p:cxnSp>
      <p:cxnSp>
        <p:nvCxnSpPr>
          <p:cNvPr id="385" name="Google Shape;59;p4"/>
          <p:cNvCxnSpPr/>
          <p:nvPr/>
        </p:nvCxnSpPr>
        <p:spPr>
          <a:xfrm>
            <a:off x="3633480" y="2749320"/>
            <a:ext cx="1080" cy="515160"/>
          </a:xfrm>
          <a:prstGeom prst="straightConnector1">
            <a:avLst/>
          </a:prstGeom>
          <a:ln w="19050">
            <a:solidFill>
              <a:srgbClr val="221F20"/>
            </a:solidFill>
            <a:miter/>
          </a:ln>
        </p:spPr>
      </p:cxnSp>
      <p:sp>
        <p:nvSpPr>
          <p:cNvPr id="386" name="PlaceHolder 13"/>
          <p:cNvSpPr>
            <a:spLocks noGrp="1"/>
          </p:cNvSpPr>
          <p:nvPr>
            <p:ph type="title"/>
          </p:nvPr>
        </p:nvSpPr>
        <p:spPr>
          <a:xfrm>
            <a:off x="685800" y="1652040"/>
            <a:ext cx="482112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7" name="PlaceHolder 14"/>
          <p:cNvSpPr>
            <a:spLocks noGrp="1"/>
          </p:cNvSpPr>
          <p:nvPr>
            <p:ph type="body"/>
          </p:nvPr>
        </p:nvSpPr>
        <p:spPr>
          <a:xfrm>
            <a:off x="3909240" y="2838600"/>
            <a:ext cx="159768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 - White 0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402300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411480" y="1200240"/>
            <a:ext cx="5095440" cy="342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9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9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9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94" name="PlaceHolder 3"/>
          <p:cNvSpPr>
            <a:spLocks noGrp="1"/>
          </p:cNvSpPr>
          <p:nvPr>
            <p:ph type="dt" idx="52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95" name="PlaceHolder 4"/>
          <p:cNvSpPr>
            <a:spLocks noGrp="1"/>
          </p:cNvSpPr>
          <p:nvPr>
            <p:ph type="sldNum" idx="53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B5330A-B434-4F82-977C-E1C60FD97E41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6;p1" hidden="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Google Shape;9;p1" hidden="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10;p1" hidden="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9" name="Google Shape;13;p1" hidden="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4023000" cy="89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411480" y="1611720"/>
            <a:ext cx="4023000" cy="301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96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96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96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9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9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96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2" name="PlaceHolder 3"/>
          <p:cNvSpPr>
            <a:spLocks noGrp="1"/>
          </p:cNvSpPr>
          <p:nvPr>
            <p:ph type="dt" idx="54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03" name="PlaceHolder 4"/>
          <p:cNvSpPr>
            <a:spLocks noGrp="1"/>
          </p:cNvSpPr>
          <p:nvPr>
            <p:ph type="sldNum" idx="55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338A89-974F-4594-A0D9-DE0A54655036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PlaceHolder 5"/>
          <p:cNvSpPr>
            <a:spLocks noGrp="1"/>
          </p:cNvSpPr>
          <p:nvPr>
            <p:ph type="body"/>
          </p:nvPr>
        </p:nvSpPr>
        <p:spPr>
          <a:xfrm>
            <a:off x="4708440" y="807120"/>
            <a:ext cx="4023360" cy="382068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5" name="Google Shape;307;p25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308;p25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EDIT CONTROL STATEMENT UNDER &gt; VIEW &gt; SLIDE MASTER &gt; SCROLL TO TOP &gt; CHANGE HEADER AND FOOTER</a:t>
            </a:r>
            <a:endParaRPr lang="en-US" sz="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7" name="Google Shape;309;p25"/>
          <p:cNvPicPr/>
          <p:nvPr/>
        </p:nvPicPr>
        <p:blipFill>
          <a:blip r:embed="rId4"/>
          <a:stretch/>
        </p:blipFill>
        <p:spPr>
          <a:xfrm>
            <a:off x="7503480" y="308520"/>
            <a:ext cx="1221120" cy="3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 - Half Image - Whi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4023000" cy="89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411480" y="1611720"/>
            <a:ext cx="4023000" cy="301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9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9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9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9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4" name="PlaceHolder 3"/>
          <p:cNvSpPr>
            <a:spLocks noGrp="1"/>
          </p:cNvSpPr>
          <p:nvPr>
            <p:ph type="body"/>
          </p:nvPr>
        </p:nvSpPr>
        <p:spPr>
          <a:xfrm>
            <a:off x="4708440" y="807120"/>
            <a:ext cx="4023360" cy="3820680"/>
          </a:xfrm>
          <a:prstGeom prst="rect">
            <a:avLst/>
          </a:prstGeom>
          <a:solidFill>
            <a:srgbClr val="D5D5D7"/>
          </a:solidFill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5" name="PlaceHolder 4"/>
          <p:cNvSpPr>
            <a:spLocks noGrp="1"/>
          </p:cNvSpPr>
          <p:nvPr>
            <p:ph type="dt" idx="56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16" name="PlaceHolder 5"/>
          <p:cNvSpPr>
            <a:spLocks noGrp="1"/>
          </p:cNvSpPr>
          <p:nvPr>
            <p:ph type="sldNum" idx="57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1A556C-60C7-4606-A2D2-68EA2C62B22E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6;p1"/>
          <p:cNvPicPr/>
          <p:nvPr/>
        </p:nvPicPr>
        <p:blipFill>
          <a:blip r:embed="rId2"/>
          <a:srcRect l="26277" t="69"/>
          <a:stretch/>
        </p:blipFill>
        <p:spPr>
          <a:xfrm>
            <a:off x="7821360" y="308520"/>
            <a:ext cx="91008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Google Shape;9;p1"/>
          <p:cNvSpPr/>
          <p:nvPr/>
        </p:nvSpPr>
        <p:spPr>
          <a:xfrm>
            <a:off x="1040040" y="497052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Google Shape;10;p1"/>
          <p:cNvSpPr/>
          <p:nvPr/>
        </p:nvSpPr>
        <p:spPr>
          <a:xfrm>
            <a:off x="1040040" y="0"/>
            <a:ext cx="7062840" cy="17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u="none" strike="noStrike">
                <a:solidFill>
                  <a:srgbClr val="2DAA27"/>
                </a:solidFill>
                <a:effectLst/>
                <a:uFillTx/>
                <a:latin typeface="Arial"/>
                <a:ea typeface="Arial"/>
              </a:rPr>
              <a:t>UNCLASSIFIED / GENERAL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0" name="Google Shape;13;p1"/>
          <p:cNvPicPr/>
          <p:nvPr/>
        </p:nvPicPr>
        <p:blipFill>
          <a:blip r:embed="rId3"/>
          <a:stretch/>
        </p:blipFill>
        <p:spPr>
          <a:xfrm>
            <a:off x="7444440" y="318240"/>
            <a:ext cx="375840" cy="35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2" name="PlaceHolder 2"/>
          <p:cNvSpPr>
            <a:spLocks noGrp="1"/>
          </p:cNvSpPr>
          <p:nvPr>
            <p:ph type="dt" idx="58"/>
          </p:nvPr>
        </p:nvSpPr>
        <p:spPr>
          <a:xfrm>
            <a:off x="410760" y="4971960"/>
            <a:ext cx="6166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23" name="PlaceHolder 3"/>
          <p:cNvSpPr>
            <a:spLocks noGrp="1"/>
          </p:cNvSpPr>
          <p:nvPr>
            <p:ph type="sldNum" idx="59"/>
          </p:nvPr>
        </p:nvSpPr>
        <p:spPr>
          <a:xfrm>
            <a:off x="8408160" y="4971960"/>
            <a:ext cx="330480" cy="170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0A9253-5DA4-4CD4-92F8-71F62E978C0D}" type="slidenum">
              <a:rPr lang="en-US" sz="52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5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85800" y="1652040"/>
            <a:ext cx="482112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CI/CD + Terraform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1" name="title-subtitle"/>
          <p:cNvSpPr/>
          <p:nvPr/>
        </p:nvSpPr>
        <p:spPr>
          <a:xfrm>
            <a:off x="781200" y="2247840"/>
            <a:ext cx="47613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3816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Back-to-back classes on reviewable software and infrastructure change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itle-key-topic"/>
          <p:cNvSpPr/>
          <p:nvPr/>
        </p:nvSpPr>
        <p:spPr>
          <a:xfrm>
            <a:off x="447840" y="3753000"/>
            <a:ext cx="913320" cy="1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CI/CD fundamentals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itle-key-topic"/>
          <p:cNvSpPr/>
          <p:nvPr/>
        </p:nvSpPr>
        <p:spPr>
          <a:xfrm>
            <a:off x="1533600" y="3753000"/>
            <a:ext cx="2132640" cy="1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Hands-on workflow lab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itle-key-topic"/>
          <p:cNvSpPr/>
          <p:nvPr/>
        </p:nvSpPr>
        <p:spPr>
          <a:xfrm>
            <a:off x="1533600" y="4105440"/>
            <a:ext cx="2132640" cy="1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Branch protection gates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Automation exposes the process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666720" y="1380960"/>
            <a:ext cx="7237800" cy="23803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8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 pipeline does not make a weak process strong.</a:t>
            </a:r>
            <a:endParaRPr lang="en-US" sz="15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8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It makes the process visible, repeatable, and easier to improve.</a:t>
            </a:r>
            <a:endParaRPr lang="en-US" sz="15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8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 failed run is useful feedback, not a personal failure.</a:t>
            </a:r>
            <a:endParaRPr lang="en-US" sz="15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8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The goal is a team that can change software safely.</a:t>
            </a:r>
            <a:endParaRPr lang="en-US" sz="158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References and lab resources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 fontScale="92500"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Day 1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GitHub Actions documentation: docs.github.com/actions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Workflow syntax: docs.github.com/actions/using-workflows/workflow-syntax-for-github-actions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GitHub Skills lab: github.com/skills/test-with-actions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Day 2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CLI commands: developer.hashicorp.com/terraform/cli/commands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terraform_data resource: developer.hashicorp.com/terraform/language/resources/terraform-data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values and modules: developer.hashicorp.com/terraform/language/values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9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RESOURCES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Back-to-back class flow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Part 1: CI/CD with GitHub Actions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Build a pull-request pipeline that tests code and protects merges.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Bridge: what evidence should exist before a change is accepted?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Part 2: Terraform without cloud access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Practice plan, apply, state, modules, and CI checks locally.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WORKSHOP MAP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CI/CD turns each change into evidence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514440" y="1162080"/>
            <a:ext cx="7809480" cy="32374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Continuous integration asks: does this change still work with the rest of the code?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Continuous delivery asks: is this change packaged and ready to release?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sng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Full Automation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Continuous deployment asks: can release happen automatically after all gates pass?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DevOps connects build, operate, secure, and support work into one visible path.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Picture 4"/>
          <p:cNvPicPr/>
          <p:nvPr/>
        </p:nvPicPr>
        <p:blipFill>
          <a:blip r:embed="rId3"/>
          <a:stretch/>
        </p:blipFill>
        <p:spPr>
          <a:xfrm>
            <a:off x="5619600" y="1095480"/>
            <a:ext cx="2761200" cy="137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PlaceHolder 1"/>
          <p:cNvSpPr>
            <a:spLocks noGrp="1"/>
          </p:cNvSpPr>
          <p:nvPr>
            <p:ph/>
          </p:nvPr>
        </p:nvSpPr>
        <p:spPr>
          <a:xfrm>
            <a:off x="380880" y="399960"/>
            <a:ext cx="5374800" cy="37612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115000"/>
              </a:lnSpc>
              <a:spcBef>
                <a:spcPts val="1417"/>
              </a:spcBef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000" b="1" u="sng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CI/CD is three related practices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115000"/>
              </a:lnSpc>
              <a:spcBef>
                <a:spcPts val="1417"/>
              </a:spcBef>
              <a:spcAft>
                <a:spcPts val="649"/>
              </a:spcAft>
              <a:buClr>
                <a:srgbClr val="221F20"/>
              </a:buClr>
              <a:buSzPct val="45000"/>
              <a:buFont typeface="Arial"/>
              <a:buAutoNum type="arabicPeriod"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CI: merge small changes often and test automatically.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115000"/>
              </a:lnSpc>
              <a:spcBef>
                <a:spcPts val="1417"/>
              </a:spcBef>
              <a:spcAft>
                <a:spcPts val="649"/>
              </a:spcAft>
              <a:buClr>
                <a:srgbClr val="221F20"/>
              </a:buClr>
              <a:buSzPct val="45000"/>
              <a:buFont typeface="Arial"/>
              <a:buAutoNum type="arabicPeriod"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Continuous delivery: keep a release-ready artifact with a human production gate.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>
              <a:lnSpc>
                <a:spcPct val="115000"/>
              </a:lnSpc>
              <a:spcBef>
                <a:spcPts val="1417"/>
              </a:spcBef>
              <a:spcAft>
                <a:spcPts val="649"/>
              </a:spcAft>
              <a:buClr>
                <a:srgbClr val="221F20"/>
              </a:buClr>
              <a:buSzPct val="45000"/>
              <a:buFont typeface="Arial"/>
              <a:buAutoNum type="arabicPeriod"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Continuous deployment: release automatically after every required gate passes.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 team can adopt these in stages; automation grows with trust.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DevOps is shared ownership of change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50" name="Picture 3"/>
          <p:cNvPicPr/>
          <p:nvPr/>
        </p:nvPicPr>
        <p:blipFill>
          <a:blip r:embed="rId3"/>
          <a:stretch/>
        </p:blipFill>
        <p:spPr>
          <a:xfrm>
            <a:off x="542880" y="976680"/>
            <a:ext cx="8057160" cy="3551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Automation changes the feedback loop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/>
          </p:nvPr>
        </p:nvSpPr>
        <p:spPr>
          <a:xfrm>
            <a:off x="514440" y="1162080"/>
            <a:ext cx="7809480" cy="32374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 fontScale="62500" lnSpcReduction="20000"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Fast feedback: problems appear while the change is still small.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Consistency: every change runs through the same checks.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Traceability: commits, runs, logs, artifacts, and approvals connect.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Quality gates: tests and reviews happen before merge.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Lower release stress: smaller changes are easier to reason about.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0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1. Write code on a branch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0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2. Commit and push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0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3. Open a pull request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0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4. GitHub Actions starts from the repository event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0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5. Runner checks out code and installs dependencies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0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6. Build, test, lint, and package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0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7. Required checks and review gate the merge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Num" idx="63"/>
          </p:nvPr>
        </p:nvSpPr>
        <p:spPr>
          <a:xfrm>
            <a:off x="7086600" y="-216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750" b="0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89F20D-243B-4816-BC16-D6A822A2405A}" type="slidenum">
              <a:rPr lang="en-US" sz="750" b="0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9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title"/>
          </p:nvPr>
        </p:nvSpPr>
        <p:spPr>
          <a:xfrm>
            <a:off x="552600" y="1066680"/>
            <a:ext cx="7619040" cy="32756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8. Deploy, verify, monitor, and recover when needed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4"/>
          <p:cNvSpPr/>
          <p:nvPr/>
        </p:nvSpPr>
        <p:spPr>
          <a:xfrm>
            <a:off x="380880" y="361800"/>
            <a:ext cx="6761520" cy="70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3816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 pipeline is a repeatable path from change to release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GitHub Actions has five core parts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/>
          </p:nvPr>
        </p:nvSpPr>
        <p:spPr>
          <a:xfrm>
            <a:off x="514440" y="1162080"/>
            <a:ext cx="7809480" cy="32374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Event: something happens in the repository.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  - Workflow: the YAML automation file that responds.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    - Runner: the machine that executes the job.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      - Job: A discrete set of steps executed sequentially on a single runner.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        - Step: An individual task, executing either a shell command or a pre-built action.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Artifact: a saved output from the run.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YAML is the pipeline's map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514440" y="1162080"/>
            <a:ext cx="7809480" cy="32374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name: human-readable workflow label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on: event that starts the workflow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jobs: one or more units of work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runs-on: runner operating system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steps: ordered actions and commands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uses: call a reusable action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run: execute a shell command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Example path: pull_request -&gt; test job -&gt; checkout -&gt; setup -&gt; test command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Lab: build a pull-request test pipeline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514440" y="1162080"/>
            <a:ext cx="7809480" cy="32374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Starter: https://github.com/skills/test-with-actions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Students will: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1. Create or fork the lab repository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2. Add .github/workflows/ci.yml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3. Trigger a workflow from a pull request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4. Read the workflow log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5. Fix a failing test and confirm the green check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Branch protection turns CI into a merge gate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514440" y="1162080"/>
            <a:ext cx="7809480" cy="32374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Protect the main branch from direct, unreviewed changes.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Require pull request review before merge.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Require the CI status check to pass.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Use clear job names so required checks are easy to select.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43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Keep deployment approval separate from test automation when risk is high.</a:t>
            </a:r>
            <a:endParaRPr lang="en-US" sz="143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7615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Troubleshoot the first useful error</a:t>
            </a:r>
            <a:endParaRPr lang="en-US" sz="22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514440" y="1162080"/>
            <a:ext cx="7809480" cy="323748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Start with the failing job, not the whole workflow.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Open the failed step and read upward to the first real error.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Separate YAML errors from dependency errors and test failures.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Check what changed in the commit.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Make one hypothesis, fix one thing, and run again.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685800" y="1652040"/>
            <a:ext cx="4821120" cy="9932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CI/CD + Terraform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7" name="title-subtitle 1"/>
          <p:cNvSpPr/>
          <p:nvPr/>
        </p:nvSpPr>
        <p:spPr>
          <a:xfrm>
            <a:off x="781200" y="2247840"/>
            <a:ext cx="476136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3816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Back-to-back classes on reviewable software and infrastructure change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itle-key-topic 1"/>
          <p:cNvSpPr/>
          <p:nvPr/>
        </p:nvSpPr>
        <p:spPr>
          <a:xfrm>
            <a:off x="447840" y="3753000"/>
            <a:ext cx="913320" cy="1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CI/CD fundamentals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itle-key-topic 2"/>
          <p:cNvSpPr/>
          <p:nvPr/>
        </p:nvSpPr>
        <p:spPr>
          <a:xfrm>
            <a:off x="1533600" y="3753000"/>
            <a:ext cx="2132640" cy="1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Hands-on workflow lab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itle-key-topic 3"/>
          <p:cNvSpPr/>
          <p:nvPr/>
        </p:nvSpPr>
        <p:spPr>
          <a:xfrm>
            <a:off x="1533600" y="4105440"/>
            <a:ext cx="2132640" cy="1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Branch protection gates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11480" y="308520"/>
            <a:ext cx="6172560" cy="684720"/>
          </a:xfrm>
        </p:spPr>
        <p:txBody>
          <a:bodyPr lIns="0" tIns="0" rIns="0" bIns="0" anchor="t">
            <a:normAutofit/>
          </a:bodyPr>
          <a:lstStyle/>
          <a:p>
            <a:r>
              <a:rPr lang="en-US" b="0" u="none" strike="noStrike" kern="1200" dirty="0">
                <a:effectLst/>
                <a:uFillTx/>
                <a:latin typeface="Arial"/>
                <a:ea typeface="+mj-ea"/>
                <a:cs typeface="+mj-cs"/>
              </a:rPr>
              <a:t>Terraform Barney Style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411480" y="1200240"/>
            <a:ext cx="4022280" cy="34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28600" indent="-3430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dirty="0">
                <a:solidFill>
                  <a:srgbClr val="000000"/>
                </a:solidFill>
                <a:latin typeface="Arial"/>
              </a:rPr>
              <a:t>Someone tells a construction worker “I want a house; here is the </a:t>
            </a:r>
            <a:r>
              <a:rPr lang="en-US" sz="128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plan</a:t>
            </a:r>
            <a:r>
              <a:rPr lang="en-US" sz="1280" dirty="0">
                <a:solidFill>
                  <a:srgbClr val="000000"/>
                </a:solidFill>
                <a:latin typeface="Arial"/>
              </a:rPr>
              <a:t>”</a:t>
            </a:r>
          </a:p>
          <a:p>
            <a:pPr marL="228600" indent="-3430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dirty="0">
                <a:solidFill>
                  <a:srgbClr val="000000"/>
                </a:solidFill>
                <a:latin typeface="Arial"/>
              </a:rPr>
              <a:t>Construction worker </a:t>
            </a:r>
            <a:r>
              <a:rPr lang="en-US" sz="1280" dirty="0" err="1">
                <a:solidFill>
                  <a:srgbClr val="000000"/>
                </a:solidFill>
                <a:latin typeface="Arial"/>
              </a:rPr>
              <a:t>a.k.a</a:t>
            </a:r>
            <a:r>
              <a:rPr lang="en-US" sz="1280" dirty="0">
                <a:solidFill>
                  <a:srgbClr val="000000"/>
                </a:solidFill>
                <a:latin typeface="Arial"/>
              </a:rPr>
              <a:t> Terraform says “okay this is what it will look like based on the documentation you wrote. </a:t>
            </a:r>
          </a:p>
          <a:p>
            <a:pPr marL="228600" indent="-3430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dirty="0">
                <a:solidFill>
                  <a:srgbClr val="000000"/>
                </a:solidFill>
                <a:latin typeface="Arial"/>
              </a:rPr>
              <a:t>“Do you want to </a:t>
            </a:r>
            <a:r>
              <a:rPr lang="en-US" sz="128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apply </a:t>
            </a:r>
            <a:r>
              <a:rPr lang="en-US" sz="1280" dirty="0">
                <a:solidFill>
                  <a:srgbClr val="000000"/>
                </a:solidFill>
                <a:latin typeface="Arial"/>
              </a:rPr>
              <a:t>any changes?“ Before I build say yes if it looks good.  </a:t>
            </a:r>
          </a:p>
          <a:p>
            <a:pPr marL="228600" indent="-3430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dirty="0">
                <a:solidFill>
                  <a:srgbClr val="000000"/>
                </a:solidFill>
                <a:latin typeface="Arial"/>
              </a:rPr>
              <a:t>User says “Yes” </a:t>
            </a:r>
          </a:p>
          <a:p>
            <a:pPr marL="228600" indent="-3430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80" dirty="0">
                <a:solidFill>
                  <a:srgbClr val="000000"/>
                </a:solidFill>
                <a:latin typeface="Arial"/>
              </a:rPr>
              <a:t>Terraform applies magic </a:t>
            </a:r>
          </a:p>
          <a:p>
            <a:pPr marL="228600" indent="-3430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28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 descr="Discover Various Blueprints for My House">
            <a:extLst>
              <a:ext uri="{FF2B5EF4-FFF2-40B4-BE49-F238E27FC236}">
                <a16:creationId xmlns:a16="http://schemas.microsoft.com/office/drawing/2014/main" id="{B0F8753D-BDBA-7D50-A499-1F5A7C01E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481" y="993240"/>
            <a:ext cx="2829117" cy="1927336"/>
          </a:xfrm>
          <a:prstGeom prst="rect">
            <a:avLst/>
          </a:prstGeom>
        </p:spPr>
      </p:pic>
      <p:pic>
        <p:nvPicPr>
          <p:cNvPr id="3" name="Picture 2" descr="54,800+ Run Down House Stock Photos, Pictures &amp; Royalty-Free Images - iStock">
            <a:extLst>
              <a:ext uri="{FF2B5EF4-FFF2-40B4-BE49-F238E27FC236}">
                <a16:creationId xmlns:a16="http://schemas.microsoft.com/office/drawing/2014/main" id="{9085CF26-8441-6314-AD51-7E708F2DF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481" y="2989346"/>
            <a:ext cx="2829116" cy="187961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380880" y="-720"/>
            <a:ext cx="8380800" cy="85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Terraform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72" name="Picture 471"/>
          <p:cNvPicPr/>
          <p:nvPr/>
        </p:nvPicPr>
        <p:blipFill>
          <a:blip r:embed="rId3"/>
          <a:stretch/>
        </p:blipFill>
        <p:spPr>
          <a:xfrm>
            <a:off x="2414159" y="-360"/>
            <a:ext cx="4177471" cy="5142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 fontScale="90000"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Transition: code checks and infrastructure plans are both evidence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GitHub Actions answers: did the application change pass the required checks?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plan answers: what infrastructure-like state would change if we apply this?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The second class reuses the same habit from the first class: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small change -&gt; automated check -&gt; readable difference -&gt; review -&gt; controlled apply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7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BRIDGE BETWEEN CLASSES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diagram-node"/>
          <p:cNvSpPr/>
          <p:nvPr/>
        </p:nvSpPr>
        <p:spPr>
          <a:xfrm>
            <a:off x="590400" y="291528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221F20"/>
          </a:solidFill>
          <a:ln w="9525">
            <a:solidFill>
              <a:srgbClr val="22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Change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diagram-arrow"/>
          <p:cNvSpPr/>
          <p:nvPr/>
        </p:nvSpPr>
        <p:spPr>
          <a:xfrm>
            <a:off x="1914120" y="3066393"/>
            <a:ext cx="189360" cy="189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65557"/>
          </a:solidFill>
          <a:ln w="0">
            <a:solidFill>
              <a:srgbClr val="5655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diagram-node"/>
          <p:cNvSpPr/>
          <p:nvPr/>
        </p:nvSpPr>
        <p:spPr>
          <a:xfrm>
            <a:off x="2143800" y="291528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FFCC01"/>
          </a:solidFill>
          <a:ln w="9525">
            <a:solidFill>
              <a:srgbClr val="FFCC0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Check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diagram-node"/>
          <p:cNvSpPr/>
          <p:nvPr/>
        </p:nvSpPr>
        <p:spPr>
          <a:xfrm>
            <a:off x="3695760" y="291528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221F20"/>
          </a:solidFill>
          <a:ln w="9525">
            <a:solidFill>
              <a:srgbClr val="22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Plan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diagram-node"/>
          <p:cNvSpPr/>
          <p:nvPr/>
        </p:nvSpPr>
        <p:spPr>
          <a:xfrm>
            <a:off x="5257800" y="291528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FFCC01"/>
          </a:solidFill>
          <a:ln w="9525">
            <a:solidFill>
              <a:srgbClr val="FFCC0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Review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666CF4-AF83-73D1-2E08-5952CC2FB221}"/>
              </a:ext>
            </a:extLst>
          </p:cNvPr>
          <p:cNvGrpSpPr/>
          <p:nvPr/>
        </p:nvGrpSpPr>
        <p:grpSpPr>
          <a:xfrm>
            <a:off x="3477960" y="3077280"/>
            <a:ext cx="3294360" cy="189360"/>
            <a:chOff x="3467160" y="2543040"/>
            <a:chExt cx="3294360" cy="189360"/>
          </a:xfrm>
        </p:grpSpPr>
        <p:sp>
          <p:nvSpPr>
            <p:cNvPr id="482" name="diagram-arrow"/>
            <p:cNvSpPr/>
            <p:nvPr/>
          </p:nvSpPr>
          <p:spPr>
            <a:xfrm>
              <a:off x="3467160" y="2543040"/>
              <a:ext cx="189360" cy="18936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565557"/>
            </a:solidFill>
            <a:ln w="0">
              <a:solidFill>
                <a:srgbClr val="565557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diagram-arrow"/>
            <p:cNvSpPr/>
            <p:nvPr/>
          </p:nvSpPr>
          <p:spPr>
            <a:xfrm>
              <a:off x="5019840" y="2543040"/>
              <a:ext cx="189360" cy="18936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565557"/>
            </a:solidFill>
            <a:ln w="0">
              <a:solidFill>
                <a:srgbClr val="565557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6" name="diagram-arrow"/>
            <p:cNvSpPr/>
            <p:nvPr/>
          </p:nvSpPr>
          <p:spPr>
            <a:xfrm>
              <a:off x="6572160" y="2543040"/>
              <a:ext cx="189360" cy="18936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565557"/>
            </a:solidFill>
            <a:ln w="0">
              <a:solidFill>
                <a:srgbClr val="565557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7" name="diagram-node"/>
          <p:cNvSpPr/>
          <p:nvPr/>
        </p:nvSpPr>
        <p:spPr>
          <a:xfrm>
            <a:off x="6858000" y="291528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221F20"/>
          </a:solidFill>
          <a:ln w="9525">
            <a:solidFill>
              <a:srgbClr val="22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Apply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The habit is the same across both classes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Write the intended change in code.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Run automated checks.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Preview the difference.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Review before merge or apply.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Keep the path repeatable enough that the next change is safer.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0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Capstone: one pull request, two safety nets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23324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Students make one pull request that includes: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An application change that must pass CI.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 Terraform change that must pass format, validate, and test or plan review.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The merge decision uses both signals.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4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INTEGRATED EXERCISE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diagram-node"/>
          <p:cNvSpPr/>
          <p:nvPr/>
        </p:nvSpPr>
        <p:spPr>
          <a:xfrm>
            <a:off x="669960" y="371484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221F20"/>
          </a:solidFill>
          <a:ln w="9525">
            <a:solidFill>
              <a:srgbClr val="22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diagram-arrow"/>
          <p:cNvSpPr/>
          <p:nvPr/>
        </p:nvSpPr>
        <p:spPr>
          <a:xfrm>
            <a:off x="1994040" y="3876840"/>
            <a:ext cx="189360" cy="189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65557"/>
          </a:solidFill>
          <a:ln w="0">
            <a:solidFill>
              <a:srgbClr val="5655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diagram-node"/>
          <p:cNvSpPr/>
          <p:nvPr/>
        </p:nvSpPr>
        <p:spPr>
          <a:xfrm>
            <a:off x="2222640" y="371484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FFCC01"/>
          </a:solidFill>
          <a:ln w="9525">
            <a:solidFill>
              <a:srgbClr val="FFCC0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App CI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diagram-arrow"/>
          <p:cNvSpPr/>
          <p:nvPr/>
        </p:nvSpPr>
        <p:spPr>
          <a:xfrm>
            <a:off x="3546720" y="3876840"/>
            <a:ext cx="189360" cy="189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65557"/>
          </a:solidFill>
          <a:ln w="0">
            <a:solidFill>
              <a:srgbClr val="5655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diagram-node"/>
          <p:cNvSpPr/>
          <p:nvPr/>
        </p:nvSpPr>
        <p:spPr>
          <a:xfrm>
            <a:off x="3775320" y="371484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221F20"/>
          </a:solidFill>
          <a:ln w="9525">
            <a:solidFill>
              <a:srgbClr val="22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TF checks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diagram-arrow"/>
          <p:cNvSpPr/>
          <p:nvPr/>
        </p:nvSpPr>
        <p:spPr>
          <a:xfrm>
            <a:off x="5099040" y="3876840"/>
            <a:ext cx="189360" cy="189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65557"/>
          </a:solidFill>
          <a:ln w="0">
            <a:solidFill>
              <a:srgbClr val="5655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diagram-node"/>
          <p:cNvSpPr/>
          <p:nvPr/>
        </p:nvSpPr>
        <p:spPr>
          <a:xfrm>
            <a:off x="5327640" y="371484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FFCC01"/>
          </a:solidFill>
          <a:ln w="9525">
            <a:solidFill>
              <a:srgbClr val="FFCC0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Review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diagram-arrow"/>
          <p:cNvSpPr/>
          <p:nvPr/>
        </p:nvSpPr>
        <p:spPr>
          <a:xfrm>
            <a:off x="6651720" y="3876840"/>
            <a:ext cx="189360" cy="189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65557"/>
          </a:solidFill>
          <a:ln w="0">
            <a:solidFill>
              <a:srgbClr val="56555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diagram-node"/>
          <p:cNvSpPr/>
          <p:nvPr/>
        </p:nvSpPr>
        <p:spPr>
          <a:xfrm>
            <a:off x="6880320" y="3714840"/>
            <a:ext cx="1284840" cy="513360"/>
          </a:xfrm>
          <a:prstGeom prst="roundRect">
            <a:avLst>
              <a:gd name="adj" fmla="val 14815"/>
            </a:avLst>
          </a:prstGeom>
          <a:solidFill>
            <a:srgbClr val="221F20"/>
          </a:solidFill>
          <a:ln w="9525">
            <a:solidFill>
              <a:srgbClr val="221F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95400" rIns="76320" bIns="7632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Merge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checks fit naturally into GitHub Actions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Pull request checks: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fmt -check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validate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plan or terraform test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Merge/apply path: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controlled branch, protected environment, approval, and state backend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7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CI/CD BRIDGE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code-snippet"/>
          <p:cNvSpPr/>
          <p:nvPr/>
        </p:nvSpPr>
        <p:spPr>
          <a:xfrm>
            <a:off x="552600" y="3213000"/>
            <a:ext cx="7619040" cy="1694520"/>
          </a:xfrm>
          <a:prstGeom prst="rect">
            <a:avLst/>
          </a:prstGeom>
          <a:solidFill>
            <a:srgbClr val="F7F7F5"/>
          </a:solidFill>
          <a:ln w="9525">
            <a:solidFill>
              <a:srgbClr val="D5D5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3200" tIns="114480" rIns="133200" bIns="954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init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fmt -check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validate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test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State is Terraform's memory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State records Terraform's last known object data.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The plan compares configuration with state.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Outputs help humans and automation read useful results.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Destroy cleans up managed objects from state and the target system.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Never treat state casually when real providers and secrets are involved.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2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STATE AND CLEANUP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code-snippet"/>
          <p:cNvSpPr/>
          <p:nvPr/>
        </p:nvSpPr>
        <p:spPr>
          <a:xfrm>
            <a:off x="479027" y="3037670"/>
            <a:ext cx="7619040" cy="1694520"/>
          </a:xfrm>
          <a:prstGeom prst="rect">
            <a:avLst/>
          </a:prstGeom>
          <a:solidFill>
            <a:srgbClr val="F7F7F5"/>
          </a:solidFill>
          <a:ln w="9525">
            <a:solidFill>
              <a:srgbClr val="D5D5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3200" tIns="114480" rIns="133200" bIns="954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 dirty="0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state list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 dirty="0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state show </a:t>
            </a:r>
            <a:r>
              <a:rPr lang="en-US" sz="980" b="0" u="none" strike="noStrike" dirty="0" err="1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terraform_data.release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 dirty="0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output -</a:t>
            </a:r>
            <a:r>
              <a:rPr lang="en-US" sz="980" b="0" u="none" strike="noStrike" dirty="0" err="1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json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 dirty="0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destroy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HCL gives Terraform a readable contract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Blocks group configuration.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Arguments assign values.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Variables define inputs.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Locals name reusable expressions.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Outputs expose useful results.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2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CONFIGURATION LANGUAGE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code-snippet"/>
          <p:cNvSpPr/>
          <p:nvPr/>
        </p:nvSpPr>
        <p:spPr>
          <a:xfrm>
            <a:off x="581040" y="3087180"/>
            <a:ext cx="7619040" cy="1694520"/>
          </a:xfrm>
          <a:prstGeom prst="rect">
            <a:avLst/>
          </a:prstGeom>
          <a:solidFill>
            <a:srgbClr val="F7F7F5"/>
          </a:solidFill>
          <a:ln w="9525">
            <a:solidFill>
              <a:srgbClr val="D5D5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3200" tIns="114480" rIns="133200" bIns="95400"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variable "environment" {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type    = string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default = "dev"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locals {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service_name = "checkout-${var.environment}"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output "service_name" {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value = local.service_name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has five core concepts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Configuration: what you want.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Providers: APIs Terraform talks to.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Resources: objects Terraform manages.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State: what Terraform believes exists.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Plan and apply: preview the difference, then execute intentionally.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2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MENTAL MODEL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The CLI workflow is the class rhythm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Initialize the working directory.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Format and validate the configuration.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Preview the proposed change.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Apply only after reading the plan.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Inspect outputs and state, then clean up.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7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TERRAFORM WORKFLOW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code-snippet"/>
          <p:cNvSpPr/>
          <p:nvPr/>
        </p:nvSpPr>
        <p:spPr>
          <a:xfrm>
            <a:off x="552600" y="3216668"/>
            <a:ext cx="7619040" cy="1694520"/>
          </a:xfrm>
          <a:prstGeom prst="rect">
            <a:avLst/>
          </a:prstGeom>
          <a:solidFill>
            <a:srgbClr val="F7F7F5"/>
          </a:solidFill>
          <a:ln w="9525">
            <a:solidFill>
              <a:srgbClr val="D5D5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3200" tIns="114480" rIns="133200" bIns="954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init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fmt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validate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plan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apply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output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state list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destroy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 fontScale="90000"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Infrastructure as code makes intended change visible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Manual changes are hard to review.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Click paths are hard to repeat.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Drift is hard to see.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Plans make proposed changes visible before execution.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State gives Terraform memory across runs.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6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WHY TERRAFORM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 dirty="0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without cloud access</a:t>
            </a:r>
            <a:endParaRPr lang="en-US" sz="217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is the infrastructure-as-code tool we will use to practice reviewable infrastructure change.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No AWS, Azure, GCP, or Kubernetes account is required.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We will use local state and Terraform's built-in terraform_data resource to learn the workflow safely.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4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TERRAFORM CLASS OPENING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Class setup and ground rules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Students need: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Terraform CLI 1.4 or later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A terminal, text editor, and Git repository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No provider credentials and no cloud account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35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Class rule: read every plan before apply.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0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HANDS-ON SETUP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 dirty="0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Lab 1: First Apply</a:t>
            </a:r>
            <a:endParaRPr lang="en-US" sz="217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r>
              <a:rPr lang="en-US" sz="1200" b="0" u="none" strike="noStrike" dirty="0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Goal: </a:t>
            </a:r>
            <a:r>
              <a:rPr lang="en-US" sz="1200" dirty="0"/>
              <a:t>This lab walks through the complete Terraform workflow from scratch.</a:t>
            </a:r>
          </a:p>
        </p:txBody>
      </p:sp>
      <p:sp>
        <p:nvSpPr>
          <p:cNvPr id="527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NO-CLOUD LAB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code-snippet"/>
          <p:cNvSpPr/>
          <p:nvPr/>
        </p:nvSpPr>
        <p:spPr>
          <a:xfrm>
            <a:off x="590400" y="2266920"/>
            <a:ext cx="7619040" cy="1694520"/>
          </a:xfrm>
          <a:prstGeom prst="rect">
            <a:avLst/>
          </a:prstGeom>
          <a:solidFill>
            <a:srgbClr val="F7F7F5"/>
          </a:solidFill>
          <a:ln w="9525">
            <a:solidFill>
              <a:srgbClr val="D5D5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3200" tIns="114480" rIns="133200" bIns="95400"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resource "terraform_data" "release" {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input = {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  name        = local.service_name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  environment = var.environment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  version     = var.app_version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output "release_record" {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value = terraform_data.release.output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Lab 2: change, re-plan, and explain the difference</a:t>
            </a:r>
            <a:endParaRPr lang="en-US" sz="217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Goal: see Terraform detect a configuration change.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Change app_version from 1.0.0 to 1.0.1.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Run plan before apply.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Explain what changed, what stayed the same, and where Terraform remembered the old value.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2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CHANGE MANAGEMENT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code-snippet"/>
          <p:cNvSpPr/>
          <p:nvPr/>
        </p:nvSpPr>
        <p:spPr>
          <a:xfrm>
            <a:off x="552600" y="2705040"/>
            <a:ext cx="7619040" cy="1694520"/>
          </a:xfrm>
          <a:prstGeom prst="rect">
            <a:avLst/>
          </a:prstGeom>
          <a:solidFill>
            <a:srgbClr val="F7F7F5"/>
          </a:solidFill>
          <a:ln w="9525">
            <a:solidFill>
              <a:srgbClr val="D5D5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3200" tIns="114480" rIns="133200" bIns="954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plan -var="app_version=1.0.1"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apply -var="app_version=1.0.1"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terraform show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FEF90D-912A-10C2-BB23-57BEB62B0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912" y="0"/>
            <a:ext cx="39781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07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380880" y="361800"/>
            <a:ext cx="6952320" cy="55152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170" b="1" u="none" strike="noStrike" dirty="0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Lab 3: modules turn repeated logic into an interface</a:t>
            </a:r>
            <a:endParaRPr lang="en-US" sz="217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552600" y="1181160"/>
            <a:ext cx="7675920" cy="3047040"/>
          </a:xfrm>
          <a:prstGeom prst="rect">
            <a:avLst/>
          </a:prstGeom>
          <a:noFill/>
          <a:ln w="0">
            <a:noFill/>
          </a:ln>
        </p:spPr>
        <p:txBody>
          <a:bodyPr lIns="0" tIns="0" rIns="38160" bIns="0" anchor="t">
            <a:normAutofit/>
          </a:bodyPr>
          <a:lstStyle/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Goal: move service-release logic into a child module.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Inputs define what the module needs.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Outputs define what the caller receives.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>
              <a:lnSpc>
                <a:spcPct val="95000"/>
              </a:lnSpc>
              <a:spcBef>
                <a:spcPts val="751"/>
              </a:spcBef>
              <a:spcAft>
                <a:spcPts val="649"/>
              </a:spcAft>
              <a:buNone/>
              <a:tabLst>
                <a:tab pos="0" algn="l"/>
              </a:tabLst>
            </a:pPr>
            <a:r>
              <a:rPr lang="en-US" sz="1240" b="0" u="none" strike="noStrike">
                <a:solidFill>
                  <a:srgbClr val="221F20"/>
                </a:solidFill>
                <a:effectLst/>
                <a:uFillTx/>
                <a:latin typeface="Arial"/>
                <a:ea typeface="Arial"/>
              </a:rPr>
              <a:t>The root module calls the child module with a source path.</a:t>
            </a:r>
            <a:endParaRPr lang="en-US" sz="124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7" name="modern-gold-rule"/>
          <p:cNvSpPr/>
          <p:nvPr/>
        </p:nvSpPr>
        <p:spPr>
          <a:xfrm>
            <a:off x="380880" y="914400"/>
            <a:ext cx="2094480" cy="46440"/>
          </a:xfrm>
          <a:prstGeom prst="rect">
            <a:avLst/>
          </a:prstGeom>
          <a:solidFill>
            <a:srgbClr val="FFCC01"/>
          </a:solidFill>
          <a:ln w="0">
            <a:solidFill>
              <a:srgbClr val="FFCC0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ection-label"/>
          <p:cNvSpPr/>
          <p:nvPr/>
        </p:nvSpPr>
        <p:spPr>
          <a:xfrm>
            <a:off x="380880" y="990720"/>
            <a:ext cx="4285080" cy="17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565557"/>
                </a:solidFill>
                <a:effectLst/>
                <a:uFillTx/>
                <a:latin typeface="Arial"/>
                <a:ea typeface="Arial"/>
              </a:rPr>
              <a:t>MODULES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code-snippet"/>
          <p:cNvSpPr/>
          <p:nvPr/>
        </p:nvSpPr>
        <p:spPr>
          <a:xfrm>
            <a:off x="581040" y="2705040"/>
            <a:ext cx="7619040" cy="1694520"/>
          </a:xfrm>
          <a:prstGeom prst="rect">
            <a:avLst/>
          </a:prstGeom>
          <a:solidFill>
            <a:srgbClr val="F7F7F5"/>
          </a:solidFill>
          <a:ln w="9525">
            <a:solidFill>
              <a:srgbClr val="D5D5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3200" tIns="114480" rIns="133200" bIns="954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module "checkout" {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source      = "./modules/service"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name        = "checkout"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environment = var.environment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output "checkout_service" {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  value = module.checkout.service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1F2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Custom 1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</TotalTime>
  <Words>3154</Words>
  <Application>Microsoft Macintosh PowerPoint</Application>
  <PresentationFormat>On-screen Show (16:9)</PresentationFormat>
  <Paragraphs>376</Paragraphs>
  <Slides>32</Slides>
  <Notes>32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Roboto</vt:lpstr>
      <vt:lpstr>Symbol</vt:lpstr>
      <vt:lpstr>Arial</vt:lpstr>
      <vt:lpstr>Wingdings</vt:lpstr>
      <vt:lpstr>Times New Roman</vt:lpstr>
      <vt:lpstr>Courier New</vt:lpstr>
      <vt:lpstr>US Army 2023 AFC DEVCOM Logo</vt:lpstr>
      <vt:lpstr>CI/CD + Terraform</vt:lpstr>
      <vt:lpstr>Automation exposes the process</vt:lpstr>
      <vt:lpstr>References and lab resources</vt:lpstr>
      <vt:lpstr>Back-to-back class flow</vt:lpstr>
      <vt:lpstr>CI/CD turns each change into evidence</vt:lpstr>
      <vt:lpstr>PowerPoint Presentation</vt:lpstr>
      <vt:lpstr>DevOps is shared ownership of change</vt:lpstr>
      <vt:lpstr>Automation changes the feedback loop</vt:lpstr>
      <vt:lpstr>8. Deploy, verify, monitor, and recover when needed</vt:lpstr>
      <vt:lpstr>GitHub Actions has five core parts</vt:lpstr>
      <vt:lpstr>YAML is the pipeline's map</vt:lpstr>
      <vt:lpstr>Lab: build a pull-request test pipeline</vt:lpstr>
      <vt:lpstr>Branch protection turns CI into a merge gate</vt:lpstr>
      <vt:lpstr>Troubleshoot the first useful error</vt:lpstr>
      <vt:lpstr>CI/CD + Terraform</vt:lpstr>
      <vt:lpstr>Terraform Barney Style</vt:lpstr>
      <vt:lpstr>Terraform</vt:lpstr>
      <vt:lpstr>Transition: code checks and infrastructure plans are both evidence</vt:lpstr>
      <vt:lpstr>The habit is the same across both classes</vt:lpstr>
      <vt:lpstr>Capstone: one pull request, two safety nets</vt:lpstr>
      <vt:lpstr>Terraform checks fit naturally into GitHub Actions</vt:lpstr>
      <vt:lpstr>State is Terraform's memory</vt:lpstr>
      <vt:lpstr>HCL gives Terraform a readable contract</vt:lpstr>
      <vt:lpstr>Terraform has five core concepts</vt:lpstr>
      <vt:lpstr>The CLI workflow is the class rhythm</vt:lpstr>
      <vt:lpstr>Infrastructure as code makes intended change visible</vt:lpstr>
      <vt:lpstr>Terraform without cloud access</vt:lpstr>
      <vt:lpstr>Class setup and ground rules</vt:lpstr>
      <vt:lpstr>Lab 1: First Apply</vt:lpstr>
      <vt:lpstr>Lab 2: change, re-plan, and explain the difference</vt:lpstr>
      <vt:lpstr>PowerPoint Presentation</vt:lpstr>
      <vt:lpstr>Lab 3: modules turn repeated logic into an 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dc:description/>
  <cp:lastModifiedBy>David Gibbons</cp:lastModifiedBy>
  <cp:revision>7</cp:revision>
  <dcterms:created xsi:type="dcterms:W3CDTF">2026-07-13T14:36:13Z</dcterms:created>
  <dcterms:modified xsi:type="dcterms:W3CDTF">2026-07-29T19:15:11Z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