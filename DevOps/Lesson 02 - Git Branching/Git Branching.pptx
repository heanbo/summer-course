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5" r:id="rId10"/>
    <p:sldId id="267" r:id="rId11"/>
    <p:sldId id="264" r:id="rId12"/>
    <p:sldId id="275" r:id="rId13"/>
    <p:sldId id="262" r:id="rId14"/>
    <p:sldId id="269" r:id="rId15"/>
    <p:sldId id="271" r:id="rId16"/>
    <p:sldId id="270" r:id="rId17"/>
    <p:sldId id="273" r:id="rId18"/>
    <p:sldId id="276" r:id="rId19"/>
    <p:sldId id="277" r:id="rId20"/>
    <p:sldId id="272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04" autoAdjust="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https://lukemerrett.com/different-merge-types-in-git/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7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89F59313-85B6-6266-1399-CE301CA0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>
            <a:extLst>
              <a:ext uri="{FF2B5EF4-FFF2-40B4-BE49-F238E27FC236}">
                <a16:creationId xmlns:a16="http://schemas.microsoft.com/office/drawing/2014/main" id="{BB926082-7897-4984-C719-7B6C48ED1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>
            <a:extLst>
              <a:ext uri="{FF2B5EF4-FFF2-40B4-BE49-F238E27FC236}">
                <a16:creationId xmlns:a16="http://schemas.microsoft.com/office/drawing/2014/main" id="{1F366794-905F-8668-F137-4DE3DC447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70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24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89801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24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206518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24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141901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7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24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28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24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1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24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24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09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24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24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0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24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6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24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1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4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5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24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7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24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55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24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80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9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3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24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44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24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8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24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30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24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20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24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34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24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70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24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2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24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2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88035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5172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3431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1951-655E-3AEC-53F6-41EB0D24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DD75-8DF7-8685-8BDA-1E2D37A34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9D0B3-9249-8312-FE8A-C6DFCF200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73ACE-FED8-11D9-70C2-03FE7C65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FB979-78DD-1D2D-75E1-40CC96F7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82C58-95AB-49C0-97EE-60A6E942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35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42D0-F42C-A7AD-451A-4EE65018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6013-3C83-B03F-180D-3F23214C5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1CD4A-3A28-146E-C83F-F79EA416F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7822-0D3E-2524-6605-B1549F9F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55B03-2E61-3D01-E355-C160E3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FE4D-F4E1-835F-C314-1B8981F3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0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24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9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tty/jetty.project/network" TargetMode="External"/><Relationship Id="rId2" Type="http://schemas.openxmlformats.org/officeDocument/2006/relationships/hyperlink" Target="https://github.com/vuejs/core/networ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afe123/cmu-aegis-scholar/network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/Git-Branching-Basic-Branching-and-Merging" TargetMode="External"/><Relationship Id="rId2" Type="http://schemas.openxmlformats.org/officeDocument/2006/relationships/hyperlink" Target="https://git-scm.com/book/en/v2/Git-Branching-Branches-in-a-Nutshell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-scm.com/book/en/v2/Git-Tools-Advanced-Merging" TargetMode="External"/><Relationship Id="rId4" Type="http://schemas.openxmlformats.org/officeDocument/2006/relationships/hyperlink" Target="https://git-scm.com/book/en/v2/Git-Branching-Reba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8DE08-E9B7-C60E-54A9-B9C4CB0CF46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59550-E5DB-BC20-C81F-9EB6E3BDF3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9E274F-268E-C4ED-A309-77493A5AB6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DC52EC-EA38-5AC8-734C-86C48F1E57D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B337A7-6894-2467-BBC3-912DBFFF9B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04F4A-157C-C9CC-2860-3D7F9574FF6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72A5A1-0665-6040-2123-FF916F339B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49461E-2B6C-DE1B-DB28-8C910984054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C6CF32-32EC-0E10-E2F1-84000E2DBFF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D28072-55C9-BB90-EFEF-3FBA9F77665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Branching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735B-E551-8A67-FBB3-00D1F65882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 branching to manage changes to a git repository</a:t>
            </a:r>
          </a:p>
          <a:p>
            <a:r>
              <a:rPr lang="en-US" dirty="0"/>
              <a:t>Discuss the different merge strategies</a:t>
            </a:r>
          </a:p>
          <a:p>
            <a:r>
              <a:rPr lang="en-US" dirty="0"/>
              <a:t>Resolve merge conflicts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06D3-8399-980A-3E9A-996E53D4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1031-5C8D-20A1-2FE1-25E3AF94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  <a:p>
            <a:r>
              <a:rPr lang="en-US" dirty="0"/>
              <a:t>Staged vs </a:t>
            </a:r>
            <a:r>
              <a:rPr lang="en-US" dirty="0" err="1"/>
              <a:t>unstaged</a:t>
            </a:r>
            <a:endParaRPr lang="en-US" dirty="0"/>
          </a:p>
          <a:p>
            <a:r>
              <a:rPr lang="en-US" dirty="0"/>
              <a:t>Commit</a:t>
            </a:r>
          </a:p>
          <a:p>
            <a:r>
              <a:rPr lang="en-US" dirty="0"/>
              <a:t>Diff?</a:t>
            </a:r>
          </a:p>
        </p:txBody>
      </p:sp>
    </p:spTree>
    <p:extLst>
      <p:ext uri="{BB962C8B-B14F-4D97-AF65-F5344CB8AC3E}">
        <p14:creationId xmlns:p14="http://schemas.microsoft.com/office/powerpoint/2010/main" val="307689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6DC8-4CE8-7214-363E-A9FAF50D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372C-2BEE-6542-A860-05996476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Repositories are a tree-like structure</a:t>
            </a:r>
          </a:p>
          <a:p>
            <a:r>
              <a:rPr lang="en-US" dirty="0"/>
              <a:t>Trees have branches</a:t>
            </a:r>
          </a:p>
          <a:p>
            <a:r>
              <a:rPr lang="en-US" dirty="0"/>
              <a:t>Branches are made off of the trunk, or other branches</a:t>
            </a:r>
          </a:p>
        </p:txBody>
      </p:sp>
      <p:pic>
        <p:nvPicPr>
          <p:cNvPr id="9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161691D-16F9-BA6C-2075-4117CB22F93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603" y="2926253"/>
            <a:ext cx="7556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83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EAA1-9B24-D6D1-A2FD-45548B23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branch?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C358-BA3A-F9F2-ADE4-15EE7BA4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work</a:t>
            </a:r>
          </a:p>
          <a:p>
            <a:r>
              <a:rPr lang="en-US" dirty="0"/>
              <a:t>Safe experimentation</a:t>
            </a:r>
          </a:p>
          <a:p>
            <a:r>
              <a:rPr lang="en-US" dirty="0"/>
              <a:t>Protect the main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5F00-D104-8674-1791-8E7BCAF4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“Normal”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8E0E4-5E30-AE1B-598E-55696738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Feature</a:t>
            </a:r>
          </a:p>
          <a:p>
            <a:r>
              <a:rPr lang="en-US" dirty="0"/>
              <a:t>Bugfix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Hotfix</a:t>
            </a:r>
          </a:p>
          <a:p>
            <a:endParaRPr lang="en-US" dirty="0"/>
          </a:p>
        </p:txBody>
      </p:sp>
      <p:pic>
        <p:nvPicPr>
          <p:cNvPr id="9218" name="Picture 2" descr="Diagram Of Git System Github Branching Workflow Diagram">
            <a:extLst>
              <a:ext uri="{FF2B5EF4-FFF2-40B4-BE49-F238E27FC236}">
                <a16:creationId xmlns:a16="http://schemas.microsoft.com/office/drawing/2014/main" id="{90082470-912B-389A-C308-06664437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91" y="1469811"/>
            <a:ext cx="7646988" cy="538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71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134B-E65B-715D-4850-247A7810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7CFC6-8C84-502C-4A89-1882265B4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288" y="1275945"/>
            <a:ext cx="8231424" cy="308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t Burns GIFs - Find &amp; Share on GIPHY">
            <a:extLst>
              <a:ext uri="{FF2B5EF4-FFF2-40B4-BE49-F238E27FC236}">
                <a16:creationId xmlns:a16="http://schemas.microsoft.com/office/drawing/2014/main" id="{BC0294A4-37B0-2F1E-3C34-C9A5AF14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4412672"/>
            <a:ext cx="4762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63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650D-8433-6280-35F4-F6878BC8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resolving?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429A-D957-8750-C9BD-BB63FD8C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add / commit</a:t>
            </a:r>
          </a:p>
        </p:txBody>
      </p:sp>
      <p:pic>
        <p:nvPicPr>
          <p:cNvPr id="5122" name="Picture 2" descr="Image result for git conflict">
            <a:extLst>
              <a:ext uri="{FF2B5EF4-FFF2-40B4-BE49-F238E27FC236}">
                <a16:creationId xmlns:a16="http://schemas.microsoft.com/office/drawing/2014/main" id="{E9A2D120-7440-4544-B2B8-C56C2665C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346" y="1173121"/>
            <a:ext cx="5718759" cy="51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D131-ADA7-8C3C-0154-D53E660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(They’re not scary)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D9BDE-8AE8-4C81-14D8-430805CD77DC}"/>
              </a:ext>
            </a:extLst>
          </p:cNvPr>
          <p:cNvSpPr txBox="1"/>
          <p:nvPr/>
        </p:nvSpPr>
        <p:spPr>
          <a:xfrm>
            <a:off x="2521527" y="1983871"/>
            <a:ext cx="7148945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82071E"/>
                </a:solidFill>
                <a:effectLst/>
                <a:latin typeface="Consolas" panose="020B0609020204030204" pitchFamily="49" charset="0"/>
              </a:rPr>
              <a:t>&lt;&lt;&lt;&lt;&lt;&lt;&lt;&lt;&lt;&lt;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HEAD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 Hello.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========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i="1" dirty="0">
                <a:solidFill>
                  <a:srgbClr val="82071E"/>
                </a:solidFill>
                <a:latin typeface="Consolas" panose="020B0609020204030204" pitchFamily="49" charset="0"/>
              </a:rPr>
              <a:t>&gt;&gt;&gt;&gt;&gt;&gt;&gt;&gt;&gt;&gt;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17c860612953c0f9d88f313c8dfbf7d858e02e91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A6B3-EF80-B170-8B9B-0F02A95F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52CD-2DDD-F55F-1ACE-80F37A84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(Resolution)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1075E-5479-C1E4-63C2-4F12EDB0BCE8}"/>
              </a:ext>
            </a:extLst>
          </p:cNvPr>
          <p:cNvSpPr txBox="1"/>
          <p:nvPr/>
        </p:nvSpPr>
        <p:spPr>
          <a:xfrm>
            <a:off x="54864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Hello.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8AE35-2E66-2C2F-1459-4FA459CAB874}"/>
              </a:ext>
            </a:extLst>
          </p:cNvPr>
          <p:cNvSpPr txBox="1"/>
          <p:nvPr/>
        </p:nvSpPr>
        <p:spPr>
          <a:xfrm>
            <a:off x="587602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7824A-66A5-F43E-B239-6799EF60D044}"/>
              </a:ext>
            </a:extLst>
          </p:cNvPr>
          <p:cNvSpPr txBox="1"/>
          <p:nvPr/>
        </p:nvSpPr>
        <p:spPr>
          <a:xfrm>
            <a:off x="4978245" y="2219425"/>
            <a:ext cx="670560" cy="3049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98846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6DA5-3D21-92FF-34B4-C70A956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(Pretty Colors)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675508-4E5B-8D8D-51AE-760662C64C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3433" y="1600200"/>
            <a:ext cx="74152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5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3440821790"/>
              </p:ext>
            </p:extLst>
          </p:nvPr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EAB4-7253-7E9F-1250-6385F41B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35C9-73F6-7580-48E5-B50C5623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and merge branches</a:t>
            </a:r>
          </a:p>
          <a:p>
            <a:r>
              <a:rPr lang="en-US" dirty="0"/>
              <a:t>Resolve conflicts</a:t>
            </a:r>
          </a:p>
        </p:txBody>
      </p:sp>
    </p:spTree>
    <p:extLst>
      <p:ext uri="{BB962C8B-B14F-4D97-AF65-F5344CB8AC3E}">
        <p14:creationId xmlns:p14="http://schemas.microsoft.com/office/powerpoint/2010/main" val="325512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0FB0-AE62-4F16-CDEC-B51DCB40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 Strategies</a:t>
            </a:r>
            <a:endParaRPr lang="en-US" dirty="0"/>
          </a:p>
        </p:txBody>
      </p:sp>
      <p:pic>
        <p:nvPicPr>
          <p:cNvPr id="7170" name="Picture 2" descr="Understanding Git merge strategies - Mastering Microsoft Dynamics 365 ...">
            <a:extLst>
              <a:ext uri="{FF2B5EF4-FFF2-40B4-BE49-F238E27FC236}">
                <a16:creationId xmlns:a16="http://schemas.microsoft.com/office/drawing/2014/main" id="{FF416298-C934-01A9-67AF-A2D5DD9618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7192" y="987425"/>
            <a:ext cx="5324191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2C7B-727A-220E-3B83-7707EE432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Fast-forward applies all commits onto the other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--no-ff keeps the branch history and creates a merge commit with all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--squash acts like a merge, but never creates the commit</a:t>
            </a:r>
          </a:p>
        </p:txBody>
      </p:sp>
    </p:spTree>
    <p:extLst>
      <p:ext uri="{BB962C8B-B14F-4D97-AF65-F5344CB8AC3E}">
        <p14:creationId xmlns:p14="http://schemas.microsoft.com/office/powerpoint/2010/main" val="233603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95DF-39D3-B8C4-7C76-A3C06139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Rebasing</a:t>
            </a:r>
            <a:endParaRPr lang="en-US" dirty="0"/>
          </a:p>
        </p:txBody>
      </p:sp>
      <p:pic>
        <p:nvPicPr>
          <p:cNvPr id="8194" name="Picture 2" descr="How to Rebase in Git: Explained Step-by-Step - Become A Better Programmer">
            <a:extLst>
              <a:ext uri="{FF2B5EF4-FFF2-40B4-BE49-F238E27FC236}">
                <a16:creationId xmlns:a16="http://schemas.microsoft.com/office/drawing/2014/main" id="{EBB635A1-D0BD-7359-97E0-8461B133C3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88" y="1495425"/>
            <a:ext cx="61722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6D04F-99F6-E1E9-9733-BD62A84E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Rebasing reapplies the current branch onto the target branch in order.</a:t>
            </a:r>
          </a:p>
        </p:txBody>
      </p:sp>
    </p:spTree>
    <p:extLst>
      <p:ext uri="{BB962C8B-B14F-4D97-AF65-F5344CB8AC3E}">
        <p14:creationId xmlns:p14="http://schemas.microsoft.com/office/powerpoint/2010/main" val="3117765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C1A1-F35F-DB0A-51CA-06D8DDA6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6D48-0922-FA22-A215-9A863078B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 Windows has tig built-in</a:t>
            </a:r>
          </a:p>
          <a:p>
            <a:r>
              <a:rPr lang="en-US" dirty="0"/>
              <a:t>VS Code has branch visualization extensions</a:t>
            </a:r>
          </a:p>
          <a:p>
            <a:endParaRPr lang="en-US" dirty="0"/>
          </a:p>
          <a:p>
            <a:r>
              <a:rPr lang="en-US" dirty="0"/>
              <a:t>Using "true merge":  </a:t>
            </a:r>
            <a:r>
              <a:rPr lang="en-US" dirty="0">
                <a:hlinkClick r:id="rId2"/>
              </a:rPr>
              <a:t>https://github.com/vuejs/core/network</a:t>
            </a:r>
            <a:endParaRPr lang="en-US" dirty="0"/>
          </a:p>
          <a:p>
            <a:r>
              <a:rPr lang="en-US" dirty="0"/>
              <a:t>Full feature / fix / release branches:  </a:t>
            </a:r>
            <a:r>
              <a:rPr lang="en-US" dirty="0">
                <a:hlinkClick r:id="rId3"/>
              </a:rPr>
              <a:t>https://github.com/jetty/jetty.project/network</a:t>
            </a:r>
            <a:endParaRPr lang="en-US" dirty="0"/>
          </a:p>
          <a:p>
            <a:r>
              <a:rPr lang="en-US" dirty="0"/>
              <a:t>Using squash / ff commits:  </a:t>
            </a:r>
            <a:r>
              <a:rPr lang="en-US" dirty="0">
                <a:hlinkClick r:id="rId4"/>
              </a:rPr>
              <a:t>https://github.com/shafe123/cmu-aegis-scholar/network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9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2DD6C-962D-6C04-6EF2-7E6FE2F2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17216A-5550-4CD2-84FC-448ADD6F1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55FD1-F732-3DDF-AEF7-0B90E43F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470" y="480717"/>
            <a:ext cx="3962114" cy="1959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BC6A8-D342-EB1E-C560-43BF428DD0D0}"/>
              </a:ext>
            </a:extLst>
          </p:cNvPr>
          <p:cNvSpPr txBox="1"/>
          <p:nvPr/>
        </p:nvSpPr>
        <p:spPr>
          <a:xfrm>
            <a:off x="3957780" y="1309637"/>
            <a:ext cx="301890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B8D69B-4FA8-D915-CDEB-B1D5EA7A3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6687" y="471840"/>
            <a:ext cx="4538749" cy="19706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0F9E91-4F93-E4F4-69FD-B2BD9CF6A14E}"/>
              </a:ext>
            </a:extLst>
          </p:cNvPr>
          <p:cNvSpPr txBox="1"/>
          <p:nvPr/>
        </p:nvSpPr>
        <p:spPr>
          <a:xfrm>
            <a:off x="3957780" y="3218077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rebase main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D28AE5-CE99-0070-CB9F-0025C41AE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686" y="2469390"/>
            <a:ext cx="4751951" cy="22031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52FF1D-427D-C1E0-B50C-3A398C20625F}"/>
              </a:ext>
            </a:extLst>
          </p:cNvPr>
          <p:cNvSpPr txBox="1"/>
          <p:nvPr/>
        </p:nvSpPr>
        <p:spPr>
          <a:xfrm>
            <a:off x="4046680" y="540356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2FDB30-8908-2C84-16B9-537F006C8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8922" y="4654876"/>
            <a:ext cx="4725279" cy="22031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B395EB-CBAA-7BD7-FE69-A50E528333DE}"/>
              </a:ext>
            </a:extLst>
          </p:cNvPr>
          <p:cNvSpPr txBox="1"/>
          <p:nvPr/>
        </p:nvSpPr>
        <p:spPr>
          <a:xfrm>
            <a:off x="-2538270" y="1309637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b="1" dirty="0">
                <a:latin typeface="+mj-lt"/>
                <a:cs typeface="Courier New" panose="02070309020205020404" pitchFamily="49" charset="0"/>
              </a:rPr>
              <a:t>Start Point</a:t>
            </a:r>
          </a:p>
        </p:txBody>
      </p:sp>
    </p:spTree>
    <p:extLst>
      <p:ext uri="{BB962C8B-B14F-4D97-AF65-F5344CB8AC3E}">
        <p14:creationId xmlns:p14="http://schemas.microsoft.com/office/powerpoint/2010/main" val="199564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9342-4844-A3EA-95CC-B4A03B25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AFF559-7C22-ED9E-3AB8-C9670F6B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E8ADAA-281A-A3BB-14BB-C5B09D7AC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2DC0D-724A-F544-BA42-3C77C2431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35F3C-FCB9-1250-35F3-A48C70B30C5D}"/>
              </a:ext>
            </a:extLst>
          </p:cNvPr>
          <p:cNvSpPr txBox="1"/>
          <p:nvPr/>
        </p:nvSpPr>
        <p:spPr>
          <a:xfrm>
            <a:off x="3673562" y="256053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--squash 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0A6590-7A3B-4543-5A1D-23661FE98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468" y="1933148"/>
            <a:ext cx="4751951" cy="1960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8C2228-0630-1F26-1FD5-64F4C5400719}"/>
              </a:ext>
            </a:extLst>
          </p:cNvPr>
          <p:cNvSpPr txBox="1"/>
          <p:nvPr/>
        </p:nvSpPr>
        <p:spPr>
          <a:xfrm>
            <a:off x="3932380" y="4785460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"feature-a"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3F7941-F452-26D7-9812-0C0BC3F2E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4622" y="4136782"/>
            <a:ext cx="4725279" cy="2003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D58D9D-C7D9-5A92-E7C1-DFAD4391872B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366073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C2F7-A4F6-9005-729F-656D9F77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C7E2A0-A6A0-3A5A-7C1D-DF3D6C3C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83" y="4098447"/>
            <a:ext cx="5211867" cy="1053482"/>
          </a:xfrm>
        </p:spPr>
        <p:txBody>
          <a:bodyPr/>
          <a:lstStyle/>
          <a:p>
            <a:r>
              <a:rPr lang="en-US" dirty="0"/>
              <a:t>Alternate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EB9EE3-8D32-CDF4-65BB-C12639688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382" y="50332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--no-ff feature-a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60358-E2E7-8B70-F69C-E039B1FC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FCFF2D-EC0B-BC10-E0B1-00720F3656A5}"/>
              </a:ext>
            </a:extLst>
          </p:cNvPr>
          <p:cNvSpPr txBox="1"/>
          <p:nvPr/>
        </p:nvSpPr>
        <p:spPr>
          <a:xfrm>
            <a:off x="3692612" y="3076125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--no-ff feature-a –m "feature-a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DC7583-D310-A8C7-AF0A-6D9E11EC0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0551" y="2448740"/>
            <a:ext cx="4493885" cy="19605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66EAB1-5C8D-F60F-20BE-8245D9E66BCF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4270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FCAFD4-556D-F1D7-CEAD-18E98C43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EE901-90E5-A079-F7AB-9D5BBFA96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different merging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63535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6A7D4440-3599-97A3-A94B-36CB1F28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>
            <a:extLst>
              <a:ext uri="{FF2B5EF4-FFF2-40B4-BE49-F238E27FC236}">
                <a16:creationId xmlns:a16="http://schemas.microsoft.com/office/drawing/2014/main" id="{84E27EC2-7C0C-A352-A445-6352A9868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>
            <a:extLst>
              <a:ext uri="{FF2B5EF4-FFF2-40B4-BE49-F238E27FC236}">
                <a16:creationId xmlns:a16="http://schemas.microsoft.com/office/drawing/2014/main" id="{73EDB1E8-DD1F-5E98-2763-77DD4E74010B}"/>
              </a:ext>
            </a:extLst>
          </p:cNvPr>
          <p:cNvGraphicFramePr/>
          <p:nvPr/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552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482F-A1AF-7A43-C9F9-B0D107B9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2B8C-6524-EBD5-6705-4DFCBA22F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https://git-scm.com/book/en/v2/Git-Branching-Branches-in-a-Nutshell</a:t>
            </a:r>
            <a:endParaRPr lang="en-US" dirty="0"/>
          </a:p>
          <a:p>
            <a:r>
              <a:rPr lang="en-US" dirty="0">
                <a:hlinkClick r:id="rId3"/>
              </a:rPr>
              <a:t>https://git-scm.com/book/en/v2/Git-Branching-Basic-Branching-and-Merging</a:t>
            </a:r>
            <a:endParaRPr lang="en-US" dirty="0"/>
          </a:p>
          <a:p>
            <a:r>
              <a:rPr lang="en-US" dirty="0">
                <a:hlinkClick r:id="rId4"/>
              </a:rPr>
              <a:t>https://git-scm.com/book/en/v2/Git-Branching-Rebasing</a:t>
            </a:r>
            <a:endParaRPr lang="en-US" dirty="0"/>
          </a:p>
          <a:p>
            <a:r>
              <a:rPr lang="en-US" dirty="0">
                <a:hlinkClick r:id="rId5"/>
              </a:rPr>
              <a:t>https://git-scm.com/book/en/v2/Git-Tools-Advanced-Merging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CBFC-09D9-B88C-9B1A-871D04DE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24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D01C3-9118-F75B-338E-C30CF47F01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682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</TotalTime>
  <Words>639</Words>
  <Application>Microsoft Office PowerPoint</Application>
  <PresentationFormat>Widescreen</PresentationFormat>
  <Paragraphs>135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Bold</vt:lpstr>
      <vt:lpstr>Consolas</vt:lpstr>
      <vt:lpstr>Courier New</vt:lpstr>
      <vt:lpstr>Play</vt:lpstr>
      <vt:lpstr>US Army 2023 AFC DEVCOM Logo</vt:lpstr>
      <vt:lpstr>Git Branching</vt:lpstr>
      <vt:lpstr>Objectives</vt:lpstr>
      <vt:lpstr>Git Review</vt:lpstr>
      <vt:lpstr>Branches</vt:lpstr>
      <vt:lpstr>Why branch?</vt:lpstr>
      <vt:lpstr>“Normal” branches</vt:lpstr>
      <vt:lpstr>Conflicts</vt:lpstr>
      <vt:lpstr>After resolving?</vt:lpstr>
      <vt:lpstr>Reading Conflicts (They’re not scary)</vt:lpstr>
      <vt:lpstr>Reading Conflicts (Resolution)</vt:lpstr>
      <vt:lpstr>Reading Conflicts (Pretty Colors)</vt:lpstr>
      <vt:lpstr>Git checkout / Merge</vt:lpstr>
      <vt:lpstr>Hands-On #1</vt:lpstr>
      <vt:lpstr>Merging Strategies</vt:lpstr>
      <vt:lpstr>Rebasing</vt:lpstr>
      <vt:lpstr>Viewing Branches</vt:lpstr>
      <vt:lpstr>One strategy (feature branch)</vt:lpstr>
      <vt:lpstr>One strategy (feature branch)</vt:lpstr>
      <vt:lpstr>Alternate strategy (feature branch)</vt:lpstr>
      <vt:lpstr>Hands-On #2</vt:lpstr>
      <vt:lpstr>Git checkout / Merge</vt:lpstr>
      <vt:lpstr>Good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95</cp:revision>
  <dcterms:created xsi:type="dcterms:W3CDTF">2025-07-21T13:16:33Z</dcterms:created>
  <dcterms:modified xsi:type="dcterms:W3CDTF">2026-07-24T17:21:34Z</dcterms:modified>
</cp:coreProperties>
</file>