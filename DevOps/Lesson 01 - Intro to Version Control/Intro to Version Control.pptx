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78" r:id="rId8"/>
    <p:sldId id="279" r:id="rId9"/>
    <p:sldId id="281" r:id="rId10"/>
    <p:sldId id="283" r:id="rId11"/>
    <p:sldId id="284" r:id="rId12"/>
    <p:sldId id="262" r:id="rId13"/>
    <p:sldId id="285" r:id="rId14"/>
    <p:sldId id="263" r:id="rId15"/>
    <p:sldId id="286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</p:sldIdLst>
  <p:sldSz cx="12192000" cy="6858000"/>
  <p:notesSz cx="6858000" cy="9144000"/>
  <p:embeddedFontLst>
    <p:embeddedFont>
      <p:font typeface="Arial Bold" panose="020B0704020202020204" pitchFamily="34" charset="0"/>
      <p:bold r:id="rId31"/>
    </p:embeddedFont>
    <p:embeddedFont>
      <p:font typeface="Consolas" panose="020B0609020204030204" pitchFamily="49" charset="0"/>
      <p:regular r:id="rId32"/>
      <p:bold r:id="rId33"/>
      <p:italic r:id="rId34"/>
      <p:boldItalic r:id="rId35"/>
    </p:embeddedFont>
    <p:embeddedFont>
      <p:font typeface="Play" panose="020B0604020202020204" charset="0"/>
      <p:regular r:id="rId36"/>
      <p:bold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B4D1AB0-2925-4953-8AE0-7B973092ED5E}">
  <a:tblStyle styleId="{4B4D1AB0-2925-4953-8AE0-7B973092ED5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" name="Google Shape;98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" name="Google Shape;106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30000"/>
              <a:t>1 </a:t>
            </a:r>
            <a:r>
              <a:rPr lang="en-US"/>
              <a:t>https://stackoverflow.blog/2023/01/09/beyond-git-the-other-version-control-systems-developers-use/</a:t>
            </a:r>
            <a:endParaRPr/>
          </a:p>
        </p:txBody>
      </p:sp>
      <p:sp>
        <p:nvSpPr>
          <p:cNvPr id="107" name="Google Shape;107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4" name="Google Shape;11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30000"/>
              <a:t>1 </a:t>
            </a:r>
            <a:r>
              <a:rPr lang="en-US"/>
              <a:t>https://marc.info/?l=git&amp;m=117254154130732</a:t>
            </a:r>
            <a:endParaRPr/>
          </a:p>
        </p:txBody>
      </p:sp>
      <p:sp>
        <p:nvSpPr>
          <p:cNvPr id="115" name="Google Shape;115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30000"/>
              <a:t>1 </a:t>
            </a:r>
            <a:r>
              <a:rPr lang="en-US"/>
              <a:t>https://archive.kernel.org/oldwiki/git.wiki.kernel.org/index.php/GitFaq.html#Why_the_.27Git.27_name.3F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9" name="Google Shape;129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aseline="30000"/>
              <a:t>1 </a:t>
            </a:r>
            <a:r>
              <a:rPr lang="en-US"/>
              <a:t>https://www.w3schools.com/git/git_intro.asp?remote=github</a:t>
            </a:r>
            <a:endParaRPr/>
          </a:p>
        </p:txBody>
      </p:sp>
      <p:sp>
        <p:nvSpPr>
          <p:cNvPr id="130" name="Google Shape;130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9" name="Google Shape;169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First, we need to be able to read diffs</a:t>
            </a:r>
            <a:endParaRPr/>
          </a:p>
        </p:txBody>
      </p:sp>
      <p:sp>
        <p:nvSpPr>
          <p:cNvPr id="170" name="Google Shape;170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7" name="Google Shape;17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```git diff greet_full_v1.py greet_full_v2.py```</a:t>
            </a:r>
            <a:endParaRPr/>
          </a:p>
        </p:txBody>
      </p:sp>
      <p:sp>
        <p:nvSpPr>
          <p:cNvPr id="178" name="Google Shape;17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```git diff math_utils_v1.py math_utils_v2.py```</a:t>
            </a:r>
            <a:endParaRPr/>
          </a:p>
        </p:txBody>
      </p:sp>
      <p:sp>
        <p:nvSpPr>
          <p:cNvPr id="193" name="Google Shape;193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70677852e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g370677852e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39F9F092-1A2E-3BC5-0D99-EE4B132543F8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7A3E0868-4E26-4CDC-8A56-D70E2D8B12FE}" type="datetime3">
              <a:rPr lang="en-US" smtClean="0"/>
              <a:t>20 July 2026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4D3DAC6A-DFDF-B313-4DB4-FA56B489F422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FC933DC4-3663-15AC-8A64-D7573EE2EC9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47688" y="5133531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1FE393D1-D968-8D71-45F7-5B4A7CEF5CF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47688" y="4952739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DF69BC8A-AD59-63A3-64A2-27F7496859F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7688" y="5314323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24" name="Text Placeholder 30">
            <a:extLst>
              <a:ext uri="{FF2B5EF4-FFF2-40B4-BE49-F238E27FC236}">
                <a16:creationId xmlns:a16="http://schemas.microsoft.com/office/drawing/2014/main" id="{EDE4793B-EE3D-A719-6990-5D9F67CBAF1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47688" y="5495115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25" name="Text Placeholder 30">
            <a:extLst>
              <a:ext uri="{FF2B5EF4-FFF2-40B4-BE49-F238E27FC236}">
                <a16:creationId xmlns:a16="http://schemas.microsoft.com/office/drawing/2014/main" id="{A24EE18E-6DA7-CB84-1F21-8DF1C748238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47688" y="5675907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26" name="Text Placeholder 30">
            <a:extLst>
              <a:ext uri="{FF2B5EF4-FFF2-40B4-BE49-F238E27FC236}">
                <a16:creationId xmlns:a16="http://schemas.microsoft.com/office/drawing/2014/main" id="{AAEE65B4-7FC0-51E0-61A9-DA039122F268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981201" y="5133531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7" name="Text Placeholder 30">
            <a:extLst>
              <a:ext uri="{FF2B5EF4-FFF2-40B4-BE49-F238E27FC236}">
                <a16:creationId xmlns:a16="http://schemas.microsoft.com/office/drawing/2014/main" id="{6483CD3B-2F61-38F8-2851-B10539781BD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981201" y="4952739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F72C11EB-F1A8-B896-9775-C7ADA2F8325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81201" y="5314323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9" name="Text Placeholder 30">
            <a:extLst>
              <a:ext uri="{FF2B5EF4-FFF2-40B4-BE49-F238E27FC236}">
                <a16:creationId xmlns:a16="http://schemas.microsoft.com/office/drawing/2014/main" id="{4BF91907-2C5A-9E08-110C-64B850CA6482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981201" y="5495115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0F5C0BB3-E700-E0BE-1E5D-F32BFF0DB730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981201" y="5675907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8765D769-2E19-A1D0-70F0-660B5118F3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244899" y="112631"/>
            <a:ext cx="3246120" cy="12258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67708F-A6ED-2C67-AAB2-F57AAA10F9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  <p:grpSp>
        <p:nvGrpSpPr>
          <p:cNvPr id="4" name="Group">
            <a:extLst>
              <a:ext uri="{FF2B5EF4-FFF2-40B4-BE49-F238E27FC236}">
                <a16:creationId xmlns:a16="http://schemas.microsoft.com/office/drawing/2014/main" id="{0D2A18CE-EA59-FCDB-5CF9-72169831C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48219" y="1974220"/>
            <a:ext cx="7173381" cy="2377440"/>
            <a:chOff x="411163" y="2240280"/>
            <a:chExt cx="6446837" cy="2377440"/>
          </a:xfrm>
        </p:grpSpPr>
        <p:sp>
          <p:nvSpPr>
            <p:cNvPr id="15" name="Rectangle">
              <a:extLst>
                <a:ext uri="{FF2B5EF4-FFF2-40B4-BE49-F238E27FC236}">
                  <a16:creationId xmlns:a16="http://schemas.microsoft.com/office/drawing/2014/main" id="{453FC9A3-D341-95FE-49D0-507EC65462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600"/>
            </a:p>
          </p:txBody>
        </p:sp>
        <p:cxnSp>
          <p:nvCxnSpPr>
            <p:cNvPr id="18" name="Line">
              <a:extLst>
                <a:ext uri="{FF2B5EF4-FFF2-40B4-BE49-F238E27FC236}">
                  <a16:creationId xmlns:a16="http://schemas.microsoft.com/office/drawing/2014/main" id="{2A030869-4AC4-CE94-F004-03103C4DBC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19" name="Line">
              <a:extLst>
                <a:ext uri="{FF2B5EF4-FFF2-40B4-BE49-F238E27FC236}">
                  <a16:creationId xmlns:a16="http://schemas.microsoft.com/office/drawing/2014/main" id="{5AB8E5F3-02DC-C870-FF70-6B7F087F40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0A3716E9-1A78-32FC-3DC4-30F60037386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1" y="2202820"/>
            <a:ext cx="6429375" cy="132588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3600"/>
            </a:lvl1pPr>
          </a:lstStyle>
          <a:p>
            <a: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CC01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THREE LINES MAX</a:t>
            </a:r>
            <a:endParaRPr lang="en-US"/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9BBCBD69-970D-2A8D-E951-CFBC732DBCF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2" y="3784732"/>
            <a:ext cx="3565524" cy="4572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845FCD4C-F9C5-DECB-5274-6DEC95A50B5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12080" y="3784732"/>
            <a:ext cx="2131695" cy="4572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0D24ED-E5F8-CA86-25F1-78110A690DC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15">
            <a:extLst>
              <a:ext uri="{FF2B5EF4-FFF2-40B4-BE49-F238E27FC236}">
                <a16:creationId xmlns:a16="http://schemas.microsoft.com/office/drawing/2014/main" id="{5F51F9D9-5896-27C6-545B-841C41CB76F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27733505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B5714-1C67-5305-161F-BB8ABA64529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DDC931E-8CBE-4A3F-A034-9B6122C6DCDB}" type="datetime3">
              <a:rPr lang="en-US" smtClean="0"/>
              <a:t>20 July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66A96F-567A-34EC-DC2C-66C406228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U.S. Army" descr="U.S. Army">
            <a:extLst>
              <a:ext uri="{FF2B5EF4-FFF2-40B4-BE49-F238E27FC236}">
                <a16:creationId xmlns:a16="http://schemas.microsoft.com/office/drawing/2014/main" id="{C4525471-71C4-E84C-06B5-CF4BA10994C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180891" y="104975"/>
            <a:ext cx="3246120" cy="1225808"/>
          </a:xfrm>
          <a:prstGeom prst="rect">
            <a:avLst/>
          </a:prstGeom>
          <a:noFill/>
        </p:spPr>
      </p:pic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00EB67EC-5954-991C-39BB-6509621390E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47688" y="5133531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E6059881-3615-6A80-014A-12F5EBBBE25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47688" y="4952739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E2D99AAA-01B9-ED71-F90F-711F200233E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7688" y="5314323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AA78AC6A-4B5E-2F9D-94D1-897336CBC5F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47688" y="5495115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E909E494-A135-FCDC-B270-D6B7047A3B1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47688" y="5675907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99D08674-52BB-F86B-32DC-93D0F45597F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981201" y="5133531"/>
            <a:ext cx="3124935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75B8A948-14E8-9F98-4694-85A4D577B42A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981201" y="4952739"/>
            <a:ext cx="3124935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8594BC0E-E83A-A7AB-AD3C-A280B5A706D3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81201" y="5314323"/>
            <a:ext cx="3124935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45C25EBB-0808-3B97-D5EC-84FE1867AB1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981201" y="5495115"/>
            <a:ext cx="3124935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1EEF3E66-AAEE-1C6B-9049-032018F0EF1A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981201" y="5675907"/>
            <a:ext cx="3124935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grpSp>
        <p:nvGrpSpPr>
          <p:cNvPr id="48" name="Group">
            <a:extLst>
              <a:ext uri="{FF2B5EF4-FFF2-40B4-BE49-F238E27FC236}">
                <a16:creationId xmlns:a16="http://schemas.microsoft.com/office/drawing/2014/main" id="{1D6D8113-2B65-BAC0-DBC2-601012CF0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48219" y="1974220"/>
            <a:ext cx="7173383" cy="2377440"/>
            <a:chOff x="411163" y="2240280"/>
            <a:chExt cx="6446837" cy="2377440"/>
          </a:xfrm>
        </p:grpSpPr>
        <p:sp>
          <p:nvSpPr>
            <p:cNvPr id="49" name="Rectangle">
              <a:extLst>
                <a:ext uri="{FF2B5EF4-FFF2-40B4-BE49-F238E27FC236}">
                  <a16:creationId xmlns:a16="http://schemas.microsoft.com/office/drawing/2014/main" id="{7528BC0B-D239-46B3-8ED2-9B82FDC07F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221F20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600"/>
            </a:p>
          </p:txBody>
        </p:sp>
        <p:cxnSp>
          <p:nvCxnSpPr>
            <p:cNvPr id="50" name="Line">
              <a:extLst>
                <a:ext uri="{FF2B5EF4-FFF2-40B4-BE49-F238E27FC236}">
                  <a16:creationId xmlns:a16="http://schemas.microsoft.com/office/drawing/2014/main" id="{435BD1FC-4390-71A4-34EE-951EFF0886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51" name="Line">
              <a:extLst>
                <a:ext uri="{FF2B5EF4-FFF2-40B4-BE49-F238E27FC236}">
                  <a16:creationId xmlns:a16="http://schemas.microsoft.com/office/drawing/2014/main" id="{F4A81146-41CE-E3FA-3A50-29CA5D91DB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2796" y="3931920"/>
              <a:ext cx="0" cy="68580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52" name="Title 1">
            <a:extLst>
              <a:ext uri="{FF2B5EF4-FFF2-40B4-BE49-F238E27FC236}">
                <a16:creationId xmlns:a16="http://schemas.microsoft.com/office/drawing/2014/main" id="{34261743-5C6B-193D-74C7-FC918BD33C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1" y="2202820"/>
            <a:ext cx="6429375" cy="132588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36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53" name="Subtitle 2">
            <a:extLst>
              <a:ext uri="{FF2B5EF4-FFF2-40B4-BE49-F238E27FC236}">
                <a16:creationId xmlns:a16="http://schemas.microsoft.com/office/drawing/2014/main" id="{09DA0322-2B5C-8F10-EE8B-1FE75C5A5B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0" y="3784732"/>
            <a:ext cx="3565525" cy="4572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54" name="Text Placeholder 3">
            <a:extLst>
              <a:ext uri="{FF2B5EF4-FFF2-40B4-BE49-F238E27FC236}">
                <a16:creationId xmlns:a16="http://schemas.microsoft.com/office/drawing/2014/main" id="{76359DCF-E748-9D74-A7A5-1B8C52B3E3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12080" y="3784732"/>
            <a:ext cx="2131695" cy="4572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</p:spTree>
    <p:extLst>
      <p:ext uri="{BB962C8B-B14F-4D97-AF65-F5344CB8AC3E}">
        <p14:creationId xmlns:p14="http://schemas.microsoft.com/office/powerpoint/2010/main" val="30524907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F9D3AB9C-26E9-8E88-3B55-B4A5EC7C31F2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D41656AB-D2E1-472E-8B95-0DF5C6E1D623}" type="datetime3">
              <a:rPr lang="en-US" smtClean="0"/>
              <a:t>20 July 2026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CF1316F0-9F13-53EA-1597-09232B2FF1AB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499EE878-E6B9-0543-B958-85A17AE36A2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 bwMode="black">
          <a:xfrm>
            <a:off x="244899" y="112631"/>
            <a:ext cx="3246120" cy="1225808"/>
          </a:xfrm>
          <a:prstGeom prst="rect">
            <a:avLst/>
          </a:prstGeom>
        </p:spPr>
      </p:pic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96CD17E6-26AB-FBB2-220C-D5185212C51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47688" y="5133531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FCD1ED33-CCD9-E1B6-327A-71BC6F62C4D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47688" y="4952739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1" name="Text Placeholder 30">
            <a:extLst>
              <a:ext uri="{FF2B5EF4-FFF2-40B4-BE49-F238E27FC236}">
                <a16:creationId xmlns:a16="http://schemas.microsoft.com/office/drawing/2014/main" id="{A255632D-60F3-C439-D931-6B2874E894D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7688" y="5314323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0BD3A2B1-9D40-83E3-4243-B4A52B6A636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47688" y="5495115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7AADD113-BD09-95AA-FFBA-DCC255F69FAA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47688" y="5675907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5" name="Text Placeholder 30">
            <a:extLst>
              <a:ext uri="{FF2B5EF4-FFF2-40B4-BE49-F238E27FC236}">
                <a16:creationId xmlns:a16="http://schemas.microsoft.com/office/drawing/2014/main" id="{A9D52B79-92E5-4D64-1757-D13A0674723F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981201" y="5133531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DF04F3CB-62F5-7A9F-E397-4800E51C0E24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981201" y="4952739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DA62CE27-72C2-A083-C796-4F047A2FF421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81201" y="5314323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52DBCCDB-5EAD-73A2-7911-8AF50B29DC4E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981201" y="5495115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90D5656D-B16A-18B1-A790-538AB817A94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981201" y="5675907"/>
            <a:ext cx="3124935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67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49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66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grpSp>
        <p:nvGrpSpPr>
          <p:cNvPr id="23" name="Group">
            <a:extLst>
              <a:ext uri="{FF2B5EF4-FFF2-40B4-BE49-F238E27FC236}">
                <a16:creationId xmlns:a16="http://schemas.microsoft.com/office/drawing/2014/main" id="{732179A9-275F-FEF3-042C-4AB3B9CBCA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48219" y="1974220"/>
            <a:ext cx="7173381" cy="2377440"/>
            <a:chOff x="411163" y="2240280"/>
            <a:chExt cx="6446837" cy="2377440"/>
          </a:xfrm>
        </p:grpSpPr>
        <p:sp>
          <p:nvSpPr>
            <p:cNvPr id="24" name="Rectangle">
              <a:extLst>
                <a:ext uri="{FF2B5EF4-FFF2-40B4-BE49-F238E27FC236}">
                  <a16:creationId xmlns:a16="http://schemas.microsoft.com/office/drawing/2014/main" id="{B785B252-84B5-5634-9FB4-0C2362931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600"/>
            </a:p>
          </p:txBody>
        </p:sp>
        <p:cxnSp>
          <p:nvCxnSpPr>
            <p:cNvPr id="25" name="Line">
              <a:extLst>
                <a:ext uri="{FF2B5EF4-FFF2-40B4-BE49-F238E27FC236}">
                  <a16:creationId xmlns:a16="http://schemas.microsoft.com/office/drawing/2014/main" id="{1DF8A784-7C74-A05E-2009-0B4EC38FF5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26" name="Line">
              <a:extLst>
                <a:ext uri="{FF2B5EF4-FFF2-40B4-BE49-F238E27FC236}">
                  <a16:creationId xmlns:a16="http://schemas.microsoft.com/office/drawing/2014/main" id="{2E02CEE1-988F-0417-BE5F-BA01AFD1B2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63A7B886-8E04-5007-BB32-A7D7AE38413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1" y="2202820"/>
            <a:ext cx="6429375" cy="132588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36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378B44EF-38A4-9707-9ED0-23F22C855CA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2" y="3784732"/>
            <a:ext cx="3565524" cy="4572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6EB225BD-8BA1-27E0-7708-54249ED7D3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12080" y="3784732"/>
            <a:ext cx="2131695" cy="4572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DA15189-0EE0-5679-2F6C-19C49A630D8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  <p:sp>
        <p:nvSpPr>
          <p:cNvPr id="2" name="Rectangle 15">
            <a:extLst>
              <a:ext uri="{FF2B5EF4-FFF2-40B4-BE49-F238E27FC236}">
                <a16:creationId xmlns:a16="http://schemas.microsoft.com/office/drawing/2014/main" id="{D4C88638-6856-0BEB-48E7-78E46B7E57D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CC2702-2764-1DE3-1940-31386289C0D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20643300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199"/>
            <a:ext cx="11024925" cy="4572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BB89F-F200-3967-06C8-C1B71C7F0F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8640" y="6629400"/>
            <a:ext cx="822960" cy="228600"/>
          </a:xfrm>
        </p:spPr>
        <p:txBody>
          <a:bodyPr lIns="0"/>
          <a:lstStyle/>
          <a:p>
            <a:fld id="{AD622D1A-DF83-41A8-85FF-04D90BF831D3}" type="datetime3">
              <a:rPr lang="en-US" smtClean="0"/>
              <a:t>20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C0BAD3-337A-DC60-A7ED-BF13F08262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1" cy="228600"/>
          </a:xfrm>
        </p:spPr>
        <p:txBody>
          <a:bodyPr rIns="0"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018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536448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78879" y="1600200"/>
            <a:ext cx="536448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3576077-E818-BDF1-A607-CD8784277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20 July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B9DE45-E855-FE62-197B-32BBD9BBBA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992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9713ED7-122D-D0BC-7C53-E1C615A94F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34503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70832" y="1600200"/>
            <a:ext cx="34503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8193023" y="1600200"/>
            <a:ext cx="34503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645ED9-A46E-B9F8-0D30-36DF4C37823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E0132BA-B5E7-4FFD-AF6C-169169D47D4A}" type="datetime3">
              <a:rPr lang="en-US" smtClean="0"/>
              <a:t>20 July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D0D458-416D-011B-0311-0C2B249BF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120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2" y="1600200"/>
            <a:ext cx="2499359" cy="457200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2" y="1600200"/>
            <a:ext cx="2499359" cy="457200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2" y="1600200"/>
            <a:ext cx="2499359" cy="457200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2" y="1600200"/>
            <a:ext cx="2499359" cy="457200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9E75897-C7CA-D608-954E-EA24E33CBE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1A30091-1C2A-4151-8D3C-D1E47A72615F}" type="datetime3">
              <a:rPr lang="en-US" smtClean="0"/>
              <a:t>20 July 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00C8CD-D32C-E34D-BB8E-34B4CB816D3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9255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2FDCDCBF-BE41-ACC6-2307-F24F0B601969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548640" y="1600200"/>
            <a:ext cx="557784" cy="555499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548642" y="2285997"/>
            <a:ext cx="2499359" cy="3886203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C7652FE0-2E63-C05D-5D80-EE5429B0A7EE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3413760" y="1600200"/>
            <a:ext cx="557784" cy="557784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4" name="Content Placeholder 5"/>
          <p:cNvSpPr>
            <a:spLocks noGrp="1"/>
          </p:cNvSpPr>
          <p:nvPr>
            <p:ph sz="half" idx="2"/>
          </p:nvPr>
        </p:nvSpPr>
        <p:spPr>
          <a:xfrm>
            <a:off x="3413762" y="2285997"/>
            <a:ext cx="2499359" cy="3886203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B76F3E0A-3A89-0179-6808-7B86658B2939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6278880" y="1600200"/>
            <a:ext cx="557784" cy="557784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2" y="2285997"/>
            <a:ext cx="2499359" cy="3886203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83E5AF74-1A89-50D1-F570-2D5345102584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9144000" y="1600200"/>
            <a:ext cx="557784" cy="557784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2" y="2285997"/>
            <a:ext cx="2499359" cy="3886203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B7C8174-B194-B25B-91AA-597E72C81310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5D703CE-07B4-4C05-A488-B4566700621F}" type="datetime3">
              <a:rPr lang="en-US" smtClean="0"/>
              <a:t>20 July 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89FF259-217B-3F10-C738-AE2C6A9EE8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0383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54C21BF-3440-8CAE-0A59-466346C771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54864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 sz="1300">
                <a:solidFill>
                  <a:schemeClr val="tx1"/>
                </a:solidFill>
              </a:defRPr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13" indent="-137157">
              <a:defRPr sz="1300">
                <a:solidFill>
                  <a:schemeClr val="tx1"/>
                </a:solidFill>
              </a:defRPr>
            </a:lvl3pPr>
            <a:lvl4pPr marL="411470" indent="-137157">
              <a:defRPr sz="1300">
                <a:solidFill>
                  <a:schemeClr val="tx1"/>
                </a:solidFill>
              </a:defRPr>
            </a:lvl4pPr>
            <a:lvl5pPr marL="548626" indent="-137157">
              <a:defRPr sz="1300">
                <a:solidFill>
                  <a:schemeClr val="tx1"/>
                </a:solidFill>
              </a:defRPr>
            </a:lvl5pPr>
            <a:lvl6pPr marL="685783" indent="-137157">
              <a:defRPr sz="1300">
                <a:solidFill>
                  <a:schemeClr val="tx1"/>
                </a:solidFill>
              </a:defRPr>
            </a:lvl6pPr>
            <a:lvl7pPr marL="822939" indent="-137157">
              <a:defRPr sz="1300">
                <a:solidFill>
                  <a:schemeClr val="tx1"/>
                </a:solidFill>
              </a:defRPr>
            </a:lvl7pPr>
            <a:lvl8pPr marL="960096" indent="-137157">
              <a:defRPr sz="1300">
                <a:solidFill>
                  <a:schemeClr val="tx1"/>
                </a:solidFill>
              </a:defRPr>
            </a:lvl8pPr>
            <a:lvl9pPr marL="1097253" indent="-137157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341376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>
                <a:solidFill>
                  <a:schemeClr val="tx1"/>
                </a:solidFill>
              </a:defRPr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13" indent="-137157">
              <a:defRPr sz="1300">
                <a:solidFill>
                  <a:schemeClr val="tx1"/>
                </a:solidFill>
              </a:defRPr>
            </a:lvl3pPr>
            <a:lvl4pPr marL="411470" indent="-137157">
              <a:defRPr sz="1300">
                <a:solidFill>
                  <a:schemeClr val="tx1"/>
                </a:solidFill>
              </a:defRPr>
            </a:lvl4pPr>
            <a:lvl5pPr marL="548626" indent="-137157">
              <a:defRPr sz="1300">
                <a:solidFill>
                  <a:schemeClr val="tx1"/>
                </a:solidFill>
              </a:defRPr>
            </a:lvl5pPr>
            <a:lvl6pPr marL="685783" indent="-137157">
              <a:defRPr sz="1300">
                <a:solidFill>
                  <a:schemeClr val="tx1"/>
                </a:solidFill>
              </a:defRPr>
            </a:lvl6pPr>
            <a:lvl7pPr marL="822939" indent="-137157">
              <a:defRPr sz="1300">
                <a:solidFill>
                  <a:schemeClr val="tx1"/>
                </a:solidFill>
              </a:defRPr>
            </a:lvl7pPr>
            <a:lvl8pPr marL="960096" indent="-137157">
              <a:defRPr sz="1300">
                <a:solidFill>
                  <a:schemeClr val="tx1"/>
                </a:solidFill>
              </a:defRPr>
            </a:lvl8pPr>
            <a:lvl9pPr marL="1097253" indent="-137157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627888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>
                <a:solidFill>
                  <a:schemeClr val="tx1"/>
                </a:solidFill>
              </a:defRPr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13" indent="-137157">
              <a:defRPr sz="1300">
                <a:solidFill>
                  <a:schemeClr val="tx1"/>
                </a:solidFill>
              </a:defRPr>
            </a:lvl3pPr>
            <a:lvl4pPr marL="411470" indent="-137157">
              <a:defRPr sz="1300">
                <a:solidFill>
                  <a:schemeClr val="tx1"/>
                </a:solidFill>
              </a:defRPr>
            </a:lvl4pPr>
            <a:lvl5pPr marL="548626" indent="-137157">
              <a:defRPr sz="1300">
                <a:solidFill>
                  <a:schemeClr val="tx1"/>
                </a:solidFill>
              </a:defRPr>
            </a:lvl5pPr>
            <a:lvl6pPr marL="685783" indent="-137157">
              <a:defRPr sz="1300">
                <a:solidFill>
                  <a:schemeClr val="tx1"/>
                </a:solidFill>
              </a:defRPr>
            </a:lvl6pPr>
            <a:lvl7pPr marL="822939" indent="-137157">
              <a:defRPr sz="1300">
                <a:solidFill>
                  <a:schemeClr val="tx1"/>
                </a:solidFill>
              </a:defRPr>
            </a:lvl7pPr>
            <a:lvl8pPr marL="960096" indent="-137157">
              <a:defRPr sz="1300">
                <a:solidFill>
                  <a:schemeClr val="tx1"/>
                </a:solidFill>
              </a:defRPr>
            </a:lvl8pPr>
            <a:lvl9pPr marL="1097253" indent="-137157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914400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>
                <a:solidFill>
                  <a:schemeClr val="tx1"/>
                </a:solidFill>
              </a:defRPr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13" indent="-137157">
              <a:defRPr sz="1300">
                <a:solidFill>
                  <a:schemeClr val="tx1"/>
                </a:solidFill>
              </a:defRPr>
            </a:lvl3pPr>
            <a:lvl4pPr marL="411470" indent="-137157">
              <a:defRPr sz="1300">
                <a:solidFill>
                  <a:schemeClr val="tx1"/>
                </a:solidFill>
              </a:defRPr>
            </a:lvl4pPr>
            <a:lvl5pPr marL="548626" indent="-137157">
              <a:defRPr sz="1300">
                <a:solidFill>
                  <a:schemeClr val="tx1"/>
                </a:solidFill>
              </a:defRPr>
            </a:lvl5pPr>
            <a:lvl6pPr marL="685783" indent="-137157">
              <a:defRPr sz="1300">
                <a:solidFill>
                  <a:schemeClr val="tx1"/>
                </a:solidFill>
              </a:defRPr>
            </a:lvl6pPr>
            <a:lvl7pPr marL="822939" indent="-137157">
              <a:defRPr sz="1300">
                <a:solidFill>
                  <a:schemeClr val="tx1"/>
                </a:solidFill>
              </a:defRPr>
            </a:lvl7pPr>
            <a:lvl8pPr marL="960096" indent="-137157">
              <a:defRPr sz="1300">
                <a:solidFill>
                  <a:schemeClr val="tx1"/>
                </a:solidFill>
              </a:defRPr>
            </a:lvl8pPr>
            <a:lvl9pPr marL="1097253" indent="-137157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B012D9A-AE72-0239-7D2F-3E585FB16AD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694BD61C-20BA-43AF-A21F-1DAFB3200099}" type="datetime3">
              <a:rPr lang="en-US" smtClean="0"/>
              <a:t>20 July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07D52D1-634D-ECD5-045A-38F96B973A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ectangle 15">
            <a:extLst>
              <a:ext uri="{FF2B5EF4-FFF2-40B4-BE49-F238E27FC236}">
                <a16:creationId xmlns:a16="http://schemas.microsoft.com/office/drawing/2014/main" id="{DEB0DA69-FBF7-5C40-833F-1B7B11772F8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597C6E0-6809-7398-D956-E5305EC75B1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84E015-ECF9-BB95-F3AC-0C50F66718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6073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6D6FD270-DB0B-36F0-B138-75209607ED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54864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341376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627888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914400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2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E669241-96AF-C7FA-0BE4-6592ABD2587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7B8021B-6105-4216-96FC-94348F216D0E}" type="datetime3">
              <a:rPr lang="en-US" smtClean="0"/>
              <a:t>20 July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6C2643F-F661-8B8E-E36F-1F135C6F65B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7083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AEEBA188-82A1-2FC4-842F-8120003B65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54864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341376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627888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914400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 userDrawn="1"/>
        </p:nvSpPr>
        <p:spPr>
          <a:xfrm>
            <a:off x="54864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4864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 userDrawn="1"/>
        </p:nvSpPr>
        <p:spPr>
          <a:xfrm>
            <a:off x="341376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341376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 userDrawn="1"/>
        </p:nvSpPr>
        <p:spPr>
          <a:xfrm>
            <a:off x="627888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7888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 userDrawn="1"/>
        </p:nvSpPr>
        <p:spPr>
          <a:xfrm>
            <a:off x="914400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400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6E3723B8-B265-6943-67A5-DF3F0D5EC1C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5D27CFAB-73E6-44A8-B862-B3306344E3F2}" type="datetime3">
              <a:rPr lang="en-US" smtClean="0"/>
              <a:t>20 July 2026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8D4AF177-759A-A93C-2097-C2C22D93680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" name="Rectangle 15">
            <a:extLst>
              <a:ext uri="{FF2B5EF4-FFF2-40B4-BE49-F238E27FC236}">
                <a16:creationId xmlns:a16="http://schemas.microsoft.com/office/drawing/2014/main" id="{FEDB97C0-F514-9C55-3E16-9FC0105AEF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C06597B-21CB-E031-D41A-B15442D1221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419FAE-92B3-3B6A-EDE9-C7A373F39B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1659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963F0940-E33E-9D7F-C52B-16CFD0545B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54864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341376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627888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9144002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2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 userDrawn="1"/>
        </p:nvSpPr>
        <p:spPr>
          <a:xfrm>
            <a:off x="54864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4864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 userDrawn="1"/>
        </p:nvSpPr>
        <p:spPr>
          <a:xfrm>
            <a:off x="341376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341376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 userDrawn="1"/>
        </p:nvSpPr>
        <p:spPr>
          <a:xfrm>
            <a:off x="627888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7888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 userDrawn="1"/>
        </p:nvSpPr>
        <p:spPr>
          <a:xfrm>
            <a:off x="9144002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4002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57" indent="-137157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13" indent="-137157">
              <a:defRPr sz="1300"/>
            </a:lvl3pPr>
            <a:lvl4pPr marL="411470" indent="-137157">
              <a:defRPr sz="1300"/>
            </a:lvl4pPr>
            <a:lvl5pPr marL="548626" indent="-137157">
              <a:defRPr sz="1300"/>
            </a:lvl5pPr>
            <a:lvl6pPr marL="685783" indent="-137157">
              <a:defRPr sz="1300"/>
            </a:lvl6pPr>
            <a:lvl7pPr marL="822939" indent="-137157">
              <a:defRPr sz="1300"/>
            </a:lvl7pPr>
            <a:lvl8pPr marL="960096" indent="-137157">
              <a:defRPr sz="1300"/>
            </a:lvl8pPr>
            <a:lvl9pPr marL="1097253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4C43927A-9072-62B2-E6B6-C90CC98BD41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9B2E784-A5F5-4301-881B-94AC8DBF9DED}" type="datetime3">
              <a:rPr lang="en-US" smtClean="0"/>
              <a:t>20 July 2026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7C0BB974-2130-F29B-EFD0-42CC6056022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061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0F3CE13-290E-12C4-BDCA-17CB5BAFF74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28600"/>
            <a:ext cx="12192000" cy="64008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F67DC4-909F-6BF0-DB86-8675E2571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3D174-1921-7F28-5394-750C376C77F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8EAB3A5-9E92-4BB9-8F22-9632B4FBEDBA}" type="datetime3">
              <a:rPr lang="en-US" smtClean="0"/>
              <a:t>20 July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BD6737-D835-6484-7A3F-BAD2D784E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B09A03-7F71-C11F-C219-9F32BF2D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953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411481"/>
            <a:ext cx="5364480" cy="914400"/>
          </a:xfrm>
        </p:spPr>
        <p:txBody>
          <a:bodyPr/>
          <a:lstStyle>
            <a:lvl1pPr>
              <a:defRPr sz="28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536448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DEDA6D-3B28-23A1-C2EE-BBB7617D7DC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0923810-5FB2-48C9-96CA-1DE2C4773142}" type="datetime3">
              <a:rPr lang="en-US" smtClean="0"/>
              <a:t>20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31B70-C8F2-D686-C30C-B4651FF04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9D1DFBC2-C4E8-E691-E48C-B8D2CF49CDA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8038" y="1076325"/>
            <a:ext cx="5365748" cy="5095875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7704382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D455EB0-A36D-4986-9393-AA1D5CE6C0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411480"/>
            <a:ext cx="11094720" cy="310896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3794760"/>
            <a:ext cx="5364480" cy="914400"/>
          </a:xfrm>
        </p:spPr>
        <p:txBody>
          <a:bodyPr/>
          <a:lstStyle>
            <a:lvl1pPr>
              <a:defRPr sz="28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6278879" y="3794760"/>
            <a:ext cx="5364480" cy="2377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39DE7-660B-3FA9-966D-AB1D9EF6AC8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E50EFF4B-86EB-42FB-93EA-7D8F9CB2466F}" type="datetime3">
              <a:rPr lang="en-US" smtClean="0"/>
              <a:t>20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63529-A3F2-C0F4-1A5C-AAFFF34D7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7035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90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218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1600200"/>
            <a:ext cx="5364480" cy="22860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37" y="4114800"/>
            <a:ext cx="5364480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548639" y="4526280"/>
            <a:ext cx="5364480" cy="1645920"/>
          </a:xfrm>
        </p:spPr>
        <p:txBody>
          <a:bodyPr/>
          <a:lstStyle>
            <a:lvl1pPr marL="137157" indent="-137157">
              <a:defRPr sz="1500"/>
            </a:lvl1pPr>
            <a:lvl2pPr marL="274313" indent="-137157">
              <a:defRPr sz="1500"/>
            </a:lvl2pPr>
            <a:lvl3pPr marL="411470" indent="-137157">
              <a:defRPr sz="1500"/>
            </a:lvl3pPr>
            <a:lvl4pPr marL="548626" indent="-137157">
              <a:defRPr sz="1500"/>
            </a:lvl4pPr>
            <a:lvl5pPr marL="685783" indent="-137157">
              <a:defRPr sz="1500"/>
            </a:lvl5pPr>
            <a:lvl6pPr marL="822939" indent="-137157">
              <a:defRPr sz="1500"/>
            </a:lvl6pPr>
            <a:lvl7pPr marL="960096" indent="-137157">
              <a:defRPr sz="1500"/>
            </a:lvl7pPr>
            <a:lvl8pPr marL="1097253" indent="-137157">
              <a:defRPr sz="1500"/>
            </a:lvl8pPr>
            <a:lvl9pPr marL="1234409" indent="-137157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78879" y="1600200"/>
            <a:ext cx="5364480" cy="22860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78879" y="4114800"/>
            <a:ext cx="5364480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6278879" y="4526280"/>
            <a:ext cx="5364480" cy="1645920"/>
          </a:xfrm>
        </p:spPr>
        <p:txBody>
          <a:bodyPr/>
          <a:lstStyle>
            <a:lvl1pPr marL="137157" indent="-137157">
              <a:defRPr sz="1500"/>
            </a:lvl1pPr>
            <a:lvl2pPr marL="274313" indent="-137157">
              <a:defRPr sz="1500"/>
            </a:lvl2pPr>
            <a:lvl3pPr marL="411470" indent="-137157">
              <a:defRPr sz="1500"/>
            </a:lvl3pPr>
            <a:lvl4pPr marL="548626" indent="-137157">
              <a:defRPr sz="1500"/>
            </a:lvl4pPr>
            <a:lvl5pPr marL="685783" indent="-137157">
              <a:defRPr sz="1500"/>
            </a:lvl5pPr>
            <a:lvl6pPr marL="822939" indent="-137157">
              <a:defRPr sz="1500"/>
            </a:lvl6pPr>
            <a:lvl7pPr marL="960096" indent="-137157">
              <a:defRPr sz="1500"/>
            </a:lvl7pPr>
            <a:lvl8pPr marL="1097253" indent="-137157">
              <a:defRPr sz="1500"/>
            </a:lvl8pPr>
            <a:lvl9pPr marL="1234409" indent="-137157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E309248A-8803-C0D0-F841-DA0B643CD6D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B14FC24-E041-45E9-9A72-E5755A86890F}" type="datetime3">
              <a:rPr lang="en-US" smtClean="0"/>
              <a:t>20 July 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E501E26-5E18-9AC3-2607-A695FA23E6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441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592">
          <p15:clr>
            <a:srgbClr val="A4A3A4"/>
          </p15:clr>
        </p15:guide>
        <p15:guide id="4" orient="horz" pos="2448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1600200"/>
            <a:ext cx="3450336" cy="16916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37" y="3520440"/>
            <a:ext cx="3450336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548639" y="3931920"/>
            <a:ext cx="3450336" cy="2240280"/>
          </a:xfrm>
        </p:spPr>
        <p:txBody>
          <a:bodyPr/>
          <a:lstStyle>
            <a:lvl1pPr marL="137157" indent="-137157">
              <a:defRPr sz="1500"/>
            </a:lvl1pPr>
            <a:lvl2pPr marL="274313" indent="-137157">
              <a:defRPr sz="1500"/>
            </a:lvl2pPr>
            <a:lvl3pPr marL="411470" indent="-137157">
              <a:defRPr sz="1500"/>
            </a:lvl3pPr>
            <a:lvl4pPr marL="548626" indent="-137157">
              <a:defRPr sz="1500"/>
            </a:lvl4pPr>
            <a:lvl5pPr marL="685783" indent="-137157">
              <a:defRPr sz="1500"/>
            </a:lvl5pPr>
            <a:lvl6pPr marL="822939" indent="-137157">
              <a:defRPr sz="1500"/>
            </a:lvl6pPr>
            <a:lvl7pPr marL="960096" indent="-137157">
              <a:defRPr sz="1500"/>
            </a:lvl7pPr>
            <a:lvl8pPr marL="1097253" indent="-137157">
              <a:defRPr sz="1500"/>
            </a:lvl8pPr>
            <a:lvl9pPr marL="1234409" indent="-137157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70831" y="1600200"/>
            <a:ext cx="3450336" cy="16916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70831" y="3520440"/>
            <a:ext cx="3450336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4370831" y="3931920"/>
            <a:ext cx="3450336" cy="2240280"/>
          </a:xfrm>
        </p:spPr>
        <p:txBody>
          <a:bodyPr/>
          <a:lstStyle>
            <a:lvl1pPr marL="137157" indent="-137157">
              <a:defRPr sz="1500"/>
            </a:lvl1pPr>
            <a:lvl2pPr marL="274313" indent="-137157">
              <a:defRPr sz="1500"/>
            </a:lvl2pPr>
            <a:lvl3pPr marL="411470" indent="-137157">
              <a:defRPr sz="1500"/>
            </a:lvl3pPr>
            <a:lvl4pPr marL="548626" indent="-137157">
              <a:defRPr sz="1500"/>
            </a:lvl4pPr>
            <a:lvl5pPr marL="685783" indent="-137157">
              <a:defRPr sz="1500"/>
            </a:lvl5pPr>
            <a:lvl6pPr marL="822939" indent="-137157">
              <a:defRPr sz="1500"/>
            </a:lvl6pPr>
            <a:lvl7pPr marL="960096" indent="-137157">
              <a:defRPr sz="1500"/>
            </a:lvl7pPr>
            <a:lvl8pPr marL="1097253" indent="-137157">
              <a:defRPr sz="1500"/>
            </a:lvl8pPr>
            <a:lvl9pPr marL="1234409" indent="-137157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93023" y="1600200"/>
            <a:ext cx="3450336" cy="16916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93023" y="3520440"/>
            <a:ext cx="3450336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8193023" y="3931920"/>
            <a:ext cx="3450336" cy="2240280"/>
          </a:xfrm>
        </p:spPr>
        <p:txBody>
          <a:bodyPr/>
          <a:lstStyle>
            <a:lvl1pPr marL="137157" indent="-137157">
              <a:defRPr sz="1500"/>
            </a:lvl1pPr>
            <a:lvl2pPr marL="274313" indent="-137157">
              <a:defRPr sz="1500"/>
            </a:lvl2pPr>
            <a:lvl3pPr marL="411470" indent="-137157">
              <a:defRPr sz="1500"/>
            </a:lvl3pPr>
            <a:lvl4pPr marL="548626" indent="-137157">
              <a:defRPr sz="1500"/>
            </a:lvl4pPr>
            <a:lvl5pPr marL="685783" indent="-137157">
              <a:defRPr sz="1500"/>
            </a:lvl5pPr>
            <a:lvl6pPr marL="822939" indent="-137157">
              <a:defRPr sz="1500"/>
            </a:lvl6pPr>
            <a:lvl7pPr marL="960096" indent="-137157">
              <a:defRPr sz="1500"/>
            </a:lvl7pPr>
            <a:lvl8pPr marL="1097253" indent="-137157">
              <a:defRPr sz="1500"/>
            </a:lvl8pPr>
            <a:lvl9pPr marL="1234409" indent="-137157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CC41EC7-A74C-7FAC-CAAF-B45134A90C1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8A19125-94A7-4474-858C-FD9C4ABE9DDA}" type="datetime3">
              <a:rPr lang="en-US" smtClean="0"/>
              <a:t>20 July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DCE38A9-CABF-9588-DDD8-93DD198F7EC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23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2218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2074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42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41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548642" y="3474720"/>
            <a:ext cx="2499359" cy="269748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28806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8806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3428806" y="3474720"/>
            <a:ext cx="2499359" cy="269748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63842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63842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6263842" y="3474720"/>
            <a:ext cx="2499359" cy="269748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D206E8B5-48CF-3920-10E8-5C214FEE93B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144002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0A8711B-6FCD-CC40-76D9-6F2EED66A6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144002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ABA13BFB-DABC-41BC-F712-51774CC8BA1C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9144002" y="3474720"/>
            <a:ext cx="2499359" cy="2697480"/>
          </a:xfrm>
        </p:spPr>
        <p:txBody>
          <a:bodyPr/>
          <a:lstStyle>
            <a:lvl1pPr marL="137157" indent="-137157">
              <a:defRPr sz="1300"/>
            </a:lvl1pPr>
            <a:lvl2pPr marL="274313" indent="-137157">
              <a:defRPr sz="1300"/>
            </a:lvl2pPr>
            <a:lvl3pPr marL="411470" indent="-137157">
              <a:defRPr sz="1300"/>
            </a:lvl3pPr>
            <a:lvl4pPr marL="548626" indent="-137157">
              <a:defRPr sz="1300"/>
            </a:lvl4pPr>
            <a:lvl5pPr marL="685783" indent="-137157">
              <a:defRPr sz="1300"/>
            </a:lvl5pPr>
            <a:lvl6pPr marL="822939" indent="-137157">
              <a:defRPr sz="1300"/>
            </a:lvl6pPr>
            <a:lvl7pPr marL="960096" indent="-137157">
              <a:defRPr sz="1300"/>
            </a:lvl7pPr>
            <a:lvl8pPr marL="1097253" indent="-137157">
              <a:defRPr sz="1300"/>
            </a:lvl8pPr>
            <a:lvl9pPr marL="1234409" indent="-137157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6FA3AB29-95C5-BB81-8596-7248603E0DB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3BA0343D-C8D8-43CE-BB79-50DEA219DB07}" type="datetime3">
              <a:rPr lang="en-US" smtClean="0"/>
              <a:t>20 July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F8249F74-522A-F15A-97B8-27047D5DEDAE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489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1786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1930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0" y="411482"/>
            <a:ext cx="8231293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62121C3-FD56-A9B2-1088-141E0BDB4C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6795135" cy="40233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800"/>
            </a:lvl1pPr>
            <a:lvl2pPr marL="182875" indent="-182875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51">
              <a:defRPr/>
            </a:lvl3pPr>
            <a:lvl4pPr marL="548626">
              <a:defRPr/>
            </a:lvl4pPr>
            <a:lvl5pPr marL="731502">
              <a:defRPr/>
            </a:lvl5pPr>
            <a:lvl6pPr marL="914377">
              <a:defRPr/>
            </a:lvl6pPr>
            <a:lvl7pPr marL="1097253">
              <a:defRPr/>
            </a:lvl7pPr>
            <a:lvl8pPr marL="1280128">
              <a:defRPr/>
            </a:lvl8pPr>
            <a:lvl9pPr marL="1463003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BADC8-E5B3-9DDB-F294-C14F7AA987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453BD212-0B9F-4987-965F-AC83B2FC354F}" type="datetime3">
              <a:rPr lang="en-US" smtClean="0"/>
              <a:t>20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DADDA-8448-690C-2CAB-FA7E28471B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29767174-7781-C263-3756-CD54301026C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i="0" u="none" strike="noStrike" cap="none" baseline="0" dirty="0">
                <a:solidFill>
                  <a:srgbClr val="2DAA27"/>
                </a:solidFill>
                <a:latin typeface="Arial"/>
                <a:ea typeface="Arial"/>
                <a:cs typeface="Arial Bold" panose="020B0704020202020204" pitchFamily="34" charset="0"/>
                <a:sym typeface="Arial"/>
              </a:rPr>
              <a:t>UNCLASSIFIED/GENERAL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6F2182-1ACE-5AD5-681B-31F3C218704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baseline="0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UNCLASSIFIED/GENERAL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0C2669-2091-19FC-7FA5-E8DD4A44F8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2118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D68235BF-5094-B6AD-6429-61352C54DE9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28600"/>
            <a:ext cx="12192000" cy="6400800"/>
          </a:xfrm>
          <a:solidFill>
            <a:srgbClr val="56555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2"/>
          <p:cNvSpPr>
            <a:spLocks noGrp="1"/>
          </p:cNvSpPr>
          <p:nvPr>
            <p:ph type="title" hasCustomPrompt="1"/>
          </p:nvPr>
        </p:nvSpPr>
        <p:spPr>
          <a:xfrm>
            <a:off x="548640" y="411482"/>
            <a:ext cx="8231293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C6E9F-9E2F-3968-F76A-CD8240DB9C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6795135" cy="91440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800"/>
            </a:lvl1pPr>
            <a:lvl2pPr marL="182875" indent="-182875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51">
              <a:defRPr/>
            </a:lvl3pPr>
            <a:lvl4pPr marL="548626">
              <a:defRPr/>
            </a:lvl4pPr>
            <a:lvl5pPr marL="731502">
              <a:defRPr/>
            </a:lvl5pPr>
            <a:lvl6pPr marL="914377">
              <a:defRPr/>
            </a:lvl6pPr>
            <a:lvl7pPr marL="1097253">
              <a:defRPr/>
            </a:lvl7pPr>
            <a:lvl8pPr marL="1280128">
              <a:defRPr/>
            </a:lvl8pPr>
            <a:lvl9pPr marL="1463003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EB74B-4EFA-464C-722C-FBCA5174031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0AF9C2-5E8A-4308-AE6B-CA9B65007D0E}" type="datetime3">
              <a:rPr lang="en-US" smtClean="0"/>
              <a:t>20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19503-16E7-50C5-8995-F8E0DCB6B62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E613F9-1842-268A-DF27-3F9D765027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5048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Whit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0" y="411482"/>
            <a:ext cx="8231293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6795135" cy="40233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800"/>
            </a:lvl1pPr>
            <a:lvl2pPr marL="182875" indent="-182875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51">
              <a:defRPr/>
            </a:lvl3pPr>
            <a:lvl4pPr marL="548626">
              <a:defRPr/>
            </a:lvl4pPr>
            <a:lvl5pPr marL="731502">
              <a:defRPr/>
            </a:lvl5pPr>
            <a:lvl6pPr marL="914377">
              <a:defRPr/>
            </a:lvl6pPr>
            <a:lvl7pPr marL="1097253">
              <a:defRPr/>
            </a:lvl7pPr>
            <a:lvl8pPr marL="1280128">
              <a:defRPr/>
            </a:lvl8pPr>
            <a:lvl9pPr marL="1463003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CC6170-ECB5-A830-2874-091E3641013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F31E861-D2AF-431D-860B-DCF67C218052}" type="datetime3">
              <a:rPr lang="en-US" smtClean="0"/>
              <a:t>20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1CE1D-5DB3-7DB4-A801-B688218E7EC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6965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White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2" y="411480"/>
            <a:ext cx="5365327" cy="914400"/>
          </a:xfrm>
        </p:spPr>
        <p:txBody>
          <a:bodyPr anchor="t" anchorCtr="0"/>
          <a:lstStyle>
            <a:lvl1pPr>
              <a:lnSpc>
                <a:spcPct val="90000"/>
              </a:lnSpc>
              <a:defRPr sz="2400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1600200"/>
            <a:ext cx="6795135" cy="4572000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3600"/>
            </a:lvl1pPr>
            <a:lvl2pPr marL="182875" indent="-182875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51">
              <a:defRPr/>
            </a:lvl3pPr>
            <a:lvl4pPr marL="548626">
              <a:defRPr/>
            </a:lvl4pPr>
            <a:lvl5pPr marL="731502">
              <a:defRPr/>
            </a:lvl5pPr>
            <a:lvl6pPr marL="914377">
              <a:defRPr/>
            </a:lvl6pPr>
            <a:lvl7pPr marL="1097253">
              <a:defRPr/>
            </a:lvl7pPr>
            <a:lvl8pPr marL="1280128">
              <a:defRPr/>
            </a:lvl8pPr>
            <a:lvl9pPr marL="1463003">
              <a:defRPr/>
            </a:lvl9pPr>
          </a:lstStyle>
          <a:p>
            <a:pPr lvl="0"/>
            <a:r>
              <a:rPr lang="en-US"/>
              <a:t>[Long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978CF-9C5E-3CFC-1FBF-80FF0C14A03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D1DA25B2-AAF1-4C1F-AA38-12D5BFA7D4C8}" type="datetime3">
              <a:rPr lang="en-US" smtClean="0"/>
              <a:t>20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496E61-43C3-4A10-6216-8AA17EF97B8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6481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- Half Imag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2" y="411482"/>
            <a:ext cx="5365327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5365325" cy="402336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/>
            </a:lvl1pPr>
            <a:lvl2pPr marL="182875" indent="-182875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51">
              <a:defRPr/>
            </a:lvl3pPr>
            <a:lvl4pPr marL="548626">
              <a:defRPr/>
            </a:lvl4pPr>
            <a:lvl5pPr marL="731502">
              <a:defRPr/>
            </a:lvl5pPr>
            <a:lvl6pPr marL="914377">
              <a:defRPr/>
            </a:lvl6pPr>
            <a:lvl7pPr marL="1097253">
              <a:defRPr/>
            </a:lvl7pPr>
            <a:lvl8pPr marL="1280128">
              <a:defRPr/>
            </a:lvl8pPr>
            <a:lvl9pPr marL="1463003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98909E-3F3B-28FF-B01F-B77401FC0BC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25C0F39-45D0-48E9-90B3-7FE8FCE561C8}" type="datetime3">
              <a:rPr lang="en-US" smtClean="0"/>
              <a:t>20 July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506F2-72D4-8024-72B5-E5E4464D05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6FB94CE1-6713-07D6-4B5A-4A8C98A372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8038" y="1076325"/>
            <a:ext cx="5365748" cy="5095875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F827E20F-449C-FD35-0420-0D0665538DF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78D2D4-DCB9-0AD3-0C18-6C6757224CC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0600B0-1249-F5D8-D1B7-CC4F0AD64E0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3258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Half Imag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2" y="411482"/>
            <a:ext cx="5365327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5365325" cy="402336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/>
            </a:lvl1pPr>
            <a:lvl2pPr marL="182875" indent="-182875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51">
              <a:defRPr/>
            </a:lvl3pPr>
            <a:lvl4pPr marL="548626">
              <a:defRPr/>
            </a:lvl4pPr>
            <a:lvl5pPr marL="731502">
              <a:defRPr/>
            </a:lvl5pPr>
            <a:lvl6pPr marL="914377">
              <a:defRPr/>
            </a:lvl6pPr>
            <a:lvl7pPr marL="1097253">
              <a:defRPr/>
            </a:lvl7pPr>
            <a:lvl8pPr marL="1280128">
              <a:defRPr/>
            </a:lvl8pPr>
            <a:lvl9pPr marL="1463003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99F1DF14-7FE6-F760-F31F-7EF2AD60D9C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8038" y="1076325"/>
            <a:ext cx="5365748" cy="5095875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223B66-3A13-0C9F-B944-AC25D742AF9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BAF1A3D-92FA-4F24-9781-74AFA516A230}" type="datetime3">
              <a:rPr lang="en-US" smtClean="0"/>
              <a:t>20 July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544B9-C835-CF1D-D28F-2122F278951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7471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79C0D1-24E4-F8B5-5008-90B631F44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9C672-856D-4617-A693-8FE15749A9B7}" type="datetime3">
              <a:rPr lang="en-US" smtClean="0"/>
              <a:t>20 July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D0708B-B177-BDB5-031F-585D18C07E8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1341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32747-3E71-8E75-327E-02C587769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C764D-A39E-4C03-B161-E0BC66E8883B}" type="datetime3">
              <a:rPr lang="en-US" smtClean="0"/>
              <a:t>20 July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282339-D15E-F6F1-894B-9E00561215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Rectangle 15">
            <a:extLst>
              <a:ext uri="{FF2B5EF4-FFF2-40B4-BE49-F238E27FC236}">
                <a16:creationId xmlns:a16="http://schemas.microsoft.com/office/drawing/2014/main" id="{833783EA-3887-4D75-CFC6-A032432DD7A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i="0" u="none" strike="noStrike" cap="none" baseline="0" dirty="0">
                <a:solidFill>
                  <a:srgbClr val="2DAA27"/>
                </a:solidFill>
                <a:latin typeface="Arial"/>
                <a:ea typeface="Arial"/>
                <a:cs typeface="Arial Bold" panose="020B0704020202020204" pitchFamily="34" charset="0"/>
                <a:sym typeface="Arial"/>
              </a:rPr>
              <a:t>UNCLASSIFIED/GENERAL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42907C-64C3-CBB8-169A-BB3EFFC55BC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i="0" u="none" strike="noStrike" cap="none" baseline="0" dirty="0">
                <a:solidFill>
                  <a:srgbClr val="2DAA27"/>
                </a:solidFill>
                <a:latin typeface="Arial"/>
                <a:ea typeface="Arial"/>
                <a:cs typeface="Arial Bold" panose="020B0704020202020204" pitchFamily="34" charset="0"/>
                <a:sym typeface="Arial"/>
              </a:rPr>
              <a:t>UNCLASSIFIED/GENERAL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4B3BC7-1721-F04F-32EA-9BA47104C8A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9283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63EDA0-A0A8-B169-0C67-503B7AD62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E33F9-20B7-4995-BE7D-165DBB597850}" type="datetime3">
              <a:rPr lang="en-US" smtClean="0"/>
              <a:t>20 July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91F9A-E3C3-E735-5763-0009601454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1567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7CC9F-EDC9-A6F7-DA66-4A306089A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1C263-3501-4369-A962-62B6BF915CDE}" type="datetime3">
              <a:rPr lang="en-US" smtClean="0"/>
              <a:t>20 July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9D9C3A-06B5-D7B7-AE0A-005090EAD7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Rectangle 15">
            <a:extLst>
              <a:ext uri="{FF2B5EF4-FFF2-40B4-BE49-F238E27FC236}">
                <a16:creationId xmlns:a16="http://schemas.microsoft.com/office/drawing/2014/main" id="{B76758EE-15B3-7721-5E75-E147C887068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C5DC3A-1F9F-1C52-8FA1-007E776E4AA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D1ED16-EB0F-ACBF-80D9-A9A76A8D75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7904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">
            <a:extLst>
              <a:ext uri="{FF2B5EF4-FFF2-40B4-BE49-F238E27FC236}">
                <a16:creationId xmlns:a16="http://schemas.microsoft.com/office/drawing/2014/main" id="{9FBB499C-D22E-E02E-342C-293D573F4036}"/>
              </a:ext>
            </a:extLst>
          </p:cNvPr>
          <p:cNvSpPr txBox="1"/>
          <p:nvPr userDrawn="1"/>
        </p:nvSpPr>
        <p:spPr>
          <a:xfrm>
            <a:off x="548216" y="2148840"/>
            <a:ext cx="11094720" cy="13716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4800" cap="all" baseline="0">
                <a:solidFill>
                  <a:srgbClr val="FFCC01"/>
                </a:solidFill>
              </a:rPr>
              <a:t>THANK YOU.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00DDD06-33DA-C48B-4271-22D241C5EC7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8219" y="4819415"/>
            <a:ext cx="5365749" cy="1371599"/>
          </a:xfrm>
        </p:spPr>
        <p:txBody>
          <a:bodyPr anchor="b" anchorCtr="0"/>
          <a:lstStyle>
            <a:lvl1pPr marL="0" indent="0">
              <a:spcBef>
                <a:spcPts val="0"/>
              </a:spcBef>
              <a:buFontTx/>
              <a:buNone/>
              <a:defRPr sz="1200"/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pPr lvl="0"/>
            <a:r>
              <a:rPr lang="en-US"/>
              <a:t>[Optional contact information]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632A57-06FC-652E-6EE4-1F70D322E5B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06F3EBE-B2E8-4992-9F00-9E4B44F057C0}" type="datetime3">
              <a:rPr lang="en-US" smtClean="0"/>
              <a:t>20 July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E1E829-FABB-578E-0154-2C87BBF4E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490B06-8AF4-4B9B-7F1E-C2E93EEF2F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6994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go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U.S. Army" descr="U.S. Army">
            <a:extLst>
              <a:ext uri="{FF2B5EF4-FFF2-40B4-BE49-F238E27FC236}">
                <a16:creationId xmlns:a16="http://schemas.microsoft.com/office/drawing/2014/main" id="{0B06A788-76BC-690C-D43E-FC2BDE0FB2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2827020" y="2194560"/>
            <a:ext cx="6537960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80854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1_Title Slide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53049937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 preserve="1">
  <p:cSld name="1_Title Onl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39479816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 preserve="1">
  <p:cSld name="Title and two columns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415633" y="667900"/>
            <a:ext cx="11360800" cy="8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Play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body" idx="1"/>
          </p:nvPr>
        </p:nvSpPr>
        <p:spPr>
          <a:xfrm>
            <a:off x="415600" y="2007600"/>
            <a:ext cx="5333200" cy="4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1485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  <a:defRPr/>
            </a:lvl1pPr>
            <a:lvl2pPr marL="1219170" lvl="1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marL="1828754" lvl="2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marL="2438339" lvl="3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marL="3047924" lvl="4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marL="3657509" lvl="5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marL="4267093" lvl="6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marL="4876678" lvl="7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marL="5486263" lvl="8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body" idx="2"/>
          </p:nvPr>
        </p:nvSpPr>
        <p:spPr>
          <a:xfrm>
            <a:off x="6443200" y="2007600"/>
            <a:ext cx="5333200" cy="4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1485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  <a:defRPr/>
            </a:lvl1pPr>
            <a:lvl2pPr marL="1219170" lvl="1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marL="1828754" lvl="2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marL="2438339" lvl="3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marL="3047924" lvl="4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marL="3657509" lvl="5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marL="4267093" lvl="6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marL="4876678" lvl="7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marL="5486263" lvl="8" indent="-39792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73520703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2665729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9140998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00052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2.png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70940C-8B04-CB4D-1B44-6768963C04C7}"/>
              </a:ext>
            </a:extLst>
          </p:cNvPr>
          <p:cNvPicPr>
            <a:picLocks noChangeAspect="1"/>
          </p:cNvPicPr>
          <p:nvPr userDrawn="1"/>
        </p:nvPicPr>
        <p:blipFill>
          <a:blip r:embed="rId38"/>
          <a:srcRect l="26274" t="67"/>
          <a:stretch>
            <a:fillRect/>
          </a:stretch>
        </p:blipFill>
        <p:spPr>
          <a:xfrm>
            <a:off x="10428515" y="411481"/>
            <a:ext cx="1214844" cy="477704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[Slide title]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39" y="1600199"/>
            <a:ext cx="11094720" cy="4572000"/>
          </a:xfrm>
          <a:prstGeom prst="rect">
            <a:avLst/>
          </a:prstGeom>
        </p:spPr>
        <p:txBody>
          <a:bodyPr vert="horz" lIns="0" tIns="0" rIns="0" bIns="0" spcCol="36576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15">
            <a:extLst>
              <a:ext uri="{FF2B5EF4-FFF2-40B4-BE49-F238E27FC236}">
                <a16:creationId xmlns:a16="http://schemas.microsoft.com/office/drawing/2014/main" id="{A505B177-5D6D-67A3-C213-FBD8A41DB44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6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B11D7F-02E5-4718-D558-9A38AEFE4A3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1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598B6A5-7EA2-1E58-A263-9A08F2A4D5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7688" y="6629400"/>
            <a:ext cx="823912" cy="22860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l">
              <a:defRPr sz="700" b="1">
                <a:solidFill>
                  <a:schemeClr val="tx1"/>
                </a:solidFill>
              </a:defRPr>
            </a:lvl1pPr>
          </a:lstStyle>
          <a:p>
            <a:fld id="{CABCB1B0-B6E5-4DD1-BB55-95C076D6C0C8}" type="datetime3">
              <a:rPr lang="en-US" smtClean="0"/>
              <a:t>20 July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FA4C418-D296-ED76-977B-4AA2E1E82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10717" y="6629400"/>
            <a:ext cx="442001" cy="22860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r">
              <a:defRPr sz="700" b="1">
                <a:solidFill>
                  <a:schemeClr val="tx1"/>
                </a:solidFill>
              </a:defRPr>
            </a:lvl1pPr>
          </a:lstStyle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 descr="A picture containing icon&#10;&#10;AI-generated content may be incorrect.">
            <a:extLst>
              <a:ext uri="{FF2B5EF4-FFF2-40B4-BE49-F238E27FC236}">
                <a16:creationId xmlns:a16="http://schemas.microsoft.com/office/drawing/2014/main" id="{84A6E5DC-D173-77B5-CFA6-9D4A8EBB00CD}"/>
              </a:ext>
            </a:extLst>
          </p:cNvPr>
          <p:cNvPicPr>
            <a:picLocks noChangeAspect="1"/>
          </p:cNvPicPr>
          <p:nvPr userDrawn="1"/>
        </p:nvPicPr>
        <p:blipFill>
          <a:blip r:embed="rId39"/>
          <a:stretch>
            <a:fillRect/>
          </a:stretch>
        </p:blipFill>
        <p:spPr>
          <a:xfrm>
            <a:off x="9926021" y="424087"/>
            <a:ext cx="502495" cy="477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8396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</p:sldLayoutIdLst>
  <p:hf hdr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32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75" indent="-182875" algn="l" defTabSz="914377" rtl="0" eaLnBrk="1" latinLnBrk="0" hangingPunct="1">
        <a:lnSpc>
          <a:spcPct val="95000"/>
        </a:lnSpc>
        <a:spcBef>
          <a:spcPts val="1000"/>
        </a:spcBef>
        <a:buFont typeface="Arial" panose="020B0604020202020204" pitchFamily="34" charset="0"/>
        <a:buChar char="▪"/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365751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548626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731502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914377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53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1280128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1463003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1645879" indent="-182875" algn="l" defTabSz="914377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">
          <p15:clr>
            <a:srgbClr val="F26B43"/>
          </p15:clr>
        </p15:guide>
        <p15:guide id="2" pos="345">
          <p15:clr>
            <a:srgbClr val="F26B43"/>
          </p15:clr>
        </p15:guide>
        <p15:guide id="3" pos="7335">
          <p15:clr>
            <a:srgbClr val="F26B43"/>
          </p15:clr>
        </p15:guide>
        <p15:guide id="4" orient="horz" pos="4061">
          <p15:clr>
            <a:srgbClr val="F26B43"/>
          </p15:clr>
        </p15:guide>
        <p15:guide id="6" pos="1018">
          <p15:clr>
            <a:srgbClr val="A4A3A4"/>
          </p15:clr>
        </p15:guide>
        <p15:guide id="7" pos="1248">
          <p15:clr>
            <a:srgbClr val="A4A3A4"/>
          </p15:clr>
        </p15:guide>
        <p15:guide id="8" pos="2148">
          <p15:clr>
            <a:srgbClr val="A4A3A4"/>
          </p15:clr>
        </p15:guide>
        <p15:guide id="9" pos="3052">
          <p15:clr>
            <a:srgbClr val="A4A3A4"/>
          </p15:clr>
        </p15:guide>
        <p15:guide id="10" pos="3954">
          <p15:clr>
            <a:srgbClr val="A4A3A4"/>
          </p15:clr>
        </p15:guide>
        <p15:guide id="11" pos="3724">
          <p15:clr>
            <a:srgbClr val="A4A3A4"/>
          </p15:clr>
        </p15:guide>
        <p15:guide id="12" pos="4858">
          <p15:clr>
            <a:srgbClr val="A4A3A4"/>
          </p15:clr>
        </p15:guide>
        <p15:guide id="13" pos="5784">
          <p15:clr>
            <a:srgbClr val="A4A3A4"/>
          </p15:clr>
        </p15:guide>
        <p15:guide id="14" pos="6660">
          <p15:clr>
            <a:srgbClr val="A4A3A4"/>
          </p15:clr>
        </p15:guide>
        <p15:guide id="15" pos="1920">
          <p15:clr>
            <a:srgbClr val="A4A3A4"/>
          </p15:clr>
        </p15:guide>
        <p15:guide id="16" pos="2822">
          <p15:clr>
            <a:srgbClr val="A4A3A4"/>
          </p15:clr>
        </p15:guide>
        <p15:guide id="17" pos="4626">
          <p15:clr>
            <a:srgbClr val="A4A3A4"/>
          </p15:clr>
        </p15:guide>
        <p15:guide id="18" pos="5530">
          <p15:clr>
            <a:srgbClr val="A4A3A4"/>
          </p15:clr>
        </p15:guide>
        <p15:guide id="19" pos="6434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5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5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22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ohmygit.org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learngitbranching.js.or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18FF48C0-9750-4D6E-5860-4DC5EDB8F830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002F1D5-C4ED-CB9C-9FAC-48F5ACA7961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AF5866C-9F25-3D80-C56F-B57A28B4B00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4E4A1B5-4407-DC72-984A-3E4D41D46F7E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971EA5A-47D3-99A3-3A6B-71F941D771D6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115B789-077D-D626-01EF-9406D5A22B4C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9E44AF09-B51C-9FA2-1D18-1E263699B95F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DECC310F-8B65-5F92-0786-EBF1B1C16BA6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2F5A7D8-D815-1784-7C5D-39734DF38B7D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65F458A7-9133-CD4B-916B-188790E6CD26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8" name="Google Shape;88;p13"/>
          <p:cNvSpPr txBox="1">
            <a:spLocks noGrp="1"/>
          </p:cNvSpPr>
          <p:nvPr>
            <p:ph type="ctrTitle"/>
          </p:nvPr>
        </p:nvSpPr>
        <p:spPr>
          <a:xfrm>
            <a:off x="914401" y="2202820"/>
            <a:ext cx="6429375" cy="1325880"/>
          </a:xfr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/>
            <a:r>
              <a:rPr lang="en-US"/>
              <a:t>Intro to Version Control</a:t>
            </a:r>
          </a:p>
        </p:txBody>
      </p:sp>
      <p:sp>
        <p:nvSpPr>
          <p:cNvPr id="89" name="Google Shape;89;p13"/>
          <p:cNvSpPr txBox="1">
            <a:spLocks noGrp="1"/>
          </p:cNvSpPr>
          <p:nvPr>
            <p:ph type="subTitle" idx="1"/>
          </p:nvPr>
        </p:nvSpPr>
        <p:spPr>
          <a:xfrm>
            <a:off x="914402" y="3784732"/>
            <a:ext cx="3565524" cy="457200"/>
          </a:xfr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/>
            <a:r>
              <a:rPr lang="en-US"/>
              <a:t>AI2C Tech Intro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934CD16-F3A4-FE1C-B9B0-FAB60720CF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Objectives</a:t>
            </a:r>
            <a:endParaRPr/>
          </a:p>
        </p:txBody>
      </p:sp>
      <p:sp>
        <p:nvSpPr>
          <p:cNvPr id="95" name="Google Shape;95;p14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Discuss basic git concepts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Use basic git commands to manage a local repository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Use basic git commands to view a repository’s history and changes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lang="en-US"/>
              <a:t>Version Control</a:t>
            </a:r>
            <a:endParaRPr/>
          </a:p>
        </p:txBody>
      </p:sp>
      <p:pic>
        <p:nvPicPr>
          <p:cNvPr id="102" name="Google Shape;102;p15" descr="A comic strip of a person sitting at a computer&#10;&#10;AI-generated content may be incorrect.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tretch/>
        </p:blipFill>
        <p:spPr>
          <a:xfrm>
            <a:off x="6096000" y="3704"/>
            <a:ext cx="5140721" cy="685429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5"/>
          <p:cNvSpPr txBox="1">
            <a:spLocks noGrp="1"/>
          </p:cNvSpPr>
          <p:nvPr>
            <p:ph type="body" idx="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Common VCS</a:t>
            </a:r>
            <a:endParaRPr/>
          </a:p>
        </p:txBody>
      </p:sp>
      <p:pic>
        <p:nvPicPr>
          <p:cNvPr id="110" name="Google Shape;110;p16" descr="A blue background with a black and red line&#10;&#10;AI-generated content may be incorrect.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tretch/>
        </p:blipFill>
        <p:spPr>
          <a:xfrm>
            <a:off x="2309351" y="2286868"/>
            <a:ext cx="7725697" cy="4206007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6"/>
          <p:cNvSpPr txBox="1">
            <a:spLocks noGrp="1"/>
          </p:cNvSpPr>
          <p:nvPr>
            <p:ph type="body" idx="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93% of developers use git</a:t>
            </a:r>
            <a:r>
              <a:rPr lang="en-US" baseline="30000"/>
              <a:t>1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Git</a:t>
            </a:r>
            <a:endParaRPr/>
          </a:p>
        </p:txBody>
      </p:sp>
      <p:sp>
        <p:nvSpPr>
          <p:cNvPr id="118" name="Google Shape;118;p17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dirty="0"/>
              <a:t>Made by Linus Torvalds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dirty="0"/>
              <a:t>Wrote the basics in about two weeks</a:t>
            </a:r>
            <a:r>
              <a:rPr lang="en-US" baseline="30000" dirty="0"/>
              <a:t>1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dirty="0"/>
              <a:t>The first commit was for git itself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endParaRPr lang="en-US"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dirty="0"/>
              <a:t>What is git and what is GitHub?</a:t>
            </a:r>
            <a:endParaRPr dirty="0"/>
          </a:p>
        </p:txBody>
      </p:sp>
      <p:pic>
        <p:nvPicPr>
          <p:cNvPr id="119" name="Google Shape;119;p17" descr="A close up of a logo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876716" y="4538461"/>
            <a:ext cx="4924926" cy="20571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 dirty="0"/>
              <a:t>Why "Git"?</a:t>
            </a:r>
            <a:r>
              <a:rPr lang="en-US" baseline="30000" dirty="0"/>
              <a:t>1</a:t>
            </a:r>
            <a:endParaRPr dirty="0"/>
          </a:p>
        </p:txBody>
      </p:sp>
      <p:sp>
        <p:nvSpPr>
          <p:cNvPr id="126" name="Google Shape;126;p18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dirty="0"/>
              <a:t>Quoting Linus: "I'm an egotistical bastard, and I name all my projects after myself. First 'Linux', now 'Git'". 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endParaRPr lang="en-US"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dirty="0"/>
              <a:t>Alternatively, in Linus' own words as the inventor of Git: "git" can mean anything, depending on your mood: 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endParaRPr lang="en-US"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Random three-letter combination that is pronounceable, and not actually used by any common UNIX command. The fact that it is a mispronunciation of "get" may or may not be relevant. 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endParaRPr lang="en-US"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Stupid. Contemptible and despicable. Simple. Take your pick from the dictionary of slang. 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endParaRPr lang="en-US"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"Global information tracker": you're in a good mood, and it actually works for you. Angels sing and light suddenly fills the room. </a:t>
            </a:r>
            <a:endParaRPr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endParaRPr lang="en-US" dirty="0"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/>
              <a:t>"Goddamn idiotic truckload of </a:t>
            </a:r>
            <a:r>
              <a:rPr lang="en-US" dirty="0" err="1"/>
              <a:t>sh</a:t>
            </a:r>
            <a:r>
              <a:rPr lang="en-US" dirty="0"/>
              <a:t>*t": when it breaks </a:t>
            </a:r>
            <a:endParaRPr dirty="0"/>
          </a:p>
          <a:p>
            <a:pPr marL="22860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11A75-4C85-4ABF-6E28-569AB6877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Elevator Pitch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FBEAD-11D3-2DDC-13F8-4530CCD05E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1" y="1600199"/>
            <a:ext cx="6938356" cy="4572000"/>
          </a:xfrm>
        </p:spPr>
        <p:txBody>
          <a:bodyPr/>
          <a:lstStyle/>
          <a:p>
            <a:r>
              <a:rPr lang="en-US" dirty="0"/>
              <a:t>Git is a </a:t>
            </a:r>
            <a:r>
              <a:rPr lang="en-US" dirty="0">
                <a:highlight>
                  <a:srgbClr val="FFFF00"/>
                </a:highlight>
              </a:rPr>
              <a:t>distributed</a:t>
            </a:r>
            <a:r>
              <a:rPr lang="en-US" dirty="0"/>
              <a:t> </a:t>
            </a:r>
            <a:r>
              <a:rPr lang="en-US" dirty="0">
                <a:highlight>
                  <a:srgbClr val="00FF00"/>
                </a:highlight>
              </a:rPr>
              <a:t>version control system</a:t>
            </a:r>
            <a:r>
              <a:rPr lang="en-US" dirty="0"/>
              <a:t> that </a:t>
            </a:r>
            <a:r>
              <a:rPr lang="en-US" dirty="0">
                <a:highlight>
                  <a:srgbClr val="00FFFF"/>
                </a:highlight>
              </a:rPr>
              <a:t>tracks changes in repositories</a:t>
            </a:r>
            <a:r>
              <a:rPr lang="en-US" dirty="0"/>
              <a:t> through </a:t>
            </a:r>
            <a:r>
              <a:rPr lang="en-US" dirty="0">
                <a:highlight>
                  <a:srgbClr val="FF00FF"/>
                </a:highlight>
              </a:rPr>
              <a:t>commits</a:t>
            </a:r>
            <a:r>
              <a:rPr lang="en-US" dirty="0"/>
              <a:t> using </a:t>
            </a:r>
            <a:r>
              <a:rPr lang="en-US" dirty="0">
                <a:highlight>
                  <a:srgbClr val="C0C0C0"/>
                </a:highlight>
              </a:rPr>
              <a:t>hashing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pPr lvl="1"/>
            <a:r>
              <a:rPr lang="en-US" dirty="0">
                <a:highlight>
                  <a:srgbClr val="FFFF00"/>
                </a:highlight>
              </a:rPr>
              <a:t>Distributed</a:t>
            </a:r>
            <a:r>
              <a:rPr lang="en-US" dirty="0"/>
              <a:t>:  Multiple computers in various states</a:t>
            </a:r>
          </a:p>
          <a:p>
            <a:pPr lvl="1"/>
            <a:r>
              <a:rPr lang="en-US" dirty="0">
                <a:highlight>
                  <a:srgbClr val="00FF00"/>
                </a:highlight>
              </a:rPr>
              <a:t>Version Control System</a:t>
            </a:r>
            <a:r>
              <a:rPr lang="en-US" dirty="0"/>
              <a:t>:  Manages versions of files</a:t>
            </a:r>
          </a:p>
          <a:p>
            <a:pPr lvl="1"/>
            <a:r>
              <a:rPr lang="en-US" dirty="0">
                <a:highlight>
                  <a:srgbClr val="00FFFF"/>
                </a:highlight>
              </a:rPr>
              <a:t>Tracks changes</a:t>
            </a:r>
            <a:r>
              <a:rPr lang="en-US" dirty="0"/>
              <a:t>:  Commits store </a:t>
            </a:r>
            <a:r>
              <a:rPr lang="en-US" i="1" dirty="0"/>
              <a:t>changes</a:t>
            </a:r>
            <a:r>
              <a:rPr lang="en-US" dirty="0"/>
              <a:t> to files</a:t>
            </a:r>
          </a:p>
          <a:p>
            <a:pPr lvl="1"/>
            <a:r>
              <a:rPr lang="en-US" dirty="0">
                <a:highlight>
                  <a:srgbClr val="FF00FF"/>
                </a:highlight>
              </a:rPr>
              <a:t>Commit</a:t>
            </a:r>
            <a:r>
              <a:rPr lang="en-US" dirty="0"/>
              <a:t>:  A "save point"</a:t>
            </a:r>
          </a:p>
          <a:p>
            <a:pPr lvl="1"/>
            <a:r>
              <a:rPr lang="en-US" dirty="0">
                <a:highlight>
                  <a:srgbClr val="808080"/>
                </a:highlight>
              </a:rPr>
              <a:t>Hashing</a:t>
            </a:r>
            <a:r>
              <a:rPr lang="en-US" dirty="0"/>
              <a:t>:  A one-way function that makes it easy to detect changes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6B4EF1-4477-524D-C15F-9264098EE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22D1A-DF83-41A8-85FF-04D90BF831D3}" type="datetime3">
              <a:rPr lang="en-US" smtClean="0"/>
              <a:t>20 July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674772-ED87-5460-C5E3-4F01F89333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7" name="Picture 6" descr="Git Template Repository">
            <a:extLst>
              <a:ext uri="{FF2B5EF4-FFF2-40B4-BE49-F238E27FC236}">
                <a16:creationId xmlns:a16="http://schemas.microsoft.com/office/drawing/2014/main" id="{5927892C-570E-AA4D-2084-C00859C55B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5600" y="2013238"/>
            <a:ext cx="4514850" cy="404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324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B2B55EB-5B3D-80AF-700E-8F255078BEE1}"/>
              </a:ext>
            </a:extLst>
          </p:cNvPr>
          <p:cNvSpPr txBox="1"/>
          <p:nvPr/>
        </p:nvSpPr>
        <p:spPr>
          <a:xfrm>
            <a:off x="4455621" y="469779"/>
            <a:ext cx="7736379" cy="637738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calculate_average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scores: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(scores)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(scores)</a:t>
            </a:r>
            <a:b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calculate_weighted_average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homework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exams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projects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hw_avg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calculate_average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(homework)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exam_avg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calculate_average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(exams)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proj_avg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calculate_average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(projects)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weighted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hw_avg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0.30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exam_avg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proj_avg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0.20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weighted</a:t>
            </a:r>
            <a:b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apply_bonus_points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participation_days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extra_credit_completed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bonus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participation_days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2.0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bonus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extra_credit_completed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final_average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bonus,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final_average</a:t>
            </a:r>
            <a:b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get_letter_grade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'A'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'B'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'C'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'D'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'F'</a:t>
            </a:r>
            <a:b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is_passing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001A17-BC5A-496A-796C-79B74ED9D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157" y="10834"/>
            <a:ext cx="8231293" cy="914400"/>
          </a:xfrm>
        </p:spPr>
        <p:txBody>
          <a:bodyPr/>
          <a:lstStyle/>
          <a:p>
            <a:r>
              <a:rPr lang="en-US" dirty="0"/>
              <a:t>Example 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C9F7D-BA48-BE86-FD85-020DF60C5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22D1A-DF83-41A8-85FF-04D90BF831D3}" type="datetime3">
              <a:rPr lang="en-US" smtClean="0"/>
              <a:t>20 July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2AEF0D-F81B-8631-CABC-85A7BA49E0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D2CD4D-8D96-3EB1-3E4B-4CD9DCCB3FB4}"/>
              </a:ext>
            </a:extLst>
          </p:cNvPr>
          <p:cNvSpPr txBox="1"/>
          <p:nvPr/>
        </p:nvSpPr>
        <p:spPr>
          <a:xfrm>
            <a:off x="110836" y="468034"/>
            <a:ext cx="3929149" cy="350480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calculate_average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scores: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(scores)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(scores)</a:t>
            </a:r>
            <a:b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get_letter_grade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'A'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'B'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'C'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'D'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'F'</a:t>
            </a:r>
            <a:b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is_passing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05031C3-C536-80AE-8341-B5684B726195}"/>
              </a:ext>
            </a:extLst>
          </p:cNvPr>
          <p:cNvCxnSpPr/>
          <p:nvPr/>
        </p:nvCxnSpPr>
        <p:spPr>
          <a:xfrm>
            <a:off x="4095884" y="2478157"/>
            <a:ext cx="346485" cy="0"/>
          </a:xfrm>
          <a:prstGeom prst="straightConnector1">
            <a:avLst/>
          </a:prstGeom>
          <a:ln w="50800" cap="flat">
            <a:miter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rgbClr val="FFFFFF"/>
          </a:fontRef>
        </p:style>
      </p:cxnSp>
    </p:spTree>
    <p:extLst>
      <p:ext uri="{BB962C8B-B14F-4D97-AF65-F5344CB8AC3E}">
        <p14:creationId xmlns:p14="http://schemas.microsoft.com/office/powerpoint/2010/main" val="371853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85940-B664-1FD6-725D-2C35299ED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69A9A-987F-19AD-6A9E-0FC89D28D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157" y="10834"/>
            <a:ext cx="8231293" cy="914400"/>
          </a:xfrm>
        </p:spPr>
        <p:txBody>
          <a:bodyPr/>
          <a:lstStyle/>
          <a:p>
            <a:r>
              <a:rPr lang="en-US" dirty="0"/>
              <a:t>Example 1 Continued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55D110-AFDC-245F-909C-0A0C84E79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22D1A-DF83-41A8-85FF-04D90BF831D3}" type="datetime3">
              <a:rPr lang="en-US" smtClean="0"/>
              <a:t>20 July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36E4B7-12ED-453E-8C57-F06DCF60AD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061410-297C-7FDB-812D-8475A50474E0}"/>
              </a:ext>
            </a:extLst>
          </p:cNvPr>
          <p:cNvSpPr txBox="1"/>
          <p:nvPr/>
        </p:nvSpPr>
        <p:spPr>
          <a:xfrm>
            <a:off x="110836" y="468034"/>
            <a:ext cx="3929149" cy="637738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calculate_average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scores: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(scores)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(scores)</a:t>
            </a:r>
            <a:b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get_letter_grade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'A'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'B'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'C'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'D'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'F'</a:t>
            </a:r>
            <a:b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is_passing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196967-EBDB-9413-351A-232D9C0BE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9985" y="1382434"/>
            <a:ext cx="5730214" cy="2589718"/>
          </a:xfrm>
          <a:prstGeom prst="rect">
            <a:avLst/>
          </a:prstGeom>
        </p:spPr>
      </p:pic>
      <p:sp>
        <p:nvSpPr>
          <p:cNvPr id="10" name="Plus Sign 9">
            <a:extLst>
              <a:ext uri="{FF2B5EF4-FFF2-40B4-BE49-F238E27FC236}">
                <a16:creationId xmlns:a16="http://schemas.microsoft.com/office/drawing/2014/main" id="{ACC31DBC-7DC1-5A2B-5950-50D18DBBE79D}"/>
              </a:ext>
            </a:extLst>
          </p:cNvPr>
          <p:cNvSpPr/>
          <p:nvPr/>
        </p:nvSpPr>
        <p:spPr>
          <a:xfrm>
            <a:off x="3562907" y="2280606"/>
            <a:ext cx="477078" cy="477078"/>
          </a:xfrm>
          <a:prstGeom prst="mathPlus">
            <a:avLst/>
          </a:prstGeom>
          <a:ln>
            <a:noFill/>
            <a:miter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rgbClr val="FFFFFF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170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54F7B666-AB80-80A0-DACC-7A938C6FA653}"/>
              </a:ext>
            </a:extLst>
          </p:cNvPr>
          <p:cNvSpPr/>
          <p:nvPr/>
        </p:nvSpPr>
        <p:spPr>
          <a:xfrm>
            <a:off x="5726349" y="2503251"/>
            <a:ext cx="590145" cy="219761"/>
          </a:xfrm>
          <a:prstGeom prst="rightArrow">
            <a:avLst/>
          </a:prstGeom>
          <a:ln>
            <a:noFill/>
            <a:miter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rgbClr val="FFFFFF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17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196392-18F2-6385-2FC0-DC8AA02586A8}"/>
              </a:ext>
            </a:extLst>
          </p:cNvPr>
          <p:cNvSpPr txBox="1"/>
          <p:nvPr/>
        </p:nvSpPr>
        <p:spPr>
          <a:xfrm>
            <a:off x="6379087" y="570275"/>
            <a:ext cx="7736379" cy="637738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calculate_average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scores: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(scores)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(scores)</a:t>
            </a:r>
            <a:b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calculate_weighted_average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homework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exams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projects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hw_avg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calculate_average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(homework)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exam_avg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calculate_average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(exams)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proj_avg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calculate_average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(projects)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weighted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hw_avg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0.30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exam_avg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proj_avg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0.20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weighted</a:t>
            </a:r>
            <a:b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apply_bonus_points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participation_days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extra_credit_completed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bonus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participation_days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2.0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bonus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extra_credit_completed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final_average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bonus,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final_average</a:t>
            </a:r>
            <a:b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get_letter_grade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'A'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'B'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'C'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'D'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'F'</a:t>
            </a:r>
            <a:b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is_passing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1859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2.22222E-6 L -0.32227 2.22222E-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12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8541E-6E80-D928-F103-8E71E679E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76066-9E56-2263-4FBC-EA1DEEA4C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157" y="10834"/>
            <a:ext cx="8231293" cy="914400"/>
          </a:xfrm>
        </p:spPr>
        <p:txBody>
          <a:bodyPr/>
          <a:lstStyle/>
          <a:p>
            <a:r>
              <a:rPr lang="en-US" dirty="0"/>
              <a:t>Example 2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55C81-80A0-5193-664D-29F350C95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22D1A-DF83-41A8-85FF-04D90BF831D3}" type="datetime3">
              <a:rPr lang="en-US" smtClean="0"/>
              <a:t>20 July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64C4B-ECBB-8B4E-C240-1CC1E189283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FD0908-186F-585A-EBCD-BFA23BB1749A}"/>
              </a:ext>
            </a:extLst>
          </p:cNvPr>
          <p:cNvSpPr txBox="1"/>
          <p:nvPr/>
        </p:nvSpPr>
        <p:spPr>
          <a:xfrm>
            <a:off x="110836" y="468034"/>
            <a:ext cx="3929149" cy="530016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calculate_average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scores: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(scores)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(scores)</a:t>
            </a:r>
            <a:b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get_letter_grade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'A'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'B'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'C'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'D'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'F'</a:t>
            </a:r>
            <a:b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is_passing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A49A7B-5ED0-F35A-C9E8-FA1DED38B9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039985" y="1382434"/>
            <a:ext cx="5730214" cy="1355728"/>
          </a:xfrm>
          <a:prstGeom prst="rect">
            <a:avLst/>
          </a:prstGeom>
        </p:spPr>
      </p:pic>
      <p:sp>
        <p:nvSpPr>
          <p:cNvPr id="10" name="Plus Sign 9">
            <a:extLst>
              <a:ext uri="{FF2B5EF4-FFF2-40B4-BE49-F238E27FC236}">
                <a16:creationId xmlns:a16="http://schemas.microsoft.com/office/drawing/2014/main" id="{AA85D492-DD17-13C4-1208-3F5DC75EC2A0}"/>
              </a:ext>
            </a:extLst>
          </p:cNvPr>
          <p:cNvSpPr/>
          <p:nvPr/>
        </p:nvSpPr>
        <p:spPr>
          <a:xfrm>
            <a:off x="3562907" y="1663611"/>
            <a:ext cx="477078" cy="477078"/>
          </a:xfrm>
          <a:prstGeom prst="mathPlus">
            <a:avLst/>
          </a:prstGeom>
          <a:ln>
            <a:noFill/>
            <a:miter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rgbClr val="FFFFFF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17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37E58A-5A97-5298-A17C-3B7332880807}"/>
              </a:ext>
            </a:extLst>
          </p:cNvPr>
          <p:cNvSpPr txBox="1"/>
          <p:nvPr/>
        </p:nvSpPr>
        <p:spPr>
          <a:xfrm>
            <a:off x="5833352" y="468034"/>
            <a:ext cx="7448145" cy="565924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calculate_average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scores: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(scores)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(scores)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calculate_weighted_average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homework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exams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projects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hw_avg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calculate_average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(homework)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exam_avg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calculate_average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(exams)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proj_avg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calculate_average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(projects)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weighted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hw_avg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0.30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exam_avg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0.50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proj_avg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0.20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weighted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get_letter_grade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'A'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'B'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'C'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'D'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'F'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is_passing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A5CEE46-1DF9-DE78-B743-6852FF5EA05D}"/>
              </a:ext>
            </a:extLst>
          </p:cNvPr>
          <p:cNvSpPr/>
          <p:nvPr/>
        </p:nvSpPr>
        <p:spPr>
          <a:xfrm>
            <a:off x="5205488" y="2518401"/>
            <a:ext cx="590145" cy="219761"/>
          </a:xfrm>
          <a:prstGeom prst="rightArrow">
            <a:avLst/>
          </a:prstGeom>
          <a:ln>
            <a:noFill/>
            <a:miter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rgbClr val="FFFFFF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1700"/>
          </a:p>
        </p:txBody>
      </p:sp>
    </p:spTree>
    <p:extLst>
      <p:ext uri="{BB962C8B-B14F-4D97-AF65-F5344CB8AC3E}">
        <p14:creationId xmlns:p14="http://schemas.microsoft.com/office/powerpoint/2010/main" val="203397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-2.96296E-6 L -0.32227 -2.96296E-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12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8" grpId="0" animBg="1"/>
      <p:bldP spid="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504A1-0227-1092-2CDF-8EA91F968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3A993-EA8A-4922-28C0-14EDA5339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157" y="10834"/>
            <a:ext cx="8231293" cy="914400"/>
          </a:xfrm>
        </p:spPr>
        <p:txBody>
          <a:bodyPr/>
          <a:lstStyle/>
          <a:p>
            <a:r>
              <a:rPr lang="en-US" dirty="0"/>
              <a:t>Example 2 continued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8B8F59-6A3A-4E9C-529A-6FE922A5B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22D1A-DF83-41A8-85FF-04D90BF831D3}" type="datetime3">
              <a:rPr lang="en-US" smtClean="0"/>
              <a:t>20 July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2307D1-294C-929F-B788-BBF9BA3F663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705788-272B-8680-708D-E5D5FBA62FB5}"/>
              </a:ext>
            </a:extLst>
          </p:cNvPr>
          <p:cNvSpPr txBox="1"/>
          <p:nvPr/>
        </p:nvSpPr>
        <p:spPr>
          <a:xfrm>
            <a:off x="110836" y="468034"/>
            <a:ext cx="7107087" cy="6018314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CF222E"/>
                </a:solidFill>
                <a:latin typeface="Consolas" panose="020B0609020204030204" pitchFamily="49" charset="0"/>
              </a:rPr>
              <a:t>def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250DF"/>
                </a:solidFill>
                <a:latin typeface="Consolas" panose="020B0609020204030204" pitchFamily="49" charset="0"/>
              </a:rPr>
              <a:t>calculate_average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1F2328"/>
                </a:solidFill>
                <a:latin typeface="Consolas" panose="020B0609020204030204" pitchFamily="49" charset="0"/>
              </a:rPr>
              <a:t>scores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not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scores:</a:t>
            </a: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sum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(scores)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795E26"/>
                </a:solidFill>
                <a:latin typeface="Consolas" panose="020B0609020204030204" pitchFamily="49" charset="0"/>
              </a:rPr>
              <a:t>len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(scores)</a:t>
            </a:r>
          </a:p>
          <a:p>
            <a:pPr>
              <a:lnSpc>
                <a:spcPts val="1425"/>
              </a:lnSpc>
              <a:buNone/>
            </a:pPr>
            <a:b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CF222E"/>
                </a:solidFill>
                <a:latin typeface="Consolas" panose="020B0609020204030204" pitchFamily="49" charset="0"/>
              </a:rPr>
              <a:t>def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250DF"/>
                </a:solidFill>
                <a:latin typeface="Consolas" panose="020B0609020204030204" pitchFamily="49" charset="0"/>
              </a:rPr>
              <a:t>calculate_weighted_average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1F2328"/>
                </a:solidFill>
                <a:latin typeface="Consolas" panose="020B0609020204030204" pitchFamily="49" charset="0"/>
              </a:rPr>
              <a:t>homework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1F2328"/>
                </a:solidFill>
                <a:latin typeface="Consolas" panose="020B0609020204030204" pitchFamily="49" charset="0"/>
              </a:rPr>
              <a:t>exams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1F2328"/>
                </a:solidFill>
                <a:latin typeface="Consolas" panose="020B0609020204030204" pitchFamily="49" charset="0"/>
              </a:rPr>
              <a:t>projects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202020"/>
                </a:solidFill>
                <a:latin typeface="Consolas" panose="020B0609020204030204" pitchFamily="49" charset="0"/>
              </a:rPr>
              <a:t>hw_avg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02020"/>
                </a:solidFill>
                <a:latin typeface="Consolas" panose="020B0609020204030204" pitchFamily="49" charset="0"/>
              </a:rPr>
              <a:t>calculate_average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(homework)</a:t>
            </a: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202020"/>
                </a:solidFill>
                <a:latin typeface="Consolas" panose="020B0609020204030204" pitchFamily="49" charset="0"/>
              </a:rPr>
              <a:t>exam_avg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02020"/>
                </a:solidFill>
                <a:latin typeface="Consolas" panose="020B0609020204030204" pitchFamily="49" charset="0"/>
              </a:rPr>
              <a:t>calculate_average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(exams)</a:t>
            </a: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202020"/>
                </a:solidFill>
                <a:latin typeface="Consolas" panose="020B0609020204030204" pitchFamily="49" charset="0"/>
              </a:rPr>
              <a:t>proj_avg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02020"/>
                </a:solidFill>
                <a:latin typeface="Consolas" panose="020B0609020204030204" pitchFamily="49" charset="0"/>
              </a:rPr>
              <a:t>calculate_average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(projects)</a:t>
            </a: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    weighted </a:t>
            </a:r>
            <a:r>
              <a:rPr lang="en-US" dirty="0"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202020"/>
                </a:solidFill>
                <a:latin typeface="Consolas" panose="020B0609020204030204" pitchFamily="49" charset="0"/>
              </a:rPr>
              <a:t>hw_avg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0.30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) </a:t>
            </a:r>
            <a:r>
              <a:rPr lang="en-US" dirty="0">
                <a:latin typeface="Consolas" panose="020B0609020204030204" pitchFamily="49" charset="0"/>
              </a:rPr>
              <a:t>+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202020"/>
                </a:solidFill>
                <a:latin typeface="Consolas" panose="020B0609020204030204" pitchFamily="49" charset="0"/>
              </a:rPr>
              <a:t>exam_avg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0.50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) </a:t>
            </a:r>
            <a:r>
              <a:rPr lang="en-US" dirty="0">
                <a:latin typeface="Consolas" panose="020B0609020204030204" pitchFamily="49" charset="0"/>
              </a:rPr>
              <a:t>+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202020"/>
                </a:solidFill>
                <a:latin typeface="Consolas" panose="020B0609020204030204" pitchFamily="49" charset="0"/>
              </a:rPr>
              <a:t>proj_avg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0.20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weighted</a:t>
            </a:r>
          </a:p>
          <a:p>
            <a:pPr>
              <a:lnSpc>
                <a:spcPts val="1425"/>
              </a:lnSpc>
              <a:buNone/>
            </a:pPr>
            <a:b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CF222E"/>
                </a:solidFill>
                <a:latin typeface="Consolas" panose="020B0609020204030204" pitchFamily="49" charset="0"/>
              </a:rPr>
              <a:t>def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250DF"/>
                </a:solidFill>
                <a:latin typeface="Consolas" panose="020B0609020204030204" pitchFamily="49" charset="0"/>
              </a:rPr>
              <a:t>get_letter_grade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1F2328"/>
                </a:solidFill>
                <a:latin typeface="Consolas" panose="020B0609020204030204" pitchFamily="49" charset="0"/>
              </a:rPr>
              <a:t>average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average </a:t>
            </a:r>
            <a:r>
              <a:rPr lang="en-US" dirty="0">
                <a:latin typeface="Consolas" panose="020B0609020204030204" pitchFamily="49" charset="0"/>
              </a:rPr>
              <a:t>&gt;=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90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A3069"/>
                </a:solidFill>
                <a:latin typeface="Consolas" panose="020B0609020204030204" pitchFamily="49" charset="0"/>
              </a:rPr>
              <a:t>'A'</a:t>
            </a: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AF00DB"/>
                </a:solidFill>
                <a:latin typeface="Consolas" panose="020B0609020204030204" pitchFamily="49" charset="0"/>
              </a:rPr>
              <a:t>elif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average </a:t>
            </a:r>
            <a:r>
              <a:rPr lang="en-US" dirty="0">
                <a:latin typeface="Consolas" panose="020B0609020204030204" pitchFamily="49" charset="0"/>
              </a:rPr>
              <a:t>&gt;=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80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A3069"/>
                </a:solidFill>
                <a:latin typeface="Consolas" panose="020B0609020204030204" pitchFamily="49" charset="0"/>
              </a:rPr>
              <a:t>'B'</a:t>
            </a: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AF00DB"/>
                </a:solidFill>
                <a:latin typeface="Consolas" panose="020B0609020204030204" pitchFamily="49" charset="0"/>
              </a:rPr>
              <a:t>elif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average </a:t>
            </a:r>
            <a:r>
              <a:rPr lang="en-US" dirty="0">
                <a:latin typeface="Consolas" panose="020B0609020204030204" pitchFamily="49" charset="0"/>
              </a:rPr>
              <a:t>&gt;=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70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A3069"/>
                </a:solidFill>
                <a:latin typeface="Consolas" panose="020B0609020204030204" pitchFamily="49" charset="0"/>
              </a:rPr>
              <a:t>'C'</a:t>
            </a: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    </a:t>
            </a:r>
            <a:r>
              <a:rPr lang="en-US" dirty="0" err="1">
                <a:solidFill>
                  <a:srgbClr val="AF00DB"/>
                </a:solidFill>
                <a:latin typeface="Consolas" panose="020B0609020204030204" pitchFamily="49" charset="0"/>
              </a:rPr>
              <a:t>elif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average </a:t>
            </a:r>
            <a:r>
              <a:rPr lang="en-US" dirty="0">
                <a:latin typeface="Consolas" panose="020B0609020204030204" pitchFamily="49" charset="0"/>
              </a:rPr>
              <a:t>&gt;=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A3069"/>
                </a:solidFill>
                <a:latin typeface="Consolas" panose="020B0609020204030204" pitchFamily="49" charset="0"/>
              </a:rPr>
              <a:t>'D'</a:t>
            </a: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else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        </a:t>
            </a: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A3069"/>
                </a:solidFill>
                <a:latin typeface="Consolas" panose="020B0609020204030204" pitchFamily="49" charset="0"/>
              </a:rPr>
              <a:t>'F'</a:t>
            </a: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CF222E"/>
                </a:solidFill>
                <a:latin typeface="Consolas" panose="020B0609020204030204" pitchFamily="49" charset="0"/>
              </a:rPr>
              <a:t>def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250DF"/>
                </a:solidFill>
                <a:latin typeface="Consolas" panose="020B0609020204030204" pitchFamily="49" charset="0"/>
              </a:rPr>
              <a:t>is_passing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1F2328"/>
                </a:solidFill>
                <a:latin typeface="Consolas" panose="020B0609020204030204" pitchFamily="49" charset="0"/>
              </a:rPr>
              <a:t>average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average </a:t>
            </a:r>
            <a:r>
              <a:rPr lang="en-US" dirty="0">
                <a:latin typeface="Consolas" panose="020B0609020204030204" pitchFamily="49" charset="0"/>
              </a:rPr>
              <a:t>&gt;=</a:t>
            </a:r>
            <a:r>
              <a:rPr lang="en-US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endParaRPr lang="en-US" dirty="0">
              <a:solidFill>
                <a:srgbClr val="202020"/>
              </a:solidFill>
              <a:latin typeface="Consolas" panose="020B06090202040302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F49363-ABD5-9EEA-E4FA-CA7070B8DB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127132" y="2413647"/>
            <a:ext cx="7286639" cy="597148"/>
          </a:xfrm>
          <a:prstGeom prst="rect">
            <a:avLst/>
          </a:prstGeom>
        </p:spPr>
      </p:pic>
      <p:sp>
        <p:nvSpPr>
          <p:cNvPr id="10" name="Plus Sign 9">
            <a:extLst>
              <a:ext uri="{FF2B5EF4-FFF2-40B4-BE49-F238E27FC236}">
                <a16:creationId xmlns:a16="http://schemas.microsoft.com/office/drawing/2014/main" id="{9FA631A9-B378-2CF8-3544-C00C2E2CF918}"/>
              </a:ext>
            </a:extLst>
          </p:cNvPr>
          <p:cNvSpPr/>
          <p:nvPr/>
        </p:nvSpPr>
        <p:spPr>
          <a:xfrm>
            <a:off x="6740845" y="2611728"/>
            <a:ext cx="477078" cy="477078"/>
          </a:xfrm>
          <a:prstGeom prst="mathPlus">
            <a:avLst/>
          </a:prstGeom>
          <a:ln>
            <a:noFill/>
            <a:miter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rgbClr val="FFFFFF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17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FCDD38-1A76-D0E5-ED58-11F7DCF85F7F}"/>
              </a:ext>
            </a:extLst>
          </p:cNvPr>
          <p:cNvSpPr txBox="1"/>
          <p:nvPr/>
        </p:nvSpPr>
        <p:spPr>
          <a:xfrm>
            <a:off x="5896701" y="468034"/>
            <a:ext cx="7448145" cy="565924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calculate_average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scores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scores: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(scores)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(scores)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calculate_weighted_average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homework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exams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projects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hw_avg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calculate_average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(homework)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exam_avg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calculate_average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(exams)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proj_avg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calculate_average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(projects)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weighted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hw_avg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0.30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exam_avg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0.05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proj_avg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0.20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weighted</a:t>
            </a: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get_letter_grade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'A'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'B'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'C'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'D'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A3069"/>
                </a:solidFill>
                <a:effectLst/>
                <a:latin typeface="Consolas" panose="020B0609020204030204" pitchFamily="49" charset="0"/>
              </a:rPr>
              <a:t>'F'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250DF"/>
                </a:solidFill>
                <a:effectLst/>
                <a:latin typeface="Consolas" panose="020B0609020204030204" pitchFamily="49" charset="0"/>
              </a:rPr>
              <a:t>is_passing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average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average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20202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endParaRPr lang="en-US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554A304-4448-F0E1-CDCE-8AE0EA77FFC6}"/>
              </a:ext>
            </a:extLst>
          </p:cNvPr>
          <p:cNvSpPr/>
          <p:nvPr/>
        </p:nvSpPr>
        <p:spPr>
          <a:xfrm>
            <a:off x="5205488" y="2518401"/>
            <a:ext cx="590145" cy="219761"/>
          </a:xfrm>
          <a:prstGeom prst="rightArrow">
            <a:avLst/>
          </a:prstGeom>
          <a:ln>
            <a:noFill/>
            <a:miter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rgbClr val="FFFFFF"/>
          </a:fontRef>
        </p:style>
        <p:txBody>
          <a:bodyPr rtlCol="0" anchor="ctr"/>
          <a:lstStyle/>
          <a:p>
            <a:pPr algn="ctr">
              <a:lnSpc>
                <a:spcPct val="95000"/>
              </a:lnSpc>
            </a:pPr>
            <a:endParaRPr lang="en-US" sz="1700"/>
          </a:p>
        </p:txBody>
      </p:sp>
    </p:spTree>
    <p:extLst>
      <p:ext uri="{BB962C8B-B14F-4D97-AF65-F5344CB8AC3E}">
        <p14:creationId xmlns:p14="http://schemas.microsoft.com/office/powerpoint/2010/main" val="878510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-4.07407E-6 L -0.5888 0.0037 " pathEditMode="fixed" rAng="0" ptsTypes="AA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388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8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" grpId="0" animBg="1"/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Basic Ideas</a:t>
            </a:r>
            <a:endParaRPr/>
          </a:p>
        </p:txBody>
      </p:sp>
      <p:sp>
        <p:nvSpPr>
          <p:cNvPr id="133" name="Google Shape;133;p19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Terminology</a:t>
            </a:r>
            <a:r>
              <a:rPr lang="en-US" baseline="30000"/>
              <a:t>1</a:t>
            </a:r>
            <a:endParaRPr/>
          </a:p>
        </p:txBody>
      </p:sp>
      <p:sp>
        <p:nvSpPr>
          <p:cNvPr id="134" name="Google Shape;134;p19"/>
          <p:cNvSpPr txBox="1">
            <a:spLocks noGrp="1"/>
          </p:cNvSpPr>
          <p:nvPr>
            <p:ph type="body" idx="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b="1">
                <a:highlight>
                  <a:srgbClr val="FFFF00"/>
                </a:highlight>
              </a:rPr>
              <a:t>Repository</a:t>
            </a:r>
            <a:r>
              <a:rPr lang="en-US">
                <a:highlight>
                  <a:srgbClr val="FFFF00"/>
                </a:highlight>
              </a:rPr>
              <a:t> (today)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b="1">
                <a:highlight>
                  <a:srgbClr val="FFFF00"/>
                </a:highlight>
              </a:rPr>
              <a:t>Clone</a:t>
            </a:r>
            <a:r>
              <a:rPr lang="en-US">
                <a:highlight>
                  <a:srgbClr val="FFFF00"/>
                </a:highlight>
              </a:rPr>
              <a:t> (today)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b="1">
                <a:highlight>
                  <a:srgbClr val="FFFF00"/>
                </a:highlight>
              </a:rPr>
              <a:t>Stage</a:t>
            </a:r>
            <a:r>
              <a:rPr lang="en-US">
                <a:highlight>
                  <a:srgbClr val="FFFF00"/>
                </a:highlight>
              </a:rPr>
              <a:t> (today)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b="1">
                <a:highlight>
                  <a:srgbClr val="FFFF00"/>
                </a:highlight>
              </a:rPr>
              <a:t>Commit</a:t>
            </a:r>
            <a:r>
              <a:rPr lang="en-US">
                <a:highlight>
                  <a:srgbClr val="FFFF00"/>
                </a:highlight>
              </a:rPr>
              <a:t> (today)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b="1"/>
              <a:t>Branch</a:t>
            </a:r>
            <a:r>
              <a:rPr lang="en-US"/>
              <a:t> (later)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b="1"/>
              <a:t>Merge</a:t>
            </a:r>
            <a:r>
              <a:rPr lang="en-US"/>
              <a:t> (later)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b="1"/>
              <a:t>Fetch</a:t>
            </a:r>
            <a:r>
              <a:rPr lang="en-US"/>
              <a:t> (later)</a:t>
            </a:r>
            <a:endParaRPr b="1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b="1"/>
              <a:t>Pull</a:t>
            </a:r>
            <a:r>
              <a:rPr lang="en-US"/>
              <a:t> (later)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b="1"/>
              <a:t>Push</a:t>
            </a:r>
            <a:r>
              <a:rPr lang="en-US"/>
              <a:t> (later)</a:t>
            </a:r>
            <a:endParaRPr/>
          </a:p>
        </p:txBody>
      </p:sp>
      <p:sp>
        <p:nvSpPr>
          <p:cNvPr id="135" name="Google Shape;135;p19"/>
          <p:cNvSpPr txBox="1">
            <a:spLocks noGrp="1"/>
          </p:cNvSpPr>
          <p:nvPr>
            <p:ph type="body" idx="3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Process</a:t>
            </a:r>
            <a:endParaRPr/>
          </a:p>
        </p:txBody>
      </p:sp>
      <p:sp>
        <p:nvSpPr>
          <p:cNvPr id="136" name="Google Shape;136;p19"/>
          <p:cNvSpPr txBox="1">
            <a:spLocks noGrp="1"/>
          </p:cNvSpPr>
          <p:nvPr>
            <p:ph type="body" idx="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Initialize repository (or clone)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Make changes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Stage changes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Commit changes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???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Profit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714F6EEF-582C-4702-6FB9-8D56D7B0A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Areas</a:t>
            </a:r>
          </a:p>
        </p:txBody>
      </p:sp>
      <p:pic>
        <p:nvPicPr>
          <p:cNvPr id="12" name="Content Placeholder 11" descr="Basic GIT Workflow Concept. Simple explanation to learn basic GIT… | by ...">
            <a:extLst>
              <a:ext uri="{FF2B5EF4-FFF2-40B4-BE49-F238E27FC236}">
                <a16:creationId xmlns:a16="http://schemas.microsoft.com/office/drawing/2014/main" id="{AD3EECC0-9E2D-0DF8-ABD1-3A8E812336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9386" y="620024"/>
            <a:ext cx="4873228" cy="6009376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DF6F65-093E-A56C-D311-43B6D0094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6F5743D-1122-855F-B3EB-7BBE8A4DA18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0165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Git Commit / Reset / Revert</a:t>
            </a:r>
            <a:endParaRPr/>
          </a:p>
        </p:txBody>
      </p:sp>
      <p:graphicFrame>
        <p:nvGraphicFramePr>
          <p:cNvPr id="142" name="Google Shape;142;p20"/>
          <p:cNvGraphicFramePr/>
          <p:nvPr>
            <p:extLst>
              <p:ext uri="{D42A27DB-BD31-4B8C-83A1-F6EECF244321}">
                <p14:modId xmlns:p14="http://schemas.microsoft.com/office/powerpoint/2010/main" val="2299869515"/>
              </p:ext>
            </p:extLst>
          </p:nvPr>
        </p:nvGraphicFramePr>
        <p:xfrm>
          <a:off x="838200" y="2629694"/>
          <a:ext cx="10515600" cy="3459560"/>
        </p:xfrm>
        <a:graphic>
          <a:graphicData uri="http://schemas.openxmlformats.org/drawingml/2006/table">
            <a:tbl>
              <a:tblPr>
                <a:noFill/>
                <a:tableStyleId>{4B4D1AB0-2925-4953-8AE0-7B973092ED5E}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1" u="none" strike="noStrike" cap="none"/>
                        <a:t>Command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1" u="none" strike="noStrike" cap="none"/>
                        <a:t>Description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ourier New"/>
                        <a:buNone/>
                      </a:pPr>
                      <a:r>
                        <a:rPr lang="en-US" sz="1600" u="none" strike="noStrike" cap="none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git </a:t>
                      </a:r>
                      <a:r>
                        <a:rPr lang="en-US" sz="1600" u="none" strike="noStrike" cap="none" dirty="0" err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init</a:t>
                      </a:r>
                      <a:endParaRPr lang="en-US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dirty="0"/>
                        <a:t>Initialize a repository in an empty directory</a:t>
                      </a:r>
                      <a:endParaRPr dirty="0"/>
                    </a:p>
                  </a:txBody>
                  <a:tcPr marL="91450" marR="91450" marT="45725" marB="45725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529183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ourier New"/>
                        <a:buNone/>
                      </a:pPr>
                      <a:r>
                        <a:rPr lang="en-US" sz="1800" u="none" strike="noStrike" cap="none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git add [file/directory]</a:t>
                      </a:r>
                      <a:endParaRPr lang="en-US"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dirty="0"/>
                        <a:t>Mark a file as </a:t>
                      </a:r>
                      <a:r>
                        <a:rPr lang="en-US" i="1" dirty="0"/>
                        <a:t>staged</a:t>
                      </a:r>
                      <a:endParaRPr dirty="0"/>
                    </a:p>
                  </a:txBody>
                  <a:tcPr marL="91450" marR="91450" marT="45725" marB="45725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110941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ourier New"/>
                        <a:buNone/>
                      </a:pPr>
                      <a:r>
                        <a:rPr lang="en-US" sz="1800" u="none" strike="noStrike" cap="none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git commit -m "message"</a:t>
                      </a:r>
                      <a:endParaRPr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i="1" u="none" strike="noStrike" cap="none" dirty="0"/>
                        <a:t>Commit staged changes </a:t>
                      </a:r>
                      <a:r>
                        <a:rPr lang="en-US" sz="1800" u="none" strike="noStrike" cap="none" dirty="0"/>
                        <a:t>with a message.</a:t>
                      </a:r>
                      <a:endParaRPr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ourier New"/>
                        <a:buNone/>
                      </a:pPr>
                      <a:r>
                        <a:rPr lang="en-US" sz="1800" u="none" strike="noStrike" cap="none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git commit -a -m "message"</a:t>
                      </a:r>
                      <a:endParaRPr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i="1" u="none" strike="noStrike" cap="none" dirty="0"/>
                        <a:t>Stage</a:t>
                      </a:r>
                      <a:r>
                        <a:rPr lang="en-US" sz="1800" u="none" strike="noStrike" cap="none" dirty="0"/>
                        <a:t> all modified (tracked) files and commit.</a:t>
                      </a:r>
                      <a:endParaRPr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ourier New"/>
                        <a:buNone/>
                      </a:pPr>
                      <a:r>
                        <a:rPr lang="en-US" sz="1800" u="none" strike="noStrike" cap="non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git commit --amend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Modify the last commit (message or content).</a:t>
                      </a:r>
                      <a:endParaRPr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ourier New"/>
                        <a:buNone/>
                      </a:pPr>
                      <a:r>
                        <a:rPr lang="en-US" sz="1800" u="none" strike="noStrike" cap="none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git reset HEAD~</a:t>
                      </a:r>
                      <a:endParaRPr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Undo the last commit but keep the changes unstaged.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ourier New"/>
                        <a:buNone/>
                      </a:pPr>
                      <a:r>
                        <a:rPr lang="en-US" sz="1800" u="none" strike="noStrike" cap="none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git revert &lt;commit&gt;</a:t>
                      </a:r>
                      <a:endParaRPr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Create a new commit that reverses a specific commit.</a:t>
                      </a:r>
                      <a:endParaRPr dirty="0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1C375-C085-7523-AF4C-3AC4929FD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35D42-9D34-E1CA-A4F6-B0931AE020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do the working, staging, and repository have after each following command?</a:t>
            </a:r>
          </a:p>
          <a:p>
            <a:pPr marL="525776" lvl="1" indent="-342900">
              <a:buFont typeface="+mj-lt"/>
              <a:buAutoNum type="arabicPeriod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25776" lvl="1" indent="-342900">
              <a:buFont typeface="+mj-lt"/>
              <a:buAutoNum type="arabicPeriod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echo "hello" &gt;&gt; my_file.txt</a:t>
            </a:r>
          </a:p>
          <a:p>
            <a:pPr marL="525776" lvl="1" indent="-342900">
              <a:buFont typeface="+mj-lt"/>
              <a:buAutoNum type="arabicPeriod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echo "goodbye" &gt;&gt; new_file.txt</a:t>
            </a:r>
          </a:p>
          <a:p>
            <a:pPr marL="525776" lvl="1" indent="-342900">
              <a:buFont typeface="+mj-lt"/>
              <a:buAutoNum type="arabicPeriod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git add my_file.txt</a:t>
            </a:r>
          </a:p>
          <a:p>
            <a:pPr marL="525776" lvl="1" indent="-342900">
              <a:buFont typeface="+mj-lt"/>
              <a:buAutoNum type="arabicPeriod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git commit –m "my first commit"</a:t>
            </a:r>
          </a:p>
          <a:p>
            <a:pPr marL="525776" lvl="1" indent="-342900">
              <a:buFont typeface="+mj-lt"/>
              <a:buAutoNum type="arabicPeriod"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091726-252A-C35C-231F-E108D2B42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22D1A-DF83-41A8-85FF-04D90BF831D3}" type="datetime3">
              <a:rPr lang="en-US" smtClean="0"/>
              <a:t>20 July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25C6AA-53D5-6163-89CC-1C61732E06B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EA37E9-98DF-A815-74BC-69E9D2CCF2A0}"/>
              </a:ext>
            </a:extLst>
          </p:cNvPr>
          <p:cNvSpPr txBox="1"/>
          <p:nvPr/>
        </p:nvSpPr>
        <p:spPr>
          <a:xfrm>
            <a:off x="9404350" y="1954530"/>
            <a:ext cx="2076450" cy="152273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95000"/>
              </a:lnSpc>
              <a:spcBef>
                <a:spcPts val="1000"/>
              </a:spcBef>
              <a:buSzPct val="100000"/>
            </a:pPr>
            <a:r>
              <a:rPr lang="en-US" sz="1700" dirty="0"/>
              <a:t>Working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69154D-9977-5540-5BB7-4F6D06C09C48}"/>
              </a:ext>
            </a:extLst>
          </p:cNvPr>
          <p:cNvSpPr txBox="1"/>
          <p:nvPr/>
        </p:nvSpPr>
        <p:spPr>
          <a:xfrm>
            <a:off x="9404350" y="3573780"/>
            <a:ext cx="2076450" cy="1479551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95000"/>
              </a:lnSpc>
              <a:spcBef>
                <a:spcPts val="1000"/>
              </a:spcBef>
              <a:buSzPct val="100000"/>
            </a:pPr>
            <a:r>
              <a:rPr lang="en-US" sz="1700" dirty="0"/>
              <a:t>Staging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A8C7B6-1C0E-116D-466A-A55E3FDE14AA}"/>
              </a:ext>
            </a:extLst>
          </p:cNvPr>
          <p:cNvSpPr txBox="1"/>
          <p:nvPr/>
        </p:nvSpPr>
        <p:spPr>
          <a:xfrm>
            <a:off x="9404350" y="5149849"/>
            <a:ext cx="2076450" cy="1479551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95000"/>
              </a:lnSpc>
              <a:spcBef>
                <a:spcPts val="1000"/>
              </a:spcBef>
              <a:buSzPct val="100000"/>
            </a:pPr>
            <a:r>
              <a:rPr lang="en-US" sz="1700" dirty="0"/>
              <a:t>Repository</a:t>
            </a:r>
          </a:p>
        </p:txBody>
      </p:sp>
    </p:spTree>
    <p:extLst>
      <p:ext uri="{BB962C8B-B14F-4D97-AF65-F5344CB8AC3E}">
        <p14:creationId xmlns:p14="http://schemas.microsoft.com/office/powerpoint/2010/main" val="38729785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Hands-On #1</a:t>
            </a:r>
            <a:endParaRPr/>
          </a:p>
        </p:txBody>
      </p:sp>
      <p:sp>
        <p:nvSpPr>
          <p:cNvPr id="148" name="Google Shape;148;p21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14350" lvl="0" indent="-5143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AutoNum type="arabicPeriod"/>
            </a:pPr>
            <a:r>
              <a:rPr lang="en-US" dirty="0"/>
              <a:t>Initialize repository</a:t>
            </a:r>
            <a:endParaRPr dirty="0"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AutoNum type="arabicPeriod"/>
            </a:pPr>
            <a:r>
              <a:rPr lang="en-US" dirty="0"/>
              <a:t>Make some changes</a:t>
            </a:r>
            <a:endParaRPr dirty="0"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AutoNum type="arabicPeriod"/>
            </a:pPr>
            <a:r>
              <a:rPr lang="en-US" dirty="0"/>
              <a:t>Observe effects of changes</a:t>
            </a:r>
            <a:endParaRPr dirty="0"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AutoNum type="arabicPeriod"/>
            </a:pPr>
            <a:r>
              <a:rPr lang="en-US" dirty="0"/>
              <a:t>Stage changes</a:t>
            </a:r>
            <a:endParaRPr dirty="0"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AutoNum type="arabicPeriod"/>
            </a:pPr>
            <a:r>
              <a:rPr lang="en-US" dirty="0"/>
              <a:t>Commit changes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AutoNum type="arabicPeriod"/>
            </a:pPr>
            <a:endParaRPr lang="en-US" dirty="0"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AutoNum type="arabicPeriod"/>
            </a:pPr>
            <a:endParaRPr lang="en-US" dirty="0"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AutoNum type="arabicPeriod"/>
            </a:pPr>
            <a:endParaRPr lang="en-US" dirty="0"/>
          </a:p>
          <a:p>
            <a:pPr>
              <a:lnSpc>
                <a:spcPct val="90000"/>
              </a:lnSpc>
              <a:buClr>
                <a:schemeClr val="dk1"/>
              </a:buClr>
              <a:buSzPct val="100000"/>
            </a:pPr>
            <a:r>
              <a:rPr lang="en-US" dirty="0"/>
              <a:t>Bonus exercise:  If you make changes to a file that is already being tracked in the repository, are those new changes already staged or only in the working directory?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But why…</a:t>
            </a:r>
            <a:endParaRPr/>
          </a:p>
        </p:txBody>
      </p:sp>
      <p:sp>
        <p:nvSpPr>
          <p:cNvPr id="154" name="Google Shape;154;p22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Most developer teams are not just one person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Having version control limits hassle across changes / teams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See how the code has changed over time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Analyze those changes for problem areas</a:t>
            </a:r>
            <a:endParaRPr/>
          </a:p>
          <a:p>
            <a:pPr marL="22860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 marL="22860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(an aside) Not just for code…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Git History</a:t>
            </a:r>
            <a:endParaRPr/>
          </a:p>
        </p:txBody>
      </p:sp>
      <p:sp>
        <p:nvSpPr>
          <p:cNvPr id="160" name="Google Shape;160;p2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I keep telling you that you can see what changed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So… how do we do that?</a:t>
            </a:r>
            <a:endParaRPr/>
          </a:p>
          <a:p>
            <a:pPr marL="22860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 marL="22860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First we need to learn to read diffs…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Git Diff</a:t>
            </a:r>
            <a:endParaRPr/>
          </a:p>
        </p:txBody>
      </p:sp>
      <p:graphicFrame>
        <p:nvGraphicFramePr>
          <p:cNvPr id="166" name="Google Shape;166;p24"/>
          <p:cNvGraphicFramePr/>
          <p:nvPr/>
        </p:nvGraphicFramePr>
        <p:xfrm>
          <a:off x="838200" y="2721134"/>
          <a:ext cx="10515600" cy="2560390"/>
        </p:xfrm>
        <a:graphic>
          <a:graphicData uri="http://schemas.openxmlformats.org/drawingml/2006/table">
            <a:tbl>
              <a:tblPr>
                <a:noFill/>
                <a:tableStyleId>{4B4D1AB0-2925-4953-8AE0-7B973092ED5E}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1" u="none" strike="noStrike" cap="none"/>
                        <a:t>Command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1" u="none" strike="noStrike" cap="none"/>
                        <a:t>Description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ourier New"/>
                        <a:buNone/>
                      </a:pPr>
                      <a:r>
                        <a:rPr lang="en-US" sz="1800" u="none" strike="noStrike" cap="non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git diff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Show unstaged changes.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ourier New"/>
                        <a:buNone/>
                      </a:pPr>
                      <a:r>
                        <a:rPr lang="en-US" sz="1800" u="none" strike="noStrike" cap="non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git diff --cached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Show staged changes.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ourier New"/>
                        <a:buNone/>
                      </a:pPr>
                      <a:r>
                        <a:rPr lang="en-US" sz="1800" u="none" strike="noStrike" cap="non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git diff HEAD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Compare working directory with last commit.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ourier New"/>
                        <a:buNone/>
                      </a:pPr>
                      <a:r>
                        <a:rPr lang="en-US" sz="1800" u="none" strike="noStrike" cap="non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git diff &lt;commit1&gt; &lt;commit2&gt;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Compare two commits.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ourier New"/>
                        <a:buNone/>
                      </a:pPr>
                      <a:r>
                        <a:rPr lang="en-US" sz="1800" u="none" strike="noStrike" cap="non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git diff &lt;branch1&gt; &lt;branch2&gt;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Show differences between two branches.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ourier New"/>
                        <a:buNone/>
                      </a:pPr>
                      <a:r>
                        <a:rPr lang="en-US" sz="1800" u="none" strike="noStrike" cap="non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git diff &lt;commit&gt; &lt;file&gt;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Compare a file between commits.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Spot the diff</a:t>
            </a:r>
            <a:endParaRPr/>
          </a:p>
        </p:txBody>
      </p:sp>
      <p:pic>
        <p:nvPicPr>
          <p:cNvPr id="173" name="Google Shape;173;p25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tretch/>
        </p:blipFill>
        <p:spPr>
          <a:xfrm>
            <a:off x="838200" y="2239428"/>
            <a:ext cx="5181600" cy="35237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5"/>
          <p:cNvPicPr preferRelativeResize="0">
            <a:picLocks noGrp="1"/>
          </p:cNvPicPr>
          <p:nvPr>
            <p:ph type="body" idx="2"/>
          </p:nvPr>
        </p:nvPicPr>
        <p:blipFill rotWithShape="1">
          <a:blip r:embed="rId4">
            <a:alphaModFix/>
          </a:blip>
          <a:stretch/>
        </p:blipFill>
        <p:spPr>
          <a:xfrm>
            <a:off x="6172200" y="2257952"/>
            <a:ext cx="5181600" cy="34866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lang="en-US"/>
              <a:t>Spot the diff</a:t>
            </a:r>
            <a:endParaRPr/>
          </a:p>
        </p:txBody>
      </p:sp>
      <p:pic>
        <p:nvPicPr>
          <p:cNvPr id="181" name="Google Shape;181;p26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tretch/>
        </p:blipFill>
        <p:spPr>
          <a:xfrm>
            <a:off x="5183188" y="1459643"/>
            <a:ext cx="6172200" cy="3929189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6"/>
          <p:cNvSpPr txBox="1">
            <a:spLocks noGrp="1"/>
          </p:cNvSpPr>
          <p:nvPr>
            <p:ph type="body" idx="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8575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n-US"/>
              <a:t>Diffed two files</a:t>
            </a:r>
            <a:endParaRPr/>
          </a:p>
          <a:p>
            <a:pPr marL="285750" lvl="0" indent="-2857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n-US"/>
              <a:t>File metadata…</a:t>
            </a:r>
            <a:endParaRPr/>
          </a:p>
          <a:p>
            <a:pPr marL="285750" lvl="0" indent="-2857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n-US"/>
              <a:t>File “a” is denoted by ‘-’</a:t>
            </a:r>
            <a:endParaRPr/>
          </a:p>
          <a:p>
            <a:pPr marL="285750" lvl="0" indent="-2857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n-US"/>
              <a:t>File “b” is denoted by ‘+’</a:t>
            </a:r>
            <a:endParaRPr/>
          </a:p>
          <a:p>
            <a:pPr marL="285750" lvl="0" indent="-1841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Spot the diff, again</a:t>
            </a:r>
            <a:endParaRPr/>
          </a:p>
        </p:txBody>
      </p:sp>
      <p:pic>
        <p:nvPicPr>
          <p:cNvPr id="188" name="Google Shape;188;p27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tretch/>
        </p:blipFill>
        <p:spPr>
          <a:xfrm>
            <a:off x="1561909" y="1825625"/>
            <a:ext cx="3734182" cy="43513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27"/>
          <p:cNvPicPr preferRelativeResize="0">
            <a:picLocks noGrp="1"/>
          </p:cNvPicPr>
          <p:nvPr>
            <p:ph type="body" idx="2"/>
          </p:nvPr>
        </p:nvPicPr>
        <p:blipFill rotWithShape="1">
          <a:blip r:embed="rId4">
            <a:alphaModFix/>
          </a:blip>
          <a:stretch/>
        </p:blipFill>
        <p:spPr>
          <a:xfrm>
            <a:off x="7009714" y="1825625"/>
            <a:ext cx="3506572" cy="43513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lang="en-US"/>
              <a:t>Spot the diff, again</a:t>
            </a:r>
            <a:endParaRPr/>
          </a:p>
        </p:txBody>
      </p:sp>
      <p:pic>
        <p:nvPicPr>
          <p:cNvPr id="197" name="Google Shape;197;p28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tretch/>
        </p:blipFill>
        <p:spPr>
          <a:xfrm>
            <a:off x="5731393" y="987425"/>
            <a:ext cx="5075790" cy="4873625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8"/>
          <p:cNvSpPr txBox="1">
            <a:spLocks noGrp="1"/>
          </p:cNvSpPr>
          <p:nvPr>
            <p:ph type="body" idx="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Git Log</a:t>
            </a:r>
            <a:endParaRPr/>
          </a:p>
        </p:txBody>
      </p:sp>
      <p:graphicFrame>
        <p:nvGraphicFramePr>
          <p:cNvPr id="203" name="Google Shape;203;p29"/>
          <p:cNvGraphicFramePr/>
          <p:nvPr/>
        </p:nvGraphicFramePr>
        <p:xfrm>
          <a:off x="838200" y="2401094"/>
          <a:ext cx="10515600" cy="3200480"/>
        </p:xfrm>
        <a:graphic>
          <a:graphicData uri="http://schemas.openxmlformats.org/drawingml/2006/table">
            <a:tbl>
              <a:tblPr>
                <a:noFill/>
                <a:tableStyleId>{4B4D1AB0-2925-4953-8AE0-7B973092ED5E}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1" u="none" strike="noStrike" cap="none"/>
                        <a:t>Command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1" u="none" strike="noStrike" cap="none"/>
                        <a:t>Description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ourier New"/>
                        <a:buNone/>
                      </a:pPr>
                      <a:r>
                        <a:rPr lang="en-US" sz="1800" u="none" strike="noStrike" cap="non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git log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Show commit history.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ourier New"/>
                        <a:buNone/>
                      </a:pPr>
                      <a:r>
                        <a:rPr lang="en-US" sz="1800" u="none" strike="noStrike" cap="non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git log --oneline</a:t>
                      </a:r>
                      <a:endParaRPr sz="1800" u="none" strike="noStrike" cap="none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Condensed log (1 line per commit).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ourier New"/>
                        <a:buNone/>
                      </a:pPr>
                      <a:r>
                        <a:rPr lang="en-US" sz="1800" u="none" strike="noStrike" cap="non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git log -p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Show log with diffs.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ourier New"/>
                        <a:buNone/>
                      </a:pPr>
                      <a:r>
                        <a:rPr lang="en-US" sz="1800" u="none" strike="noStrike" cap="non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git log --stat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Show summary of changes per file.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ourier New"/>
                        <a:buNone/>
                      </a:pPr>
                      <a:r>
                        <a:rPr lang="en-US" sz="1800" u="none" strike="noStrike" cap="non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git log --graph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Show commit history as a graph (great with branches).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ourier New"/>
                        <a:buNone/>
                      </a:pPr>
                      <a:r>
                        <a:rPr lang="en-US" sz="1800" u="none" strike="noStrike" cap="non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git log &lt;file&gt;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Show commit history for a specific file.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Courier New"/>
                        <a:buNone/>
                      </a:pPr>
                      <a:r>
                        <a:rPr lang="en-US" sz="1800" u="none" strike="noStrike" cap="none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git log -n &lt;num&gt;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strike="noStrike" cap="none"/>
                        <a:t>Show the latest &lt;num&gt; commits.</a:t>
                      </a:r>
                      <a:endParaRPr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Hands-On #2</a:t>
            </a:r>
            <a:endParaRPr/>
          </a:p>
        </p:txBody>
      </p:sp>
      <p:sp>
        <p:nvSpPr>
          <p:cNvPr id="209" name="Google Shape;209;p30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Practice viewing file changes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Practice comparing commits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Why the command line???</a:t>
            </a:r>
            <a:endParaRPr/>
          </a:p>
        </p:txBody>
      </p:sp>
      <p:sp>
        <p:nvSpPr>
          <p:cNvPr id="215" name="Google Shape;215;p31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Good practice using terminals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Not every UI exposes all the commands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Most servers are terminal-only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Using commands allows us to automate / script / chain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Reading documentation for command-line utilities is an art…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lang="en-US"/>
              <a:t>In Case of Fire…</a:t>
            </a:r>
            <a:endParaRPr/>
          </a:p>
        </p:txBody>
      </p:sp>
      <p:pic>
        <p:nvPicPr>
          <p:cNvPr id="221" name="Google Shape;221;p32" descr="A close-up of a computer&#10;&#10;AI-generated content may be incorrect.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tretch/>
        </p:blipFill>
        <p:spPr>
          <a:xfrm>
            <a:off x="6432976" y="987425"/>
            <a:ext cx="3672624" cy="4873625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32"/>
          <p:cNvSpPr txBox="1">
            <a:spLocks noGrp="1"/>
          </p:cNvSpPr>
          <p:nvPr>
            <p:ph type="body" idx="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</p:txBody>
      </p:sp>
      <p:pic>
        <p:nvPicPr>
          <p:cNvPr id="223" name="Google Shape;223;p32" descr="A black text with black text&#10;&#10;AI-generated content may be incorrect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481" y="1957031"/>
            <a:ext cx="4514850" cy="2257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lang="en-US"/>
              <a:t>Other Resources (HIGHLY RECOMMEND)</a:t>
            </a:r>
            <a:endParaRPr/>
          </a:p>
        </p:txBody>
      </p:sp>
      <p:sp>
        <p:nvSpPr>
          <p:cNvPr id="229" name="Google Shape;229;p33"/>
          <p:cNvSpPr txBox="1">
            <a:spLocks noGrp="1"/>
          </p:cNvSpPr>
          <p:nvPr>
            <p:ph idx="1"/>
          </p:nvPr>
        </p:nvSpPr>
        <p:spPr>
          <a:xfrm>
            <a:off x="838200" y="1756750"/>
            <a:ext cx="10515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u="sng">
                <a:solidFill>
                  <a:schemeClr val="hlink"/>
                </a:solidFill>
                <a:hlinkClick r:id="rId3"/>
              </a:rPr>
              <a:t>Oh My Git!</a:t>
            </a:r>
            <a:endParaRPr sz="3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u="sng">
                <a:solidFill>
                  <a:schemeClr val="hlink"/>
                </a:solidFill>
                <a:hlinkClick r:id="rId4"/>
              </a:rPr>
              <a:t>Learn Git Branching</a:t>
            </a:r>
            <a:endParaRPr sz="39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5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440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S Army 2023 AFC DEVCOM Logo">
  <a:themeElements>
    <a:clrScheme name="US Army Color Palette">
      <a:dk1>
        <a:srgbClr val="000000"/>
      </a:dk1>
      <a:lt1>
        <a:srgbClr val="FFFFFF"/>
      </a:lt1>
      <a:dk2>
        <a:srgbClr val="221F20"/>
      </a:dk2>
      <a:lt2>
        <a:srgbClr val="FFCC01"/>
      </a:lt2>
      <a:accent1>
        <a:srgbClr val="221F20"/>
      </a:accent1>
      <a:accent2>
        <a:srgbClr val="FFCC01"/>
      </a:accent2>
      <a:accent3>
        <a:srgbClr val="727365"/>
      </a:accent3>
      <a:accent4>
        <a:srgbClr val="D5D5D7"/>
      </a:accent4>
      <a:accent5>
        <a:srgbClr val="565557"/>
      </a:accent5>
      <a:accent6>
        <a:srgbClr val="BFB8A6"/>
      </a:accent6>
      <a:hlink>
        <a:srgbClr val="565557"/>
      </a:hlink>
      <a:folHlink>
        <a:srgbClr val="305B6E"/>
      </a:folHlink>
    </a:clrScheme>
    <a:fontScheme name="US Army 2023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US Army 2023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  <a:miter/>
        </a:ln>
      </a:spPr>
      <a:bodyPr/>
      <a:lstStyle>
        <a:defPPr algn="ctr">
          <a:lnSpc>
            <a:spcPct val="95000"/>
          </a:lnSpc>
          <a:defRPr sz="17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rgbClr val="FFFFFF"/>
        </a:fontRef>
      </a:style>
    </a:spDef>
    <a:lnDef>
      <a:spPr>
        <a:ln w="12700" cap="flat">
          <a:miter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rgbClr val="FFFFFF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2880" indent="-182880">
          <a:lnSpc>
            <a:spcPct val="95000"/>
          </a:lnSpc>
          <a:spcBef>
            <a:spcPts val="1000"/>
          </a:spcBef>
          <a:buSzPct val="100000"/>
          <a:buFont typeface="Arial"/>
          <a:buChar char="▪"/>
          <a:defRPr sz="1700"/>
        </a:defPPr>
      </a:lstStyle>
    </a:txDef>
  </a:objectDefaults>
  <a:extraClrSchemeLst/>
  <a:custClrLst>
    <a:custClr name="Army Black">
      <a:srgbClr val="221F20"/>
    </a:custClr>
    <a:custClr name="Army Gold">
      <a:srgbClr val="FFCC01"/>
    </a:custClr>
    <a:custClr name="White">
      <a:srgbClr val="FFFFFF"/>
    </a:custClr>
    <a:custClr name="Army Green">
      <a:srgbClr val="2F372F"/>
    </a:custClr>
    <a:custClr name="Tan">
      <a:srgbClr val="F1E4C7"/>
    </a:custClr>
    <a:custClr name="Field 01">
      <a:srgbClr val="727365"/>
    </a:custClr>
    <a:custClr name="Field 02">
      <a:srgbClr val="BFB8A6"/>
    </a:custClr>
    <a:custClr name="Gray 01">
      <a:srgbClr val="565557"/>
    </a:custClr>
    <a:custClr name="Gray 02">
      <a:srgbClr val="D5D5D7"/>
    </a:custClr>
    <a:custClr name="Highlight Orange">
      <a:srgbClr val="F16521"/>
    </a:custClr>
    <a:custClr name="Highlight Green">
      <a:srgbClr val="2DAA27"/>
    </a:custClr>
    <a:custClr name="Highlight Red">
      <a:srgbClr val="CF0000"/>
    </a:custClr>
  </a:custClrLst>
  <a:extLst>
    <a:ext uri="{05A4C25C-085E-4340-85A3-A5531E510DB2}">
      <thm15:themeFamily xmlns:thm15="http://schemas.microsoft.com/office/thememl/2012/main" name="US Army PowerPoint 16x9 12Feb2023" id="{3EB2FCAD-453B-4F97-9379-31EB449BB4A1}" vid="{CCBAEC26-5D3F-44DD-9C13-DB69982D462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</TotalTime>
  <Words>2310</Words>
  <Application>Microsoft Office PowerPoint</Application>
  <PresentationFormat>Widescreen</PresentationFormat>
  <Paragraphs>413</Paragraphs>
  <Slides>28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Consolas</vt:lpstr>
      <vt:lpstr>Arial Bold</vt:lpstr>
      <vt:lpstr>Arial</vt:lpstr>
      <vt:lpstr>Play</vt:lpstr>
      <vt:lpstr>Courier New</vt:lpstr>
      <vt:lpstr>US Army 2023 AFC DEVCOM Logo</vt:lpstr>
      <vt:lpstr>Intro to Version Control</vt:lpstr>
      <vt:lpstr>Objectives</vt:lpstr>
      <vt:lpstr>Version Control</vt:lpstr>
      <vt:lpstr>Common VCS</vt:lpstr>
      <vt:lpstr>Git</vt:lpstr>
      <vt:lpstr>Why "Git"?1</vt:lpstr>
      <vt:lpstr>The Elevator Pitch</vt:lpstr>
      <vt:lpstr>Example 1</vt:lpstr>
      <vt:lpstr>Example 1 Continued</vt:lpstr>
      <vt:lpstr>Example 2</vt:lpstr>
      <vt:lpstr>Example 2 continued</vt:lpstr>
      <vt:lpstr>Basic Ideas</vt:lpstr>
      <vt:lpstr>Git Areas</vt:lpstr>
      <vt:lpstr>Git Commit / Reset / Revert</vt:lpstr>
      <vt:lpstr>Quiz Time</vt:lpstr>
      <vt:lpstr>Hands-On #1</vt:lpstr>
      <vt:lpstr>But why…</vt:lpstr>
      <vt:lpstr>Git History</vt:lpstr>
      <vt:lpstr>Git Diff</vt:lpstr>
      <vt:lpstr>Spot the diff</vt:lpstr>
      <vt:lpstr>Spot the diff</vt:lpstr>
      <vt:lpstr>Spot the diff, again</vt:lpstr>
      <vt:lpstr>Spot the diff, again</vt:lpstr>
      <vt:lpstr>Git Log</vt:lpstr>
      <vt:lpstr>Hands-On #2</vt:lpstr>
      <vt:lpstr>Why the command line???</vt:lpstr>
      <vt:lpstr>In Case of Fire…</vt:lpstr>
      <vt:lpstr>Other Resources (HIGHLY RECOMMEND)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Ethan Shafer</cp:lastModifiedBy>
  <cp:revision>35</cp:revision>
  <dcterms:modified xsi:type="dcterms:W3CDTF">2026-07-20T14:14:20Z</dcterms:modified>
</cp:coreProperties>
</file>